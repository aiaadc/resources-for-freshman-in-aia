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0"/>
  </p:notesMasterIdLst>
  <p:sldIdLst>
    <p:sldId id="257" r:id="rId2"/>
    <p:sldId id="284" r:id="rId3"/>
    <p:sldId id="271" r:id="rId4"/>
    <p:sldId id="285" r:id="rId5"/>
    <p:sldId id="286" r:id="rId6"/>
    <p:sldId id="287" r:id="rId7"/>
    <p:sldId id="289" r:id="rId8"/>
    <p:sldId id="290" r:id="rId9"/>
    <p:sldId id="301" r:id="rId10"/>
    <p:sldId id="302" r:id="rId11"/>
    <p:sldId id="291" r:id="rId12"/>
    <p:sldId id="316" r:id="rId13"/>
    <p:sldId id="292" r:id="rId14"/>
    <p:sldId id="294" r:id="rId15"/>
    <p:sldId id="293" r:id="rId16"/>
    <p:sldId id="295" r:id="rId17"/>
    <p:sldId id="297" r:id="rId18"/>
    <p:sldId id="296" r:id="rId19"/>
    <p:sldId id="299" r:id="rId20"/>
    <p:sldId id="298" r:id="rId21"/>
    <p:sldId id="300" r:id="rId22"/>
    <p:sldId id="367" r:id="rId23"/>
    <p:sldId id="303" r:id="rId24"/>
    <p:sldId id="305" r:id="rId25"/>
    <p:sldId id="306" r:id="rId26"/>
    <p:sldId id="307" r:id="rId27"/>
    <p:sldId id="309" r:id="rId28"/>
    <p:sldId id="317" r:id="rId29"/>
    <p:sldId id="310" r:id="rId30"/>
    <p:sldId id="318" r:id="rId31"/>
    <p:sldId id="312" r:id="rId32"/>
    <p:sldId id="313" r:id="rId33"/>
    <p:sldId id="314" r:id="rId34"/>
    <p:sldId id="315" r:id="rId35"/>
    <p:sldId id="319" r:id="rId36"/>
    <p:sldId id="320" r:id="rId37"/>
    <p:sldId id="321" r:id="rId38"/>
    <p:sldId id="322" r:id="rId39"/>
    <p:sldId id="325" r:id="rId40"/>
    <p:sldId id="326" r:id="rId41"/>
    <p:sldId id="328" r:id="rId42"/>
    <p:sldId id="330" r:id="rId43"/>
    <p:sldId id="331" r:id="rId44"/>
    <p:sldId id="332" r:id="rId45"/>
    <p:sldId id="333" r:id="rId46"/>
    <p:sldId id="334" r:id="rId47"/>
    <p:sldId id="335" r:id="rId48"/>
    <p:sldId id="336" r:id="rId49"/>
    <p:sldId id="337" r:id="rId50"/>
    <p:sldId id="338" r:id="rId51"/>
    <p:sldId id="339" r:id="rId52"/>
    <p:sldId id="340" r:id="rId53"/>
    <p:sldId id="341" r:id="rId54"/>
    <p:sldId id="342" r:id="rId55"/>
    <p:sldId id="346" r:id="rId56"/>
    <p:sldId id="344" r:id="rId57"/>
    <p:sldId id="345" r:id="rId58"/>
    <p:sldId id="347" r:id="rId59"/>
    <p:sldId id="348" r:id="rId60"/>
    <p:sldId id="349" r:id="rId61"/>
    <p:sldId id="350" r:id="rId62"/>
    <p:sldId id="351" r:id="rId63"/>
    <p:sldId id="352" r:id="rId64"/>
    <p:sldId id="353" r:id="rId65"/>
    <p:sldId id="354" r:id="rId66"/>
    <p:sldId id="368" r:id="rId67"/>
    <p:sldId id="355" r:id="rId68"/>
    <p:sldId id="356" r:id="rId69"/>
    <p:sldId id="357" r:id="rId70"/>
    <p:sldId id="358" r:id="rId71"/>
    <p:sldId id="359" r:id="rId72"/>
    <p:sldId id="360" r:id="rId73"/>
    <p:sldId id="361" r:id="rId74"/>
    <p:sldId id="362" r:id="rId75"/>
    <p:sldId id="363" r:id="rId76"/>
    <p:sldId id="365" r:id="rId77"/>
    <p:sldId id="366" r:id="rId78"/>
    <p:sldId id="369" r:id="rId7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PT头" id="{E75E278A-FF0E-49A4-B170-79828D63BBAD}">
          <p14:sldIdLst>
            <p14:sldId id="257"/>
            <p14:sldId id="284"/>
            <p14:sldId id="271"/>
            <p14:sldId id="285"/>
            <p14:sldId id="286"/>
            <p14:sldId id="287"/>
            <p14:sldId id="289"/>
            <p14:sldId id="290"/>
            <p14:sldId id="301"/>
            <p14:sldId id="302"/>
          </p14:sldIdLst>
        </p14:section>
        <p14:section name="Chapter2" id="{2CC34DB2-6590-42C0-AD4B-A04C6060184E}">
          <p14:sldIdLst>
            <p14:sldId id="291"/>
            <p14:sldId id="316"/>
            <p14:sldId id="292"/>
            <p14:sldId id="294"/>
            <p14:sldId id="293"/>
            <p14:sldId id="295"/>
            <p14:sldId id="297"/>
            <p14:sldId id="296"/>
            <p14:sldId id="299"/>
            <p14:sldId id="298"/>
            <p14:sldId id="300"/>
            <p14:sldId id="367"/>
            <p14:sldId id="303"/>
            <p14:sldId id="305"/>
            <p14:sldId id="306"/>
            <p14:sldId id="307"/>
            <p14:sldId id="309"/>
            <p14:sldId id="317"/>
            <p14:sldId id="310"/>
            <p14:sldId id="318"/>
            <p14:sldId id="312"/>
            <p14:sldId id="313"/>
            <p14:sldId id="314"/>
            <p14:sldId id="315"/>
            <p14:sldId id="319"/>
            <p14:sldId id="320"/>
            <p14:sldId id="321"/>
            <p14:sldId id="322"/>
            <p14:sldId id="325"/>
            <p14:sldId id="326"/>
            <p14:sldId id="328"/>
            <p14:sldId id="330"/>
            <p14:sldId id="331"/>
            <p14:sldId id="332"/>
            <p14:sldId id="333"/>
            <p14:sldId id="334"/>
            <p14:sldId id="335"/>
            <p14:sldId id="336"/>
            <p14:sldId id="337"/>
            <p14:sldId id="338"/>
            <p14:sldId id="339"/>
            <p14:sldId id="340"/>
            <p14:sldId id="341"/>
            <p14:sldId id="342"/>
            <p14:sldId id="346"/>
            <p14:sldId id="344"/>
            <p14:sldId id="345"/>
            <p14:sldId id="347"/>
            <p14:sldId id="348"/>
            <p14:sldId id="349"/>
            <p14:sldId id="350"/>
            <p14:sldId id="351"/>
            <p14:sldId id="352"/>
            <p14:sldId id="353"/>
            <p14:sldId id="354"/>
            <p14:sldId id="368"/>
            <p14:sldId id="355"/>
            <p14:sldId id="356"/>
            <p14:sldId id="357"/>
            <p14:sldId id="358"/>
            <p14:sldId id="359"/>
            <p14:sldId id="360"/>
            <p14:sldId id="361"/>
            <p14:sldId id="362"/>
            <p14:sldId id="363"/>
            <p14:sldId id="365"/>
            <p14:sldId id="366"/>
            <p14:sldId id="3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152"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29CF88-C024-4721-B7B3-7B4FC521BB9C}" type="datetimeFigureOut">
              <a:rPr lang="zh-CN" altLang="en-US" smtClean="0"/>
              <a:t>2026/1/16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3A1957-1349-46FE-B236-38E85B6E68F6}" type="slidenum">
              <a:rPr lang="zh-CN" altLang="en-US" smtClean="0"/>
              <a:t>‹#›</a:t>
            </a:fld>
            <a:endParaRPr lang="zh-CN" altLang="en-US"/>
          </a:p>
        </p:txBody>
      </p:sp>
    </p:spTree>
    <p:extLst>
      <p:ext uri="{BB962C8B-B14F-4D97-AF65-F5344CB8AC3E}">
        <p14:creationId xmlns:p14="http://schemas.microsoft.com/office/powerpoint/2010/main" val="7435053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rtlCol="0"/>
          <a:lstStyle/>
          <a:p>
            <a:pPr rtl="0"/>
            <a:endParaRPr lang="zh-CN" altLang="en-US">
              <a:latin typeface="Microsoft YaHei UI" panose="020B0503020204020204" pitchFamily="34" charset="-122"/>
              <a:ea typeface="Microsoft YaHei UI" panose="020B0503020204020204" pitchFamily="34" charset="-122"/>
            </a:endParaRPr>
          </a:p>
        </p:txBody>
      </p:sp>
      <p:sp>
        <p:nvSpPr>
          <p:cNvPr id="4" name="幻灯片编号占位符 3"/>
          <p:cNvSpPr>
            <a:spLocks noGrp="1"/>
          </p:cNvSpPr>
          <p:nvPr>
            <p:ph type="sldNum" sz="quarter" idx="10"/>
          </p:nvPr>
        </p:nvSpPr>
        <p:spPr/>
        <p:txBody>
          <a:bodyPr rtlCol="0"/>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1</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1011769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2</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16331599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3</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36754013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4</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6779557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5</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38843480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6</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40433043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7</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18471435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8</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6231572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9</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13224835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10</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2970419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11</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19283769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12</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7965162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13</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31386113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14</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1875265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15</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8920099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16</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40912301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17</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14554217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18</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33370867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19</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7687737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20</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14670887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21</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42756276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22</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17992706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23</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705183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24</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34108911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25</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3433620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26</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1199184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27</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27885957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28</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420208656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29</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86261439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30</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163315990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31</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350828310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32</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389252514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33</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306840372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34</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91221664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35</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404683535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36</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170858345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37</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303203563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38</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81882602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39</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86539526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40</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341057200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41</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399516524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42</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51322672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43</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171676288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44</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90094684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45</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389984376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46</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413581160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47</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340925849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48</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56488093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49</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56027311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50</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356058772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51</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87030653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52</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46861249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53</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322113116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54</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384358079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55</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134913859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56</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425058647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57</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406754545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58</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6310812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59</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303380904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60</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415895576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61</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374588424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62</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140813131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63</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33208041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64</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35269714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65</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342328684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66</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01991957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67</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70934689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68</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387856772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69</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376825499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70</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3830330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71</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77177668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72</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115546316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73</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10220181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74</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60807376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75</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3791361944"/>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76</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878714883"/>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77</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013220713"/>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78</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12975384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2B1F35-28ED-4A33-9F84-268E84359E46}"/>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269FFDB2-6989-462B-8876-60FC664B49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B78C3319-A8CC-401D-A0DF-4C417DDB0125}"/>
              </a:ext>
            </a:extLst>
          </p:cNvPr>
          <p:cNvSpPr>
            <a:spLocks noGrp="1"/>
          </p:cNvSpPr>
          <p:nvPr>
            <p:ph type="dt" sz="half" idx="10"/>
          </p:nvPr>
        </p:nvSpPr>
        <p:spPr/>
        <p:txBody>
          <a:bodyPr/>
          <a:lstStyle/>
          <a:p>
            <a:fld id="{111E7264-2A5E-4381-83EE-444A9C59A166}" type="datetimeFigureOut">
              <a:rPr lang="zh-CN" altLang="en-US" smtClean="0"/>
              <a:t>2026/1/16</a:t>
            </a:fld>
            <a:endParaRPr lang="zh-CN" altLang="en-US"/>
          </a:p>
        </p:txBody>
      </p:sp>
      <p:sp>
        <p:nvSpPr>
          <p:cNvPr id="5" name="页脚占位符 4">
            <a:extLst>
              <a:ext uri="{FF2B5EF4-FFF2-40B4-BE49-F238E27FC236}">
                <a16:creationId xmlns:a16="http://schemas.microsoft.com/office/drawing/2014/main" id="{C4D66F25-D0AD-497E-9B29-1600375C5A5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E1F843A-7B8D-46FC-A3B9-42B607000624}"/>
              </a:ext>
            </a:extLst>
          </p:cNvPr>
          <p:cNvSpPr>
            <a:spLocks noGrp="1"/>
          </p:cNvSpPr>
          <p:nvPr>
            <p:ph type="sldNum" sz="quarter" idx="12"/>
          </p:nvPr>
        </p:nvSpPr>
        <p:spPr/>
        <p:txBody>
          <a:bodyPr/>
          <a:lstStyle/>
          <a:p>
            <a:fld id="{C734731B-4252-44C9-A79D-5D008C1C8F5F}" type="slidenum">
              <a:rPr lang="zh-CN" altLang="en-US" smtClean="0"/>
              <a:t>‹#›</a:t>
            </a:fld>
            <a:endParaRPr lang="zh-CN" altLang="en-US"/>
          </a:p>
        </p:txBody>
      </p:sp>
    </p:spTree>
    <p:extLst>
      <p:ext uri="{BB962C8B-B14F-4D97-AF65-F5344CB8AC3E}">
        <p14:creationId xmlns:p14="http://schemas.microsoft.com/office/powerpoint/2010/main" val="21615593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D0FF99-99BB-4DC3-B85F-21803E5554E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B379179-7DCF-47A6-8DBD-AFA1C4391F0C}"/>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BA89418-EAE4-4E71-B81F-D6938DA56311}"/>
              </a:ext>
            </a:extLst>
          </p:cNvPr>
          <p:cNvSpPr>
            <a:spLocks noGrp="1"/>
          </p:cNvSpPr>
          <p:nvPr>
            <p:ph type="dt" sz="half" idx="10"/>
          </p:nvPr>
        </p:nvSpPr>
        <p:spPr/>
        <p:txBody>
          <a:bodyPr/>
          <a:lstStyle/>
          <a:p>
            <a:fld id="{111E7264-2A5E-4381-83EE-444A9C59A166}" type="datetimeFigureOut">
              <a:rPr lang="zh-CN" altLang="en-US" smtClean="0"/>
              <a:t>2026/1/16</a:t>
            </a:fld>
            <a:endParaRPr lang="zh-CN" altLang="en-US"/>
          </a:p>
        </p:txBody>
      </p:sp>
      <p:sp>
        <p:nvSpPr>
          <p:cNvPr id="5" name="页脚占位符 4">
            <a:extLst>
              <a:ext uri="{FF2B5EF4-FFF2-40B4-BE49-F238E27FC236}">
                <a16:creationId xmlns:a16="http://schemas.microsoft.com/office/drawing/2014/main" id="{DF50695A-D78F-4871-BB7C-571A5C7DD98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3C49365-D769-4577-88BB-8CA607AC049C}"/>
              </a:ext>
            </a:extLst>
          </p:cNvPr>
          <p:cNvSpPr>
            <a:spLocks noGrp="1"/>
          </p:cNvSpPr>
          <p:nvPr>
            <p:ph type="sldNum" sz="quarter" idx="12"/>
          </p:nvPr>
        </p:nvSpPr>
        <p:spPr/>
        <p:txBody>
          <a:bodyPr/>
          <a:lstStyle/>
          <a:p>
            <a:fld id="{C734731B-4252-44C9-A79D-5D008C1C8F5F}" type="slidenum">
              <a:rPr lang="zh-CN" altLang="en-US" smtClean="0"/>
              <a:t>‹#›</a:t>
            </a:fld>
            <a:endParaRPr lang="zh-CN" altLang="en-US"/>
          </a:p>
        </p:txBody>
      </p:sp>
    </p:spTree>
    <p:extLst>
      <p:ext uri="{BB962C8B-B14F-4D97-AF65-F5344CB8AC3E}">
        <p14:creationId xmlns:p14="http://schemas.microsoft.com/office/powerpoint/2010/main" val="29135489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06FEAA-8C4D-4CBF-9DF8-EA2F69C87E01}"/>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2DCD4E5E-6D6E-46D6-A42D-600ED27D640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15A10981-CB3D-4157-B8C5-34E8925FED41}"/>
              </a:ext>
            </a:extLst>
          </p:cNvPr>
          <p:cNvSpPr>
            <a:spLocks noGrp="1"/>
          </p:cNvSpPr>
          <p:nvPr>
            <p:ph type="dt" sz="half" idx="10"/>
          </p:nvPr>
        </p:nvSpPr>
        <p:spPr/>
        <p:txBody>
          <a:bodyPr/>
          <a:lstStyle/>
          <a:p>
            <a:fld id="{111E7264-2A5E-4381-83EE-444A9C59A166}" type="datetimeFigureOut">
              <a:rPr lang="zh-CN" altLang="en-US" smtClean="0"/>
              <a:t>2026/1/16</a:t>
            </a:fld>
            <a:endParaRPr lang="zh-CN" altLang="en-US"/>
          </a:p>
        </p:txBody>
      </p:sp>
      <p:sp>
        <p:nvSpPr>
          <p:cNvPr id="5" name="页脚占位符 4">
            <a:extLst>
              <a:ext uri="{FF2B5EF4-FFF2-40B4-BE49-F238E27FC236}">
                <a16:creationId xmlns:a16="http://schemas.microsoft.com/office/drawing/2014/main" id="{635C26C0-FD78-4B7E-8095-39936DF31C0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3750B5A-7CDB-4545-B86E-CA5EA6C8F8F8}"/>
              </a:ext>
            </a:extLst>
          </p:cNvPr>
          <p:cNvSpPr>
            <a:spLocks noGrp="1"/>
          </p:cNvSpPr>
          <p:nvPr>
            <p:ph type="sldNum" sz="quarter" idx="12"/>
          </p:nvPr>
        </p:nvSpPr>
        <p:spPr/>
        <p:txBody>
          <a:bodyPr/>
          <a:lstStyle/>
          <a:p>
            <a:fld id="{C734731B-4252-44C9-A79D-5D008C1C8F5F}" type="slidenum">
              <a:rPr lang="zh-CN" altLang="en-US" smtClean="0"/>
              <a:t>‹#›</a:t>
            </a:fld>
            <a:endParaRPr lang="zh-CN" altLang="en-US"/>
          </a:p>
        </p:txBody>
      </p:sp>
    </p:spTree>
    <p:extLst>
      <p:ext uri="{BB962C8B-B14F-4D97-AF65-F5344CB8AC3E}">
        <p14:creationId xmlns:p14="http://schemas.microsoft.com/office/powerpoint/2010/main" val="38296359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C86349-9F82-4CA9-9050-5F0F2F0F6B1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6564334-454E-4A68-9B1A-270CB8173A4A}"/>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BC8523F0-F724-4C3F-B7F4-4F09DB579E33}"/>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E8D1AA3-596A-4BD0-9C1A-8980F30D44A5}"/>
              </a:ext>
            </a:extLst>
          </p:cNvPr>
          <p:cNvSpPr>
            <a:spLocks noGrp="1"/>
          </p:cNvSpPr>
          <p:nvPr>
            <p:ph type="dt" sz="half" idx="10"/>
          </p:nvPr>
        </p:nvSpPr>
        <p:spPr/>
        <p:txBody>
          <a:bodyPr/>
          <a:lstStyle/>
          <a:p>
            <a:fld id="{111E7264-2A5E-4381-83EE-444A9C59A166}" type="datetimeFigureOut">
              <a:rPr lang="zh-CN" altLang="en-US" smtClean="0"/>
              <a:t>2026/1/16</a:t>
            </a:fld>
            <a:endParaRPr lang="zh-CN" altLang="en-US"/>
          </a:p>
        </p:txBody>
      </p:sp>
      <p:sp>
        <p:nvSpPr>
          <p:cNvPr id="6" name="页脚占位符 5">
            <a:extLst>
              <a:ext uri="{FF2B5EF4-FFF2-40B4-BE49-F238E27FC236}">
                <a16:creationId xmlns:a16="http://schemas.microsoft.com/office/drawing/2014/main" id="{37D9D171-4016-4723-9515-CE17E58897B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36A2702-7F1D-4CEC-9048-F11D6508D007}"/>
              </a:ext>
            </a:extLst>
          </p:cNvPr>
          <p:cNvSpPr>
            <a:spLocks noGrp="1"/>
          </p:cNvSpPr>
          <p:nvPr>
            <p:ph type="sldNum" sz="quarter" idx="12"/>
          </p:nvPr>
        </p:nvSpPr>
        <p:spPr/>
        <p:txBody>
          <a:bodyPr/>
          <a:lstStyle/>
          <a:p>
            <a:fld id="{C734731B-4252-44C9-A79D-5D008C1C8F5F}" type="slidenum">
              <a:rPr lang="zh-CN" altLang="en-US" smtClean="0"/>
              <a:t>‹#›</a:t>
            </a:fld>
            <a:endParaRPr lang="zh-CN" altLang="en-US"/>
          </a:p>
        </p:txBody>
      </p:sp>
    </p:spTree>
    <p:extLst>
      <p:ext uri="{BB962C8B-B14F-4D97-AF65-F5344CB8AC3E}">
        <p14:creationId xmlns:p14="http://schemas.microsoft.com/office/powerpoint/2010/main" val="9580160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90EF74-2FDC-41D1-B56C-A098BEC616DF}"/>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080BBAB4-37C6-4E3E-88E7-3C8DB36D85A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FEA94987-0BE6-4F14-A8B3-FDBB0632DFA7}"/>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ECFC6E7A-26B1-4724-8059-AD220243BE4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B861C803-D884-4CAA-9516-EAE989513FD2}"/>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A64D06B5-48B7-4653-858C-606B9302D25A}"/>
              </a:ext>
            </a:extLst>
          </p:cNvPr>
          <p:cNvSpPr>
            <a:spLocks noGrp="1"/>
          </p:cNvSpPr>
          <p:nvPr>
            <p:ph type="dt" sz="half" idx="10"/>
          </p:nvPr>
        </p:nvSpPr>
        <p:spPr/>
        <p:txBody>
          <a:bodyPr/>
          <a:lstStyle/>
          <a:p>
            <a:fld id="{111E7264-2A5E-4381-83EE-444A9C59A166}" type="datetimeFigureOut">
              <a:rPr lang="zh-CN" altLang="en-US" smtClean="0"/>
              <a:t>2026/1/16</a:t>
            </a:fld>
            <a:endParaRPr lang="zh-CN" altLang="en-US"/>
          </a:p>
        </p:txBody>
      </p:sp>
      <p:sp>
        <p:nvSpPr>
          <p:cNvPr id="8" name="页脚占位符 7">
            <a:extLst>
              <a:ext uri="{FF2B5EF4-FFF2-40B4-BE49-F238E27FC236}">
                <a16:creationId xmlns:a16="http://schemas.microsoft.com/office/drawing/2014/main" id="{27CA370C-1298-43C6-AC8F-52D7EF86598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ED648E2E-B4F1-48AC-B292-5DE318F566C6}"/>
              </a:ext>
            </a:extLst>
          </p:cNvPr>
          <p:cNvSpPr>
            <a:spLocks noGrp="1"/>
          </p:cNvSpPr>
          <p:nvPr>
            <p:ph type="sldNum" sz="quarter" idx="12"/>
          </p:nvPr>
        </p:nvSpPr>
        <p:spPr/>
        <p:txBody>
          <a:bodyPr/>
          <a:lstStyle/>
          <a:p>
            <a:fld id="{C734731B-4252-44C9-A79D-5D008C1C8F5F}" type="slidenum">
              <a:rPr lang="zh-CN" altLang="en-US" smtClean="0"/>
              <a:t>‹#›</a:t>
            </a:fld>
            <a:endParaRPr lang="zh-CN" altLang="en-US"/>
          </a:p>
        </p:txBody>
      </p:sp>
    </p:spTree>
    <p:extLst>
      <p:ext uri="{BB962C8B-B14F-4D97-AF65-F5344CB8AC3E}">
        <p14:creationId xmlns:p14="http://schemas.microsoft.com/office/powerpoint/2010/main" val="5897039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75D90B-ADA6-4D2A-B6A4-5B329069310D}"/>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97624532-ADF4-4D11-90B7-45BA2F85516B}"/>
              </a:ext>
            </a:extLst>
          </p:cNvPr>
          <p:cNvSpPr>
            <a:spLocks noGrp="1"/>
          </p:cNvSpPr>
          <p:nvPr>
            <p:ph type="dt" sz="half" idx="10"/>
          </p:nvPr>
        </p:nvSpPr>
        <p:spPr/>
        <p:txBody>
          <a:bodyPr/>
          <a:lstStyle/>
          <a:p>
            <a:fld id="{111E7264-2A5E-4381-83EE-444A9C59A166}" type="datetimeFigureOut">
              <a:rPr lang="zh-CN" altLang="en-US" smtClean="0"/>
              <a:t>2026/1/16</a:t>
            </a:fld>
            <a:endParaRPr lang="zh-CN" altLang="en-US"/>
          </a:p>
        </p:txBody>
      </p:sp>
      <p:sp>
        <p:nvSpPr>
          <p:cNvPr id="4" name="页脚占位符 3">
            <a:extLst>
              <a:ext uri="{FF2B5EF4-FFF2-40B4-BE49-F238E27FC236}">
                <a16:creationId xmlns:a16="http://schemas.microsoft.com/office/drawing/2014/main" id="{AB0A9198-4215-4077-A2E7-996FEECFC44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CE618F31-4D5E-4C93-A289-81AEE6346AEB}"/>
              </a:ext>
            </a:extLst>
          </p:cNvPr>
          <p:cNvSpPr>
            <a:spLocks noGrp="1"/>
          </p:cNvSpPr>
          <p:nvPr>
            <p:ph type="sldNum" sz="quarter" idx="12"/>
          </p:nvPr>
        </p:nvSpPr>
        <p:spPr/>
        <p:txBody>
          <a:bodyPr/>
          <a:lstStyle/>
          <a:p>
            <a:fld id="{C734731B-4252-44C9-A79D-5D008C1C8F5F}" type="slidenum">
              <a:rPr lang="zh-CN" altLang="en-US" smtClean="0"/>
              <a:t>‹#›</a:t>
            </a:fld>
            <a:endParaRPr lang="zh-CN" altLang="en-US"/>
          </a:p>
        </p:txBody>
      </p:sp>
    </p:spTree>
    <p:extLst>
      <p:ext uri="{BB962C8B-B14F-4D97-AF65-F5344CB8AC3E}">
        <p14:creationId xmlns:p14="http://schemas.microsoft.com/office/powerpoint/2010/main" val="7910976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C2EED63-4424-4639-906F-F537428A218B}"/>
              </a:ext>
            </a:extLst>
          </p:cNvPr>
          <p:cNvSpPr>
            <a:spLocks noGrp="1"/>
          </p:cNvSpPr>
          <p:nvPr>
            <p:ph type="dt" sz="half" idx="10"/>
          </p:nvPr>
        </p:nvSpPr>
        <p:spPr/>
        <p:txBody>
          <a:bodyPr/>
          <a:lstStyle/>
          <a:p>
            <a:fld id="{111E7264-2A5E-4381-83EE-444A9C59A166}" type="datetimeFigureOut">
              <a:rPr lang="zh-CN" altLang="en-US" smtClean="0"/>
              <a:t>2026/1/16</a:t>
            </a:fld>
            <a:endParaRPr lang="zh-CN" altLang="en-US"/>
          </a:p>
        </p:txBody>
      </p:sp>
      <p:sp>
        <p:nvSpPr>
          <p:cNvPr id="3" name="页脚占位符 2">
            <a:extLst>
              <a:ext uri="{FF2B5EF4-FFF2-40B4-BE49-F238E27FC236}">
                <a16:creationId xmlns:a16="http://schemas.microsoft.com/office/drawing/2014/main" id="{E309BF8E-582A-41DC-96D5-163064FA0737}"/>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8F4ECC07-F666-4A83-B573-47BD46EAAE3B}"/>
              </a:ext>
            </a:extLst>
          </p:cNvPr>
          <p:cNvSpPr>
            <a:spLocks noGrp="1"/>
          </p:cNvSpPr>
          <p:nvPr>
            <p:ph type="sldNum" sz="quarter" idx="12"/>
          </p:nvPr>
        </p:nvSpPr>
        <p:spPr/>
        <p:txBody>
          <a:bodyPr/>
          <a:lstStyle/>
          <a:p>
            <a:fld id="{C734731B-4252-44C9-A79D-5D008C1C8F5F}" type="slidenum">
              <a:rPr lang="zh-CN" altLang="en-US" smtClean="0"/>
              <a:t>‹#›</a:t>
            </a:fld>
            <a:endParaRPr lang="zh-CN" altLang="en-US"/>
          </a:p>
        </p:txBody>
      </p:sp>
    </p:spTree>
    <p:extLst>
      <p:ext uri="{BB962C8B-B14F-4D97-AF65-F5344CB8AC3E}">
        <p14:creationId xmlns:p14="http://schemas.microsoft.com/office/powerpoint/2010/main" val="12618949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08D96E-D197-4325-ABAF-99AE42ECA82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8452AAB3-B905-4358-B526-2C7AAABE131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AFCB37A0-175A-4666-BBC5-C1E821F897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8209D04-30F3-404E-8C03-5ECD59AE3705}"/>
              </a:ext>
            </a:extLst>
          </p:cNvPr>
          <p:cNvSpPr>
            <a:spLocks noGrp="1"/>
          </p:cNvSpPr>
          <p:nvPr>
            <p:ph type="dt" sz="half" idx="10"/>
          </p:nvPr>
        </p:nvSpPr>
        <p:spPr/>
        <p:txBody>
          <a:bodyPr/>
          <a:lstStyle/>
          <a:p>
            <a:fld id="{111E7264-2A5E-4381-83EE-444A9C59A166}" type="datetimeFigureOut">
              <a:rPr lang="zh-CN" altLang="en-US" smtClean="0"/>
              <a:t>2026/1/16</a:t>
            </a:fld>
            <a:endParaRPr lang="zh-CN" altLang="en-US"/>
          </a:p>
        </p:txBody>
      </p:sp>
      <p:sp>
        <p:nvSpPr>
          <p:cNvPr id="6" name="页脚占位符 5">
            <a:extLst>
              <a:ext uri="{FF2B5EF4-FFF2-40B4-BE49-F238E27FC236}">
                <a16:creationId xmlns:a16="http://schemas.microsoft.com/office/drawing/2014/main" id="{ECBB56B6-53C1-4A94-8DF4-C4A4FF8ACCD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61A8D30-0078-4A79-B701-F55D298C96D5}"/>
              </a:ext>
            </a:extLst>
          </p:cNvPr>
          <p:cNvSpPr>
            <a:spLocks noGrp="1"/>
          </p:cNvSpPr>
          <p:nvPr>
            <p:ph type="sldNum" sz="quarter" idx="12"/>
          </p:nvPr>
        </p:nvSpPr>
        <p:spPr/>
        <p:txBody>
          <a:bodyPr/>
          <a:lstStyle/>
          <a:p>
            <a:fld id="{C734731B-4252-44C9-A79D-5D008C1C8F5F}" type="slidenum">
              <a:rPr lang="zh-CN" altLang="en-US" smtClean="0"/>
              <a:t>‹#›</a:t>
            </a:fld>
            <a:endParaRPr lang="zh-CN" altLang="en-US"/>
          </a:p>
        </p:txBody>
      </p:sp>
    </p:spTree>
    <p:extLst>
      <p:ext uri="{BB962C8B-B14F-4D97-AF65-F5344CB8AC3E}">
        <p14:creationId xmlns:p14="http://schemas.microsoft.com/office/powerpoint/2010/main" val="31235670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4BB1B1-411A-4EE8-B4AE-A4FA99D3A19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C6877FE-C81B-4368-B2B0-75CB7EF1F10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FCBC0A65-5B94-4D18-81A3-D6369B4D1B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7514DD0-A833-4D70-AB24-747933CAFBA5}"/>
              </a:ext>
            </a:extLst>
          </p:cNvPr>
          <p:cNvSpPr>
            <a:spLocks noGrp="1"/>
          </p:cNvSpPr>
          <p:nvPr>
            <p:ph type="dt" sz="half" idx="10"/>
          </p:nvPr>
        </p:nvSpPr>
        <p:spPr/>
        <p:txBody>
          <a:bodyPr/>
          <a:lstStyle/>
          <a:p>
            <a:fld id="{111E7264-2A5E-4381-83EE-444A9C59A166}" type="datetimeFigureOut">
              <a:rPr lang="zh-CN" altLang="en-US" smtClean="0"/>
              <a:t>2026/1/16</a:t>
            </a:fld>
            <a:endParaRPr lang="zh-CN" altLang="en-US"/>
          </a:p>
        </p:txBody>
      </p:sp>
      <p:sp>
        <p:nvSpPr>
          <p:cNvPr id="6" name="页脚占位符 5">
            <a:extLst>
              <a:ext uri="{FF2B5EF4-FFF2-40B4-BE49-F238E27FC236}">
                <a16:creationId xmlns:a16="http://schemas.microsoft.com/office/drawing/2014/main" id="{18D8D58E-8038-4005-860E-47EAFA90516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3103A49-B250-4731-B0C8-0917D6247E52}"/>
              </a:ext>
            </a:extLst>
          </p:cNvPr>
          <p:cNvSpPr>
            <a:spLocks noGrp="1"/>
          </p:cNvSpPr>
          <p:nvPr>
            <p:ph type="sldNum" sz="quarter" idx="12"/>
          </p:nvPr>
        </p:nvSpPr>
        <p:spPr/>
        <p:txBody>
          <a:bodyPr/>
          <a:lstStyle/>
          <a:p>
            <a:fld id="{C734731B-4252-44C9-A79D-5D008C1C8F5F}" type="slidenum">
              <a:rPr lang="zh-CN" altLang="en-US" smtClean="0"/>
              <a:t>‹#›</a:t>
            </a:fld>
            <a:endParaRPr lang="zh-CN" altLang="en-US"/>
          </a:p>
        </p:txBody>
      </p:sp>
    </p:spTree>
    <p:extLst>
      <p:ext uri="{BB962C8B-B14F-4D97-AF65-F5344CB8AC3E}">
        <p14:creationId xmlns:p14="http://schemas.microsoft.com/office/powerpoint/2010/main" val="32142948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54EFD1-D142-4BFF-8ABD-D0D4626A1C5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C8BADC4C-5109-4F6A-BFB2-BCFAE653404A}"/>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F07332D-FF87-4604-A05F-D42BA4C0BAD1}"/>
              </a:ext>
            </a:extLst>
          </p:cNvPr>
          <p:cNvSpPr>
            <a:spLocks noGrp="1"/>
          </p:cNvSpPr>
          <p:nvPr>
            <p:ph type="dt" sz="half" idx="10"/>
          </p:nvPr>
        </p:nvSpPr>
        <p:spPr/>
        <p:txBody>
          <a:bodyPr/>
          <a:lstStyle/>
          <a:p>
            <a:fld id="{111E7264-2A5E-4381-83EE-444A9C59A166}" type="datetimeFigureOut">
              <a:rPr lang="zh-CN" altLang="en-US" smtClean="0"/>
              <a:t>2026/1/16</a:t>
            </a:fld>
            <a:endParaRPr lang="zh-CN" altLang="en-US"/>
          </a:p>
        </p:txBody>
      </p:sp>
      <p:sp>
        <p:nvSpPr>
          <p:cNvPr id="5" name="页脚占位符 4">
            <a:extLst>
              <a:ext uri="{FF2B5EF4-FFF2-40B4-BE49-F238E27FC236}">
                <a16:creationId xmlns:a16="http://schemas.microsoft.com/office/drawing/2014/main" id="{13593B56-6DFD-4373-8E1E-366D319761E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ECE3FDF-2E50-48DB-A4A4-BA5854D6782C}"/>
              </a:ext>
            </a:extLst>
          </p:cNvPr>
          <p:cNvSpPr>
            <a:spLocks noGrp="1"/>
          </p:cNvSpPr>
          <p:nvPr>
            <p:ph type="sldNum" sz="quarter" idx="12"/>
          </p:nvPr>
        </p:nvSpPr>
        <p:spPr/>
        <p:txBody>
          <a:bodyPr/>
          <a:lstStyle/>
          <a:p>
            <a:fld id="{C734731B-4252-44C9-A79D-5D008C1C8F5F}" type="slidenum">
              <a:rPr lang="zh-CN" altLang="en-US" smtClean="0"/>
              <a:t>‹#›</a:t>
            </a:fld>
            <a:endParaRPr lang="zh-CN" altLang="en-US"/>
          </a:p>
        </p:txBody>
      </p:sp>
    </p:spTree>
    <p:extLst>
      <p:ext uri="{BB962C8B-B14F-4D97-AF65-F5344CB8AC3E}">
        <p14:creationId xmlns:p14="http://schemas.microsoft.com/office/powerpoint/2010/main" val="12240632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2CDF6F99-D04A-42FB-8A07-4C8DB8459B2F}"/>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78E95C33-27D9-4BC4-A1B4-EC0EDAD1D257}"/>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7EC2AB2-858F-4E41-A9BD-ACE8800A01A0}"/>
              </a:ext>
            </a:extLst>
          </p:cNvPr>
          <p:cNvSpPr>
            <a:spLocks noGrp="1"/>
          </p:cNvSpPr>
          <p:nvPr>
            <p:ph type="dt" sz="half" idx="10"/>
          </p:nvPr>
        </p:nvSpPr>
        <p:spPr/>
        <p:txBody>
          <a:bodyPr/>
          <a:lstStyle/>
          <a:p>
            <a:fld id="{111E7264-2A5E-4381-83EE-444A9C59A166}" type="datetimeFigureOut">
              <a:rPr lang="zh-CN" altLang="en-US" smtClean="0"/>
              <a:t>2026/1/16</a:t>
            </a:fld>
            <a:endParaRPr lang="zh-CN" altLang="en-US"/>
          </a:p>
        </p:txBody>
      </p:sp>
      <p:sp>
        <p:nvSpPr>
          <p:cNvPr id="5" name="页脚占位符 4">
            <a:extLst>
              <a:ext uri="{FF2B5EF4-FFF2-40B4-BE49-F238E27FC236}">
                <a16:creationId xmlns:a16="http://schemas.microsoft.com/office/drawing/2014/main" id="{C750D7EC-B923-437F-897A-19DC50C0181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4C49DB6-F4DD-4886-B348-D57890144C50}"/>
              </a:ext>
            </a:extLst>
          </p:cNvPr>
          <p:cNvSpPr>
            <a:spLocks noGrp="1"/>
          </p:cNvSpPr>
          <p:nvPr>
            <p:ph type="sldNum" sz="quarter" idx="12"/>
          </p:nvPr>
        </p:nvSpPr>
        <p:spPr/>
        <p:txBody>
          <a:bodyPr/>
          <a:lstStyle/>
          <a:p>
            <a:fld id="{C734731B-4252-44C9-A79D-5D008C1C8F5F}" type="slidenum">
              <a:rPr lang="zh-CN" altLang="en-US" smtClean="0"/>
              <a:t>‹#›</a:t>
            </a:fld>
            <a:endParaRPr lang="zh-CN" altLang="en-US"/>
          </a:p>
        </p:txBody>
      </p:sp>
    </p:spTree>
    <p:extLst>
      <p:ext uri="{BB962C8B-B14F-4D97-AF65-F5344CB8AC3E}">
        <p14:creationId xmlns:p14="http://schemas.microsoft.com/office/powerpoint/2010/main" val="24803107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7" name="长方形 6"/>
          <p:cNvSpPr/>
          <p:nvPr userDrawn="1"/>
        </p:nvSpPr>
        <p:spPr bwMode="blackWhite">
          <a:xfrm>
            <a:off x="254950" y="262784"/>
            <a:ext cx="11682101"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sz="1800" noProof="0">
              <a:latin typeface="Microsoft YaHei UI" panose="020B0503020204020204" pitchFamily="34" charset="-122"/>
              <a:ea typeface="Microsoft YaHei UI" panose="020B0503020204020204" pitchFamily="34" charset="-122"/>
            </a:endParaRPr>
          </a:p>
        </p:txBody>
      </p:sp>
      <p:sp>
        <p:nvSpPr>
          <p:cNvPr id="2" name="标题 1"/>
          <p:cNvSpPr>
            <a:spLocks noGrp="1"/>
          </p:cNvSpPr>
          <p:nvPr>
            <p:ph type="title"/>
          </p:nvPr>
        </p:nvSpPr>
        <p:spPr/>
        <p:txBody>
          <a:bodyPr rtlCol="0"/>
          <a:lstStyle>
            <a:lvl1pPr>
              <a:defRPr>
                <a:latin typeface="Microsoft YaHei UI Light" panose="020B0502040204020203" pitchFamily="34" charset="-122"/>
                <a:ea typeface="Microsoft YaHei UI Light" panose="020B0502040204020203" pitchFamily="34" charset="-122"/>
              </a:defRPr>
            </a:lvl1pPr>
          </a:lstStyle>
          <a:p>
            <a:pPr rtl="0"/>
            <a:r>
              <a:rPr lang="zh-CN" altLang="en-US" noProof="0"/>
              <a:t>单击此处编辑母版标题样式</a:t>
            </a:r>
            <a:endParaRPr lang="zh-CN" altLang="en-US" noProof="0" dirty="0"/>
          </a:p>
        </p:txBody>
      </p:sp>
    </p:spTree>
    <p:extLst>
      <p:ext uri="{BB962C8B-B14F-4D97-AF65-F5344CB8AC3E}">
        <p14:creationId xmlns:p14="http://schemas.microsoft.com/office/powerpoint/2010/main" val="3100006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9" name="长方形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rtl="0"/>
            <a:endParaRPr lang="zh-CN" altLang="en-US" sz="1800" noProof="0">
              <a:latin typeface="Microsoft YaHei UI" panose="020B0503020204020204" pitchFamily="34" charset="-122"/>
              <a:ea typeface="Microsoft YaHei UI" panose="020B0503020204020204" pitchFamily="34" charset="-122"/>
            </a:endParaRPr>
          </a:p>
        </p:txBody>
      </p:sp>
      <p:cxnSp>
        <p:nvCxnSpPr>
          <p:cNvPr id="12" name="直接连接符​​(S)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标题 3"/>
          <p:cNvSpPr>
            <a:spLocks noGrp="1"/>
          </p:cNvSpPr>
          <p:nvPr>
            <p:ph type="title"/>
          </p:nvPr>
        </p:nvSpPr>
        <p:spPr>
          <a:xfrm>
            <a:off x="521207" y="448056"/>
            <a:ext cx="6877119" cy="640080"/>
          </a:xfrm>
        </p:spPr>
        <p:txBody>
          <a:bodyPr rtlCol="0" anchor="b" anchorCtr="0">
            <a:normAutofit/>
          </a:bodyPr>
          <a:lstStyle>
            <a:lvl1pPr>
              <a:defRPr sz="2800">
                <a:solidFill>
                  <a:schemeClr val="bg2">
                    <a:lumMod val="25000"/>
                  </a:schemeClr>
                </a:solidFill>
                <a:latin typeface="Microsoft YaHei UI Light" panose="020B0502040204020203" pitchFamily="34" charset="-122"/>
                <a:ea typeface="Microsoft YaHei UI Light" panose="020B0502040204020203" pitchFamily="34" charset="-122"/>
              </a:defRPr>
            </a:lvl1pPr>
          </a:lstStyle>
          <a:p>
            <a:pPr rtl="0"/>
            <a:r>
              <a:rPr lang="zh-CN" altLang="en-US" noProof="0"/>
              <a:t>单击此处编辑母版标题样式</a:t>
            </a:r>
            <a:endParaRPr lang="zh-CN" altLang="en-US" noProof="0" dirty="0"/>
          </a:p>
        </p:txBody>
      </p:sp>
      <p:sp>
        <p:nvSpPr>
          <p:cNvPr id="3" name="内容占位符 2"/>
          <p:cNvSpPr>
            <a:spLocks noGrp="1"/>
          </p:cNvSpPr>
          <p:nvPr>
            <p:ph sz="quarter" idx="10"/>
          </p:nvPr>
        </p:nvSpPr>
        <p:spPr>
          <a:xfrm>
            <a:off x="539496" y="1435608"/>
            <a:ext cx="4416552" cy="3977640"/>
          </a:xfrm>
        </p:spPr>
        <p:txBody>
          <a:bodyPr vert="horz" lIns="91440" tIns="45720" rIns="91440" bIns="45720" rtlCol="0">
            <a:normAutofit/>
          </a:bodyPr>
          <a:lstStyle>
            <a:lvl1pPr>
              <a:defRPr lang="en-US" sz="1200" smtClean="0">
                <a:solidFill>
                  <a:schemeClr val="tx1">
                    <a:lumMod val="75000"/>
                    <a:lumOff val="25000"/>
                  </a:schemeClr>
                </a:solidFill>
                <a:latin typeface="Microsoft YaHei UI" panose="020B0503020204020204" pitchFamily="34" charset="-122"/>
                <a:ea typeface="Microsoft YaHei UI" panose="020B0503020204020204" pitchFamily="34" charset="-122"/>
              </a:defRPr>
            </a:lvl1pPr>
            <a:lvl2pPr>
              <a:defRPr lang="en-US" sz="1200" smtClean="0">
                <a:solidFill>
                  <a:schemeClr val="tx1">
                    <a:lumMod val="75000"/>
                    <a:lumOff val="25000"/>
                  </a:schemeClr>
                </a:solidFill>
                <a:latin typeface="Microsoft YaHei UI" panose="020B0503020204020204" pitchFamily="34" charset="-122"/>
                <a:ea typeface="Microsoft YaHei UI" panose="020B0503020204020204" pitchFamily="34" charset="-122"/>
              </a:defRPr>
            </a:lvl2pPr>
            <a:lvl3pPr>
              <a:defRPr lang="en-US" sz="1200" smtClean="0">
                <a:solidFill>
                  <a:schemeClr val="tx1">
                    <a:lumMod val="75000"/>
                    <a:lumOff val="25000"/>
                  </a:schemeClr>
                </a:solidFill>
                <a:latin typeface="Microsoft YaHei UI" panose="020B0503020204020204" pitchFamily="34" charset="-122"/>
                <a:ea typeface="Microsoft YaHei UI" panose="020B0503020204020204" pitchFamily="34" charset="-122"/>
              </a:defRPr>
            </a:lvl3pPr>
            <a:lvl4pPr>
              <a:defRPr lang="en-US" sz="1200" smtClean="0">
                <a:solidFill>
                  <a:schemeClr val="tx1">
                    <a:lumMod val="75000"/>
                    <a:lumOff val="25000"/>
                  </a:schemeClr>
                </a:solidFill>
                <a:latin typeface="Microsoft YaHei UI" panose="020B0503020204020204" pitchFamily="34" charset="-122"/>
                <a:ea typeface="Microsoft YaHei UI" panose="020B0503020204020204" pitchFamily="34" charset="-122"/>
              </a:defRPr>
            </a:lvl4pPr>
            <a:lvl5pPr>
              <a:defRPr lang="en-US" sz="1200">
                <a:solidFill>
                  <a:schemeClr val="tx1">
                    <a:lumMod val="75000"/>
                    <a:lumOff val="25000"/>
                  </a:schemeClr>
                </a:solidFill>
                <a:latin typeface="Microsoft YaHei UI" panose="020B0503020204020204" pitchFamily="34" charset="-122"/>
                <a:ea typeface="Microsoft YaHei UI" panose="020B0503020204020204" pitchFamily="34" charset="-122"/>
              </a:defRPr>
            </a:lvl5pPr>
          </a:lstStyle>
          <a:p>
            <a:pPr marL="0" lvl="0" indent="0" rtl="0">
              <a:lnSpc>
                <a:spcPct val="150000"/>
              </a:lnSpc>
              <a:spcBef>
                <a:spcPts val="1000"/>
              </a:spcBef>
              <a:spcAft>
                <a:spcPts val="1200"/>
              </a:spcAft>
              <a:buNone/>
            </a:pPr>
            <a:r>
              <a:rPr lang="zh-CN" altLang="en-US" noProof="0"/>
              <a:t>单击此处编辑母版文本样式</a:t>
            </a:r>
          </a:p>
          <a:p>
            <a:pPr marL="0" lvl="1" indent="0" rtl="0">
              <a:lnSpc>
                <a:spcPct val="150000"/>
              </a:lnSpc>
              <a:spcBef>
                <a:spcPts val="1000"/>
              </a:spcBef>
              <a:spcAft>
                <a:spcPts val="1200"/>
              </a:spcAft>
              <a:buNone/>
            </a:pPr>
            <a:r>
              <a:rPr lang="zh-CN" altLang="en-US" noProof="0"/>
              <a:t>二级</a:t>
            </a:r>
          </a:p>
          <a:p>
            <a:pPr marL="0" lvl="2" indent="0" rtl="0">
              <a:lnSpc>
                <a:spcPct val="150000"/>
              </a:lnSpc>
              <a:spcBef>
                <a:spcPts val="1000"/>
              </a:spcBef>
              <a:spcAft>
                <a:spcPts val="1200"/>
              </a:spcAft>
              <a:buNone/>
            </a:pPr>
            <a:r>
              <a:rPr lang="zh-CN" altLang="en-US" noProof="0"/>
              <a:t>三级</a:t>
            </a:r>
          </a:p>
          <a:p>
            <a:pPr marL="0" lvl="3" indent="0" rtl="0">
              <a:lnSpc>
                <a:spcPct val="150000"/>
              </a:lnSpc>
              <a:spcBef>
                <a:spcPts val="1000"/>
              </a:spcBef>
              <a:spcAft>
                <a:spcPts val="1200"/>
              </a:spcAft>
              <a:buNone/>
            </a:pPr>
            <a:r>
              <a:rPr lang="zh-CN" altLang="en-US" noProof="0"/>
              <a:t>四级</a:t>
            </a:r>
          </a:p>
          <a:p>
            <a:pPr marL="0" lvl="4" indent="0" rtl="0">
              <a:lnSpc>
                <a:spcPct val="150000"/>
              </a:lnSpc>
              <a:spcBef>
                <a:spcPts val="1000"/>
              </a:spcBef>
              <a:spcAft>
                <a:spcPts val="1200"/>
              </a:spcAft>
              <a:buNone/>
            </a:pPr>
            <a:r>
              <a:rPr lang="zh-CN" altLang="en-US" noProof="0"/>
              <a:t>五级</a:t>
            </a:r>
          </a:p>
        </p:txBody>
      </p:sp>
      <p:sp>
        <p:nvSpPr>
          <p:cNvPr id="6" name="日期占位符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latin typeface="Microsoft YaHei UI" panose="020B0503020204020204" pitchFamily="34" charset="-122"/>
                <a:ea typeface="Microsoft YaHei UI" panose="020B0503020204020204" pitchFamily="34" charset="-122"/>
              </a:defRPr>
            </a:lvl1pPr>
          </a:lstStyle>
          <a:p>
            <a:fld id="{FC0AFDC1-AB40-4941-83E0-44D5ED544864}" type="datetime1">
              <a:rPr lang="zh-CN" altLang="en-US" noProof="0" smtClean="0"/>
              <a:t>2026/1/16</a:t>
            </a:fld>
            <a:endParaRPr lang="zh-CN" altLang="en-US" noProof="0"/>
          </a:p>
        </p:txBody>
      </p:sp>
      <p:sp>
        <p:nvSpPr>
          <p:cNvPr id="7" name="页脚占位符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latin typeface="Microsoft YaHei UI" panose="020B0503020204020204" pitchFamily="34" charset="-122"/>
                <a:ea typeface="Microsoft YaHei UI" panose="020B0503020204020204" pitchFamily="34" charset="-122"/>
              </a:defRPr>
            </a:lvl1pPr>
          </a:lstStyle>
          <a:p>
            <a:endParaRPr lang="zh-CN" altLang="en-US" noProof="0"/>
          </a:p>
        </p:txBody>
      </p:sp>
      <p:sp>
        <p:nvSpPr>
          <p:cNvPr id="8" name="灯片编号占位符 5"/>
          <p:cNvSpPr>
            <a:spLocks noGrp="1"/>
          </p:cNvSpPr>
          <p:nvPr>
            <p:ph type="sldNum" sz="quarter" idx="4"/>
          </p:nvPr>
        </p:nvSpPr>
        <p:spPr>
          <a:xfrm>
            <a:off x="8371926"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latin typeface="Microsoft YaHei UI" panose="020B0503020204020204" pitchFamily="34" charset="-122"/>
                <a:ea typeface="Microsoft YaHei UI" panose="020B0503020204020204" pitchFamily="34" charset="-122"/>
              </a:defRPr>
            </a:lvl1pPr>
          </a:lstStyle>
          <a:p>
            <a:fld id="{9860EDB8-5305-433F-BE41-D7A86D811DB3}" type="slidenum">
              <a:rPr lang="en-US" altLang="zh-CN" noProof="0" smtClean="0"/>
              <a:pPr/>
              <a:t>‹#›</a:t>
            </a:fld>
            <a:endParaRPr lang="zh-CN" altLang="en-US" noProof="0"/>
          </a:p>
        </p:txBody>
      </p:sp>
    </p:spTree>
    <p:extLst>
      <p:ext uri="{BB962C8B-B14F-4D97-AF65-F5344CB8AC3E}">
        <p14:creationId xmlns:p14="http://schemas.microsoft.com/office/powerpoint/2010/main" val="3676676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63FB6282-A393-4CF2-B8AE-95D7B33533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27551210-C923-4EBD-AEE2-0B78159F06A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FDC4176-68AF-43F6-B1B8-E4C2C0DF3B1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1E7264-2A5E-4381-83EE-444A9C59A166}" type="datetimeFigureOut">
              <a:rPr lang="zh-CN" altLang="en-US" smtClean="0"/>
              <a:t>2026/1/16</a:t>
            </a:fld>
            <a:endParaRPr lang="zh-CN" altLang="en-US"/>
          </a:p>
        </p:txBody>
      </p:sp>
      <p:sp>
        <p:nvSpPr>
          <p:cNvPr id="5" name="页脚占位符 4">
            <a:extLst>
              <a:ext uri="{FF2B5EF4-FFF2-40B4-BE49-F238E27FC236}">
                <a16:creationId xmlns:a16="http://schemas.microsoft.com/office/drawing/2014/main" id="{5A6217E5-3BC1-4BFA-ADF2-E12A2738FC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7CD75508-1299-4ABD-BA92-4FE0C92BFA9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34731B-4252-44C9-A79D-5D008C1C8F5F}" type="slidenum">
              <a:rPr lang="zh-CN" altLang="en-US" smtClean="0"/>
              <a:t>‹#›</a:t>
            </a:fld>
            <a:endParaRPr lang="zh-CN" altLang="en-US"/>
          </a:p>
        </p:txBody>
      </p:sp>
    </p:spTree>
    <p:extLst>
      <p:ext uri="{BB962C8B-B14F-4D97-AF65-F5344CB8AC3E}">
        <p14:creationId xmlns:p14="http://schemas.microsoft.com/office/powerpoint/2010/main" val="3572184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52.xml"/><Relationship Id="rId1" Type="http://schemas.openxmlformats.org/officeDocument/2006/relationships/slideLayout" Target="../slideLayouts/slideLayout13.xml"/><Relationship Id="rId4" Type="http://schemas.openxmlformats.org/officeDocument/2006/relationships/image" Target="../media/image32.jpg"/></Relationships>
</file>

<file path=ppt/slides/_rels/slide5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3.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4.xml"/><Relationship Id="rId1" Type="http://schemas.openxmlformats.org/officeDocument/2006/relationships/slideLayout" Target="../slideLayouts/slideLayout13.xml"/><Relationship Id="rId4" Type="http://schemas.openxmlformats.org/officeDocument/2006/relationships/image" Target="../media/image35.png"/></Relationships>
</file>

<file path=ppt/slides/_rels/slide5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5.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57.xml"/><Relationship Id="rId1" Type="http://schemas.openxmlformats.org/officeDocument/2006/relationships/slideLayout" Target="../slideLayouts/slideLayout13.xml"/><Relationship Id="rId4" Type="http://schemas.openxmlformats.org/officeDocument/2006/relationships/image" Target="../media/image37.jpg"/></Relationships>
</file>

<file path=ppt/slides/_rels/slide58.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58.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59.xml"/><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notesSlide" Target="../notesSlides/notesSlide63.xml"/><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notesSlide" Target="../notesSlides/notesSlide65.xml"/><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notesSlide" Target="../notesSlides/notesSlide67.xml"/><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78.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838200" y="1164324"/>
            <a:ext cx="10515600" cy="2387600"/>
          </a:xfrm>
        </p:spPr>
        <p:txBody>
          <a:bodyPr rtlCol="0" anchor="ctr" anchorCtr="0">
            <a:normAutofit/>
          </a:bodyPr>
          <a:lstStyle/>
          <a:p>
            <a:pPr rtl="0"/>
            <a:r>
              <a:rPr lang="en-US" altLang="zh-CN" sz="4800" dirty="0">
                <a:solidFill>
                  <a:schemeClr val="bg1"/>
                </a:solidFill>
              </a:rPr>
              <a:t>C</a:t>
            </a:r>
            <a:r>
              <a:rPr lang="zh-CN" altLang="en-US" sz="4800" dirty="0">
                <a:solidFill>
                  <a:schemeClr val="bg1"/>
                </a:solidFill>
              </a:rPr>
              <a:t>语言程序设计</a:t>
            </a:r>
            <a:endParaRPr lang="en-US" altLang="zh-CN" sz="4800" dirty="0">
              <a:solidFill>
                <a:schemeClr val="bg1"/>
              </a:solidFill>
            </a:endParaRPr>
          </a:p>
        </p:txBody>
      </p:sp>
      <p:sp>
        <p:nvSpPr>
          <p:cNvPr id="3" name="副标题 2"/>
          <p:cNvSpPr>
            <a:spLocks noGrp="1"/>
          </p:cNvSpPr>
          <p:nvPr>
            <p:ph type="subTitle" idx="4294967295"/>
          </p:nvPr>
        </p:nvSpPr>
        <p:spPr>
          <a:xfrm>
            <a:off x="855620" y="2933105"/>
            <a:ext cx="9582736" cy="1137793"/>
          </a:xfrm>
        </p:spPr>
        <p:txBody>
          <a:bodyPr rtlCol="0">
            <a:normAutofit/>
          </a:bodyPr>
          <a:lstStyle/>
          <a:p>
            <a:pPr marL="0" indent="0" rtl="0">
              <a:buNone/>
            </a:pPr>
            <a:r>
              <a:rPr lang="zh-CN" altLang="en-US" sz="2400" dirty="0">
                <a:solidFill>
                  <a:schemeClr val="bg1"/>
                </a:solidFill>
                <a:latin typeface="Microsoft YaHei UI Light" panose="020B0502040204020203" pitchFamily="34" charset="-122"/>
                <a:ea typeface="Microsoft YaHei UI Light" panose="020B0502040204020203" pitchFamily="34" charset="-122"/>
              </a:rPr>
              <a:t>课堂内容串讲</a:t>
            </a:r>
          </a:p>
        </p:txBody>
      </p:sp>
      <p:sp>
        <p:nvSpPr>
          <p:cNvPr id="5" name="文本框 4">
            <a:extLst>
              <a:ext uri="{FF2B5EF4-FFF2-40B4-BE49-F238E27FC236}">
                <a16:creationId xmlns:a16="http://schemas.microsoft.com/office/drawing/2014/main" id="{6F1A7F1C-8A53-4DAA-BD42-CCC2C6490522}"/>
              </a:ext>
            </a:extLst>
          </p:cNvPr>
          <p:cNvSpPr txBox="1"/>
          <p:nvPr/>
        </p:nvSpPr>
        <p:spPr>
          <a:xfrm>
            <a:off x="855620" y="4655128"/>
            <a:ext cx="2137559" cy="369332"/>
          </a:xfrm>
          <a:prstGeom prst="rect">
            <a:avLst/>
          </a:prstGeom>
          <a:noFill/>
        </p:spPr>
        <p:txBody>
          <a:bodyPr wrap="square" rtlCol="0">
            <a:spAutoFit/>
          </a:bodyPr>
          <a:lstStyle/>
          <a:p>
            <a:r>
              <a:rPr lang="zh-CN" altLang="en-US" dirty="0">
                <a:solidFill>
                  <a:schemeClr val="bg1"/>
                </a:solidFill>
              </a:rPr>
              <a:t>讲解人：叶深岚</a:t>
            </a:r>
          </a:p>
        </p:txBody>
      </p:sp>
    </p:spTree>
    <p:extLst>
      <p:ext uri="{BB962C8B-B14F-4D97-AF65-F5344CB8AC3E}">
        <p14:creationId xmlns:p14="http://schemas.microsoft.com/office/powerpoint/2010/main" val="2471807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rtlCol="0">
            <a:noAutofit/>
          </a:bodyPr>
          <a:lstStyle/>
          <a:p>
            <a:pPr rtl="0"/>
            <a:r>
              <a:rPr lang="zh-CN" altLang="en-US" dirty="0">
                <a:cs typeface="Segoe UI Light" panose="020B0502040204020203" pitchFamily="34" charset="0"/>
              </a:rPr>
              <a:t>第一部分</a:t>
            </a:r>
          </a:p>
        </p:txBody>
      </p:sp>
      <p:sp>
        <p:nvSpPr>
          <p:cNvPr id="38" name="内容占位符 17"/>
          <p:cNvSpPr txBox="1">
            <a:spLocks/>
          </p:cNvSpPr>
          <p:nvPr/>
        </p:nvSpPr>
        <p:spPr>
          <a:xfrm>
            <a:off x="541610" y="1524708"/>
            <a:ext cx="9902738" cy="3871518"/>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rtl="0">
              <a:lnSpc>
                <a:spcPct val="250000"/>
              </a:lnSpc>
              <a:spcAft>
                <a:spcPts val="600"/>
              </a:spcAft>
              <a:buNone/>
              <a:defRPr/>
            </a:pPr>
            <a:r>
              <a:rPr lang="en-US" altLang="zh-CN" sz="2000" dirty="0">
                <a:latin typeface="Microsoft YaHei UI" panose="020B0503020204020204" pitchFamily="34" charset="-122"/>
                <a:ea typeface="Microsoft YaHei UI" panose="020B0503020204020204" pitchFamily="34" charset="-122"/>
                <a:cs typeface="Segoe UI" panose="020B0502040204020203" pitchFamily="34" charset="0"/>
              </a:rPr>
              <a:t>Chapter 1</a:t>
            </a:r>
            <a:r>
              <a:rPr lang="zh-CN" altLang="en-US" sz="2000" dirty="0">
                <a:latin typeface="Microsoft YaHei UI" panose="020B0503020204020204" pitchFamily="34" charset="-122"/>
                <a:ea typeface="Microsoft YaHei UI" panose="020B0503020204020204" pitchFamily="34" charset="-122"/>
                <a:cs typeface="Segoe UI" panose="020B0502040204020203" pitchFamily="34" charset="0"/>
              </a:rPr>
              <a:t>  </a:t>
            </a:r>
            <a:r>
              <a:rPr lang="en-US" altLang="zh-CN" sz="2000" dirty="0">
                <a:latin typeface="Microsoft YaHei UI" panose="020B0503020204020204" pitchFamily="34" charset="-122"/>
                <a:ea typeface="Microsoft YaHei UI" panose="020B0503020204020204" pitchFamily="34" charset="-122"/>
                <a:cs typeface="Segoe UI" panose="020B0502040204020203" pitchFamily="34" charset="0"/>
              </a:rPr>
              <a:t>C</a:t>
            </a:r>
            <a:r>
              <a:rPr lang="zh-CN" altLang="en-US" sz="2000" dirty="0">
                <a:latin typeface="Microsoft YaHei UI" panose="020B0503020204020204" pitchFamily="34" charset="-122"/>
                <a:ea typeface="Microsoft YaHei UI" panose="020B0503020204020204" pitchFamily="34" charset="-122"/>
                <a:cs typeface="Segoe UI" panose="020B0502040204020203" pitchFamily="34" charset="0"/>
              </a:rPr>
              <a:t>语言概论</a:t>
            </a:r>
            <a:endParaRPr lang="en-US" altLang="zh-CN" sz="2000" dirty="0">
              <a:latin typeface="Microsoft YaHei UI" panose="020B0503020204020204" pitchFamily="34" charset="-122"/>
              <a:ea typeface="Microsoft YaHei UI" panose="020B0503020204020204" pitchFamily="34" charset="-122"/>
              <a:cs typeface="Segoe UI" panose="020B0502040204020203" pitchFamily="34" charset="0"/>
            </a:endParaRPr>
          </a:p>
          <a:p>
            <a:pPr marL="0" lvl="0" indent="0" rtl="0">
              <a:lnSpc>
                <a:spcPct val="250000"/>
              </a:lnSpc>
              <a:spcAft>
                <a:spcPts val="600"/>
              </a:spcAft>
              <a:buNone/>
              <a:defRPr/>
            </a:pPr>
            <a:r>
              <a:rPr lang="en-US" altLang="zh-CN" sz="2000" dirty="0">
                <a:latin typeface="Microsoft YaHei UI" panose="020B0503020204020204" pitchFamily="34" charset="-122"/>
                <a:ea typeface="Microsoft YaHei UI" panose="020B0503020204020204" pitchFamily="34" charset="-122"/>
                <a:cs typeface="Segoe UI" panose="020B0502040204020203" pitchFamily="34" charset="0"/>
              </a:rPr>
              <a:t>Chapter 2  </a:t>
            </a:r>
            <a:r>
              <a:rPr lang="zh-CN" altLang="en-US" sz="2000" dirty="0">
                <a:latin typeface="Microsoft YaHei UI" panose="020B0503020204020204" pitchFamily="34" charset="-122"/>
                <a:ea typeface="Microsoft YaHei UI" panose="020B0503020204020204" pitchFamily="34" charset="-122"/>
                <a:cs typeface="Segoe UI" panose="020B0502040204020203" pitchFamily="34" charset="0"/>
              </a:rPr>
              <a:t>数据类型、运算符和表达式</a:t>
            </a:r>
            <a:endParaRPr lang="en-US" altLang="zh-CN" sz="2000" dirty="0">
              <a:latin typeface="Microsoft YaHei UI" panose="020B0503020204020204" pitchFamily="34" charset="-122"/>
              <a:ea typeface="Microsoft YaHei UI" panose="020B0503020204020204" pitchFamily="34" charset="-122"/>
              <a:cs typeface="Segoe UI" panose="020B0502040204020203" pitchFamily="34" charset="0"/>
            </a:endParaRPr>
          </a:p>
          <a:p>
            <a:pPr marL="0" lvl="0" indent="0" rtl="0">
              <a:lnSpc>
                <a:spcPct val="250000"/>
              </a:lnSpc>
              <a:spcAft>
                <a:spcPts val="600"/>
              </a:spcAft>
              <a:buNone/>
              <a:defRPr/>
            </a:pPr>
            <a:r>
              <a:rPr lang="en-US" altLang="zh-CN" sz="2000" dirty="0">
                <a:latin typeface="Microsoft YaHei UI" panose="020B0503020204020204" pitchFamily="34" charset="-122"/>
                <a:ea typeface="Microsoft YaHei UI" panose="020B0503020204020204" pitchFamily="34" charset="-122"/>
                <a:cs typeface="Segoe UI" panose="020B0502040204020203" pitchFamily="34" charset="0"/>
              </a:rPr>
              <a:t>Chapter 3  </a:t>
            </a:r>
            <a:r>
              <a:rPr lang="zh-CN" altLang="en-US" sz="2000" dirty="0">
                <a:latin typeface="Microsoft YaHei UI" panose="020B0503020204020204" pitchFamily="34" charset="-122"/>
                <a:ea typeface="Microsoft YaHei UI" panose="020B0503020204020204" pitchFamily="34" charset="-122"/>
                <a:cs typeface="Segoe UI" panose="020B0502040204020203" pitchFamily="34" charset="0"/>
              </a:rPr>
              <a:t>程序和流程控制</a:t>
            </a:r>
            <a:endParaRPr lang="en-US" altLang="zh-CN" sz="2000" dirty="0">
              <a:latin typeface="Microsoft YaHei UI" panose="020B0503020204020204" pitchFamily="34" charset="-122"/>
              <a:ea typeface="Microsoft YaHei UI" panose="020B0503020204020204" pitchFamily="34" charset="-122"/>
              <a:cs typeface="Segoe UI" panose="020B0502040204020203" pitchFamily="34" charset="0"/>
            </a:endParaRPr>
          </a:p>
        </p:txBody>
      </p:sp>
      <p:sp>
        <p:nvSpPr>
          <p:cNvPr id="2" name="文本框 1">
            <a:extLst>
              <a:ext uri="{FF2B5EF4-FFF2-40B4-BE49-F238E27FC236}">
                <a16:creationId xmlns:a16="http://schemas.microsoft.com/office/drawing/2014/main" id="{593E8669-8038-4E1B-A82E-B3CD19608FBC}"/>
              </a:ext>
            </a:extLst>
          </p:cNvPr>
          <p:cNvSpPr txBox="1"/>
          <p:nvPr/>
        </p:nvSpPr>
        <p:spPr>
          <a:xfrm>
            <a:off x="3473533" y="1864426"/>
            <a:ext cx="5694218" cy="369332"/>
          </a:xfrm>
          <a:prstGeom prst="rect">
            <a:avLst/>
          </a:prstGeom>
          <a:noFill/>
        </p:spPr>
        <p:txBody>
          <a:bodyPr wrap="square" rtlCol="0">
            <a:spAutoFit/>
          </a:bodyPr>
          <a:lstStyle/>
          <a:p>
            <a:r>
              <a:rPr lang="en-US" altLang="zh-CN" dirty="0"/>
              <a:t>-&gt;</a:t>
            </a:r>
            <a:r>
              <a:rPr lang="zh-CN" altLang="en-US" dirty="0">
                <a:highlight>
                  <a:srgbClr val="FFFF00"/>
                </a:highlight>
              </a:rPr>
              <a:t>数据存储形式、</a:t>
            </a:r>
            <a:r>
              <a:rPr lang="en-US" altLang="zh-CN" dirty="0">
                <a:highlight>
                  <a:srgbClr val="FFFF00"/>
                </a:highlight>
              </a:rPr>
              <a:t>C</a:t>
            </a:r>
            <a:r>
              <a:rPr lang="zh-CN" altLang="en-US" dirty="0">
                <a:highlight>
                  <a:srgbClr val="FFFF00"/>
                </a:highlight>
              </a:rPr>
              <a:t>语言中的基本规则</a:t>
            </a:r>
          </a:p>
        </p:txBody>
      </p:sp>
      <p:sp>
        <p:nvSpPr>
          <p:cNvPr id="5" name="文本框 4">
            <a:extLst>
              <a:ext uri="{FF2B5EF4-FFF2-40B4-BE49-F238E27FC236}">
                <a16:creationId xmlns:a16="http://schemas.microsoft.com/office/drawing/2014/main" id="{01C2E30A-A133-45E4-A980-5C9E26605953}"/>
              </a:ext>
            </a:extLst>
          </p:cNvPr>
          <p:cNvSpPr txBox="1"/>
          <p:nvPr/>
        </p:nvSpPr>
        <p:spPr>
          <a:xfrm>
            <a:off x="5335980" y="2830285"/>
            <a:ext cx="5694218" cy="369332"/>
          </a:xfrm>
          <a:prstGeom prst="rect">
            <a:avLst/>
          </a:prstGeom>
          <a:noFill/>
        </p:spPr>
        <p:txBody>
          <a:bodyPr wrap="square" rtlCol="0">
            <a:spAutoFit/>
          </a:bodyPr>
          <a:lstStyle/>
          <a:p>
            <a:r>
              <a:rPr lang="en-US" altLang="zh-CN" dirty="0"/>
              <a:t>-&gt;</a:t>
            </a:r>
            <a:r>
              <a:rPr lang="zh-CN" altLang="en-US" dirty="0">
                <a:highlight>
                  <a:srgbClr val="FFFF00"/>
                </a:highlight>
              </a:rPr>
              <a:t>顾名思义</a:t>
            </a:r>
          </a:p>
        </p:txBody>
      </p:sp>
      <p:sp>
        <p:nvSpPr>
          <p:cNvPr id="6" name="文本框 5">
            <a:extLst>
              <a:ext uri="{FF2B5EF4-FFF2-40B4-BE49-F238E27FC236}">
                <a16:creationId xmlns:a16="http://schemas.microsoft.com/office/drawing/2014/main" id="{57673CDB-2F03-426B-8F92-8A39AAD29060}"/>
              </a:ext>
            </a:extLst>
          </p:cNvPr>
          <p:cNvSpPr txBox="1"/>
          <p:nvPr/>
        </p:nvSpPr>
        <p:spPr>
          <a:xfrm>
            <a:off x="4116779" y="3796144"/>
            <a:ext cx="6974773" cy="369332"/>
          </a:xfrm>
          <a:prstGeom prst="rect">
            <a:avLst/>
          </a:prstGeom>
          <a:noFill/>
        </p:spPr>
        <p:txBody>
          <a:bodyPr wrap="square" rtlCol="0">
            <a:spAutoFit/>
          </a:bodyPr>
          <a:lstStyle/>
          <a:p>
            <a:r>
              <a:rPr lang="en-US" altLang="zh-CN" dirty="0"/>
              <a:t>-&gt;</a:t>
            </a:r>
            <a:r>
              <a:rPr lang="zh-CN" altLang="en-US" dirty="0">
                <a:highlight>
                  <a:srgbClr val="FFFF00"/>
                </a:highlight>
              </a:rPr>
              <a:t>基本程序结构、条件语句（</a:t>
            </a:r>
            <a:r>
              <a:rPr lang="en-US" altLang="zh-CN" dirty="0">
                <a:highlight>
                  <a:srgbClr val="FFFF00"/>
                </a:highlight>
              </a:rPr>
              <a:t>if &amp; switch</a:t>
            </a:r>
            <a:r>
              <a:rPr lang="zh-CN" altLang="en-US" dirty="0">
                <a:highlight>
                  <a:srgbClr val="FFFF00"/>
                </a:highlight>
              </a:rPr>
              <a:t>）、循环语句（</a:t>
            </a:r>
            <a:r>
              <a:rPr lang="en-US" altLang="zh-CN" dirty="0">
                <a:highlight>
                  <a:srgbClr val="FFFF00"/>
                </a:highlight>
              </a:rPr>
              <a:t>for &amp; while</a:t>
            </a:r>
            <a:r>
              <a:rPr lang="zh-CN" altLang="en-US" dirty="0">
                <a:highlight>
                  <a:srgbClr val="FFFF00"/>
                </a:highlight>
              </a:rPr>
              <a:t>）</a:t>
            </a:r>
          </a:p>
        </p:txBody>
      </p:sp>
    </p:spTree>
    <p:extLst>
      <p:ext uri="{BB962C8B-B14F-4D97-AF65-F5344CB8AC3E}">
        <p14:creationId xmlns:p14="http://schemas.microsoft.com/office/powerpoint/2010/main" val="26479102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rtlCol="0">
            <a:noAutofit/>
          </a:bodyPr>
          <a:lstStyle/>
          <a:p>
            <a:pPr rtl="0"/>
            <a:r>
              <a:rPr lang="en-US" altLang="zh-CN" dirty="0">
                <a:cs typeface="Segoe UI Light" panose="020B0502040204020203" pitchFamily="34" charset="0"/>
              </a:rPr>
              <a:t>Chapter 1  C</a:t>
            </a:r>
            <a:r>
              <a:rPr lang="zh-CN" altLang="en-US" dirty="0">
                <a:cs typeface="Segoe UI Light" panose="020B0502040204020203" pitchFamily="34" charset="0"/>
              </a:rPr>
              <a:t>语言概论</a:t>
            </a:r>
          </a:p>
        </p:txBody>
      </p:sp>
      <p:sp>
        <p:nvSpPr>
          <p:cNvPr id="2" name="文本框 1">
            <a:extLst>
              <a:ext uri="{FF2B5EF4-FFF2-40B4-BE49-F238E27FC236}">
                <a16:creationId xmlns:a16="http://schemas.microsoft.com/office/drawing/2014/main" id="{278E70F4-2A89-46EF-8FA4-B65F4871C040}"/>
              </a:ext>
            </a:extLst>
          </p:cNvPr>
          <p:cNvSpPr txBox="1"/>
          <p:nvPr/>
        </p:nvSpPr>
        <p:spPr>
          <a:xfrm>
            <a:off x="611578" y="1413164"/>
            <a:ext cx="1603169" cy="369332"/>
          </a:xfrm>
          <a:prstGeom prst="rect">
            <a:avLst/>
          </a:prstGeom>
          <a:noFill/>
        </p:spPr>
        <p:txBody>
          <a:bodyPr wrap="square" rtlCol="0">
            <a:spAutoFit/>
          </a:bodyPr>
          <a:lstStyle/>
          <a:p>
            <a:r>
              <a:rPr lang="en-US" altLang="zh-CN" dirty="0"/>
              <a:t>1.1 </a:t>
            </a:r>
            <a:r>
              <a:rPr lang="zh-CN" altLang="en-US" dirty="0"/>
              <a:t>进制</a:t>
            </a:r>
          </a:p>
        </p:txBody>
      </p:sp>
      <p:sp>
        <p:nvSpPr>
          <p:cNvPr id="3" name="文本框 2">
            <a:extLst>
              <a:ext uri="{FF2B5EF4-FFF2-40B4-BE49-F238E27FC236}">
                <a16:creationId xmlns:a16="http://schemas.microsoft.com/office/drawing/2014/main" id="{8CBF79D0-3DD0-4C72-9DF9-A687DD5217DB}"/>
              </a:ext>
            </a:extLst>
          </p:cNvPr>
          <p:cNvSpPr txBox="1"/>
          <p:nvPr/>
        </p:nvSpPr>
        <p:spPr>
          <a:xfrm>
            <a:off x="611578" y="1922858"/>
            <a:ext cx="8330541" cy="369332"/>
          </a:xfrm>
          <a:prstGeom prst="rect">
            <a:avLst/>
          </a:prstGeom>
          <a:noFill/>
        </p:spPr>
        <p:txBody>
          <a:bodyPr wrap="square" rtlCol="0">
            <a:spAutoFit/>
          </a:bodyPr>
          <a:lstStyle/>
          <a:p>
            <a:r>
              <a:rPr lang="zh-CN" altLang="en-US" dirty="0"/>
              <a:t>数据在计算机中表现得形式有：二进制、八进制、十进制、十六进制</a:t>
            </a:r>
          </a:p>
        </p:txBody>
      </p:sp>
      <p:pic>
        <p:nvPicPr>
          <p:cNvPr id="6" name="图片 5">
            <a:extLst>
              <a:ext uri="{FF2B5EF4-FFF2-40B4-BE49-F238E27FC236}">
                <a16:creationId xmlns:a16="http://schemas.microsoft.com/office/drawing/2014/main" id="{C6EE25D5-0C48-4031-BB67-2AD1694E1E20}"/>
              </a:ext>
            </a:extLst>
          </p:cNvPr>
          <p:cNvPicPr>
            <a:picLocks noChangeAspect="1"/>
          </p:cNvPicPr>
          <p:nvPr/>
        </p:nvPicPr>
        <p:blipFill>
          <a:blip r:embed="rId3"/>
          <a:stretch>
            <a:fillRect/>
          </a:stretch>
        </p:blipFill>
        <p:spPr>
          <a:xfrm>
            <a:off x="1930729" y="2379520"/>
            <a:ext cx="8330541" cy="4030424"/>
          </a:xfrm>
          <a:prstGeom prst="rect">
            <a:avLst/>
          </a:prstGeom>
        </p:spPr>
      </p:pic>
    </p:spTree>
    <p:extLst>
      <p:ext uri="{BB962C8B-B14F-4D97-AF65-F5344CB8AC3E}">
        <p14:creationId xmlns:p14="http://schemas.microsoft.com/office/powerpoint/2010/main" val="34576161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rtlCol="0">
            <a:noAutofit/>
          </a:bodyPr>
          <a:lstStyle/>
          <a:p>
            <a:pPr rtl="0"/>
            <a:r>
              <a:rPr lang="en-US" altLang="zh-CN" dirty="0">
                <a:cs typeface="Segoe UI Light" panose="020B0502040204020203" pitchFamily="34" charset="0"/>
              </a:rPr>
              <a:t>Chapter 1  C</a:t>
            </a:r>
            <a:r>
              <a:rPr lang="zh-CN" altLang="en-US" dirty="0">
                <a:cs typeface="Segoe UI Light" panose="020B0502040204020203" pitchFamily="34" charset="0"/>
              </a:rPr>
              <a:t>语言概论</a:t>
            </a:r>
          </a:p>
        </p:txBody>
      </p:sp>
      <p:sp>
        <p:nvSpPr>
          <p:cNvPr id="2" name="文本框 1">
            <a:extLst>
              <a:ext uri="{FF2B5EF4-FFF2-40B4-BE49-F238E27FC236}">
                <a16:creationId xmlns:a16="http://schemas.microsoft.com/office/drawing/2014/main" id="{278E70F4-2A89-46EF-8FA4-B65F4871C040}"/>
              </a:ext>
            </a:extLst>
          </p:cNvPr>
          <p:cNvSpPr txBox="1"/>
          <p:nvPr/>
        </p:nvSpPr>
        <p:spPr>
          <a:xfrm>
            <a:off x="611578" y="1413164"/>
            <a:ext cx="3621975" cy="369332"/>
          </a:xfrm>
          <a:prstGeom prst="rect">
            <a:avLst/>
          </a:prstGeom>
          <a:noFill/>
        </p:spPr>
        <p:txBody>
          <a:bodyPr wrap="square" rtlCol="0">
            <a:spAutoFit/>
          </a:bodyPr>
          <a:lstStyle/>
          <a:p>
            <a:r>
              <a:rPr lang="en-US" altLang="zh-CN" dirty="0"/>
              <a:t>1.2 </a:t>
            </a:r>
            <a:r>
              <a:rPr lang="zh-CN" altLang="en-US" dirty="0"/>
              <a:t>原码、补码、反码</a:t>
            </a:r>
          </a:p>
        </p:txBody>
      </p:sp>
      <p:pic>
        <p:nvPicPr>
          <p:cNvPr id="9" name="图片 8">
            <a:extLst>
              <a:ext uri="{FF2B5EF4-FFF2-40B4-BE49-F238E27FC236}">
                <a16:creationId xmlns:a16="http://schemas.microsoft.com/office/drawing/2014/main" id="{A541051C-F67E-4868-8E32-AF3BE41F8CE0}"/>
              </a:ext>
            </a:extLst>
          </p:cNvPr>
          <p:cNvPicPr>
            <a:picLocks noChangeAspect="1"/>
          </p:cNvPicPr>
          <p:nvPr/>
        </p:nvPicPr>
        <p:blipFill>
          <a:blip r:embed="rId3"/>
          <a:stretch>
            <a:fillRect/>
          </a:stretch>
        </p:blipFill>
        <p:spPr>
          <a:xfrm>
            <a:off x="2453243" y="3218213"/>
            <a:ext cx="7285513" cy="2989551"/>
          </a:xfrm>
          <a:prstGeom prst="rect">
            <a:avLst/>
          </a:prstGeom>
        </p:spPr>
      </p:pic>
      <p:sp>
        <p:nvSpPr>
          <p:cNvPr id="10" name="文本框 9">
            <a:extLst>
              <a:ext uri="{FF2B5EF4-FFF2-40B4-BE49-F238E27FC236}">
                <a16:creationId xmlns:a16="http://schemas.microsoft.com/office/drawing/2014/main" id="{EB5F4080-8779-40BF-9289-8CFB6D5D8FD5}"/>
              </a:ext>
            </a:extLst>
          </p:cNvPr>
          <p:cNvSpPr txBox="1"/>
          <p:nvPr/>
        </p:nvSpPr>
        <p:spPr>
          <a:xfrm>
            <a:off x="611578" y="1898319"/>
            <a:ext cx="8532422" cy="923330"/>
          </a:xfrm>
          <a:prstGeom prst="rect">
            <a:avLst/>
          </a:prstGeom>
          <a:noFill/>
        </p:spPr>
        <p:txBody>
          <a:bodyPr wrap="square" rtlCol="0">
            <a:spAutoFit/>
          </a:bodyPr>
          <a:lstStyle/>
          <a:p>
            <a:r>
              <a:rPr lang="zh-CN" altLang="en-US" dirty="0"/>
              <a:t>正数：三种表示完全相同。</a:t>
            </a:r>
            <a:endParaRPr lang="en-US" altLang="zh-CN" dirty="0"/>
          </a:p>
          <a:p>
            <a:endParaRPr lang="en-US" altLang="zh-CN" dirty="0"/>
          </a:p>
          <a:p>
            <a:r>
              <a:rPr lang="zh-CN" altLang="en-US" dirty="0"/>
              <a:t>负数：原码 → 反码（数值位取反） → 补码（反码 </a:t>
            </a:r>
            <a:r>
              <a:rPr lang="en-US" altLang="zh-CN" dirty="0"/>
              <a:t>+ 1</a:t>
            </a:r>
            <a:r>
              <a:rPr lang="zh-CN" altLang="en-US" dirty="0"/>
              <a:t>）。</a:t>
            </a:r>
          </a:p>
        </p:txBody>
      </p:sp>
    </p:spTree>
    <p:extLst>
      <p:ext uri="{BB962C8B-B14F-4D97-AF65-F5344CB8AC3E}">
        <p14:creationId xmlns:p14="http://schemas.microsoft.com/office/powerpoint/2010/main" val="12420768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rtlCol="0">
            <a:noAutofit/>
          </a:bodyPr>
          <a:lstStyle/>
          <a:p>
            <a:pPr rtl="0"/>
            <a:r>
              <a:rPr lang="en-US" altLang="zh-CN" dirty="0">
                <a:cs typeface="Segoe UI Light" panose="020B0502040204020203" pitchFamily="34" charset="0"/>
              </a:rPr>
              <a:t>Chapter 1  C</a:t>
            </a:r>
            <a:r>
              <a:rPr lang="zh-CN" altLang="en-US" dirty="0">
                <a:cs typeface="Segoe UI Light" panose="020B0502040204020203" pitchFamily="34" charset="0"/>
              </a:rPr>
              <a:t>语言概论</a:t>
            </a:r>
          </a:p>
        </p:txBody>
      </p:sp>
      <p:sp>
        <p:nvSpPr>
          <p:cNvPr id="2" name="文本框 1">
            <a:extLst>
              <a:ext uri="{FF2B5EF4-FFF2-40B4-BE49-F238E27FC236}">
                <a16:creationId xmlns:a16="http://schemas.microsoft.com/office/drawing/2014/main" id="{278E70F4-2A89-46EF-8FA4-B65F4871C040}"/>
              </a:ext>
            </a:extLst>
          </p:cNvPr>
          <p:cNvSpPr txBox="1"/>
          <p:nvPr/>
        </p:nvSpPr>
        <p:spPr>
          <a:xfrm>
            <a:off x="611578" y="1413164"/>
            <a:ext cx="3621975" cy="369332"/>
          </a:xfrm>
          <a:prstGeom prst="rect">
            <a:avLst/>
          </a:prstGeom>
          <a:noFill/>
        </p:spPr>
        <p:txBody>
          <a:bodyPr wrap="square" rtlCol="0">
            <a:spAutoFit/>
          </a:bodyPr>
          <a:lstStyle/>
          <a:p>
            <a:r>
              <a:rPr lang="en-US" altLang="zh-CN" dirty="0"/>
              <a:t>1.3 C</a:t>
            </a:r>
            <a:r>
              <a:rPr lang="zh-CN" altLang="en-US" dirty="0"/>
              <a:t>语言程序的标识符</a:t>
            </a:r>
          </a:p>
        </p:txBody>
      </p:sp>
      <p:sp>
        <p:nvSpPr>
          <p:cNvPr id="3" name="文本框 2">
            <a:extLst>
              <a:ext uri="{FF2B5EF4-FFF2-40B4-BE49-F238E27FC236}">
                <a16:creationId xmlns:a16="http://schemas.microsoft.com/office/drawing/2014/main" id="{8CBF79D0-3DD0-4C72-9DF9-A687DD5217DB}"/>
              </a:ext>
            </a:extLst>
          </p:cNvPr>
          <p:cNvSpPr txBox="1"/>
          <p:nvPr/>
        </p:nvSpPr>
        <p:spPr>
          <a:xfrm>
            <a:off x="611578" y="1885991"/>
            <a:ext cx="9458697" cy="646331"/>
          </a:xfrm>
          <a:prstGeom prst="rect">
            <a:avLst/>
          </a:prstGeom>
          <a:noFill/>
        </p:spPr>
        <p:txBody>
          <a:bodyPr wrap="square" rtlCol="0">
            <a:spAutoFit/>
          </a:bodyPr>
          <a:lstStyle/>
          <a:p>
            <a:r>
              <a:rPr lang="zh-CN" altLang="en-US" dirty="0"/>
              <a:t>标识符是变量、函数的名称，必须且仅能由</a:t>
            </a:r>
            <a:r>
              <a:rPr lang="zh-CN" altLang="en-US" dirty="0">
                <a:highlight>
                  <a:srgbClr val="FFFF00"/>
                </a:highlight>
              </a:rPr>
              <a:t>（大小写）字母、下划线和数字</a:t>
            </a:r>
            <a:r>
              <a:rPr lang="zh-CN" altLang="en-US" dirty="0"/>
              <a:t>组成。其中，数字不能作为标识符的开头。</a:t>
            </a:r>
          </a:p>
        </p:txBody>
      </p:sp>
      <p:sp>
        <p:nvSpPr>
          <p:cNvPr id="5" name="文本框 4">
            <a:extLst>
              <a:ext uri="{FF2B5EF4-FFF2-40B4-BE49-F238E27FC236}">
                <a16:creationId xmlns:a16="http://schemas.microsoft.com/office/drawing/2014/main" id="{C8AF7F93-7937-40B2-ABEF-F42D73FC2913}"/>
              </a:ext>
            </a:extLst>
          </p:cNvPr>
          <p:cNvSpPr txBox="1"/>
          <p:nvPr/>
        </p:nvSpPr>
        <p:spPr>
          <a:xfrm>
            <a:off x="855023" y="2903517"/>
            <a:ext cx="3301341" cy="2031325"/>
          </a:xfrm>
          <a:prstGeom prst="rect">
            <a:avLst/>
          </a:prstGeom>
          <a:noFill/>
        </p:spPr>
        <p:txBody>
          <a:bodyPr wrap="square" rtlCol="0">
            <a:spAutoFit/>
          </a:bodyPr>
          <a:lstStyle/>
          <a:p>
            <a:r>
              <a:rPr lang="zh-CN" altLang="en-US" dirty="0"/>
              <a:t>正例</a:t>
            </a:r>
            <a:endParaRPr lang="en-US" altLang="zh-CN" dirty="0"/>
          </a:p>
          <a:p>
            <a:endParaRPr lang="en-US" altLang="zh-CN" dirty="0"/>
          </a:p>
          <a:p>
            <a:r>
              <a:rPr lang="en-US" altLang="zh-CN" dirty="0">
                <a:latin typeface="Cascadia Code SemiLight" panose="020B0609020000020004" pitchFamily="49" charset="0"/>
                <a:ea typeface="Calibri" panose="020F0502020204030204" pitchFamily="34" charset="0"/>
                <a:cs typeface="Cascadia Code SemiLight" panose="020B0609020000020004" pitchFamily="49" charset="0"/>
              </a:rPr>
              <a:t>count</a:t>
            </a:r>
          </a:p>
          <a:p>
            <a:r>
              <a:rPr lang="en-US" altLang="zh-CN" dirty="0" err="1">
                <a:latin typeface="Cascadia Code SemiLight" panose="020B0609020000020004" pitchFamily="49" charset="0"/>
                <a:ea typeface="Calibri" panose="020F0502020204030204" pitchFamily="34" charset="0"/>
                <a:cs typeface="Cascadia Code SemiLight" panose="020B0609020000020004" pitchFamily="49" charset="0"/>
              </a:rPr>
              <a:t>total_sum</a:t>
            </a:r>
            <a:endParaRPr lang="en-US" altLang="zh-CN" dirty="0">
              <a:latin typeface="Cascadia Code SemiLight" panose="020B0609020000020004" pitchFamily="49" charset="0"/>
              <a:ea typeface="Calibri" panose="020F0502020204030204" pitchFamily="34" charset="0"/>
              <a:cs typeface="Cascadia Code SemiLight" panose="020B0609020000020004" pitchFamily="49" charset="0"/>
            </a:endParaRPr>
          </a:p>
          <a:p>
            <a:r>
              <a:rPr lang="en-US" altLang="zh-CN" dirty="0">
                <a:latin typeface="Cascadia Code SemiLight" panose="020B0609020000020004" pitchFamily="49" charset="0"/>
                <a:ea typeface="Calibri" panose="020F0502020204030204" pitchFamily="34" charset="0"/>
                <a:cs typeface="Cascadia Code SemiLight" panose="020B0609020000020004" pitchFamily="49" charset="0"/>
              </a:rPr>
              <a:t>Index1</a:t>
            </a:r>
          </a:p>
          <a:p>
            <a:r>
              <a:rPr lang="en-US" altLang="zh-CN" dirty="0" err="1">
                <a:latin typeface="Cascadia Code SemiLight" panose="020B0609020000020004" pitchFamily="49" charset="0"/>
                <a:ea typeface="Calibri" panose="020F0502020204030204" pitchFamily="34" charset="0"/>
                <a:cs typeface="Cascadia Code SemiLight" panose="020B0609020000020004" pitchFamily="49" charset="0"/>
              </a:rPr>
              <a:t>MaxValue</a:t>
            </a:r>
            <a:endParaRPr lang="en-US" altLang="zh-CN" dirty="0">
              <a:latin typeface="Cascadia Code SemiLight" panose="020B0609020000020004" pitchFamily="49" charset="0"/>
              <a:ea typeface="Calibri" panose="020F0502020204030204" pitchFamily="34" charset="0"/>
              <a:cs typeface="Cascadia Code SemiLight" panose="020B0609020000020004" pitchFamily="49" charset="0"/>
            </a:endParaRPr>
          </a:p>
          <a:p>
            <a:r>
              <a:rPr lang="en-US" altLang="zh-CN" dirty="0">
                <a:latin typeface="Cascadia Code SemiLight" panose="020B0609020000020004" pitchFamily="49" charset="0"/>
                <a:ea typeface="Calibri" panose="020F0502020204030204" pitchFamily="34" charset="0"/>
                <a:cs typeface="Cascadia Code SemiLight" panose="020B0609020000020004" pitchFamily="49" charset="0"/>
              </a:rPr>
              <a:t>_tempVar</a:t>
            </a:r>
            <a:endParaRPr lang="zh-CN" altLang="en-US" dirty="0">
              <a:latin typeface="Cascadia Code SemiLight" panose="020B0609020000020004" pitchFamily="49" charset="0"/>
              <a:cs typeface="Cascadia Code SemiLight" panose="020B0609020000020004" pitchFamily="49" charset="0"/>
            </a:endParaRPr>
          </a:p>
        </p:txBody>
      </p:sp>
      <p:sp>
        <p:nvSpPr>
          <p:cNvPr id="11" name="文本框 10">
            <a:extLst>
              <a:ext uri="{FF2B5EF4-FFF2-40B4-BE49-F238E27FC236}">
                <a16:creationId xmlns:a16="http://schemas.microsoft.com/office/drawing/2014/main" id="{4F01830E-D7AA-497F-A31C-D21FD2BAAE02}"/>
              </a:ext>
            </a:extLst>
          </p:cNvPr>
          <p:cNvSpPr txBox="1"/>
          <p:nvPr/>
        </p:nvSpPr>
        <p:spPr>
          <a:xfrm>
            <a:off x="5591298" y="2903516"/>
            <a:ext cx="6082146" cy="2031325"/>
          </a:xfrm>
          <a:prstGeom prst="rect">
            <a:avLst/>
          </a:prstGeom>
          <a:noFill/>
        </p:spPr>
        <p:txBody>
          <a:bodyPr wrap="square" rtlCol="0">
            <a:spAutoFit/>
          </a:bodyPr>
          <a:lstStyle/>
          <a:p>
            <a:r>
              <a:rPr lang="zh-CN" altLang="en-US" dirty="0"/>
              <a:t>反例</a:t>
            </a:r>
            <a:endParaRPr lang="en-US" altLang="zh-CN" dirty="0"/>
          </a:p>
          <a:p>
            <a:endParaRPr lang="en-US" altLang="zh-CN" dirty="0"/>
          </a:p>
          <a:p>
            <a:r>
              <a:rPr lang="en-US" altLang="zh-CN" dirty="0">
                <a:latin typeface="Cascadia Code SemiLight" panose="020B0609020000020004" pitchFamily="49" charset="0"/>
                <a:ea typeface="Calibri" panose="020F0502020204030204" pitchFamily="34" charset="0"/>
                <a:cs typeface="Cascadia Code SemiLight" panose="020B0609020000020004" pitchFamily="49" charset="0"/>
              </a:rPr>
              <a:t>2count  ❌ </a:t>
            </a:r>
            <a:r>
              <a:rPr lang="zh-CN" altLang="en-US" dirty="0">
                <a:latin typeface="Cascadia Code SemiLight" panose="020B0609020000020004" pitchFamily="49" charset="0"/>
                <a:ea typeface="Calibri" panose="020F0502020204030204" pitchFamily="34" charset="0"/>
                <a:cs typeface="Cascadia Code SemiLight" panose="020B0609020000020004" pitchFamily="49" charset="0"/>
              </a:rPr>
              <a:t>不能以数字开头</a:t>
            </a:r>
            <a:endParaRPr lang="en-US" altLang="zh-CN" dirty="0">
              <a:latin typeface="Cascadia Code SemiLight" panose="020B0609020000020004" pitchFamily="49" charset="0"/>
              <a:ea typeface="Calibri" panose="020F0502020204030204" pitchFamily="34" charset="0"/>
              <a:cs typeface="Cascadia Code SemiLight" panose="020B0609020000020004" pitchFamily="49" charset="0"/>
            </a:endParaRPr>
          </a:p>
          <a:p>
            <a:r>
              <a:rPr lang="en-US" altLang="zh-CN" dirty="0">
                <a:latin typeface="Cascadia Code SemiLight" panose="020B0609020000020004" pitchFamily="49" charset="0"/>
                <a:ea typeface="Calibri" panose="020F0502020204030204" pitchFamily="34" charset="0"/>
                <a:cs typeface="Cascadia Code SemiLight" panose="020B0609020000020004" pitchFamily="49" charset="0"/>
              </a:rPr>
              <a:t>total-sum  ❌ </a:t>
            </a:r>
            <a:r>
              <a:rPr lang="zh-CN" altLang="en-US" dirty="0">
                <a:latin typeface="Cascadia Code SemiLight" panose="020B0609020000020004" pitchFamily="49" charset="0"/>
                <a:ea typeface="Calibri" panose="020F0502020204030204" pitchFamily="34" charset="0"/>
                <a:cs typeface="Cascadia Code SemiLight" panose="020B0609020000020004" pitchFamily="49" charset="0"/>
              </a:rPr>
              <a:t>不能包含 </a:t>
            </a:r>
            <a:r>
              <a:rPr lang="en-US" altLang="zh-CN" dirty="0">
                <a:latin typeface="Cascadia Code SemiLight" panose="020B0609020000020004" pitchFamily="49" charset="0"/>
                <a:ea typeface="Calibri" panose="020F0502020204030204" pitchFamily="34" charset="0"/>
                <a:cs typeface="Cascadia Code SemiLight" panose="020B0609020000020004" pitchFamily="49" charset="0"/>
              </a:rPr>
              <a:t>–</a:t>
            </a:r>
          </a:p>
          <a:p>
            <a:r>
              <a:rPr lang="en-US" altLang="zh-CN" dirty="0">
                <a:latin typeface="Cascadia Code SemiLight" panose="020B0609020000020004" pitchFamily="49" charset="0"/>
                <a:ea typeface="Calibri" panose="020F0502020204030204" pitchFamily="34" charset="0"/>
                <a:cs typeface="Cascadia Code SemiLight" panose="020B0609020000020004" pitchFamily="49" charset="0"/>
              </a:rPr>
              <a:t>float  ❌ </a:t>
            </a:r>
            <a:r>
              <a:rPr lang="zh-CN" altLang="en-US" dirty="0">
                <a:latin typeface="Cascadia Code SemiLight" panose="020B0609020000020004" pitchFamily="49" charset="0"/>
                <a:ea typeface="Calibri" panose="020F0502020204030204" pitchFamily="34" charset="0"/>
                <a:cs typeface="Cascadia Code SemiLight" panose="020B0609020000020004" pitchFamily="49" charset="0"/>
              </a:rPr>
              <a:t>与关键字冲突</a:t>
            </a:r>
            <a:endParaRPr lang="en-US" altLang="zh-CN" dirty="0">
              <a:latin typeface="Cascadia Code SemiLight" panose="020B0609020000020004" pitchFamily="49" charset="0"/>
              <a:ea typeface="Calibri" panose="020F0502020204030204" pitchFamily="34" charset="0"/>
              <a:cs typeface="Cascadia Code SemiLight" panose="020B0609020000020004" pitchFamily="49" charset="0"/>
            </a:endParaRPr>
          </a:p>
          <a:p>
            <a:r>
              <a:rPr lang="en-US" altLang="zh-CN" dirty="0">
                <a:latin typeface="Cascadia Code SemiLight" panose="020B0609020000020004" pitchFamily="49" charset="0"/>
                <a:ea typeface="Calibri" panose="020F0502020204030204" pitchFamily="34" charset="0"/>
                <a:cs typeface="Cascadia Code SemiLight" panose="020B0609020000020004" pitchFamily="49" charset="0"/>
              </a:rPr>
              <a:t>my var  ❌ </a:t>
            </a:r>
            <a:r>
              <a:rPr lang="zh-CN" altLang="en-US" dirty="0">
                <a:latin typeface="Cascadia Code SemiLight" panose="020B0609020000020004" pitchFamily="49" charset="0"/>
                <a:ea typeface="Calibri" panose="020F0502020204030204" pitchFamily="34" charset="0"/>
                <a:cs typeface="Cascadia Code SemiLight" panose="020B0609020000020004" pitchFamily="49" charset="0"/>
              </a:rPr>
              <a:t>不能包含空格</a:t>
            </a:r>
            <a:endParaRPr lang="en-US" altLang="zh-CN" dirty="0">
              <a:latin typeface="Cascadia Code SemiLight" panose="020B0609020000020004" pitchFamily="49" charset="0"/>
              <a:ea typeface="Calibri" panose="020F0502020204030204" pitchFamily="34" charset="0"/>
              <a:cs typeface="Cascadia Code SemiLight" panose="020B0609020000020004" pitchFamily="49" charset="0"/>
            </a:endParaRPr>
          </a:p>
          <a:p>
            <a:r>
              <a:rPr lang="en-US" altLang="zh-CN" dirty="0">
                <a:latin typeface="Cascadia Code SemiLight" panose="020B0609020000020004" pitchFamily="49" charset="0"/>
                <a:ea typeface="Calibri" panose="020F0502020204030204" pitchFamily="34" charset="0"/>
                <a:cs typeface="Cascadia Code SemiLight" panose="020B0609020000020004" pitchFamily="49" charset="0"/>
              </a:rPr>
              <a:t>#define  ❌ </a:t>
            </a:r>
            <a:r>
              <a:rPr lang="zh-CN" altLang="en-US" dirty="0">
                <a:latin typeface="Cascadia Code SemiLight" panose="020B0609020000020004" pitchFamily="49" charset="0"/>
                <a:ea typeface="Calibri" panose="020F0502020204030204" pitchFamily="34" charset="0"/>
                <a:cs typeface="Cascadia Code SemiLight" panose="020B0609020000020004" pitchFamily="49" charset="0"/>
              </a:rPr>
              <a:t>不能用特殊符号开头</a:t>
            </a:r>
            <a:endParaRPr lang="zh-CN" altLang="en-US" dirty="0">
              <a:latin typeface="Cascadia Code SemiLight" panose="020B0609020000020004" pitchFamily="49" charset="0"/>
              <a:cs typeface="Cascadia Code SemiLight" panose="020B0609020000020004" pitchFamily="49" charset="0"/>
            </a:endParaRPr>
          </a:p>
        </p:txBody>
      </p:sp>
    </p:spTree>
    <p:extLst>
      <p:ext uri="{BB962C8B-B14F-4D97-AF65-F5344CB8AC3E}">
        <p14:creationId xmlns:p14="http://schemas.microsoft.com/office/powerpoint/2010/main" val="12537175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rtlCol="0">
            <a:noAutofit/>
          </a:bodyPr>
          <a:lstStyle/>
          <a:p>
            <a:pPr rtl="0"/>
            <a:r>
              <a:rPr lang="en-US" altLang="zh-CN" dirty="0">
                <a:cs typeface="Segoe UI Light" panose="020B0502040204020203" pitchFamily="34" charset="0"/>
              </a:rPr>
              <a:t>Chapter 1  C</a:t>
            </a:r>
            <a:r>
              <a:rPr lang="zh-CN" altLang="en-US" dirty="0">
                <a:cs typeface="Segoe UI Light" panose="020B0502040204020203" pitchFamily="34" charset="0"/>
              </a:rPr>
              <a:t>语言概论</a:t>
            </a:r>
          </a:p>
        </p:txBody>
      </p:sp>
      <p:sp>
        <p:nvSpPr>
          <p:cNvPr id="2" name="文本框 1">
            <a:extLst>
              <a:ext uri="{FF2B5EF4-FFF2-40B4-BE49-F238E27FC236}">
                <a16:creationId xmlns:a16="http://schemas.microsoft.com/office/drawing/2014/main" id="{278E70F4-2A89-46EF-8FA4-B65F4871C040}"/>
              </a:ext>
            </a:extLst>
          </p:cNvPr>
          <p:cNvSpPr txBox="1"/>
          <p:nvPr/>
        </p:nvSpPr>
        <p:spPr>
          <a:xfrm>
            <a:off x="611578" y="1413164"/>
            <a:ext cx="3621975" cy="369332"/>
          </a:xfrm>
          <a:prstGeom prst="rect">
            <a:avLst/>
          </a:prstGeom>
          <a:noFill/>
        </p:spPr>
        <p:txBody>
          <a:bodyPr wrap="square" rtlCol="0">
            <a:spAutoFit/>
          </a:bodyPr>
          <a:lstStyle/>
          <a:p>
            <a:r>
              <a:rPr lang="en-US" altLang="zh-CN" dirty="0"/>
              <a:t>1.3 C</a:t>
            </a:r>
            <a:r>
              <a:rPr lang="zh-CN" altLang="en-US" dirty="0"/>
              <a:t>语言程序的关键字</a:t>
            </a:r>
          </a:p>
        </p:txBody>
      </p:sp>
      <p:sp>
        <p:nvSpPr>
          <p:cNvPr id="3" name="文本框 2">
            <a:extLst>
              <a:ext uri="{FF2B5EF4-FFF2-40B4-BE49-F238E27FC236}">
                <a16:creationId xmlns:a16="http://schemas.microsoft.com/office/drawing/2014/main" id="{8CBF79D0-3DD0-4C72-9DF9-A687DD5217DB}"/>
              </a:ext>
            </a:extLst>
          </p:cNvPr>
          <p:cNvSpPr txBox="1"/>
          <p:nvPr/>
        </p:nvSpPr>
        <p:spPr>
          <a:xfrm>
            <a:off x="611578" y="1885991"/>
            <a:ext cx="9458697" cy="369332"/>
          </a:xfrm>
          <a:prstGeom prst="rect">
            <a:avLst/>
          </a:prstGeom>
          <a:noFill/>
        </p:spPr>
        <p:txBody>
          <a:bodyPr wrap="square" rtlCol="0">
            <a:spAutoFit/>
          </a:bodyPr>
          <a:lstStyle/>
          <a:p>
            <a:r>
              <a:rPr lang="zh-CN" altLang="en-US" dirty="0"/>
              <a:t>关键字是</a:t>
            </a:r>
            <a:r>
              <a:rPr lang="en-US" altLang="zh-CN" dirty="0"/>
              <a:t>C</a:t>
            </a:r>
            <a:r>
              <a:rPr lang="zh-CN" altLang="en-US" dirty="0"/>
              <a:t>语言中有特殊含义的标识符，不能作为自定义标识符</a:t>
            </a:r>
          </a:p>
        </p:txBody>
      </p:sp>
      <p:pic>
        <p:nvPicPr>
          <p:cNvPr id="9" name="图片 8">
            <a:extLst>
              <a:ext uri="{FF2B5EF4-FFF2-40B4-BE49-F238E27FC236}">
                <a16:creationId xmlns:a16="http://schemas.microsoft.com/office/drawing/2014/main" id="{747737FE-4E9D-44A1-AECF-797094AD70CD}"/>
              </a:ext>
            </a:extLst>
          </p:cNvPr>
          <p:cNvPicPr>
            <a:picLocks noChangeAspect="1"/>
          </p:cNvPicPr>
          <p:nvPr/>
        </p:nvPicPr>
        <p:blipFill>
          <a:blip r:embed="rId3"/>
          <a:stretch>
            <a:fillRect/>
          </a:stretch>
        </p:blipFill>
        <p:spPr>
          <a:xfrm>
            <a:off x="761255" y="2841072"/>
            <a:ext cx="10669489" cy="2743583"/>
          </a:xfrm>
          <a:prstGeom prst="rect">
            <a:avLst/>
          </a:prstGeom>
        </p:spPr>
      </p:pic>
    </p:spTree>
    <p:extLst>
      <p:ext uri="{BB962C8B-B14F-4D97-AF65-F5344CB8AC3E}">
        <p14:creationId xmlns:p14="http://schemas.microsoft.com/office/powerpoint/2010/main" val="10139817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rtlCol="0">
            <a:noAutofit/>
          </a:bodyPr>
          <a:lstStyle/>
          <a:p>
            <a:pPr rtl="0"/>
            <a:r>
              <a:rPr lang="en-US" altLang="zh-CN" dirty="0">
                <a:cs typeface="Segoe UI Light" panose="020B0502040204020203" pitchFamily="34" charset="0"/>
              </a:rPr>
              <a:t>Chapter 1  C</a:t>
            </a:r>
            <a:r>
              <a:rPr lang="zh-CN" altLang="en-US" dirty="0">
                <a:cs typeface="Segoe UI Light" panose="020B0502040204020203" pitchFamily="34" charset="0"/>
              </a:rPr>
              <a:t>语言概论</a:t>
            </a:r>
          </a:p>
        </p:txBody>
      </p:sp>
      <p:sp>
        <p:nvSpPr>
          <p:cNvPr id="2" name="文本框 1">
            <a:extLst>
              <a:ext uri="{FF2B5EF4-FFF2-40B4-BE49-F238E27FC236}">
                <a16:creationId xmlns:a16="http://schemas.microsoft.com/office/drawing/2014/main" id="{278E70F4-2A89-46EF-8FA4-B65F4871C040}"/>
              </a:ext>
            </a:extLst>
          </p:cNvPr>
          <p:cNvSpPr txBox="1"/>
          <p:nvPr/>
        </p:nvSpPr>
        <p:spPr>
          <a:xfrm>
            <a:off x="611578" y="1413164"/>
            <a:ext cx="3621975" cy="369332"/>
          </a:xfrm>
          <a:prstGeom prst="rect">
            <a:avLst/>
          </a:prstGeom>
          <a:noFill/>
        </p:spPr>
        <p:txBody>
          <a:bodyPr wrap="square" rtlCol="0">
            <a:spAutoFit/>
          </a:bodyPr>
          <a:lstStyle/>
          <a:p>
            <a:r>
              <a:rPr lang="en-US" altLang="zh-CN" dirty="0"/>
              <a:t>1.4 </a:t>
            </a:r>
            <a:r>
              <a:rPr lang="zh-CN" altLang="en-US" dirty="0"/>
              <a:t>格式化输入和输出</a:t>
            </a:r>
          </a:p>
        </p:txBody>
      </p:sp>
      <p:pic>
        <p:nvPicPr>
          <p:cNvPr id="5" name="图片 4">
            <a:extLst>
              <a:ext uri="{FF2B5EF4-FFF2-40B4-BE49-F238E27FC236}">
                <a16:creationId xmlns:a16="http://schemas.microsoft.com/office/drawing/2014/main" id="{BC51560F-8016-4525-9105-B32388655FB1}"/>
              </a:ext>
            </a:extLst>
          </p:cNvPr>
          <p:cNvPicPr>
            <a:picLocks noChangeAspect="1"/>
          </p:cNvPicPr>
          <p:nvPr/>
        </p:nvPicPr>
        <p:blipFill>
          <a:blip r:embed="rId3"/>
          <a:stretch>
            <a:fillRect/>
          </a:stretch>
        </p:blipFill>
        <p:spPr>
          <a:xfrm>
            <a:off x="2291228" y="1882573"/>
            <a:ext cx="7609544" cy="4527371"/>
          </a:xfrm>
          <a:prstGeom prst="rect">
            <a:avLst/>
          </a:prstGeom>
        </p:spPr>
      </p:pic>
    </p:spTree>
    <p:extLst>
      <p:ext uri="{BB962C8B-B14F-4D97-AF65-F5344CB8AC3E}">
        <p14:creationId xmlns:p14="http://schemas.microsoft.com/office/powerpoint/2010/main" val="23621612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rtlCol="0">
            <a:noAutofit/>
          </a:bodyPr>
          <a:lstStyle/>
          <a:p>
            <a:pPr rtl="0"/>
            <a:r>
              <a:rPr lang="en-US" altLang="zh-CN" dirty="0">
                <a:cs typeface="Segoe UI Light" panose="020B0502040204020203" pitchFamily="34" charset="0"/>
              </a:rPr>
              <a:t>Chapter 1  C</a:t>
            </a:r>
            <a:r>
              <a:rPr lang="zh-CN" altLang="en-US" dirty="0">
                <a:cs typeface="Segoe UI Light" panose="020B0502040204020203" pitchFamily="34" charset="0"/>
              </a:rPr>
              <a:t>语言概论</a:t>
            </a:r>
          </a:p>
        </p:txBody>
      </p:sp>
      <p:sp>
        <p:nvSpPr>
          <p:cNvPr id="2" name="文本框 1">
            <a:extLst>
              <a:ext uri="{FF2B5EF4-FFF2-40B4-BE49-F238E27FC236}">
                <a16:creationId xmlns:a16="http://schemas.microsoft.com/office/drawing/2014/main" id="{278E70F4-2A89-46EF-8FA4-B65F4871C040}"/>
              </a:ext>
            </a:extLst>
          </p:cNvPr>
          <p:cNvSpPr txBox="1"/>
          <p:nvPr/>
        </p:nvSpPr>
        <p:spPr>
          <a:xfrm>
            <a:off x="611578" y="1413164"/>
            <a:ext cx="3621975" cy="369332"/>
          </a:xfrm>
          <a:prstGeom prst="rect">
            <a:avLst/>
          </a:prstGeom>
          <a:noFill/>
        </p:spPr>
        <p:txBody>
          <a:bodyPr wrap="square" rtlCol="0">
            <a:spAutoFit/>
          </a:bodyPr>
          <a:lstStyle/>
          <a:p>
            <a:r>
              <a:rPr lang="en-US" altLang="zh-CN" dirty="0"/>
              <a:t>1.4 </a:t>
            </a:r>
            <a:r>
              <a:rPr lang="zh-CN" altLang="en-US" dirty="0"/>
              <a:t>格式化输入和输出</a:t>
            </a:r>
          </a:p>
        </p:txBody>
      </p:sp>
      <p:pic>
        <p:nvPicPr>
          <p:cNvPr id="4" name="图片 3">
            <a:extLst>
              <a:ext uri="{FF2B5EF4-FFF2-40B4-BE49-F238E27FC236}">
                <a16:creationId xmlns:a16="http://schemas.microsoft.com/office/drawing/2014/main" id="{E018FAE3-7DC4-4D6D-AA1C-8B4D3E7AD6F7}"/>
              </a:ext>
            </a:extLst>
          </p:cNvPr>
          <p:cNvPicPr>
            <a:picLocks noChangeAspect="1"/>
          </p:cNvPicPr>
          <p:nvPr/>
        </p:nvPicPr>
        <p:blipFill>
          <a:blip r:embed="rId3"/>
          <a:stretch>
            <a:fillRect/>
          </a:stretch>
        </p:blipFill>
        <p:spPr>
          <a:xfrm>
            <a:off x="1478225" y="1961305"/>
            <a:ext cx="9235550" cy="4079307"/>
          </a:xfrm>
          <a:prstGeom prst="rect">
            <a:avLst/>
          </a:prstGeom>
        </p:spPr>
      </p:pic>
    </p:spTree>
    <p:extLst>
      <p:ext uri="{BB962C8B-B14F-4D97-AF65-F5344CB8AC3E}">
        <p14:creationId xmlns:p14="http://schemas.microsoft.com/office/powerpoint/2010/main" val="17977778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78E70F4-2A89-46EF-8FA4-B65F4871C040}"/>
              </a:ext>
            </a:extLst>
          </p:cNvPr>
          <p:cNvSpPr txBox="1"/>
          <p:nvPr/>
        </p:nvSpPr>
        <p:spPr>
          <a:xfrm>
            <a:off x="611578" y="1413164"/>
            <a:ext cx="3621975" cy="369332"/>
          </a:xfrm>
          <a:prstGeom prst="rect">
            <a:avLst/>
          </a:prstGeom>
          <a:noFill/>
        </p:spPr>
        <p:txBody>
          <a:bodyPr wrap="square" rtlCol="0">
            <a:spAutoFit/>
          </a:bodyPr>
          <a:lstStyle/>
          <a:p>
            <a:r>
              <a:rPr lang="en-US" altLang="zh-CN" dirty="0"/>
              <a:t>1.5 </a:t>
            </a:r>
            <a:r>
              <a:rPr lang="zh-CN" altLang="en-US" dirty="0"/>
              <a:t>输出字符串的格式化</a:t>
            </a:r>
          </a:p>
        </p:txBody>
      </p:sp>
      <p:pic>
        <p:nvPicPr>
          <p:cNvPr id="5" name="图片 4">
            <a:extLst>
              <a:ext uri="{FF2B5EF4-FFF2-40B4-BE49-F238E27FC236}">
                <a16:creationId xmlns:a16="http://schemas.microsoft.com/office/drawing/2014/main" id="{0D476093-9EC7-469C-B710-2AFF9F2BF05E}"/>
              </a:ext>
            </a:extLst>
          </p:cNvPr>
          <p:cNvPicPr>
            <a:picLocks noChangeAspect="1"/>
          </p:cNvPicPr>
          <p:nvPr/>
        </p:nvPicPr>
        <p:blipFill>
          <a:blip r:embed="rId3"/>
          <a:stretch>
            <a:fillRect/>
          </a:stretch>
        </p:blipFill>
        <p:spPr>
          <a:xfrm>
            <a:off x="2447943" y="1782496"/>
            <a:ext cx="6699060" cy="4406725"/>
          </a:xfrm>
          <a:prstGeom prst="rect">
            <a:avLst/>
          </a:prstGeom>
        </p:spPr>
      </p:pic>
      <p:sp>
        <p:nvSpPr>
          <p:cNvPr id="9" name="标题 8">
            <a:extLst>
              <a:ext uri="{FF2B5EF4-FFF2-40B4-BE49-F238E27FC236}">
                <a16:creationId xmlns:a16="http://schemas.microsoft.com/office/drawing/2014/main" id="{6F8943B9-76B1-41E8-9252-353B349D6FAE}"/>
              </a:ext>
            </a:extLst>
          </p:cNvPr>
          <p:cNvSpPr>
            <a:spLocks noGrp="1"/>
          </p:cNvSpPr>
          <p:nvPr>
            <p:ph type="title"/>
          </p:nvPr>
        </p:nvSpPr>
        <p:spPr/>
        <p:txBody>
          <a:bodyPr/>
          <a:lstStyle/>
          <a:p>
            <a:r>
              <a:rPr lang="en-US" altLang="zh-CN" dirty="0">
                <a:cs typeface="Segoe UI Light" panose="020B0502040204020203" pitchFamily="34" charset="0"/>
              </a:rPr>
              <a:t>Chapter 1  C</a:t>
            </a:r>
            <a:r>
              <a:rPr lang="zh-CN" altLang="en-US" dirty="0">
                <a:cs typeface="Segoe UI Light" panose="020B0502040204020203" pitchFamily="34" charset="0"/>
              </a:rPr>
              <a:t>语言概论</a:t>
            </a:r>
            <a:endParaRPr lang="zh-CN" altLang="en-US" dirty="0"/>
          </a:p>
        </p:txBody>
      </p:sp>
    </p:spTree>
    <p:extLst>
      <p:ext uri="{BB962C8B-B14F-4D97-AF65-F5344CB8AC3E}">
        <p14:creationId xmlns:p14="http://schemas.microsoft.com/office/powerpoint/2010/main" val="27599504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78E70F4-2A89-46EF-8FA4-B65F4871C040}"/>
              </a:ext>
            </a:extLst>
          </p:cNvPr>
          <p:cNvSpPr txBox="1"/>
          <p:nvPr/>
        </p:nvSpPr>
        <p:spPr>
          <a:xfrm>
            <a:off x="611578" y="1413164"/>
            <a:ext cx="3621975" cy="369332"/>
          </a:xfrm>
          <a:prstGeom prst="rect">
            <a:avLst/>
          </a:prstGeom>
          <a:noFill/>
        </p:spPr>
        <p:txBody>
          <a:bodyPr wrap="square" rtlCol="0">
            <a:spAutoFit/>
          </a:bodyPr>
          <a:lstStyle/>
          <a:p>
            <a:r>
              <a:rPr lang="en-US" altLang="zh-CN" dirty="0"/>
              <a:t>1.6 </a:t>
            </a:r>
            <a:r>
              <a:rPr lang="zh-CN" altLang="en-US" dirty="0"/>
              <a:t>输出浮点数的格式化</a:t>
            </a:r>
          </a:p>
        </p:txBody>
      </p:sp>
      <p:sp>
        <p:nvSpPr>
          <p:cNvPr id="9" name="标题 8">
            <a:extLst>
              <a:ext uri="{FF2B5EF4-FFF2-40B4-BE49-F238E27FC236}">
                <a16:creationId xmlns:a16="http://schemas.microsoft.com/office/drawing/2014/main" id="{6F8943B9-76B1-41E8-9252-353B349D6FAE}"/>
              </a:ext>
            </a:extLst>
          </p:cNvPr>
          <p:cNvSpPr>
            <a:spLocks noGrp="1"/>
          </p:cNvSpPr>
          <p:nvPr>
            <p:ph type="title"/>
          </p:nvPr>
        </p:nvSpPr>
        <p:spPr/>
        <p:txBody>
          <a:bodyPr/>
          <a:lstStyle/>
          <a:p>
            <a:r>
              <a:rPr lang="en-US" altLang="zh-CN" dirty="0">
                <a:cs typeface="Segoe UI Light" panose="020B0502040204020203" pitchFamily="34" charset="0"/>
              </a:rPr>
              <a:t>Chapter 1  C</a:t>
            </a:r>
            <a:r>
              <a:rPr lang="zh-CN" altLang="en-US" dirty="0">
                <a:cs typeface="Segoe UI Light" panose="020B0502040204020203" pitchFamily="34" charset="0"/>
              </a:rPr>
              <a:t>语言概论</a:t>
            </a:r>
            <a:endParaRPr lang="zh-CN" altLang="en-US" dirty="0"/>
          </a:p>
        </p:txBody>
      </p:sp>
      <p:pic>
        <p:nvPicPr>
          <p:cNvPr id="4" name="图片 3">
            <a:extLst>
              <a:ext uri="{FF2B5EF4-FFF2-40B4-BE49-F238E27FC236}">
                <a16:creationId xmlns:a16="http://schemas.microsoft.com/office/drawing/2014/main" id="{9F428241-7844-4538-9B8E-E079C8EB1726}"/>
              </a:ext>
            </a:extLst>
          </p:cNvPr>
          <p:cNvPicPr>
            <a:picLocks noChangeAspect="1"/>
          </p:cNvPicPr>
          <p:nvPr/>
        </p:nvPicPr>
        <p:blipFill>
          <a:blip r:embed="rId3"/>
          <a:stretch>
            <a:fillRect/>
          </a:stretch>
        </p:blipFill>
        <p:spPr>
          <a:xfrm>
            <a:off x="1992077" y="2382972"/>
            <a:ext cx="8207841" cy="4026972"/>
          </a:xfrm>
          <a:prstGeom prst="rect">
            <a:avLst/>
          </a:prstGeom>
        </p:spPr>
      </p:pic>
      <p:pic>
        <p:nvPicPr>
          <p:cNvPr id="7" name="图片 6">
            <a:extLst>
              <a:ext uri="{FF2B5EF4-FFF2-40B4-BE49-F238E27FC236}">
                <a16:creationId xmlns:a16="http://schemas.microsoft.com/office/drawing/2014/main" id="{CF842283-89D8-4480-BD20-CDD103F89E77}"/>
              </a:ext>
            </a:extLst>
          </p:cNvPr>
          <p:cNvPicPr>
            <a:picLocks noChangeAspect="1"/>
          </p:cNvPicPr>
          <p:nvPr/>
        </p:nvPicPr>
        <p:blipFill>
          <a:blip r:embed="rId4"/>
          <a:stretch>
            <a:fillRect/>
          </a:stretch>
        </p:blipFill>
        <p:spPr>
          <a:xfrm>
            <a:off x="2512288" y="1786800"/>
            <a:ext cx="7167417" cy="2581064"/>
          </a:xfrm>
          <a:prstGeom prst="rect">
            <a:avLst/>
          </a:prstGeom>
        </p:spPr>
      </p:pic>
    </p:spTree>
    <p:extLst>
      <p:ext uri="{BB962C8B-B14F-4D97-AF65-F5344CB8AC3E}">
        <p14:creationId xmlns:p14="http://schemas.microsoft.com/office/powerpoint/2010/main" val="18220343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521207" y="448056"/>
            <a:ext cx="10552533" cy="640080"/>
          </a:xfrm>
        </p:spPr>
        <p:txBody>
          <a:bodyPr rtlCol="0">
            <a:noAutofit/>
          </a:bodyPr>
          <a:lstStyle/>
          <a:p>
            <a:pPr rtl="0"/>
            <a:r>
              <a:rPr lang="en-US" altLang="zh-CN" dirty="0">
                <a:cs typeface="Segoe UI Light" panose="020B0502040204020203" pitchFamily="34" charset="0"/>
              </a:rPr>
              <a:t>Chapter 2  </a:t>
            </a:r>
            <a:r>
              <a:rPr lang="zh-CN" altLang="en-US" dirty="0">
                <a:cs typeface="Segoe UI Light" panose="020B0502040204020203" pitchFamily="34" charset="0"/>
              </a:rPr>
              <a:t>数据类型、运算符和表达式</a:t>
            </a:r>
          </a:p>
        </p:txBody>
      </p:sp>
      <p:sp>
        <p:nvSpPr>
          <p:cNvPr id="2" name="文本框 1">
            <a:extLst>
              <a:ext uri="{FF2B5EF4-FFF2-40B4-BE49-F238E27FC236}">
                <a16:creationId xmlns:a16="http://schemas.microsoft.com/office/drawing/2014/main" id="{278E70F4-2A89-46EF-8FA4-B65F4871C040}"/>
              </a:ext>
            </a:extLst>
          </p:cNvPr>
          <p:cNvSpPr txBox="1"/>
          <p:nvPr/>
        </p:nvSpPr>
        <p:spPr>
          <a:xfrm>
            <a:off x="611578" y="1413164"/>
            <a:ext cx="3621975" cy="369332"/>
          </a:xfrm>
          <a:prstGeom prst="rect">
            <a:avLst/>
          </a:prstGeom>
          <a:noFill/>
        </p:spPr>
        <p:txBody>
          <a:bodyPr wrap="square" rtlCol="0">
            <a:spAutoFit/>
          </a:bodyPr>
          <a:lstStyle/>
          <a:p>
            <a:r>
              <a:rPr lang="en-US" altLang="zh-CN" dirty="0"/>
              <a:t>2.1 </a:t>
            </a:r>
            <a:r>
              <a:rPr lang="zh-CN" altLang="en-US" dirty="0"/>
              <a:t>数据类型</a:t>
            </a:r>
          </a:p>
        </p:txBody>
      </p:sp>
      <p:pic>
        <p:nvPicPr>
          <p:cNvPr id="5" name="图片 4">
            <a:extLst>
              <a:ext uri="{FF2B5EF4-FFF2-40B4-BE49-F238E27FC236}">
                <a16:creationId xmlns:a16="http://schemas.microsoft.com/office/drawing/2014/main" id="{0DC56C9F-0CFE-4106-8AF0-F96571D50CD4}"/>
              </a:ext>
            </a:extLst>
          </p:cNvPr>
          <p:cNvPicPr>
            <a:picLocks noChangeAspect="1"/>
          </p:cNvPicPr>
          <p:nvPr/>
        </p:nvPicPr>
        <p:blipFill>
          <a:blip r:embed="rId3"/>
          <a:stretch>
            <a:fillRect/>
          </a:stretch>
        </p:blipFill>
        <p:spPr>
          <a:xfrm>
            <a:off x="241631" y="2072244"/>
            <a:ext cx="5612206" cy="3853542"/>
          </a:xfrm>
          <a:prstGeom prst="rect">
            <a:avLst/>
          </a:prstGeom>
        </p:spPr>
      </p:pic>
      <p:pic>
        <p:nvPicPr>
          <p:cNvPr id="7" name="图片 6">
            <a:extLst>
              <a:ext uri="{FF2B5EF4-FFF2-40B4-BE49-F238E27FC236}">
                <a16:creationId xmlns:a16="http://schemas.microsoft.com/office/drawing/2014/main" id="{5C95B7EF-3D6D-4F27-9C91-25BE74AF90FE}"/>
              </a:ext>
            </a:extLst>
          </p:cNvPr>
          <p:cNvPicPr>
            <a:picLocks noChangeAspect="1"/>
          </p:cNvPicPr>
          <p:nvPr/>
        </p:nvPicPr>
        <p:blipFill>
          <a:blip r:embed="rId4"/>
          <a:stretch>
            <a:fillRect/>
          </a:stretch>
        </p:blipFill>
        <p:spPr>
          <a:xfrm>
            <a:off x="6253654" y="1952108"/>
            <a:ext cx="5541785" cy="4093813"/>
          </a:xfrm>
          <a:prstGeom prst="rect">
            <a:avLst/>
          </a:prstGeom>
        </p:spPr>
      </p:pic>
    </p:spTree>
    <p:extLst>
      <p:ext uri="{BB962C8B-B14F-4D97-AF65-F5344CB8AC3E}">
        <p14:creationId xmlns:p14="http://schemas.microsoft.com/office/powerpoint/2010/main" val="21406152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521207" y="448056"/>
            <a:ext cx="10552533" cy="640080"/>
          </a:xfrm>
        </p:spPr>
        <p:txBody>
          <a:bodyPr rtlCol="0">
            <a:noAutofit/>
          </a:bodyPr>
          <a:lstStyle/>
          <a:p>
            <a:pPr rtl="0"/>
            <a:r>
              <a:rPr lang="en-US" altLang="zh-CN" dirty="0">
                <a:cs typeface="Segoe UI Light" panose="020B0502040204020203" pitchFamily="34" charset="0"/>
              </a:rPr>
              <a:t>Chapter 2  </a:t>
            </a:r>
            <a:r>
              <a:rPr lang="zh-CN" altLang="en-US" dirty="0">
                <a:cs typeface="Segoe UI Light" panose="020B0502040204020203" pitchFamily="34" charset="0"/>
              </a:rPr>
              <a:t>数据类型、运算符和表达式</a:t>
            </a:r>
          </a:p>
        </p:txBody>
      </p:sp>
      <p:sp>
        <p:nvSpPr>
          <p:cNvPr id="2" name="文本框 1">
            <a:extLst>
              <a:ext uri="{FF2B5EF4-FFF2-40B4-BE49-F238E27FC236}">
                <a16:creationId xmlns:a16="http://schemas.microsoft.com/office/drawing/2014/main" id="{278E70F4-2A89-46EF-8FA4-B65F4871C040}"/>
              </a:ext>
            </a:extLst>
          </p:cNvPr>
          <p:cNvSpPr txBox="1"/>
          <p:nvPr/>
        </p:nvSpPr>
        <p:spPr>
          <a:xfrm>
            <a:off x="611578" y="1413164"/>
            <a:ext cx="3621975" cy="369332"/>
          </a:xfrm>
          <a:prstGeom prst="rect">
            <a:avLst/>
          </a:prstGeom>
          <a:noFill/>
        </p:spPr>
        <p:txBody>
          <a:bodyPr wrap="square" rtlCol="0">
            <a:spAutoFit/>
          </a:bodyPr>
          <a:lstStyle/>
          <a:p>
            <a:r>
              <a:rPr lang="en-US" altLang="zh-CN" dirty="0"/>
              <a:t>2.1 </a:t>
            </a:r>
            <a:r>
              <a:rPr lang="zh-CN" altLang="en-US" dirty="0"/>
              <a:t>数据类型</a:t>
            </a:r>
          </a:p>
        </p:txBody>
      </p:sp>
      <p:pic>
        <p:nvPicPr>
          <p:cNvPr id="5" name="图片 4">
            <a:extLst>
              <a:ext uri="{FF2B5EF4-FFF2-40B4-BE49-F238E27FC236}">
                <a16:creationId xmlns:a16="http://schemas.microsoft.com/office/drawing/2014/main" id="{0DC56C9F-0CFE-4106-8AF0-F96571D50CD4}"/>
              </a:ext>
            </a:extLst>
          </p:cNvPr>
          <p:cNvPicPr>
            <a:picLocks noChangeAspect="1"/>
          </p:cNvPicPr>
          <p:nvPr/>
        </p:nvPicPr>
        <p:blipFill>
          <a:blip r:embed="rId3"/>
          <a:stretch>
            <a:fillRect/>
          </a:stretch>
        </p:blipFill>
        <p:spPr>
          <a:xfrm>
            <a:off x="241631" y="2072244"/>
            <a:ext cx="5612206" cy="3853542"/>
          </a:xfrm>
          <a:prstGeom prst="rect">
            <a:avLst/>
          </a:prstGeom>
        </p:spPr>
      </p:pic>
      <p:pic>
        <p:nvPicPr>
          <p:cNvPr id="4" name="图片 3">
            <a:extLst>
              <a:ext uri="{FF2B5EF4-FFF2-40B4-BE49-F238E27FC236}">
                <a16:creationId xmlns:a16="http://schemas.microsoft.com/office/drawing/2014/main" id="{7D29BCE2-9B29-464A-93BF-98AF17E9FA41}"/>
              </a:ext>
            </a:extLst>
          </p:cNvPr>
          <p:cNvPicPr>
            <a:picLocks noChangeAspect="1"/>
          </p:cNvPicPr>
          <p:nvPr/>
        </p:nvPicPr>
        <p:blipFill>
          <a:blip r:embed="rId4"/>
          <a:stretch>
            <a:fillRect/>
          </a:stretch>
        </p:blipFill>
        <p:spPr>
          <a:xfrm>
            <a:off x="5925477" y="2194621"/>
            <a:ext cx="6104227" cy="3608788"/>
          </a:xfrm>
          <a:prstGeom prst="rect">
            <a:avLst/>
          </a:prstGeom>
        </p:spPr>
      </p:pic>
    </p:spTree>
    <p:extLst>
      <p:ext uri="{BB962C8B-B14F-4D97-AF65-F5344CB8AC3E}">
        <p14:creationId xmlns:p14="http://schemas.microsoft.com/office/powerpoint/2010/main" val="25554518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521207" y="448056"/>
            <a:ext cx="10552533" cy="640080"/>
          </a:xfrm>
        </p:spPr>
        <p:txBody>
          <a:bodyPr rtlCol="0">
            <a:noAutofit/>
          </a:bodyPr>
          <a:lstStyle/>
          <a:p>
            <a:pPr rtl="0"/>
            <a:r>
              <a:rPr lang="en-US" altLang="zh-CN" dirty="0">
                <a:cs typeface="Segoe UI Light" panose="020B0502040204020203" pitchFamily="34" charset="0"/>
              </a:rPr>
              <a:t>Chapter 2  </a:t>
            </a:r>
            <a:r>
              <a:rPr lang="zh-CN" altLang="en-US" dirty="0">
                <a:cs typeface="Segoe UI Light" panose="020B0502040204020203" pitchFamily="34" charset="0"/>
              </a:rPr>
              <a:t>数据类型、运算符和表达式</a:t>
            </a:r>
          </a:p>
        </p:txBody>
      </p:sp>
      <p:sp>
        <p:nvSpPr>
          <p:cNvPr id="2" name="文本框 1">
            <a:extLst>
              <a:ext uri="{FF2B5EF4-FFF2-40B4-BE49-F238E27FC236}">
                <a16:creationId xmlns:a16="http://schemas.microsoft.com/office/drawing/2014/main" id="{278E70F4-2A89-46EF-8FA4-B65F4871C040}"/>
              </a:ext>
            </a:extLst>
          </p:cNvPr>
          <p:cNvSpPr txBox="1"/>
          <p:nvPr/>
        </p:nvSpPr>
        <p:spPr>
          <a:xfrm>
            <a:off x="611578" y="1413164"/>
            <a:ext cx="3621975" cy="369332"/>
          </a:xfrm>
          <a:prstGeom prst="rect">
            <a:avLst/>
          </a:prstGeom>
          <a:noFill/>
        </p:spPr>
        <p:txBody>
          <a:bodyPr wrap="square" rtlCol="0">
            <a:spAutoFit/>
          </a:bodyPr>
          <a:lstStyle/>
          <a:p>
            <a:r>
              <a:rPr lang="en-US" altLang="zh-CN" dirty="0"/>
              <a:t>2.1 </a:t>
            </a:r>
            <a:r>
              <a:rPr lang="zh-CN" altLang="en-US" dirty="0"/>
              <a:t>数据类型</a:t>
            </a:r>
          </a:p>
        </p:txBody>
      </p:sp>
      <p:pic>
        <p:nvPicPr>
          <p:cNvPr id="4" name="图片 3">
            <a:extLst>
              <a:ext uri="{FF2B5EF4-FFF2-40B4-BE49-F238E27FC236}">
                <a16:creationId xmlns:a16="http://schemas.microsoft.com/office/drawing/2014/main" id="{BE8B939C-B60B-42FB-A2FB-A9139F473F66}"/>
              </a:ext>
            </a:extLst>
          </p:cNvPr>
          <p:cNvPicPr>
            <a:picLocks noChangeAspect="1"/>
          </p:cNvPicPr>
          <p:nvPr/>
        </p:nvPicPr>
        <p:blipFill>
          <a:blip r:embed="rId3"/>
          <a:stretch>
            <a:fillRect/>
          </a:stretch>
        </p:blipFill>
        <p:spPr>
          <a:xfrm>
            <a:off x="2375897" y="1925149"/>
            <a:ext cx="6843151" cy="4294790"/>
          </a:xfrm>
          <a:prstGeom prst="rect">
            <a:avLst/>
          </a:prstGeom>
        </p:spPr>
      </p:pic>
    </p:spTree>
    <p:extLst>
      <p:ext uri="{BB962C8B-B14F-4D97-AF65-F5344CB8AC3E}">
        <p14:creationId xmlns:p14="http://schemas.microsoft.com/office/powerpoint/2010/main" val="6324933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521207" y="448056"/>
            <a:ext cx="10552533" cy="640080"/>
          </a:xfrm>
        </p:spPr>
        <p:txBody>
          <a:bodyPr rtlCol="0">
            <a:noAutofit/>
          </a:bodyPr>
          <a:lstStyle/>
          <a:p>
            <a:pPr rtl="0"/>
            <a:r>
              <a:rPr lang="en-US" altLang="zh-CN" dirty="0">
                <a:cs typeface="Segoe UI Light" panose="020B0502040204020203" pitchFamily="34" charset="0"/>
              </a:rPr>
              <a:t>Chapter 2  </a:t>
            </a:r>
            <a:r>
              <a:rPr lang="zh-CN" altLang="en-US" dirty="0">
                <a:cs typeface="Segoe UI Light" panose="020B0502040204020203" pitchFamily="34" charset="0"/>
              </a:rPr>
              <a:t>数据类型、运算符和表达式</a:t>
            </a:r>
          </a:p>
        </p:txBody>
      </p:sp>
      <p:sp>
        <p:nvSpPr>
          <p:cNvPr id="2" name="文本框 1">
            <a:extLst>
              <a:ext uri="{FF2B5EF4-FFF2-40B4-BE49-F238E27FC236}">
                <a16:creationId xmlns:a16="http://schemas.microsoft.com/office/drawing/2014/main" id="{278E70F4-2A89-46EF-8FA4-B65F4871C040}"/>
              </a:ext>
            </a:extLst>
          </p:cNvPr>
          <p:cNvSpPr txBox="1"/>
          <p:nvPr/>
        </p:nvSpPr>
        <p:spPr>
          <a:xfrm>
            <a:off x="611578" y="1413164"/>
            <a:ext cx="3621975" cy="369332"/>
          </a:xfrm>
          <a:prstGeom prst="rect">
            <a:avLst/>
          </a:prstGeom>
          <a:noFill/>
        </p:spPr>
        <p:txBody>
          <a:bodyPr wrap="square" rtlCol="0">
            <a:spAutoFit/>
          </a:bodyPr>
          <a:lstStyle/>
          <a:p>
            <a:r>
              <a:rPr lang="en-US" altLang="zh-CN" dirty="0"/>
              <a:t>2.1 </a:t>
            </a:r>
            <a:r>
              <a:rPr lang="zh-CN" altLang="en-US" dirty="0"/>
              <a:t>数据类型</a:t>
            </a:r>
          </a:p>
        </p:txBody>
      </p:sp>
      <p:pic>
        <p:nvPicPr>
          <p:cNvPr id="4" name="图片 3">
            <a:extLst>
              <a:ext uri="{FF2B5EF4-FFF2-40B4-BE49-F238E27FC236}">
                <a16:creationId xmlns:a16="http://schemas.microsoft.com/office/drawing/2014/main" id="{5D7A3035-9CCA-4777-8741-E77BD50C1978}"/>
              </a:ext>
            </a:extLst>
          </p:cNvPr>
          <p:cNvPicPr>
            <a:picLocks noChangeAspect="1"/>
          </p:cNvPicPr>
          <p:nvPr/>
        </p:nvPicPr>
        <p:blipFill rotWithShape="1">
          <a:blip r:embed="rId3"/>
          <a:srcRect t="23031" r="174" b="5281"/>
          <a:stretch/>
        </p:blipFill>
        <p:spPr>
          <a:xfrm>
            <a:off x="3004819" y="1088136"/>
            <a:ext cx="5585308" cy="5666784"/>
          </a:xfrm>
          <a:prstGeom prst="rect">
            <a:avLst/>
          </a:prstGeom>
        </p:spPr>
      </p:pic>
    </p:spTree>
    <p:extLst>
      <p:ext uri="{BB962C8B-B14F-4D97-AF65-F5344CB8AC3E}">
        <p14:creationId xmlns:p14="http://schemas.microsoft.com/office/powerpoint/2010/main" val="28161482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521207" y="448056"/>
            <a:ext cx="10552533" cy="640080"/>
          </a:xfrm>
        </p:spPr>
        <p:txBody>
          <a:bodyPr rtlCol="0">
            <a:noAutofit/>
          </a:bodyPr>
          <a:lstStyle/>
          <a:p>
            <a:pPr rtl="0"/>
            <a:r>
              <a:rPr lang="en-US" altLang="zh-CN" dirty="0">
                <a:cs typeface="Segoe UI Light" panose="020B0502040204020203" pitchFamily="34" charset="0"/>
              </a:rPr>
              <a:t>Chapter 2  </a:t>
            </a:r>
            <a:r>
              <a:rPr lang="zh-CN" altLang="en-US" dirty="0">
                <a:cs typeface="Segoe UI Light" panose="020B0502040204020203" pitchFamily="34" charset="0"/>
              </a:rPr>
              <a:t>数据类型、运算符和表达式</a:t>
            </a:r>
          </a:p>
        </p:txBody>
      </p:sp>
      <p:sp>
        <p:nvSpPr>
          <p:cNvPr id="2" name="文本框 1">
            <a:extLst>
              <a:ext uri="{FF2B5EF4-FFF2-40B4-BE49-F238E27FC236}">
                <a16:creationId xmlns:a16="http://schemas.microsoft.com/office/drawing/2014/main" id="{278E70F4-2A89-46EF-8FA4-B65F4871C040}"/>
              </a:ext>
            </a:extLst>
          </p:cNvPr>
          <p:cNvSpPr txBox="1"/>
          <p:nvPr/>
        </p:nvSpPr>
        <p:spPr>
          <a:xfrm>
            <a:off x="611578" y="1413164"/>
            <a:ext cx="3621975" cy="369332"/>
          </a:xfrm>
          <a:prstGeom prst="rect">
            <a:avLst/>
          </a:prstGeom>
          <a:noFill/>
        </p:spPr>
        <p:txBody>
          <a:bodyPr wrap="square" rtlCol="0">
            <a:spAutoFit/>
          </a:bodyPr>
          <a:lstStyle/>
          <a:p>
            <a:r>
              <a:rPr lang="en-US" altLang="zh-CN" dirty="0"/>
              <a:t>2.1 </a:t>
            </a:r>
            <a:r>
              <a:rPr lang="zh-CN" altLang="en-US" dirty="0"/>
              <a:t>数据类型</a:t>
            </a:r>
          </a:p>
        </p:txBody>
      </p:sp>
      <p:pic>
        <p:nvPicPr>
          <p:cNvPr id="7" name="图片 6">
            <a:extLst>
              <a:ext uri="{FF2B5EF4-FFF2-40B4-BE49-F238E27FC236}">
                <a16:creationId xmlns:a16="http://schemas.microsoft.com/office/drawing/2014/main" id="{ED38D815-812B-49A1-9B20-2CEDEC667E69}"/>
              </a:ext>
            </a:extLst>
          </p:cNvPr>
          <p:cNvPicPr>
            <a:picLocks noChangeAspect="1"/>
          </p:cNvPicPr>
          <p:nvPr/>
        </p:nvPicPr>
        <p:blipFill>
          <a:blip r:embed="rId3"/>
          <a:stretch>
            <a:fillRect/>
          </a:stretch>
        </p:blipFill>
        <p:spPr>
          <a:xfrm>
            <a:off x="2690750" y="1413164"/>
            <a:ext cx="6810499" cy="5283371"/>
          </a:xfrm>
          <a:prstGeom prst="rect">
            <a:avLst/>
          </a:prstGeom>
        </p:spPr>
      </p:pic>
    </p:spTree>
    <p:extLst>
      <p:ext uri="{BB962C8B-B14F-4D97-AF65-F5344CB8AC3E}">
        <p14:creationId xmlns:p14="http://schemas.microsoft.com/office/powerpoint/2010/main" val="24707479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521207" y="448056"/>
            <a:ext cx="10552533" cy="640080"/>
          </a:xfrm>
        </p:spPr>
        <p:txBody>
          <a:bodyPr rtlCol="0">
            <a:noAutofit/>
          </a:bodyPr>
          <a:lstStyle/>
          <a:p>
            <a:pPr rtl="0"/>
            <a:r>
              <a:rPr lang="en-US" altLang="zh-CN" dirty="0">
                <a:cs typeface="Segoe UI Light" panose="020B0502040204020203" pitchFamily="34" charset="0"/>
              </a:rPr>
              <a:t>Chapter 2  </a:t>
            </a:r>
            <a:r>
              <a:rPr lang="zh-CN" altLang="en-US" dirty="0">
                <a:cs typeface="Segoe UI Light" panose="020B0502040204020203" pitchFamily="34" charset="0"/>
              </a:rPr>
              <a:t>数据类型、运算符和表达式</a:t>
            </a:r>
          </a:p>
        </p:txBody>
      </p:sp>
      <p:sp>
        <p:nvSpPr>
          <p:cNvPr id="2" name="文本框 1">
            <a:extLst>
              <a:ext uri="{FF2B5EF4-FFF2-40B4-BE49-F238E27FC236}">
                <a16:creationId xmlns:a16="http://schemas.microsoft.com/office/drawing/2014/main" id="{278E70F4-2A89-46EF-8FA4-B65F4871C040}"/>
              </a:ext>
            </a:extLst>
          </p:cNvPr>
          <p:cNvSpPr txBox="1"/>
          <p:nvPr/>
        </p:nvSpPr>
        <p:spPr>
          <a:xfrm>
            <a:off x="611578" y="1413164"/>
            <a:ext cx="3621975" cy="369332"/>
          </a:xfrm>
          <a:prstGeom prst="rect">
            <a:avLst/>
          </a:prstGeom>
          <a:noFill/>
        </p:spPr>
        <p:txBody>
          <a:bodyPr wrap="square" rtlCol="0">
            <a:spAutoFit/>
          </a:bodyPr>
          <a:lstStyle/>
          <a:p>
            <a:r>
              <a:rPr lang="en-US" altLang="zh-CN" dirty="0"/>
              <a:t>2.2 </a:t>
            </a:r>
            <a:r>
              <a:rPr lang="zh-CN" altLang="en-US" dirty="0"/>
              <a:t>运算符</a:t>
            </a:r>
          </a:p>
        </p:txBody>
      </p:sp>
      <p:pic>
        <p:nvPicPr>
          <p:cNvPr id="4" name="图片 3">
            <a:extLst>
              <a:ext uri="{FF2B5EF4-FFF2-40B4-BE49-F238E27FC236}">
                <a16:creationId xmlns:a16="http://schemas.microsoft.com/office/drawing/2014/main" id="{698639A4-478C-48DA-9C39-99BFF5F7D868}"/>
              </a:ext>
            </a:extLst>
          </p:cNvPr>
          <p:cNvPicPr>
            <a:picLocks noChangeAspect="1"/>
          </p:cNvPicPr>
          <p:nvPr/>
        </p:nvPicPr>
        <p:blipFill>
          <a:blip r:embed="rId3"/>
          <a:stretch>
            <a:fillRect/>
          </a:stretch>
        </p:blipFill>
        <p:spPr>
          <a:xfrm>
            <a:off x="1253836" y="2381279"/>
            <a:ext cx="9684327" cy="2987878"/>
          </a:xfrm>
          <a:prstGeom prst="rect">
            <a:avLst/>
          </a:prstGeom>
        </p:spPr>
      </p:pic>
    </p:spTree>
    <p:extLst>
      <p:ext uri="{BB962C8B-B14F-4D97-AF65-F5344CB8AC3E}">
        <p14:creationId xmlns:p14="http://schemas.microsoft.com/office/powerpoint/2010/main" val="16025525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521207" y="448056"/>
            <a:ext cx="10552533" cy="640080"/>
          </a:xfrm>
        </p:spPr>
        <p:txBody>
          <a:bodyPr rtlCol="0">
            <a:noAutofit/>
          </a:bodyPr>
          <a:lstStyle/>
          <a:p>
            <a:pPr rtl="0"/>
            <a:r>
              <a:rPr lang="en-US" altLang="zh-CN" dirty="0">
                <a:cs typeface="Segoe UI Light" panose="020B0502040204020203" pitchFamily="34" charset="0"/>
              </a:rPr>
              <a:t>Chapter 2  </a:t>
            </a:r>
            <a:r>
              <a:rPr lang="zh-CN" altLang="en-US" dirty="0">
                <a:cs typeface="Segoe UI Light" panose="020B0502040204020203" pitchFamily="34" charset="0"/>
              </a:rPr>
              <a:t>数据类型、运算符和表达式</a:t>
            </a:r>
          </a:p>
        </p:txBody>
      </p:sp>
      <p:sp>
        <p:nvSpPr>
          <p:cNvPr id="2" name="文本框 1">
            <a:extLst>
              <a:ext uri="{FF2B5EF4-FFF2-40B4-BE49-F238E27FC236}">
                <a16:creationId xmlns:a16="http://schemas.microsoft.com/office/drawing/2014/main" id="{278E70F4-2A89-46EF-8FA4-B65F4871C040}"/>
              </a:ext>
            </a:extLst>
          </p:cNvPr>
          <p:cNvSpPr txBox="1"/>
          <p:nvPr/>
        </p:nvSpPr>
        <p:spPr>
          <a:xfrm>
            <a:off x="611578" y="1413164"/>
            <a:ext cx="3621975" cy="369332"/>
          </a:xfrm>
          <a:prstGeom prst="rect">
            <a:avLst/>
          </a:prstGeom>
          <a:noFill/>
        </p:spPr>
        <p:txBody>
          <a:bodyPr wrap="square" rtlCol="0">
            <a:spAutoFit/>
          </a:bodyPr>
          <a:lstStyle/>
          <a:p>
            <a:r>
              <a:rPr lang="en-US" altLang="zh-CN" dirty="0"/>
              <a:t>2.2 </a:t>
            </a:r>
            <a:r>
              <a:rPr lang="zh-CN" altLang="en-US" dirty="0"/>
              <a:t>运算符</a:t>
            </a:r>
          </a:p>
        </p:txBody>
      </p:sp>
      <p:sp>
        <p:nvSpPr>
          <p:cNvPr id="5" name="文本框 4">
            <a:extLst>
              <a:ext uri="{FF2B5EF4-FFF2-40B4-BE49-F238E27FC236}">
                <a16:creationId xmlns:a16="http://schemas.microsoft.com/office/drawing/2014/main" id="{09094BF0-4BBE-41DD-A6D2-7D832EDC73C0}"/>
              </a:ext>
            </a:extLst>
          </p:cNvPr>
          <p:cNvSpPr txBox="1"/>
          <p:nvPr/>
        </p:nvSpPr>
        <p:spPr>
          <a:xfrm>
            <a:off x="771896" y="2410691"/>
            <a:ext cx="2992582" cy="2954655"/>
          </a:xfrm>
          <a:prstGeom prst="rect">
            <a:avLst/>
          </a:prstGeom>
          <a:noFill/>
        </p:spPr>
        <p:txBody>
          <a:bodyPr wrap="square" rtlCol="0">
            <a:spAutoFit/>
          </a:bodyPr>
          <a:lstStyle/>
          <a:p>
            <a:r>
              <a:rPr lang="zh-CN" altLang="en-US" dirty="0"/>
              <a:t>按位运算符</a:t>
            </a:r>
            <a:endParaRPr lang="en-US" altLang="zh-CN" dirty="0"/>
          </a:p>
          <a:p>
            <a:endParaRPr lang="en-US" altLang="zh-CN" sz="2400" dirty="0"/>
          </a:p>
          <a:p>
            <a:r>
              <a:rPr lang="en-US" altLang="zh-CN" sz="2400" dirty="0"/>
              <a:t>&amp;     </a:t>
            </a:r>
            <a:r>
              <a:rPr lang="zh-CN" altLang="en-US" sz="2400" dirty="0"/>
              <a:t>按位与</a:t>
            </a:r>
            <a:endParaRPr lang="en-US" altLang="zh-CN" sz="2400" dirty="0"/>
          </a:p>
          <a:p>
            <a:r>
              <a:rPr lang="en-US" altLang="zh-CN" sz="2400" dirty="0"/>
              <a:t>|       </a:t>
            </a:r>
            <a:r>
              <a:rPr lang="zh-CN" altLang="en-US" sz="2400" dirty="0"/>
              <a:t>按位或</a:t>
            </a:r>
            <a:endParaRPr lang="en-US" altLang="zh-CN" sz="2400" dirty="0"/>
          </a:p>
          <a:p>
            <a:r>
              <a:rPr lang="en-US" altLang="zh-CN" sz="2400" dirty="0"/>
              <a:t>^     </a:t>
            </a:r>
            <a:r>
              <a:rPr lang="zh-CN" altLang="en-US" sz="2400" dirty="0"/>
              <a:t>按位异或</a:t>
            </a:r>
            <a:endParaRPr lang="en-US" altLang="zh-CN" sz="2400" dirty="0"/>
          </a:p>
          <a:p>
            <a:r>
              <a:rPr lang="en-US" altLang="zh-CN" sz="2400" dirty="0"/>
              <a:t>&lt;&lt;  </a:t>
            </a:r>
            <a:r>
              <a:rPr lang="zh-CN" altLang="en-US" sz="2400" dirty="0"/>
              <a:t>左位移</a:t>
            </a:r>
            <a:endParaRPr lang="en-US" altLang="zh-CN" sz="2400" dirty="0"/>
          </a:p>
          <a:p>
            <a:r>
              <a:rPr lang="en-US" altLang="zh-CN" sz="2400" dirty="0"/>
              <a:t>&gt;&gt;  </a:t>
            </a:r>
            <a:r>
              <a:rPr lang="zh-CN" altLang="en-US" sz="2400" dirty="0"/>
              <a:t>右位移</a:t>
            </a:r>
            <a:endParaRPr lang="en-US" altLang="zh-CN" sz="2400" dirty="0"/>
          </a:p>
          <a:p>
            <a:r>
              <a:rPr lang="en-US" altLang="zh-CN" sz="2400" dirty="0"/>
              <a:t>~     </a:t>
            </a:r>
            <a:r>
              <a:rPr lang="zh-CN" altLang="en-US" sz="2400" dirty="0"/>
              <a:t>按位取反</a:t>
            </a:r>
          </a:p>
        </p:txBody>
      </p:sp>
      <p:sp>
        <p:nvSpPr>
          <p:cNvPr id="6" name="文本框 5">
            <a:extLst>
              <a:ext uri="{FF2B5EF4-FFF2-40B4-BE49-F238E27FC236}">
                <a16:creationId xmlns:a16="http://schemas.microsoft.com/office/drawing/2014/main" id="{1A5377EE-0A51-47C2-93E0-622954CA79DB}"/>
              </a:ext>
            </a:extLst>
          </p:cNvPr>
          <p:cNvSpPr txBox="1"/>
          <p:nvPr/>
        </p:nvSpPr>
        <p:spPr>
          <a:xfrm>
            <a:off x="5147953" y="2994836"/>
            <a:ext cx="4352307" cy="2308324"/>
          </a:xfrm>
          <a:prstGeom prst="rect">
            <a:avLst/>
          </a:prstGeom>
          <a:noFill/>
        </p:spPr>
        <p:txBody>
          <a:bodyPr wrap="square" rtlCol="0">
            <a:spAutoFit/>
          </a:bodyPr>
          <a:lstStyle/>
          <a:p>
            <a:r>
              <a:rPr lang="en-US" altLang="zh-CN" dirty="0"/>
              <a:t>byte a = 01010011, b = 10001110;</a:t>
            </a:r>
          </a:p>
          <a:p>
            <a:endParaRPr lang="en-US" altLang="zh-CN" dirty="0"/>
          </a:p>
          <a:p>
            <a:r>
              <a:rPr lang="en-US" altLang="zh-CN" dirty="0"/>
              <a:t>a &amp; b;</a:t>
            </a:r>
          </a:p>
          <a:p>
            <a:r>
              <a:rPr lang="en-US" altLang="zh-CN" dirty="0"/>
              <a:t>a | b;</a:t>
            </a:r>
          </a:p>
          <a:p>
            <a:r>
              <a:rPr lang="en-US" altLang="zh-CN" dirty="0"/>
              <a:t>a ^ b;</a:t>
            </a:r>
          </a:p>
          <a:p>
            <a:r>
              <a:rPr lang="en-US" altLang="zh-CN" dirty="0"/>
              <a:t>a &lt;&lt; 3;</a:t>
            </a:r>
          </a:p>
          <a:p>
            <a:r>
              <a:rPr lang="en-US" altLang="zh-CN" dirty="0"/>
              <a:t>a &gt;&gt; 3;</a:t>
            </a:r>
          </a:p>
          <a:p>
            <a:r>
              <a:rPr lang="en-US" altLang="zh-CN" dirty="0"/>
              <a:t>~a; </a:t>
            </a:r>
          </a:p>
        </p:txBody>
      </p:sp>
      <p:sp>
        <p:nvSpPr>
          <p:cNvPr id="3" name="文本框 2">
            <a:extLst>
              <a:ext uri="{FF2B5EF4-FFF2-40B4-BE49-F238E27FC236}">
                <a16:creationId xmlns:a16="http://schemas.microsoft.com/office/drawing/2014/main" id="{664CA5CD-9CE6-4224-91D9-6399E1202D60}"/>
              </a:ext>
            </a:extLst>
          </p:cNvPr>
          <p:cNvSpPr txBox="1"/>
          <p:nvPr/>
        </p:nvSpPr>
        <p:spPr>
          <a:xfrm>
            <a:off x="521207" y="5634841"/>
            <a:ext cx="11104736" cy="923330"/>
          </a:xfrm>
          <a:prstGeom prst="rect">
            <a:avLst/>
          </a:prstGeom>
          <a:noFill/>
        </p:spPr>
        <p:txBody>
          <a:bodyPr wrap="square" rtlCol="0">
            <a:spAutoFit/>
          </a:bodyPr>
          <a:lstStyle/>
          <a:p>
            <a:r>
              <a:rPr lang="zh-CN" altLang="en-US" dirty="0"/>
              <a:t>考试中遇到按位运算通常不会直接给你两个二进制量，而是用其他各种数据类型进行按位运算，如定义</a:t>
            </a:r>
            <a:r>
              <a:rPr lang="en-US" altLang="zh-CN" dirty="0"/>
              <a:t>unsigned char b = 37; </a:t>
            </a:r>
            <a:r>
              <a:rPr lang="zh-CN" altLang="en-US" dirty="0"/>
              <a:t>需要求</a:t>
            </a:r>
            <a:r>
              <a:rPr lang="en-US" altLang="zh-CN" dirty="0"/>
              <a:t>b &amp;= 0xEEFF</a:t>
            </a:r>
            <a:r>
              <a:rPr lang="zh-CN" altLang="en-US" dirty="0"/>
              <a:t>的值，则只需要</a:t>
            </a:r>
            <a:r>
              <a:rPr lang="zh-CN" altLang="en-US" dirty="0">
                <a:highlight>
                  <a:srgbClr val="FFFF00"/>
                </a:highlight>
              </a:rPr>
              <a:t>将运算对象转化为二进制进行按位运算后再转化为相应的变量表达形式</a:t>
            </a:r>
          </a:p>
        </p:txBody>
      </p:sp>
    </p:spTree>
    <p:extLst>
      <p:ext uri="{BB962C8B-B14F-4D97-AF65-F5344CB8AC3E}">
        <p14:creationId xmlns:p14="http://schemas.microsoft.com/office/powerpoint/2010/main" val="20827372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521207" y="448056"/>
            <a:ext cx="10552533" cy="640080"/>
          </a:xfrm>
        </p:spPr>
        <p:txBody>
          <a:bodyPr rtlCol="0">
            <a:noAutofit/>
          </a:bodyPr>
          <a:lstStyle/>
          <a:p>
            <a:pPr rtl="0"/>
            <a:r>
              <a:rPr lang="en-US" altLang="zh-CN" dirty="0">
                <a:cs typeface="Segoe UI Light" panose="020B0502040204020203" pitchFamily="34" charset="0"/>
              </a:rPr>
              <a:t>Chapter 2  </a:t>
            </a:r>
            <a:r>
              <a:rPr lang="zh-CN" altLang="en-US" dirty="0">
                <a:cs typeface="Segoe UI Light" panose="020B0502040204020203" pitchFamily="34" charset="0"/>
              </a:rPr>
              <a:t>数据类型、运算符和表达式</a:t>
            </a:r>
          </a:p>
        </p:txBody>
      </p:sp>
      <p:sp>
        <p:nvSpPr>
          <p:cNvPr id="2" name="文本框 1">
            <a:extLst>
              <a:ext uri="{FF2B5EF4-FFF2-40B4-BE49-F238E27FC236}">
                <a16:creationId xmlns:a16="http://schemas.microsoft.com/office/drawing/2014/main" id="{278E70F4-2A89-46EF-8FA4-B65F4871C040}"/>
              </a:ext>
            </a:extLst>
          </p:cNvPr>
          <p:cNvSpPr txBox="1"/>
          <p:nvPr/>
        </p:nvSpPr>
        <p:spPr>
          <a:xfrm>
            <a:off x="611578" y="1413164"/>
            <a:ext cx="3621975" cy="369332"/>
          </a:xfrm>
          <a:prstGeom prst="rect">
            <a:avLst/>
          </a:prstGeom>
          <a:noFill/>
        </p:spPr>
        <p:txBody>
          <a:bodyPr wrap="square" rtlCol="0">
            <a:spAutoFit/>
          </a:bodyPr>
          <a:lstStyle/>
          <a:p>
            <a:r>
              <a:rPr lang="en-US" altLang="zh-CN" dirty="0"/>
              <a:t>2.2 </a:t>
            </a:r>
            <a:r>
              <a:rPr lang="zh-CN" altLang="en-US" dirty="0"/>
              <a:t>运算符</a:t>
            </a:r>
          </a:p>
        </p:txBody>
      </p:sp>
      <p:sp>
        <p:nvSpPr>
          <p:cNvPr id="5" name="文本框 4">
            <a:extLst>
              <a:ext uri="{FF2B5EF4-FFF2-40B4-BE49-F238E27FC236}">
                <a16:creationId xmlns:a16="http://schemas.microsoft.com/office/drawing/2014/main" id="{BABE80F6-B1D8-4566-8C97-7FF03492FC53}"/>
              </a:ext>
            </a:extLst>
          </p:cNvPr>
          <p:cNvSpPr txBox="1"/>
          <p:nvPr/>
        </p:nvSpPr>
        <p:spPr>
          <a:xfrm>
            <a:off x="771896" y="2410691"/>
            <a:ext cx="7772400" cy="1846659"/>
          </a:xfrm>
          <a:prstGeom prst="rect">
            <a:avLst/>
          </a:prstGeom>
          <a:noFill/>
        </p:spPr>
        <p:txBody>
          <a:bodyPr wrap="square" rtlCol="0">
            <a:spAutoFit/>
          </a:bodyPr>
          <a:lstStyle/>
          <a:p>
            <a:r>
              <a:rPr lang="zh-CN" altLang="en-US" dirty="0"/>
              <a:t>逻辑运算符</a:t>
            </a:r>
            <a:endParaRPr lang="en-US" altLang="zh-CN" dirty="0"/>
          </a:p>
          <a:p>
            <a:endParaRPr lang="en-US" altLang="zh-CN" sz="2400" dirty="0"/>
          </a:p>
          <a:p>
            <a:r>
              <a:rPr lang="en-US" altLang="zh-CN" sz="2400" dirty="0"/>
              <a:t>&amp;&amp;  </a:t>
            </a:r>
            <a:r>
              <a:rPr lang="zh-CN" altLang="en-US" sz="2400" dirty="0"/>
              <a:t>逻辑或</a:t>
            </a:r>
            <a:endParaRPr lang="en-US" altLang="zh-CN" sz="2400" dirty="0"/>
          </a:p>
          <a:p>
            <a:r>
              <a:rPr lang="en-US" altLang="zh-CN" sz="2400" dirty="0"/>
              <a:t>||      </a:t>
            </a:r>
            <a:r>
              <a:rPr lang="zh-CN" altLang="en-US" sz="2400" dirty="0"/>
              <a:t>逻辑与</a:t>
            </a:r>
            <a:endParaRPr lang="en-US" altLang="zh-CN" sz="2400" dirty="0"/>
          </a:p>
          <a:p>
            <a:r>
              <a:rPr lang="en-US" altLang="zh-CN" sz="2400" dirty="0"/>
              <a:t>!       </a:t>
            </a:r>
            <a:r>
              <a:rPr lang="zh-CN" altLang="en-US" sz="2400" dirty="0"/>
              <a:t>非</a:t>
            </a:r>
          </a:p>
        </p:txBody>
      </p:sp>
      <p:sp>
        <p:nvSpPr>
          <p:cNvPr id="6" name="文本框 5">
            <a:extLst>
              <a:ext uri="{FF2B5EF4-FFF2-40B4-BE49-F238E27FC236}">
                <a16:creationId xmlns:a16="http://schemas.microsoft.com/office/drawing/2014/main" id="{42D916EE-B1C0-44DB-9C51-41B3FAA6F034}"/>
              </a:ext>
            </a:extLst>
          </p:cNvPr>
          <p:cNvSpPr txBox="1"/>
          <p:nvPr/>
        </p:nvSpPr>
        <p:spPr>
          <a:xfrm>
            <a:off x="771896" y="4562379"/>
            <a:ext cx="4352307" cy="646331"/>
          </a:xfrm>
          <a:prstGeom prst="rect">
            <a:avLst/>
          </a:prstGeom>
          <a:noFill/>
        </p:spPr>
        <p:txBody>
          <a:bodyPr wrap="square" rtlCol="0">
            <a:spAutoFit/>
          </a:bodyPr>
          <a:lstStyle/>
          <a:p>
            <a:r>
              <a:rPr lang="en-US" altLang="zh-CN" dirty="0"/>
              <a:t>int a = 0, b = 1;</a:t>
            </a:r>
          </a:p>
          <a:p>
            <a:r>
              <a:rPr lang="en-US" altLang="zh-CN" dirty="0"/>
              <a:t>(a &amp;&amp; b) || (a || b) || (!a &amp;&amp; b)</a:t>
            </a:r>
          </a:p>
        </p:txBody>
      </p:sp>
    </p:spTree>
    <p:extLst>
      <p:ext uri="{BB962C8B-B14F-4D97-AF65-F5344CB8AC3E}">
        <p14:creationId xmlns:p14="http://schemas.microsoft.com/office/powerpoint/2010/main" val="11439805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521207" y="448056"/>
            <a:ext cx="10552533" cy="640080"/>
          </a:xfrm>
        </p:spPr>
        <p:txBody>
          <a:bodyPr rtlCol="0">
            <a:noAutofit/>
          </a:bodyPr>
          <a:lstStyle/>
          <a:p>
            <a:pPr rtl="0"/>
            <a:r>
              <a:rPr lang="en-US" altLang="zh-CN" dirty="0">
                <a:cs typeface="Segoe UI Light" panose="020B0502040204020203" pitchFamily="34" charset="0"/>
              </a:rPr>
              <a:t>Chapter 2  </a:t>
            </a:r>
            <a:r>
              <a:rPr lang="zh-CN" altLang="en-US" dirty="0">
                <a:cs typeface="Segoe UI Light" panose="020B0502040204020203" pitchFamily="34" charset="0"/>
              </a:rPr>
              <a:t>数据类型、运算符和表达式</a:t>
            </a:r>
          </a:p>
        </p:txBody>
      </p:sp>
      <p:sp>
        <p:nvSpPr>
          <p:cNvPr id="2" name="文本框 1">
            <a:extLst>
              <a:ext uri="{FF2B5EF4-FFF2-40B4-BE49-F238E27FC236}">
                <a16:creationId xmlns:a16="http://schemas.microsoft.com/office/drawing/2014/main" id="{278E70F4-2A89-46EF-8FA4-B65F4871C040}"/>
              </a:ext>
            </a:extLst>
          </p:cNvPr>
          <p:cNvSpPr txBox="1"/>
          <p:nvPr/>
        </p:nvSpPr>
        <p:spPr>
          <a:xfrm>
            <a:off x="611578" y="1413164"/>
            <a:ext cx="3621975" cy="369332"/>
          </a:xfrm>
          <a:prstGeom prst="rect">
            <a:avLst/>
          </a:prstGeom>
          <a:noFill/>
        </p:spPr>
        <p:txBody>
          <a:bodyPr wrap="square" rtlCol="0">
            <a:spAutoFit/>
          </a:bodyPr>
          <a:lstStyle/>
          <a:p>
            <a:r>
              <a:rPr lang="en-US" altLang="zh-CN" dirty="0"/>
              <a:t>2.2 </a:t>
            </a:r>
            <a:r>
              <a:rPr lang="zh-CN" altLang="en-US" dirty="0"/>
              <a:t>运算符</a:t>
            </a:r>
          </a:p>
        </p:txBody>
      </p:sp>
      <p:sp>
        <p:nvSpPr>
          <p:cNvPr id="5" name="文本框 4">
            <a:extLst>
              <a:ext uri="{FF2B5EF4-FFF2-40B4-BE49-F238E27FC236}">
                <a16:creationId xmlns:a16="http://schemas.microsoft.com/office/drawing/2014/main" id="{BABE80F6-B1D8-4566-8C97-7FF03492FC53}"/>
              </a:ext>
            </a:extLst>
          </p:cNvPr>
          <p:cNvSpPr txBox="1"/>
          <p:nvPr/>
        </p:nvSpPr>
        <p:spPr>
          <a:xfrm>
            <a:off x="771896" y="2410691"/>
            <a:ext cx="7772400" cy="2954655"/>
          </a:xfrm>
          <a:prstGeom prst="rect">
            <a:avLst/>
          </a:prstGeom>
          <a:noFill/>
        </p:spPr>
        <p:txBody>
          <a:bodyPr wrap="square" rtlCol="0">
            <a:spAutoFit/>
          </a:bodyPr>
          <a:lstStyle/>
          <a:p>
            <a:r>
              <a:rPr lang="zh-CN" altLang="en-US" dirty="0"/>
              <a:t>关系运算符</a:t>
            </a:r>
            <a:endParaRPr lang="en-US" altLang="zh-CN" dirty="0"/>
          </a:p>
          <a:p>
            <a:endParaRPr lang="en-US" altLang="zh-CN" sz="2400" dirty="0"/>
          </a:p>
          <a:p>
            <a:r>
              <a:rPr lang="en-US" altLang="zh-CN" sz="2400" dirty="0"/>
              <a:t>&lt; </a:t>
            </a:r>
            <a:r>
              <a:rPr lang="zh-CN" altLang="en-US" sz="2400" dirty="0"/>
              <a:t>小于 </a:t>
            </a:r>
            <a:r>
              <a:rPr lang="en-US" altLang="zh-CN" sz="2400" dirty="0"/>
              <a:t> </a:t>
            </a:r>
          </a:p>
          <a:p>
            <a:r>
              <a:rPr lang="en-US" altLang="zh-CN" sz="2400" dirty="0"/>
              <a:t>&gt; </a:t>
            </a:r>
            <a:r>
              <a:rPr lang="zh-CN" altLang="en-US" sz="2400" dirty="0"/>
              <a:t>大于</a:t>
            </a:r>
            <a:endParaRPr lang="en-US" altLang="zh-CN" sz="2400" dirty="0"/>
          </a:p>
          <a:p>
            <a:r>
              <a:rPr lang="en-US" altLang="zh-CN" sz="2400" dirty="0"/>
              <a:t>&lt;= </a:t>
            </a:r>
            <a:r>
              <a:rPr lang="zh-CN" altLang="en-US" sz="2400" dirty="0"/>
              <a:t>小于或等于</a:t>
            </a:r>
            <a:r>
              <a:rPr lang="en-US" altLang="zh-CN" sz="2400" dirty="0"/>
              <a:t>  </a:t>
            </a:r>
          </a:p>
          <a:p>
            <a:r>
              <a:rPr lang="en-US" altLang="zh-CN" sz="2400" dirty="0"/>
              <a:t>&gt;= </a:t>
            </a:r>
            <a:r>
              <a:rPr lang="zh-CN" altLang="en-US" sz="2400" dirty="0"/>
              <a:t>大于或等于</a:t>
            </a:r>
            <a:br>
              <a:rPr lang="en-US" altLang="zh-CN" sz="2400" dirty="0"/>
            </a:br>
            <a:r>
              <a:rPr lang="en-US" altLang="zh-CN" sz="2400" dirty="0"/>
              <a:t>!= </a:t>
            </a:r>
            <a:r>
              <a:rPr lang="zh-CN" altLang="en-US" sz="2400" dirty="0"/>
              <a:t>不等于 </a:t>
            </a:r>
            <a:r>
              <a:rPr lang="en-US" altLang="zh-CN" sz="2400" dirty="0"/>
              <a:t>  </a:t>
            </a:r>
          </a:p>
          <a:p>
            <a:r>
              <a:rPr lang="en-US" altLang="zh-CN" sz="2400" dirty="0"/>
              <a:t>== </a:t>
            </a:r>
            <a:r>
              <a:rPr lang="zh-CN" altLang="en-US" sz="2400" dirty="0"/>
              <a:t>等于</a:t>
            </a:r>
          </a:p>
        </p:txBody>
      </p:sp>
    </p:spTree>
    <p:extLst>
      <p:ext uri="{BB962C8B-B14F-4D97-AF65-F5344CB8AC3E}">
        <p14:creationId xmlns:p14="http://schemas.microsoft.com/office/powerpoint/2010/main" val="23357435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521207" y="448056"/>
            <a:ext cx="10552533" cy="640080"/>
          </a:xfrm>
        </p:spPr>
        <p:txBody>
          <a:bodyPr rtlCol="0">
            <a:noAutofit/>
          </a:bodyPr>
          <a:lstStyle/>
          <a:p>
            <a:pPr rtl="0"/>
            <a:r>
              <a:rPr lang="en-US" altLang="zh-CN" dirty="0">
                <a:cs typeface="Segoe UI Light" panose="020B0502040204020203" pitchFamily="34" charset="0"/>
              </a:rPr>
              <a:t>Chapter 2  </a:t>
            </a:r>
            <a:r>
              <a:rPr lang="zh-CN" altLang="en-US" dirty="0">
                <a:cs typeface="Segoe UI Light" panose="020B0502040204020203" pitchFamily="34" charset="0"/>
              </a:rPr>
              <a:t>数据类型、运算符和表达式</a:t>
            </a:r>
          </a:p>
        </p:txBody>
      </p:sp>
      <p:sp>
        <p:nvSpPr>
          <p:cNvPr id="2" name="文本框 1">
            <a:extLst>
              <a:ext uri="{FF2B5EF4-FFF2-40B4-BE49-F238E27FC236}">
                <a16:creationId xmlns:a16="http://schemas.microsoft.com/office/drawing/2014/main" id="{278E70F4-2A89-46EF-8FA4-B65F4871C040}"/>
              </a:ext>
            </a:extLst>
          </p:cNvPr>
          <p:cNvSpPr txBox="1"/>
          <p:nvPr/>
        </p:nvSpPr>
        <p:spPr>
          <a:xfrm>
            <a:off x="611578" y="1413164"/>
            <a:ext cx="3621975" cy="369332"/>
          </a:xfrm>
          <a:prstGeom prst="rect">
            <a:avLst/>
          </a:prstGeom>
          <a:noFill/>
        </p:spPr>
        <p:txBody>
          <a:bodyPr wrap="square" rtlCol="0">
            <a:spAutoFit/>
          </a:bodyPr>
          <a:lstStyle/>
          <a:p>
            <a:r>
              <a:rPr lang="en-US" altLang="zh-CN" dirty="0"/>
              <a:t>2.2 </a:t>
            </a:r>
            <a:r>
              <a:rPr lang="zh-CN" altLang="en-US" dirty="0"/>
              <a:t>运算符</a:t>
            </a:r>
          </a:p>
        </p:txBody>
      </p:sp>
      <p:pic>
        <p:nvPicPr>
          <p:cNvPr id="4" name="图片 3">
            <a:extLst>
              <a:ext uri="{FF2B5EF4-FFF2-40B4-BE49-F238E27FC236}">
                <a16:creationId xmlns:a16="http://schemas.microsoft.com/office/drawing/2014/main" id="{743A0C02-2D0F-4A6A-BEF3-01AB2A6B5F07}"/>
              </a:ext>
            </a:extLst>
          </p:cNvPr>
          <p:cNvPicPr>
            <a:picLocks noChangeAspect="1"/>
          </p:cNvPicPr>
          <p:nvPr/>
        </p:nvPicPr>
        <p:blipFill>
          <a:blip r:embed="rId3"/>
          <a:stretch>
            <a:fillRect/>
          </a:stretch>
        </p:blipFill>
        <p:spPr>
          <a:xfrm>
            <a:off x="1612051" y="2107524"/>
            <a:ext cx="8967898" cy="3907616"/>
          </a:xfrm>
          <a:prstGeom prst="rect">
            <a:avLst/>
          </a:prstGeom>
        </p:spPr>
      </p:pic>
    </p:spTree>
    <p:extLst>
      <p:ext uri="{BB962C8B-B14F-4D97-AF65-F5344CB8AC3E}">
        <p14:creationId xmlns:p14="http://schemas.microsoft.com/office/powerpoint/2010/main" val="27185641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51DEFDC2-D0E0-46E9-98DF-FFFC6DB7D53C}"/>
              </a:ext>
            </a:extLst>
          </p:cNvPr>
          <p:cNvPicPr>
            <a:picLocks noChangeAspect="1"/>
          </p:cNvPicPr>
          <p:nvPr/>
        </p:nvPicPr>
        <p:blipFill>
          <a:blip r:embed="rId3"/>
          <a:stretch>
            <a:fillRect/>
          </a:stretch>
        </p:blipFill>
        <p:spPr>
          <a:xfrm>
            <a:off x="2219386" y="0"/>
            <a:ext cx="7156174" cy="6858000"/>
          </a:xfrm>
          <a:prstGeom prst="rect">
            <a:avLst/>
          </a:prstGeom>
        </p:spPr>
      </p:pic>
    </p:spTree>
    <p:extLst>
      <p:ext uri="{BB962C8B-B14F-4D97-AF65-F5344CB8AC3E}">
        <p14:creationId xmlns:p14="http://schemas.microsoft.com/office/powerpoint/2010/main" val="39825516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521207" y="448056"/>
            <a:ext cx="10552533" cy="640080"/>
          </a:xfrm>
        </p:spPr>
        <p:txBody>
          <a:bodyPr rtlCol="0">
            <a:noAutofit/>
          </a:bodyPr>
          <a:lstStyle/>
          <a:p>
            <a:pPr rtl="0"/>
            <a:r>
              <a:rPr lang="en-US" altLang="zh-CN" dirty="0">
                <a:cs typeface="Segoe UI Light" panose="020B0502040204020203" pitchFamily="34" charset="0"/>
              </a:rPr>
              <a:t>Chapter 2  </a:t>
            </a:r>
            <a:r>
              <a:rPr lang="zh-CN" altLang="en-US" dirty="0">
                <a:cs typeface="Segoe UI Light" panose="020B0502040204020203" pitchFamily="34" charset="0"/>
              </a:rPr>
              <a:t>数据类型、运算符和表达式</a:t>
            </a:r>
          </a:p>
        </p:txBody>
      </p:sp>
      <p:sp>
        <p:nvSpPr>
          <p:cNvPr id="2" name="文本框 1">
            <a:extLst>
              <a:ext uri="{FF2B5EF4-FFF2-40B4-BE49-F238E27FC236}">
                <a16:creationId xmlns:a16="http://schemas.microsoft.com/office/drawing/2014/main" id="{278E70F4-2A89-46EF-8FA4-B65F4871C040}"/>
              </a:ext>
            </a:extLst>
          </p:cNvPr>
          <p:cNvSpPr txBox="1"/>
          <p:nvPr/>
        </p:nvSpPr>
        <p:spPr>
          <a:xfrm>
            <a:off x="611578" y="1413164"/>
            <a:ext cx="3621975" cy="369332"/>
          </a:xfrm>
          <a:prstGeom prst="rect">
            <a:avLst/>
          </a:prstGeom>
          <a:noFill/>
        </p:spPr>
        <p:txBody>
          <a:bodyPr wrap="square" rtlCol="0">
            <a:spAutoFit/>
          </a:bodyPr>
          <a:lstStyle/>
          <a:p>
            <a:r>
              <a:rPr lang="en-US" altLang="zh-CN" dirty="0"/>
              <a:t>2.3  </a:t>
            </a:r>
            <a:r>
              <a:rPr lang="zh-CN" altLang="en-US" dirty="0"/>
              <a:t>类型强制转换</a:t>
            </a:r>
          </a:p>
        </p:txBody>
      </p:sp>
      <p:sp>
        <p:nvSpPr>
          <p:cNvPr id="7" name="文本框 6">
            <a:extLst>
              <a:ext uri="{FF2B5EF4-FFF2-40B4-BE49-F238E27FC236}">
                <a16:creationId xmlns:a16="http://schemas.microsoft.com/office/drawing/2014/main" id="{D4AD588E-1E6C-461B-853E-7ABC98469690}"/>
              </a:ext>
            </a:extLst>
          </p:cNvPr>
          <p:cNvSpPr txBox="1"/>
          <p:nvPr/>
        </p:nvSpPr>
        <p:spPr>
          <a:xfrm>
            <a:off x="611578" y="1885991"/>
            <a:ext cx="10931238" cy="2031325"/>
          </a:xfrm>
          <a:prstGeom prst="rect">
            <a:avLst/>
          </a:prstGeom>
          <a:noFill/>
        </p:spPr>
        <p:txBody>
          <a:bodyPr wrap="square" rtlCol="0">
            <a:spAutoFit/>
          </a:bodyPr>
          <a:lstStyle/>
          <a:p>
            <a:r>
              <a:rPr lang="zh-CN" altLang="en-US" dirty="0">
                <a:latin typeface="Cascadia Code SemiLight" panose="020B0609020000020004" pitchFamily="49" charset="0"/>
                <a:cs typeface="Cascadia Code SemiLight" panose="020B0609020000020004" pitchFamily="49" charset="0"/>
              </a:rPr>
              <a:t>形式如下</a:t>
            </a:r>
            <a:endParaRPr lang="en-US" altLang="zh-CN" dirty="0">
              <a:latin typeface="Cascadia Code SemiLight" panose="020B0609020000020004" pitchFamily="49" charset="0"/>
              <a:cs typeface="Cascadia Code SemiLight" panose="020B0609020000020004" pitchFamily="49" charset="0"/>
            </a:endParaRPr>
          </a:p>
          <a:p>
            <a:pPr algn="ctr"/>
            <a:r>
              <a:rPr lang="en-US" altLang="zh-CN" dirty="0">
                <a:latin typeface="Cascadia Code SemiLight" panose="020B0609020000020004" pitchFamily="49" charset="0"/>
                <a:cs typeface="Cascadia Code SemiLight" panose="020B0609020000020004" pitchFamily="49" charset="0"/>
              </a:rPr>
              <a:t>(</a:t>
            </a:r>
            <a:r>
              <a:rPr lang="zh-CN" altLang="en-US" dirty="0">
                <a:latin typeface="Cascadia Code SemiLight" panose="020B0609020000020004" pitchFamily="49" charset="0"/>
                <a:cs typeface="Cascadia Code SemiLight" panose="020B0609020000020004" pitchFamily="49" charset="0"/>
              </a:rPr>
              <a:t>数据类型</a:t>
            </a:r>
            <a:r>
              <a:rPr lang="en-US" altLang="zh-CN" dirty="0">
                <a:latin typeface="Cascadia Code SemiLight" panose="020B0609020000020004" pitchFamily="49" charset="0"/>
                <a:cs typeface="Cascadia Code SemiLight" panose="020B0609020000020004" pitchFamily="49" charset="0"/>
              </a:rPr>
              <a:t>)</a:t>
            </a:r>
            <a:r>
              <a:rPr lang="zh-CN" altLang="en-US" dirty="0">
                <a:latin typeface="Cascadia Code SemiLight" panose="020B0609020000020004" pitchFamily="49" charset="0"/>
                <a:cs typeface="Cascadia Code SemiLight" panose="020B0609020000020004" pitchFamily="49" charset="0"/>
              </a:rPr>
              <a:t>标识符或表达式</a:t>
            </a:r>
            <a:endParaRPr lang="en-US" altLang="zh-CN" dirty="0">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如定义了</a:t>
            </a:r>
            <a:r>
              <a:rPr lang="en-US" altLang="zh-CN" dirty="0">
                <a:latin typeface="Cascadia Code SemiLight" panose="020B0609020000020004" pitchFamily="49" charset="0"/>
                <a:cs typeface="Cascadia Code SemiLight" panose="020B0609020000020004" pitchFamily="49" charset="0"/>
              </a:rPr>
              <a:t>int a; float b; unsigned char</a:t>
            </a:r>
            <a:r>
              <a:rPr lang="zh-CN" altLang="en-US" dirty="0">
                <a:latin typeface="Cascadia Code SemiLight" panose="020B0609020000020004" pitchFamily="49" charset="0"/>
                <a:cs typeface="Cascadia Code SemiLight" panose="020B0609020000020004" pitchFamily="49" charset="0"/>
              </a:rPr>
              <a:t> </a:t>
            </a:r>
            <a:r>
              <a:rPr lang="en-US" altLang="zh-CN" dirty="0">
                <a:latin typeface="Cascadia Code SemiLight" panose="020B0609020000020004" pitchFamily="49" charset="0"/>
                <a:cs typeface="Cascadia Code SemiLight" panose="020B0609020000020004" pitchFamily="49" charset="0"/>
              </a:rPr>
              <a:t>c;</a:t>
            </a:r>
          </a:p>
          <a:p>
            <a:r>
              <a:rPr lang="zh-CN" altLang="en-US" dirty="0">
                <a:latin typeface="Cascadia Code SemiLight" panose="020B0609020000020004" pitchFamily="49" charset="0"/>
                <a:cs typeface="Cascadia Code SemiLight" panose="020B0609020000020004" pitchFamily="49" charset="0"/>
              </a:rPr>
              <a:t>可以通过</a:t>
            </a:r>
            <a:endParaRPr lang="en-US" altLang="zh-CN" dirty="0">
              <a:latin typeface="Cascadia Code SemiLight" panose="020B0609020000020004" pitchFamily="49" charset="0"/>
              <a:cs typeface="Cascadia Code SemiLight" panose="020B0609020000020004" pitchFamily="49" charset="0"/>
            </a:endParaRPr>
          </a:p>
          <a:p>
            <a:pPr algn="ctr"/>
            <a:r>
              <a:rPr lang="en-US" altLang="zh-CN" dirty="0">
                <a:latin typeface="Cascadia Code SemiLight" panose="020B0609020000020004" pitchFamily="49" charset="0"/>
                <a:cs typeface="Cascadia Code SemiLight" panose="020B0609020000020004" pitchFamily="49" charset="0"/>
              </a:rPr>
              <a:t>b = (float)a;</a:t>
            </a:r>
          </a:p>
          <a:p>
            <a:pPr algn="ctr"/>
            <a:r>
              <a:rPr lang="en-US" altLang="zh-CN" dirty="0">
                <a:latin typeface="Cascadia Code SemiLight" panose="020B0609020000020004" pitchFamily="49" charset="0"/>
                <a:cs typeface="Cascadia Code SemiLight" panose="020B0609020000020004" pitchFamily="49" charset="0"/>
              </a:rPr>
              <a:t>c = (unsigned char) (a + 2);</a:t>
            </a:r>
          </a:p>
          <a:p>
            <a:r>
              <a:rPr lang="zh-CN" altLang="en-US" dirty="0">
                <a:latin typeface="Cascadia Code SemiLight" panose="020B0609020000020004" pitchFamily="49" charset="0"/>
                <a:cs typeface="Cascadia Code SemiLight" panose="020B0609020000020004" pitchFamily="49" charset="0"/>
              </a:rPr>
              <a:t>强制转化数据类型</a:t>
            </a:r>
          </a:p>
        </p:txBody>
      </p:sp>
    </p:spTree>
    <p:extLst>
      <p:ext uri="{BB962C8B-B14F-4D97-AF65-F5344CB8AC3E}">
        <p14:creationId xmlns:p14="http://schemas.microsoft.com/office/powerpoint/2010/main" val="9198995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521207" y="448056"/>
            <a:ext cx="10552533" cy="640080"/>
          </a:xfrm>
        </p:spPr>
        <p:txBody>
          <a:bodyPr rtlCol="0">
            <a:noAutofit/>
          </a:bodyPr>
          <a:lstStyle/>
          <a:p>
            <a:pPr rtl="0"/>
            <a:r>
              <a:rPr lang="en-US" altLang="zh-CN" dirty="0">
                <a:cs typeface="Segoe UI Light" panose="020B0502040204020203" pitchFamily="34" charset="0"/>
              </a:rPr>
              <a:t>Chapter 3  </a:t>
            </a:r>
            <a:r>
              <a:rPr lang="zh-CN" altLang="en-US" dirty="0">
                <a:cs typeface="Segoe UI Light" panose="020B0502040204020203" pitchFamily="34" charset="0"/>
              </a:rPr>
              <a:t>程序和流程控制</a:t>
            </a:r>
          </a:p>
        </p:txBody>
      </p:sp>
      <p:sp>
        <p:nvSpPr>
          <p:cNvPr id="2" name="文本框 1">
            <a:extLst>
              <a:ext uri="{FF2B5EF4-FFF2-40B4-BE49-F238E27FC236}">
                <a16:creationId xmlns:a16="http://schemas.microsoft.com/office/drawing/2014/main" id="{278E70F4-2A89-46EF-8FA4-B65F4871C040}"/>
              </a:ext>
            </a:extLst>
          </p:cNvPr>
          <p:cNvSpPr txBox="1"/>
          <p:nvPr/>
        </p:nvSpPr>
        <p:spPr>
          <a:xfrm>
            <a:off x="611578" y="1413164"/>
            <a:ext cx="3621975" cy="369332"/>
          </a:xfrm>
          <a:prstGeom prst="rect">
            <a:avLst/>
          </a:prstGeom>
          <a:noFill/>
        </p:spPr>
        <p:txBody>
          <a:bodyPr wrap="square" rtlCol="0">
            <a:spAutoFit/>
          </a:bodyPr>
          <a:lstStyle/>
          <a:p>
            <a:r>
              <a:rPr lang="en-US" altLang="zh-CN" dirty="0"/>
              <a:t>3.1 if-else-if</a:t>
            </a:r>
            <a:r>
              <a:rPr lang="zh-CN" altLang="en-US" dirty="0"/>
              <a:t>语句</a:t>
            </a:r>
          </a:p>
        </p:txBody>
      </p:sp>
      <p:sp>
        <p:nvSpPr>
          <p:cNvPr id="5" name="文本框 4">
            <a:extLst>
              <a:ext uri="{FF2B5EF4-FFF2-40B4-BE49-F238E27FC236}">
                <a16:creationId xmlns:a16="http://schemas.microsoft.com/office/drawing/2014/main" id="{F587E128-23B6-45EA-B1FC-85AECD5DC589}"/>
              </a:ext>
            </a:extLst>
          </p:cNvPr>
          <p:cNvSpPr txBox="1"/>
          <p:nvPr/>
        </p:nvSpPr>
        <p:spPr>
          <a:xfrm>
            <a:off x="611578" y="2155371"/>
            <a:ext cx="7184571" cy="2862322"/>
          </a:xfrm>
          <a:prstGeom prst="rect">
            <a:avLst/>
          </a:prstGeom>
          <a:noFill/>
        </p:spPr>
        <p:txBody>
          <a:bodyPr wrap="square" rtlCol="0">
            <a:spAutoFit/>
          </a:bodyPr>
          <a:lstStyle/>
          <a:p>
            <a:r>
              <a:rPr lang="en-US" altLang="zh-CN" dirty="0">
                <a:latin typeface="Cascadia Code SemiLight" panose="020B0609020000020004" pitchFamily="49" charset="0"/>
                <a:cs typeface="Cascadia Code SemiLight" panose="020B0609020000020004" pitchFamily="49" charset="0"/>
              </a:rPr>
              <a:t>if (</a:t>
            </a:r>
            <a:r>
              <a:rPr lang="zh-CN" altLang="en-US" dirty="0">
                <a:latin typeface="Cascadia Code SemiLight" panose="020B0609020000020004" pitchFamily="49" charset="0"/>
                <a:cs typeface="Cascadia Code SemiLight" panose="020B0609020000020004" pitchFamily="49" charset="0"/>
              </a:rPr>
              <a:t>条件表达式</a:t>
            </a:r>
            <a:r>
              <a:rPr lang="en-US" altLang="zh-CN" dirty="0">
                <a:latin typeface="Cascadia Code SemiLight" panose="020B0609020000020004" pitchFamily="49" charset="0"/>
                <a:cs typeface="Cascadia Code SemiLight" panose="020B0609020000020004" pitchFamily="49" charset="0"/>
              </a:rPr>
              <a:t>1) {</a:t>
            </a:r>
          </a:p>
          <a:p>
            <a:r>
              <a:rPr lang="en-US" altLang="zh-CN" dirty="0">
                <a:latin typeface="Cascadia Code SemiLight" panose="020B0609020000020004" pitchFamily="49" charset="0"/>
                <a:cs typeface="Cascadia Code SemiLight" panose="020B0609020000020004" pitchFamily="49" charset="0"/>
              </a:rPr>
              <a:t>    // </a:t>
            </a:r>
            <a:r>
              <a:rPr lang="zh-CN" altLang="en-US" dirty="0">
                <a:latin typeface="Cascadia Code SemiLight" panose="020B0609020000020004" pitchFamily="49" charset="0"/>
                <a:cs typeface="Cascadia Code SemiLight" panose="020B0609020000020004" pitchFamily="49" charset="0"/>
              </a:rPr>
              <a:t>当条件</a:t>
            </a:r>
            <a:r>
              <a:rPr lang="en-US" altLang="zh-CN" dirty="0">
                <a:latin typeface="Cascadia Code SemiLight" panose="020B0609020000020004" pitchFamily="49" charset="0"/>
                <a:cs typeface="Cascadia Code SemiLight" panose="020B0609020000020004" pitchFamily="49" charset="0"/>
              </a:rPr>
              <a:t>1</a:t>
            </a:r>
            <a:r>
              <a:rPr lang="zh-CN" altLang="en-US" dirty="0">
                <a:latin typeface="Cascadia Code SemiLight" panose="020B0609020000020004" pitchFamily="49" charset="0"/>
                <a:cs typeface="Cascadia Code SemiLight" panose="020B0609020000020004" pitchFamily="49" charset="0"/>
              </a:rPr>
              <a:t>为真 </a:t>
            </a:r>
            <a:r>
              <a:rPr lang="en-US" altLang="zh-CN" dirty="0">
                <a:latin typeface="Cascadia Code SemiLight" panose="020B0609020000020004" pitchFamily="49" charset="0"/>
                <a:cs typeface="Cascadia Code SemiLight" panose="020B0609020000020004" pitchFamily="49" charset="0"/>
              </a:rPr>
              <a:t>(</a:t>
            </a:r>
            <a:r>
              <a:rPr lang="zh-CN" altLang="en-US" dirty="0">
                <a:latin typeface="Cascadia Code SemiLight" panose="020B0609020000020004" pitchFamily="49" charset="0"/>
                <a:cs typeface="Cascadia Code SemiLight" panose="020B0609020000020004" pitchFamily="49" charset="0"/>
              </a:rPr>
              <a:t>非零</a:t>
            </a:r>
            <a:r>
              <a:rPr lang="en-US" altLang="zh-CN" dirty="0">
                <a:latin typeface="Cascadia Code SemiLight" panose="020B0609020000020004" pitchFamily="49" charset="0"/>
                <a:cs typeface="Cascadia Code SemiLight" panose="020B0609020000020004" pitchFamily="49" charset="0"/>
              </a:rPr>
              <a:t>) </a:t>
            </a:r>
            <a:r>
              <a:rPr lang="zh-CN" altLang="en-US" dirty="0">
                <a:latin typeface="Cascadia Code SemiLight" panose="020B0609020000020004" pitchFamily="49" charset="0"/>
                <a:cs typeface="Cascadia Code SemiLight" panose="020B0609020000020004" pitchFamily="49" charset="0"/>
              </a:rPr>
              <a:t>时执行的语句</a:t>
            </a:r>
          </a:p>
          <a:p>
            <a:r>
              <a:rPr lang="en-US" altLang="zh-CN" dirty="0">
                <a:latin typeface="Cascadia Code SemiLight" panose="020B0609020000020004" pitchFamily="49" charset="0"/>
                <a:cs typeface="Cascadia Code SemiLight" panose="020B0609020000020004" pitchFamily="49" charset="0"/>
              </a:rPr>
              <a:t>} </a:t>
            </a:r>
          </a:p>
          <a:p>
            <a:r>
              <a:rPr lang="en-US" altLang="zh-CN" dirty="0">
                <a:latin typeface="Cascadia Code SemiLight" panose="020B0609020000020004" pitchFamily="49" charset="0"/>
                <a:cs typeface="Cascadia Code SemiLight" panose="020B0609020000020004" pitchFamily="49" charset="0"/>
              </a:rPr>
              <a:t>else if (</a:t>
            </a:r>
            <a:r>
              <a:rPr lang="zh-CN" altLang="en-US" dirty="0">
                <a:latin typeface="Cascadia Code SemiLight" panose="020B0609020000020004" pitchFamily="49" charset="0"/>
                <a:cs typeface="Cascadia Code SemiLight" panose="020B0609020000020004" pitchFamily="49" charset="0"/>
              </a:rPr>
              <a:t>条件表达式</a:t>
            </a:r>
            <a:r>
              <a:rPr lang="en-US" altLang="zh-CN" dirty="0">
                <a:latin typeface="Cascadia Code SemiLight" panose="020B0609020000020004" pitchFamily="49" charset="0"/>
                <a:cs typeface="Cascadia Code SemiLight" panose="020B0609020000020004" pitchFamily="49" charset="0"/>
              </a:rPr>
              <a:t>2) {</a:t>
            </a:r>
          </a:p>
          <a:p>
            <a:r>
              <a:rPr lang="en-US" altLang="zh-CN" dirty="0">
                <a:latin typeface="Cascadia Code SemiLight" panose="020B0609020000020004" pitchFamily="49" charset="0"/>
                <a:cs typeface="Cascadia Code SemiLight" panose="020B0609020000020004" pitchFamily="49" charset="0"/>
              </a:rPr>
              <a:t>    //</a:t>
            </a:r>
            <a:r>
              <a:rPr lang="zh-CN" altLang="en-US" dirty="0">
                <a:latin typeface="Cascadia Code SemiLight" panose="020B0609020000020004" pitchFamily="49" charset="0"/>
                <a:cs typeface="Cascadia Code SemiLight" panose="020B0609020000020004" pitchFamily="49" charset="0"/>
              </a:rPr>
              <a:t>当条件</a:t>
            </a:r>
            <a:r>
              <a:rPr lang="en-US" altLang="zh-CN" dirty="0">
                <a:latin typeface="Cascadia Code SemiLight" panose="020B0609020000020004" pitchFamily="49" charset="0"/>
                <a:cs typeface="Cascadia Code SemiLight" panose="020B0609020000020004" pitchFamily="49" charset="0"/>
              </a:rPr>
              <a:t>2</a:t>
            </a:r>
            <a:r>
              <a:rPr lang="zh-CN" altLang="en-US" dirty="0">
                <a:latin typeface="Cascadia Code SemiLight" panose="020B0609020000020004" pitchFamily="49" charset="0"/>
                <a:cs typeface="Cascadia Code SemiLight" panose="020B0609020000020004" pitchFamily="49" charset="0"/>
              </a:rPr>
              <a:t>为真 </a:t>
            </a:r>
            <a:r>
              <a:rPr lang="en-US" altLang="zh-CN" dirty="0">
                <a:latin typeface="Cascadia Code SemiLight" panose="020B0609020000020004" pitchFamily="49" charset="0"/>
                <a:cs typeface="Cascadia Code SemiLight" panose="020B0609020000020004" pitchFamily="49" charset="0"/>
              </a:rPr>
              <a:t>(</a:t>
            </a:r>
            <a:r>
              <a:rPr lang="zh-CN" altLang="en-US" dirty="0">
                <a:latin typeface="Cascadia Code SemiLight" panose="020B0609020000020004" pitchFamily="49" charset="0"/>
                <a:cs typeface="Cascadia Code SemiLight" panose="020B0609020000020004" pitchFamily="49" charset="0"/>
              </a:rPr>
              <a:t>非零</a:t>
            </a:r>
            <a:r>
              <a:rPr lang="en-US" altLang="zh-CN" dirty="0">
                <a:latin typeface="Cascadia Code SemiLight" panose="020B0609020000020004" pitchFamily="49" charset="0"/>
                <a:cs typeface="Cascadia Code SemiLight" panose="020B0609020000020004" pitchFamily="49" charset="0"/>
              </a:rPr>
              <a:t>) </a:t>
            </a:r>
            <a:r>
              <a:rPr lang="zh-CN" altLang="en-US" dirty="0">
                <a:latin typeface="Cascadia Code SemiLight" panose="020B0609020000020004" pitchFamily="49" charset="0"/>
                <a:cs typeface="Cascadia Code SemiLight" panose="020B0609020000020004" pitchFamily="49" charset="0"/>
              </a:rPr>
              <a:t>时执行的语句</a:t>
            </a:r>
            <a:endParaRPr lang="en-US" altLang="zh-CN" dirty="0">
              <a:latin typeface="Cascadia Code SemiLight" panose="020B0609020000020004" pitchFamily="49" charset="0"/>
              <a:cs typeface="Cascadia Code SemiLight" panose="020B0609020000020004" pitchFamily="49" charset="0"/>
            </a:endParaRPr>
          </a:p>
          <a:p>
            <a:r>
              <a:rPr lang="en-US" altLang="zh-CN" dirty="0">
                <a:latin typeface="Cascadia Code SemiLight" panose="020B0609020000020004" pitchFamily="49" charset="0"/>
                <a:cs typeface="Cascadia Code SemiLight" panose="020B0609020000020004" pitchFamily="49" charset="0"/>
              </a:rPr>
              <a:t>} </a:t>
            </a:r>
          </a:p>
          <a:p>
            <a:r>
              <a:rPr lang="en-US" altLang="zh-CN" dirty="0">
                <a:latin typeface="Cascadia Code SemiLight" panose="020B0609020000020004" pitchFamily="49" charset="0"/>
                <a:cs typeface="Cascadia Code SemiLight" panose="020B0609020000020004" pitchFamily="49" charset="0"/>
              </a:rPr>
              <a:t>else {</a:t>
            </a:r>
          </a:p>
          <a:p>
            <a:r>
              <a:rPr lang="en-US" altLang="zh-CN" dirty="0">
                <a:latin typeface="Cascadia Code SemiLight" panose="020B0609020000020004" pitchFamily="49" charset="0"/>
                <a:cs typeface="Cascadia Code SemiLight" panose="020B0609020000020004" pitchFamily="49" charset="0"/>
              </a:rPr>
              <a:t>    // </a:t>
            </a:r>
            <a:r>
              <a:rPr lang="zh-CN" altLang="en-US" dirty="0">
                <a:latin typeface="Cascadia Code SemiLight" panose="020B0609020000020004" pitchFamily="49" charset="0"/>
                <a:cs typeface="Cascadia Code SemiLight" panose="020B0609020000020004" pitchFamily="49" charset="0"/>
              </a:rPr>
              <a:t>当以上条件为假 </a:t>
            </a:r>
            <a:r>
              <a:rPr lang="en-US" altLang="zh-CN" dirty="0">
                <a:latin typeface="Cascadia Code SemiLight" panose="020B0609020000020004" pitchFamily="49" charset="0"/>
                <a:cs typeface="Cascadia Code SemiLight" panose="020B0609020000020004" pitchFamily="49" charset="0"/>
              </a:rPr>
              <a:t>(</a:t>
            </a:r>
            <a:r>
              <a:rPr lang="zh-CN" altLang="en-US" dirty="0">
                <a:latin typeface="Cascadia Code SemiLight" panose="020B0609020000020004" pitchFamily="49" charset="0"/>
                <a:cs typeface="Cascadia Code SemiLight" panose="020B0609020000020004" pitchFamily="49" charset="0"/>
              </a:rPr>
              <a:t>零</a:t>
            </a:r>
            <a:r>
              <a:rPr lang="en-US" altLang="zh-CN" dirty="0">
                <a:latin typeface="Cascadia Code SemiLight" panose="020B0609020000020004" pitchFamily="49" charset="0"/>
                <a:cs typeface="Cascadia Code SemiLight" panose="020B0609020000020004" pitchFamily="49" charset="0"/>
              </a:rPr>
              <a:t>) </a:t>
            </a:r>
            <a:r>
              <a:rPr lang="zh-CN" altLang="en-US" dirty="0">
                <a:latin typeface="Cascadia Code SemiLight" panose="020B0609020000020004" pitchFamily="49" charset="0"/>
                <a:cs typeface="Cascadia Code SemiLight" panose="020B0609020000020004" pitchFamily="49" charset="0"/>
              </a:rPr>
              <a:t>时执行的语句</a:t>
            </a:r>
          </a:p>
          <a:p>
            <a:r>
              <a:rPr lang="en-US" altLang="zh-CN" dirty="0">
                <a:latin typeface="Cascadia Code SemiLight" panose="020B0609020000020004" pitchFamily="49" charset="0"/>
                <a:cs typeface="Cascadia Code SemiLight" panose="020B0609020000020004" pitchFamily="49" charset="0"/>
              </a:rPr>
              <a:t>}</a:t>
            </a:r>
          </a:p>
          <a:p>
            <a:endParaRPr lang="zh-CN" altLang="en-US" dirty="0">
              <a:latin typeface="Cascadia Code SemiLight" panose="020B0609020000020004" pitchFamily="49" charset="0"/>
              <a:cs typeface="Cascadia Code SemiLight" panose="020B0609020000020004" pitchFamily="49" charset="0"/>
            </a:endParaRPr>
          </a:p>
        </p:txBody>
      </p:sp>
      <p:sp>
        <p:nvSpPr>
          <p:cNvPr id="9" name="文本框 8">
            <a:extLst>
              <a:ext uri="{FF2B5EF4-FFF2-40B4-BE49-F238E27FC236}">
                <a16:creationId xmlns:a16="http://schemas.microsoft.com/office/drawing/2014/main" id="{C5789512-D892-45C2-8A5E-63EA89F8A622}"/>
              </a:ext>
            </a:extLst>
          </p:cNvPr>
          <p:cNvSpPr txBox="1"/>
          <p:nvPr/>
        </p:nvSpPr>
        <p:spPr>
          <a:xfrm>
            <a:off x="6402284" y="1413164"/>
            <a:ext cx="5312724" cy="4524315"/>
          </a:xfrm>
          <a:prstGeom prst="rect">
            <a:avLst/>
          </a:prstGeom>
          <a:noFill/>
        </p:spPr>
        <p:txBody>
          <a:bodyPr wrap="square">
            <a:spAutoFit/>
          </a:bodyPr>
          <a:lstStyle/>
          <a:p>
            <a:r>
              <a:rPr lang="zh-CN" altLang="en-US" dirty="0">
                <a:latin typeface="Cascadia Code SemiLight" panose="020B0609020000020004" pitchFamily="49" charset="0"/>
                <a:cs typeface="Cascadia Code SemiLight" panose="020B0609020000020004" pitchFamily="49" charset="0"/>
              </a:rPr>
              <a:t>#include &lt;stdio.h&gt;</a:t>
            </a:r>
          </a:p>
          <a:p>
            <a:r>
              <a:rPr lang="zh-CN" altLang="en-US" dirty="0">
                <a:latin typeface="Cascadia Code SemiLight" panose="020B0609020000020004" pitchFamily="49" charset="0"/>
                <a:cs typeface="Cascadia Code SemiLight" panose="020B0609020000020004" pitchFamily="49" charset="0"/>
              </a:rPr>
              <a:t>int main() {</a:t>
            </a:r>
          </a:p>
          <a:p>
            <a:r>
              <a:rPr lang="zh-CN" altLang="en-US" dirty="0">
                <a:latin typeface="Cascadia Code SemiLight" panose="020B0609020000020004" pitchFamily="49" charset="0"/>
                <a:cs typeface="Cascadia Code SemiLight" panose="020B0609020000020004" pitchFamily="49" charset="0"/>
              </a:rPr>
              <a:t>    int score = 85;</a:t>
            </a:r>
          </a:p>
          <a:p>
            <a:endParaRPr lang="zh-CN" altLang="en-US" dirty="0">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    if (score &gt;= 90) {</a:t>
            </a:r>
          </a:p>
          <a:p>
            <a:r>
              <a:rPr lang="zh-CN" altLang="en-US" dirty="0">
                <a:latin typeface="Cascadia Code SemiLight" panose="020B0609020000020004" pitchFamily="49" charset="0"/>
                <a:cs typeface="Cascadia Code SemiLight" panose="020B0609020000020004" pitchFamily="49" charset="0"/>
              </a:rPr>
              <a:t>        printf("优秀\n");</a:t>
            </a:r>
          </a:p>
          <a:p>
            <a:r>
              <a:rPr lang="zh-CN" altLang="en-US" dirty="0">
                <a:latin typeface="Cascadia Code SemiLight" panose="020B0609020000020004" pitchFamily="49" charset="0"/>
                <a:cs typeface="Cascadia Code SemiLight" panose="020B0609020000020004" pitchFamily="49" charset="0"/>
              </a:rPr>
              <a:t>    } else if (score &gt;= 75) {</a:t>
            </a:r>
          </a:p>
          <a:p>
            <a:r>
              <a:rPr lang="zh-CN" altLang="en-US" dirty="0">
                <a:latin typeface="Cascadia Code SemiLight" panose="020B0609020000020004" pitchFamily="49" charset="0"/>
                <a:cs typeface="Cascadia Code SemiLight" panose="020B0609020000020004" pitchFamily="49" charset="0"/>
              </a:rPr>
              <a:t>        printf("良好\n");</a:t>
            </a:r>
          </a:p>
          <a:p>
            <a:r>
              <a:rPr lang="zh-CN" altLang="en-US" dirty="0">
                <a:latin typeface="Cascadia Code SemiLight" panose="020B0609020000020004" pitchFamily="49" charset="0"/>
                <a:cs typeface="Cascadia Code SemiLight" panose="020B0609020000020004" pitchFamily="49" charset="0"/>
              </a:rPr>
              <a:t>    } else if (score &gt;= 60) {</a:t>
            </a:r>
          </a:p>
          <a:p>
            <a:r>
              <a:rPr lang="zh-CN" altLang="en-US" dirty="0">
                <a:latin typeface="Cascadia Code SemiLight" panose="020B0609020000020004" pitchFamily="49" charset="0"/>
                <a:cs typeface="Cascadia Code SemiLight" panose="020B0609020000020004" pitchFamily="49" charset="0"/>
              </a:rPr>
              <a:t>        printf("及格\n");</a:t>
            </a:r>
          </a:p>
          <a:p>
            <a:r>
              <a:rPr lang="zh-CN" altLang="en-US" dirty="0">
                <a:latin typeface="Cascadia Code SemiLight" panose="020B0609020000020004" pitchFamily="49" charset="0"/>
                <a:cs typeface="Cascadia Code SemiLight" panose="020B0609020000020004" pitchFamily="49" charset="0"/>
              </a:rPr>
              <a:t>    } else {</a:t>
            </a:r>
          </a:p>
          <a:p>
            <a:r>
              <a:rPr lang="zh-CN" altLang="en-US" dirty="0">
                <a:latin typeface="Cascadia Code SemiLight" panose="020B0609020000020004" pitchFamily="49" charset="0"/>
                <a:cs typeface="Cascadia Code SemiLight" panose="020B0609020000020004" pitchFamily="49" charset="0"/>
              </a:rPr>
              <a:t>        printf("不及格\n");</a:t>
            </a:r>
          </a:p>
          <a:p>
            <a:r>
              <a:rPr lang="zh-CN" altLang="en-US" dirty="0">
                <a:latin typeface="Cascadia Code SemiLight" panose="020B0609020000020004" pitchFamily="49" charset="0"/>
                <a:cs typeface="Cascadia Code SemiLight" panose="020B0609020000020004" pitchFamily="49" charset="0"/>
              </a:rPr>
              <a:t>    }</a:t>
            </a:r>
          </a:p>
          <a:p>
            <a:endParaRPr lang="zh-CN" altLang="en-US" dirty="0">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    return 0;</a:t>
            </a:r>
          </a:p>
          <a:p>
            <a:r>
              <a:rPr lang="zh-CN" altLang="en-US" dirty="0">
                <a:latin typeface="Cascadia Code SemiLight" panose="020B0609020000020004" pitchFamily="49" charset="0"/>
                <a:cs typeface="Cascadia Code SemiLight" panose="020B0609020000020004" pitchFamily="49" charset="0"/>
              </a:rPr>
              <a:t>}</a:t>
            </a:r>
          </a:p>
        </p:txBody>
      </p:sp>
    </p:spTree>
    <p:extLst>
      <p:ext uri="{BB962C8B-B14F-4D97-AF65-F5344CB8AC3E}">
        <p14:creationId xmlns:p14="http://schemas.microsoft.com/office/powerpoint/2010/main" val="40611185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521207" y="448056"/>
            <a:ext cx="10552533" cy="640080"/>
          </a:xfrm>
        </p:spPr>
        <p:txBody>
          <a:bodyPr rtlCol="0">
            <a:noAutofit/>
          </a:bodyPr>
          <a:lstStyle/>
          <a:p>
            <a:pPr rtl="0"/>
            <a:r>
              <a:rPr lang="en-US" altLang="zh-CN" dirty="0">
                <a:cs typeface="Segoe UI Light" panose="020B0502040204020203" pitchFamily="34" charset="0"/>
              </a:rPr>
              <a:t>Chapter 3  </a:t>
            </a:r>
            <a:r>
              <a:rPr lang="zh-CN" altLang="en-US" dirty="0">
                <a:cs typeface="Segoe UI Light" panose="020B0502040204020203" pitchFamily="34" charset="0"/>
              </a:rPr>
              <a:t>程序和流程控制</a:t>
            </a:r>
          </a:p>
        </p:txBody>
      </p:sp>
      <p:sp>
        <p:nvSpPr>
          <p:cNvPr id="2" name="文本框 1">
            <a:extLst>
              <a:ext uri="{FF2B5EF4-FFF2-40B4-BE49-F238E27FC236}">
                <a16:creationId xmlns:a16="http://schemas.microsoft.com/office/drawing/2014/main" id="{278E70F4-2A89-46EF-8FA4-B65F4871C040}"/>
              </a:ext>
            </a:extLst>
          </p:cNvPr>
          <p:cNvSpPr txBox="1"/>
          <p:nvPr/>
        </p:nvSpPr>
        <p:spPr>
          <a:xfrm>
            <a:off x="611578" y="1413164"/>
            <a:ext cx="3621975" cy="369332"/>
          </a:xfrm>
          <a:prstGeom prst="rect">
            <a:avLst/>
          </a:prstGeom>
          <a:noFill/>
        </p:spPr>
        <p:txBody>
          <a:bodyPr wrap="square" rtlCol="0">
            <a:spAutoFit/>
          </a:bodyPr>
          <a:lstStyle/>
          <a:p>
            <a:r>
              <a:rPr lang="en-US" altLang="zh-CN" dirty="0"/>
              <a:t>3.2</a:t>
            </a:r>
            <a:r>
              <a:rPr lang="zh-CN" altLang="en-US" dirty="0"/>
              <a:t> </a:t>
            </a:r>
            <a:r>
              <a:rPr lang="en-US" altLang="zh-CN" dirty="0"/>
              <a:t>switch</a:t>
            </a:r>
            <a:r>
              <a:rPr lang="zh-CN" altLang="en-US" dirty="0"/>
              <a:t>语句</a:t>
            </a:r>
          </a:p>
        </p:txBody>
      </p:sp>
      <p:sp>
        <p:nvSpPr>
          <p:cNvPr id="7" name="文本框 6">
            <a:extLst>
              <a:ext uri="{FF2B5EF4-FFF2-40B4-BE49-F238E27FC236}">
                <a16:creationId xmlns:a16="http://schemas.microsoft.com/office/drawing/2014/main" id="{0E23F87C-12CA-4B0A-B4B4-056BE280C2C8}"/>
              </a:ext>
            </a:extLst>
          </p:cNvPr>
          <p:cNvSpPr txBox="1"/>
          <p:nvPr/>
        </p:nvSpPr>
        <p:spPr>
          <a:xfrm>
            <a:off x="611578" y="2149088"/>
            <a:ext cx="6095010" cy="3416320"/>
          </a:xfrm>
          <a:prstGeom prst="rect">
            <a:avLst/>
          </a:prstGeom>
          <a:noFill/>
        </p:spPr>
        <p:txBody>
          <a:bodyPr wrap="square">
            <a:spAutoFit/>
          </a:bodyPr>
          <a:lstStyle/>
          <a:p>
            <a:r>
              <a:rPr lang="en-US" altLang="zh-CN" dirty="0">
                <a:latin typeface="Cascadia Code SemiLight" panose="020B0609020000020004" pitchFamily="49" charset="0"/>
                <a:cs typeface="Cascadia Code SemiLight" panose="020B0609020000020004" pitchFamily="49" charset="0"/>
              </a:rPr>
              <a:t>switch (</a:t>
            </a:r>
            <a:r>
              <a:rPr lang="zh-CN" altLang="en-US" dirty="0">
                <a:latin typeface="Cascadia Code SemiLight" panose="020B0609020000020004" pitchFamily="49" charset="0"/>
                <a:cs typeface="Cascadia Code SemiLight" panose="020B0609020000020004" pitchFamily="49" charset="0"/>
              </a:rPr>
              <a:t>表达式</a:t>
            </a:r>
            <a:r>
              <a:rPr lang="en-US" altLang="zh-CN" dirty="0">
                <a:latin typeface="Cascadia Code SemiLight" panose="020B0609020000020004" pitchFamily="49" charset="0"/>
                <a:cs typeface="Cascadia Code SemiLight" panose="020B0609020000020004" pitchFamily="49" charset="0"/>
              </a:rPr>
              <a:t>) {</a:t>
            </a:r>
          </a:p>
          <a:p>
            <a:r>
              <a:rPr lang="en-US" altLang="zh-CN" dirty="0">
                <a:latin typeface="Cascadia Code SemiLight" panose="020B0609020000020004" pitchFamily="49" charset="0"/>
                <a:cs typeface="Cascadia Code SemiLight" panose="020B0609020000020004" pitchFamily="49" charset="0"/>
              </a:rPr>
              <a:t>    case </a:t>
            </a:r>
            <a:r>
              <a:rPr lang="zh-CN" altLang="en-US" dirty="0">
                <a:latin typeface="Cascadia Code SemiLight" panose="020B0609020000020004" pitchFamily="49" charset="0"/>
                <a:cs typeface="Cascadia Code SemiLight" panose="020B0609020000020004" pitchFamily="49" charset="0"/>
              </a:rPr>
              <a:t>常量</a:t>
            </a:r>
            <a:r>
              <a:rPr lang="en-US" altLang="zh-CN" dirty="0">
                <a:latin typeface="Cascadia Code SemiLight" panose="020B0609020000020004" pitchFamily="49" charset="0"/>
                <a:cs typeface="Cascadia Code SemiLight" panose="020B0609020000020004" pitchFamily="49" charset="0"/>
              </a:rPr>
              <a:t>1:</a:t>
            </a:r>
          </a:p>
          <a:p>
            <a:r>
              <a:rPr lang="en-US" altLang="zh-CN" dirty="0">
                <a:latin typeface="Cascadia Code SemiLight" panose="020B0609020000020004" pitchFamily="49" charset="0"/>
                <a:cs typeface="Cascadia Code SemiLight" panose="020B0609020000020004" pitchFamily="49" charset="0"/>
              </a:rPr>
              <a:t>        // </a:t>
            </a:r>
            <a:r>
              <a:rPr lang="zh-CN" altLang="en-US" dirty="0">
                <a:latin typeface="Cascadia Code SemiLight" panose="020B0609020000020004" pitchFamily="49" charset="0"/>
                <a:cs typeface="Cascadia Code SemiLight" panose="020B0609020000020004" pitchFamily="49" charset="0"/>
              </a:rPr>
              <a:t>当表达式的值等于常量</a:t>
            </a:r>
            <a:r>
              <a:rPr lang="en-US" altLang="zh-CN" dirty="0">
                <a:latin typeface="Cascadia Code SemiLight" panose="020B0609020000020004" pitchFamily="49" charset="0"/>
                <a:cs typeface="Cascadia Code SemiLight" panose="020B0609020000020004" pitchFamily="49" charset="0"/>
              </a:rPr>
              <a:t>1</a:t>
            </a:r>
            <a:r>
              <a:rPr lang="zh-CN" altLang="en-US" dirty="0">
                <a:latin typeface="Cascadia Code SemiLight" panose="020B0609020000020004" pitchFamily="49" charset="0"/>
                <a:cs typeface="Cascadia Code SemiLight" panose="020B0609020000020004" pitchFamily="49" charset="0"/>
              </a:rPr>
              <a:t>时执行</a:t>
            </a:r>
          </a:p>
          <a:p>
            <a:r>
              <a:rPr lang="zh-CN" altLang="en-US" dirty="0">
                <a:latin typeface="Cascadia Code SemiLight" panose="020B0609020000020004" pitchFamily="49" charset="0"/>
                <a:cs typeface="Cascadia Code SemiLight" panose="020B0609020000020004" pitchFamily="49" charset="0"/>
              </a:rPr>
              <a:t>        </a:t>
            </a:r>
            <a:r>
              <a:rPr lang="en-US" altLang="zh-CN" dirty="0">
                <a:latin typeface="Cascadia Code SemiLight" panose="020B0609020000020004" pitchFamily="49" charset="0"/>
                <a:cs typeface="Cascadia Code SemiLight" panose="020B0609020000020004" pitchFamily="49" charset="0"/>
              </a:rPr>
              <a:t>break;</a:t>
            </a:r>
          </a:p>
          <a:p>
            <a:r>
              <a:rPr lang="en-US" altLang="zh-CN" dirty="0">
                <a:latin typeface="Cascadia Code SemiLight" panose="020B0609020000020004" pitchFamily="49" charset="0"/>
                <a:cs typeface="Cascadia Code SemiLight" panose="020B0609020000020004" pitchFamily="49" charset="0"/>
              </a:rPr>
              <a:t>    case </a:t>
            </a:r>
            <a:r>
              <a:rPr lang="zh-CN" altLang="en-US" dirty="0">
                <a:latin typeface="Cascadia Code SemiLight" panose="020B0609020000020004" pitchFamily="49" charset="0"/>
                <a:cs typeface="Cascadia Code SemiLight" panose="020B0609020000020004" pitchFamily="49" charset="0"/>
              </a:rPr>
              <a:t>常量</a:t>
            </a:r>
            <a:r>
              <a:rPr lang="en-US" altLang="zh-CN" dirty="0">
                <a:latin typeface="Cascadia Code SemiLight" panose="020B0609020000020004" pitchFamily="49" charset="0"/>
                <a:cs typeface="Cascadia Code SemiLight" panose="020B0609020000020004" pitchFamily="49" charset="0"/>
              </a:rPr>
              <a:t>2:</a:t>
            </a:r>
          </a:p>
          <a:p>
            <a:r>
              <a:rPr lang="en-US" altLang="zh-CN" dirty="0">
                <a:latin typeface="Cascadia Code SemiLight" panose="020B0609020000020004" pitchFamily="49" charset="0"/>
                <a:cs typeface="Cascadia Code SemiLight" panose="020B0609020000020004" pitchFamily="49" charset="0"/>
              </a:rPr>
              <a:t>        // </a:t>
            </a:r>
            <a:r>
              <a:rPr lang="zh-CN" altLang="en-US" dirty="0">
                <a:latin typeface="Cascadia Code SemiLight" panose="020B0609020000020004" pitchFamily="49" charset="0"/>
                <a:cs typeface="Cascadia Code SemiLight" panose="020B0609020000020004" pitchFamily="49" charset="0"/>
              </a:rPr>
              <a:t>当表达式的值等于常量</a:t>
            </a:r>
            <a:r>
              <a:rPr lang="en-US" altLang="zh-CN" dirty="0">
                <a:latin typeface="Cascadia Code SemiLight" panose="020B0609020000020004" pitchFamily="49" charset="0"/>
                <a:cs typeface="Cascadia Code SemiLight" panose="020B0609020000020004" pitchFamily="49" charset="0"/>
              </a:rPr>
              <a:t>2</a:t>
            </a:r>
            <a:r>
              <a:rPr lang="zh-CN" altLang="en-US" dirty="0">
                <a:latin typeface="Cascadia Code SemiLight" panose="020B0609020000020004" pitchFamily="49" charset="0"/>
                <a:cs typeface="Cascadia Code SemiLight" panose="020B0609020000020004" pitchFamily="49" charset="0"/>
              </a:rPr>
              <a:t>时执行</a:t>
            </a:r>
          </a:p>
          <a:p>
            <a:r>
              <a:rPr lang="zh-CN" altLang="en-US" dirty="0">
                <a:latin typeface="Cascadia Code SemiLight" panose="020B0609020000020004" pitchFamily="49" charset="0"/>
                <a:cs typeface="Cascadia Code SemiLight" panose="020B0609020000020004" pitchFamily="49" charset="0"/>
              </a:rPr>
              <a:t>        </a:t>
            </a:r>
            <a:r>
              <a:rPr lang="en-US" altLang="zh-CN" dirty="0">
                <a:latin typeface="Cascadia Code SemiLight" panose="020B0609020000020004" pitchFamily="49" charset="0"/>
                <a:cs typeface="Cascadia Code SemiLight" panose="020B0609020000020004" pitchFamily="49" charset="0"/>
              </a:rPr>
              <a:t>break;</a:t>
            </a:r>
          </a:p>
          <a:p>
            <a:r>
              <a:rPr lang="en-US" altLang="zh-CN" dirty="0">
                <a:latin typeface="Cascadia Code SemiLight" panose="020B0609020000020004" pitchFamily="49" charset="0"/>
                <a:cs typeface="Cascadia Code SemiLight" panose="020B0609020000020004" pitchFamily="49" charset="0"/>
              </a:rPr>
              <a:t>    ...</a:t>
            </a:r>
          </a:p>
          <a:p>
            <a:r>
              <a:rPr lang="en-US" altLang="zh-CN" dirty="0">
                <a:latin typeface="Cascadia Code SemiLight" panose="020B0609020000020004" pitchFamily="49" charset="0"/>
                <a:cs typeface="Cascadia Code SemiLight" panose="020B0609020000020004" pitchFamily="49" charset="0"/>
              </a:rPr>
              <a:t>    default:</a:t>
            </a:r>
          </a:p>
          <a:p>
            <a:r>
              <a:rPr lang="en-US" altLang="zh-CN" dirty="0">
                <a:latin typeface="Cascadia Code SemiLight" panose="020B0609020000020004" pitchFamily="49" charset="0"/>
                <a:cs typeface="Cascadia Code SemiLight" panose="020B0609020000020004" pitchFamily="49" charset="0"/>
              </a:rPr>
              <a:t>        // </a:t>
            </a:r>
            <a:r>
              <a:rPr lang="zh-CN" altLang="en-US" dirty="0">
                <a:latin typeface="Cascadia Code SemiLight" panose="020B0609020000020004" pitchFamily="49" charset="0"/>
                <a:cs typeface="Cascadia Code SemiLight" panose="020B0609020000020004" pitchFamily="49" charset="0"/>
              </a:rPr>
              <a:t>当以上所有 </a:t>
            </a:r>
            <a:r>
              <a:rPr lang="en-US" altLang="zh-CN" dirty="0">
                <a:latin typeface="Cascadia Code SemiLight" panose="020B0609020000020004" pitchFamily="49" charset="0"/>
                <a:cs typeface="Cascadia Code SemiLight" panose="020B0609020000020004" pitchFamily="49" charset="0"/>
              </a:rPr>
              <a:t>case </a:t>
            </a:r>
            <a:r>
              <a:rPr lang="zh-CN" altLang="en-US" dirty="0">
                <a:latin typeface="Cascadia Code SemiLight" panose="020B0609020000020004" pitchFamily="49" charset="0"/>
                <a:cs typeface="Cascadia Code SemiLight" panose="020B0609020000020004" pitchFamily="49" charset="0"/>
              </a:rPr>
              <a:t>都不匹配时执行</a:t>
            </a:r>
          </a:p>
          <a:p>
            <a:r>
              <a:rPr lang="en-US" altLang="zh-CN" dirty="0">
                <a:latin typeface="Cascadia Code SemiLight" panose="020B0609020000020004" pitchFamily="49" charset="0"/>
                <a:cs typeface="Cascadia Code SemiLight" panose="020B0609020000020004" pitchFamily="49" charset="0"/>
              </a:rPr>
              <a:t>}</a:t>
            </a:r>
          </a:p>
          <a:p>
            <a:endParaRPr lang="zh-CN" altLang="en-US" dirty="0">
              <a:latin typeface="Cascadia Code SemiLight" panose="020B0609020000020004" pitchFamily="49" charset="0"/>
              <a:cs typeface="Cascadia Code SemiLight" panose="020B0609020000020004" pitchFamily="49" charset="0"/>
            </a:endParaRPr>
          </a:p>
        </p:txBody>
      </p:sp>
      <p:sp>
        <p:nvSpPr>
          <p:cNvPr id="10" name="文本框 9">
            <a:extLst>
              <a:ext uri="{FF2B5EF4-FFF2-40B4-BE49-F238E27FC236}">
                <a16:creationId xmlns:a16="http://schemas.microsoft.com/office/drawing/2014/main" id="{1D7246C9-C2A7-4855-BC3D-868D4588C494}"/>
              </a:ext>
            </a:extLst>
          </p:cNvPr>
          <p:cNvSpPr txBox="1"/>
          <p:nvPr/>
        </p:nvSpPr>
        <p:spPr>
          <a:xfrm>
            <a:off x="6532913" y="1164134"/>
            <a:ext cx="5481455" cy="5693866"/>
          </a:xfrm>
          <a:prstGeom prst="rect">
            <a:avLst/>
          </a:prstGeom>
          <a:noFill/>
        </p:spPr>
        <p:txBody>
          <a:bodyPr wrap="square">
            <a:spAutoFit/>
          </a:bodyPr>
          <a:lstStyle/>
          <a:p>
            <a:r>
              <a:rPr lang="en-US" altLang="zh-CN" sz="1400" dirty="0">
                <a:latin typeface="Cascadia Code SemiLight" panose="020B0609020000020004" pitchFamily="49" charset="0"/>
                <a:cs typeface="Cascadia Code SemiLight" panose="020B0609020000020004" pitchFamily="49" charset="0"/>
              </a:rPr>
              <a:t>#include &lt;</a:t>
            </a:r>
            <a:r>
              <a:rPr lang="en-US" altLang="zh-CN" sz="1400" dirty="0" err="1">
                <a:latin typeface="Cascadia Code SemiLight" panose="020B0609020000020004" pitchFamily="49" charset="0"/>
                <a:cs typeface="Cascadia Code SemiLight" panose="020B0609020000020004" pitchFamily="49" charset="0"/>
              </a:rPr>
              <a:t>stdio.h</a:t>
            </a:r>
            <a:r>
              <a:rPr lang="en-US" altLang="zh-CN" sz="1400" dirty="0">
                <a:latin typeface="Cascadia Code SemiLight" panose="020B0609020000020004" pitchFamily="49" charset="0"/>
                <a:cs typeface="Cascadia Code SemiLight" panose="020B0609020000020004" pitchFamily="49" charset="0"/>
              </a:rPr>
              <a:t>&gt;</a:t>
            </a:r>
          </a:p>
          <a:p>
            <a:r>
              <a:rPr lang="en-US" altLang="zh-CN" sz="1400" dirty="0">
                <a:latin typeface="Cascadia Code SemiLight" panose="020B0609020000020004" pitchFamily="49" charset="0"/>
                <a:cs typeface="Cascadia Code SemiLight" panose="020B0609020000020004" pitchFamily="49" charset="0"/>
              </a:rPr>
              <a:t>int main() {</a:t>
            </a:r>
          </a:p>
          <a:p>
            <a:r>
              <a:rPr lang="en-US" altLang="zh-CN" sz="1400" dirty="0">
                <a:latin typeface="Cascadia Code SemiLight" panose="020B0609020000020004" pitchFamily="49" charset="0"/>
                <a:cs typeface="Cascadia Code SemiLight" panose="020B0609020000020004" pitchFamily="49" charset="0"/>
              </a:rPr>
              <a:t>    int day = 3;</a:t>
            </a:r>
          </a:p>
          <a:p>
            <a:endParaRPr lang="en-US" altLang="zh-CN" sz="1400" dirty="0">
              <a:latin typeface="Cascadia Code SemiLight" panose="020B0609020000020004" pitchFamily="49" charset="0"/>
              <a:cs typeface="Cascadia Code SemiLight" panose="020B0609020000020004" pitchFamily="49" charset="0"/>
            </a:endParaRPr>
          </a:p>
          <a:p>
            <a:r>
              <a:rPr lang="en-US" altLang="zh-CN" sz="1400" dirty="0">
                <a:latin typeface="Cascadia Code SemiLight" panose="020B0609020000020004" pitchFamily="49" charset="0"/>
                <a:cs typeface="Cascadia Code SemiLight" panose="020B0609020000020004" pitchFamily="49" charset="0"/>
              </a:rPr>
              <a:t>    switch (day) {</a:t>
            </a:r>
          </a:p>
          <a:p>
            <a:r>
              <a:rPr lang="en-US" altLang="zh-CN" sz="1400" dirty="0">
                <a:latin typeface="Cascadia Code SemiLight" panose="020B0609020000020004" pitchFamily="49" charset="0"/>
                <a:cs typeface="Cascadia Code SemiLight" panose="020B0609020000020004" pitchFamily="49" charset="0"/>
              </a:rPr>
              <a:t>        case 1:</a:t>
            </a:r>
          </a:p>
          <a:p>
            <a:r>
              <a:rPr lang="en-US" altLang="zh-CN" sz="1400" dirty="0">
                <a:latin typeface="Cascadia Code SemiLight" panose="020B0609020000020004" pitchFamily="49" charset="0"/>
                <a:cs typeface="Cascadia Code SemiLight" panose="020B0609020000020004" pitchFamily="49" charset="0"/>
              </a:rPr>
              <a:t>            </a:t>
            </a:r>
            <a:r>
              <a:rPr lang="en-US" altLang="zh-CN" sz="1400" dirty="0" err="1">
                <a:latin typeface="Cascadia Code SemiLight" panose="020B0609020000020004" pitchFamily="49" charset="0"/>
                <a:cs typeface="Cascadia Code SemiLight" panose="020B0609020000020004" pitchFamily="49" charset="0"/>
              </a:rPr>
              <a:t>printf</a:t>
            </a:r>
            <a:r>
              <a:rPr lang="en-US" altLang="zh-CN" sz="1400" dirty="0">
                <a:latin typeface="Cascadia Code SemiLight" panose="020B0609020000020004" pitchFamily="49" charset="0"/>
                <a:cs typeface="Cascadia Code SemiLight" panose="020B0609020000020004" pitchFamily="49" charset="0"/>
              </a:rPr>
              <a:t>("</a:t>
            </a:r>
            <a:r>
              <a:rPr lang="zh-CN" altLang="en-US" sz="1400" dirty="0">
                <a:latin typeface="Cascadia Code SemiLight" panose="020B0609020000020004" pitchFamily="49" charset="0"/>
                <a:cs typeface="Cascadia Code SemiLight" panose="020B0609020000020004" pitchFamily="49" charset="0"/>
              </a:rPr>
              <a:t>星期一</a:t>
            </a:r>
            <a:r>
              <a:rPr lang="en-US" altLang="zh-CN" sz="1400" dirty="0">
                <a:latin typeface="Cascadia Code SemiLight" panose="020B0609020000020004" pitchFamily="49" charset="0"/>
                <a:cs typeface="Cascadia Code SemiLight" panose="020B0609020000020004" pitchFamily="49" charset="0"/>
              </a:rPr>
              <a:t>\n");</a:t>
            </a:r>
          </a:p>
          <a:p>
            <a:r>
              <a:rPr lang="en-US" altLang="zh-CN" sz="1400" dirty="0">
                <a:latin typeface="Cascadia Code SemiLight" panose="020B0609020000020004" pitchFamily="49" charset="0"/>
                <a:cs typeface="Cascadia Code SemiLight" panose="020B0609020000020004" pitchFamily="49" charset="0"/>
              </a:rPr>
              <a:t>            break;</a:t>
            </a:r>
          </a:p>
          <a:p>
            <a:r>
              <a:rPr lang="en-US" altLang="zh-CN" sz="1400" dirty="0">
                <a:latin typeface="Cascadia Code SemiLight" panose="020B0609020000020004" pitchFamily="49" charset="0"/>
                <a:cs typeface="Cascadia Code SemiLight" panose="020B0609020000020004" pitchFamily="49" charset="0"/>
              </a:rPr>
              <a:t>        case 2:</a:t>
            </a:r>
          </a:p>
          <a:p>
            <a:r>
              <a:rPr lang="en-US" altLang="zh-CN" sz="1400" dirty="0">
                <a:latin typeface="Cascadia Code SemiLight" panose="020B0609020000020004" pitchFamily="49" charset="0"/>
                <a:cs typeface="Cascadia Code SemiLight" panose="020B0609020000020004" pitchFamily="49" charset="0"/>
              </a:rPr>
              <a:t>            </a:t>
            </a:r>
            <a:r>
              <a:rPr lang="en-US" altLang="zh-CN" sz="1400" dirty="0" err="1">
                <a:latin typeface="Cascadia Code SemiLight" panose="020B0609020000020004" pitchFamily="49" charset="0"/>
                <a:cs typeface="Cascadia Code SemiLight" panose="020B0609020000020004" pitchFamily="49" charset="0"/>
              </a:rPr>
              <a:t>printf</a:t>
            </a:r>
            <a:r>
              <a:rPr lang="en-US" altLang="zh-CN" sz="1400" dirty="0">
                <a:latin typeface="Cascadia Code SemiLight" panose="020B0609020000020004" pitchFamily="49" charset="0"/>
                <a:cs typeface="Cascadia Code SemiLight" panose="020B0609020000020004" pitchFamily="49" charset="0"/>
              </a:rPr>
              <a:t>("</a:t>
            </a:r>
            <a:r>
              <a:rPr lang="zh-CN" altLang="en-US" sz="1400" dirty="0">
                <a:latin typeface="Cascadia Code SemiLight" panose="020B0609020000020004" pitchFamily="49" charset="0"/>
                <a:cs typeface="Cascadia Code SemiLight" panose="020B0609020000020004" pitchFamily="49" charset="0"/>
              </a:rPr>
              <a:t>星期二</a:t>
            </a:r>
            <a:r>
              <a:rPr lang="en-US" altLang="zh-CN" sz="1400" dirty="0">
                <a:latin typeface="Cascadia Code SemiLight" panose="020B0609020000020004" pitchFamily="49" charset="0"/>
                <a:cs typeface="Cascadia Code SemiLight" panose="020B0609020000020004" pitchFamily="49" charset="0"/>
              </a:rPr>
              <a:t>\n");</a:t>
            </a:r>
          </a:p>
          <a:p>
            <a:r>
              <a:rPr lang="en-US" altLang="zh-CN" sz="1400" dirty="0">
                <a:latin typeface="Cascadia Code SemiLight" panose="020B0609020000020004" pitchFamily="49" charset="0"/>
                <a:cs typeface="Cascadia Code SemiLight" panose="020B0609020000020004" pitchFamily="49" charset="0"/>
              </a:rPr>
              <a:t>            break;</a:t>
            </a:r>
          </a:p>
          <a:p>
            <a:r>
              <a:rPr lang="en-US" altLang="zh-CN" sz="1400" dirty="0">
                <a:latin typeface="Cascadia Code SemiLight" panose="020B0609020000020004" pitchFamily="49" charset="0"/>
                <a:cs typeface="Cascadia Code SemiLight" panose="020B0609020000020004" pitchFamily="49" charset="0"/>
              </a:rPr>
              <a:t>        case 3:</a:t>
            </a:r>
          </a:p>
          <a:p>
            <a:r>
              <a:rPr lang="en-US" altLang="zh-CN" sz="1400" dirty="0">
                <a:latin typeface="Cascadia Code SemiLight" panose="020B0609020000020004" pitchFamily="49" charset="0"/>
                <a:cs typeface="Cascadia Code SemiLight" panose="020B0609020000020004" pitchFamily="49" charset="0"/>
              </a:rPr>
              <a:t>            </a:t>
            </a:r>
            <a:r>
              <a:rPr lang="en-US" altLang="zh-CN" sz="1400" dirty="0" err="1">
                <a:latin typeface="Cascadia Code SemiLight" panose="020B0609020000020004" pitchFamily="49" charset="0"/>
                <a:cs typeface="Cascadia Code SemiLight" panose="020B0609020000020004" pitchFamily="49" charset="0"/>
              </a:rPr>
              <a:t>printf</a:t>
            </a:r>
            <a:r>
              <a:rPr lang="en-US" altLang="zh-CN" sz="1400" dirty="0">
                <a:latin typeface="Cascadia Code SemiLight" panose="020B0609020000020004" pitchFamily="49" charset="0"/>
                <a:cs typeface="Cascadia Code SemiLight" panose="020B0609020000020004" pitchFamily="49" charset="0"/>
              </a:rPr>
              <a:t>("</a:t>
            </a:r>
            <a:r>
              <a:rPr lang="zh-CN" altLang="en-US" sz="1400" dirty="0">
                <a:latin typeface="Cascadia Code SemiLight" panose="020B0609020000020004" pitchFamily="49" charset="0"/>
                <a:cs typeface="Cascadia Code SemiLight" panose="020B0609020000020004" pitchFamily="49" charset="0"/>
              </a:rPr>
              <a:t>星期三</a:t>
            </a:r>
            <a:r>
              <a:rPr lang="en-US" altLang="zh-CN" sz="1400" dirty="0">
                <a:latin typeface="Cascadia Code SemiLight" panose="020B0609020000020004" pitchFamily="49" charset="0"/>
                <a:cs typeface="Cascadia Code SemiLight" panose="020B0609020000020004" pitchFamily="49" charset="0"/>
              </a:rPr>
              <a:t>\n");</a:t>
            </a:r>
          </a:p>
          <a:p>
            <a:r>
              <a:rPr lang="en-US" altLang="zh-CN" sz="1400" dirty="0">
                <a:latin typeface="Cascadia Code SemiLight" panose="020B0609020000020004" pitchFamily="49" charset="0"/>
                <a:cs typeface="Cascadia Code SemiLight" panose="020B0609020000020004" pitchFamily="49" charset="0"/>
              </a:rPr>
              <a:t>            break;</a:t>
            </a:r>
          </a:p>
          <a:p>
            <a:r>
              <a:rPr lang="en-US" altLang="zh-CN" sz="1400" dirty="0">
                <a:latin typeface="Cascadia Code SemiLight" panose="020B0609020000020004" pitchFamily="49" charset="0"/>
                <a:cs typeface="Cascadia Code SemiLight" panose="020B0609020000020004" pitchFamily="49" charset="0"/>
              </a:rPr>
              <a:t>        case 4:</a:t>
            </a:r>
          </a:p>
          <a:p>
            <a:r>
              <a:rPr lang="en-US" altLang="zh-CN" sz="1400" dirty="0">
                <a:latin typeface="Cascadia Code SemiLight" panose="020B0609020000020004" pitchFamily="49" charset="0"/>
                <a:cs typeface="Cascadia Code SemiLight" panose="020B0609020000020004" pitchFamily="49" charset="0"/>
              </a:rPr>
              <a:t>            </a:t>
            </a:r>
            <a:r>
              <a:rPr lang="en-US" altLang="zh-CN" sz="1400" dirty="0" err="1">
                <a:latin typeface="Cascadia Code SemiLight" panose="020B0609020000020004" pitchFamily="49" charset="0"/>
                <a:cs typeface="Cascadia Code SemiLight" panose="020B0609020000020004" pitchFamily="49" charset="0"/>
              </a:rPr>
              <a:t>printf</a:t>
            </a:r>
            <a:r>
              <a:rPr lang="en-US" altLang="zh-CN" sz="1400" dirty="0">
                <a:latin typeface="Cascadia Code SemiLight" panose="020B0609020000020004" pitchFamily="49" charset="0"/>
                <a:cs typeface="Cascadia Code SemiLight" panose="020B0609020000020004" pitchFamily="49" charset="0"/>
              </a:rPr>
              <a:t>("</a:t>
            </a:r>
            <a:r>
              <a:rPr lang="zh-CN" altLang="en-US" sz="1400" dirty="0">
                <a:latin typeface="Cascadia Code SemiLight" panose="020B0609020000020004" pitchFamily="49" charset="0"/>
                <a:cs typeface="Cascadia Code SemiLight" panose="020B0609020000020004" pitchFamily="49" charset="0"/>
              </a:rPr>
              <a:t>星期四</a:t>
            </a:r>
            <a:r>
              <a:rPr lang="en-US" altLang="zh-CN" sz="1400" dirty="0">
                <a:latin typeface="Cascadia Code SemiLight" panose="020B0609020000020004" pitchFamily="49" charset="0"/>
                <a:cs typeface="Cascadia Code SemiLight" panose="020B0609020000020004" pitchFamily="49" charset="0"/>
              </a:rPr>
              <a:t>\n");</a:t>
            </a:r>
          </a:p>
          <a:p>
            <a:r>
              <a:rPr lang="en-US" altLang="zh-CN" sz="1400" dirty="0">
                <a:latin typeface="Cascadia Code SemiLight" panose="020B0609020000020004" pitchFamily="49" charset="0"/>
                <a:cs typeface="Cascadia Code SemiLight" panose="020B0609020000020004" pitchFamily="49" charset="0"/>
              </a:rPr>
              <a:t>            break;</a:t>
            </a:r>
          </a:p>
          <a:p>
            <a:r>
              <a:rPr lang="en-US" altLang="zh-CN" sz="1400" dirty="0">
                <a:latin typeface="Cascadia Code SemiLight" panose="020B0609020000020004" pitchFamily="49" charset="0"/>
                <a:cs typeface="Cascadia Code SemiLight" panose="020B0609020000020004" pitchFamily="49" charset="0"/>
              </a:rPr>
              <a:t>        case 5:</a:t>
            </a:r>
          </a:p>
          <a:p>
            <a:r>
              <a:rPr lang="en-US" altLang="zh-CN" sz="1400" dirty="0">
                <a:latin typeface="Cascadia Code SemiLight" panose="020B0609020000020004" pitchFamily="49" charset="0"/>
                <a:cs typeface="Cascadia Code SemiLight" panose="020B0609020000020004" pitchFamily="49" charset="0"/>
              </a:rPr>
              <a:t>            </a:t>
            </a:r>
            <a:r>
              <a:rPr lang="en-US" altLang="zh-CN" sz="1400" dirty="0" err="1">
                <a:latin typeface="Cascadia Code SemiLight" panose="020B0609020000020004" pitchFamily="49" charset="0"/>
                <a:cs typeface="Cascadia Code SemiLight" panose="020B0609020000020004" pitchFamily="49" charset="0"/>
              </a:rPr>
              <a:t>printf</a:t>
            </a:r>
            <a:r>
              <a:rPr lang="en-US" altLang="zh-CN" sz="1400" dirty="0">
                <a:latin typeface="Cascadia Code SemiLight" panose="020B0609020000020004" pitchFamily="49" charset="0"/>
                <a:cs typeface="Cascadia Code SemiLight" panose="020B0609020000020004" pitchFamily="49" charset="0"/>
              </a:rPr>
              <a:t>("</a:t>
            </a:r>
            <a:r>
              <a:rPr lang="zh-CN" altLang="en-US" sz="1400" dirty="0">
                <a:latin typeface="Cascadia Code SemiLight" panose="020B0609020000020004" pitchFamily="49" charset="0"/>
                <a:cs typeface="Cascadia Code SemiLight" panose="020B0609020000020004" pitchFamily="49" charset="0"/>
              </a:rPr>
              <a:t>星期五</a:t>
            </a:r>
            <a:r>
              <a:rPr lang="en-US" altLang="zh-CN" sz="1400" dirty="0">
                <a:latin typeface="Cascadia Code SemiLight" panose="020B0609020000020004" pitchFamily="49" charset="0"/>
                <a:cs typeface="Cascadia Code SemiLight" panose="020B0609020000020004" pitchFamily="49" charset="0"/>
              </a:rPr>
              <a:t>\n");</a:t>
            </a:r>
          </a:p>
          <a:p>
            <a:r>
              <a:rPr lang="en-US" altLang="zh-CN" sz="1400" dirty="0">
                <a:latin typeface="Cascadia Code SemiLight" panose="020B0609020000020004" pitchFamily="49" charset="0"/>
                <a:cs typeface="Cascadia Code SemiLight" panose="020B0609020000020004" pitchFamily="49" charset="0"/>
              </a:rPr>
              <a:t>            break;</a:t>
            </a:r>
          </a:p>
          <a:p>
            <a:r>
              <a:rPr lang="en-US" altLang="zh-CN" sz="1400" dirty="0">
                <a:latin typeface="Cascadia Code SemiLight" panose="020B0609020000020004" pitchFamily="49" charset="0"/>
                <a:cs typeface="Cascadia Code SemiLight" panose="020B0609020000020004" pitchFamily="49" charset="0"/>
              </a:rPr>
              <a:t>        default:</a:t>
            </a:r>
          </a:p>
          <a:p>
            <a:r>
              <a:rPr lang="en-US" altLang="zh-CN" sz="1400" dirty="0">
                <a:latin typeface="Cascadia Code SemiLight" panose="020B0609020000020004" pitchFamily="49" charset="0"/>
                <a:cs typeface="Cascadia Code SemiLight" panose="020B0609020000020004" pitchFamily="49" charset="0"/>
              </a:rPr>
              <a:t>            </a:t>
            </a:r>
            <a:r>
              <a:rPr lang="en-US" altLang="zh-CN" sz="1400" dirty="0" err="1">
                <a:latin typeface="Cascadia Code SemiLight" panose="020B0609020000020004" pitchFamily="49" charset="0"/>
                <a:cs typeface="Cascadia Code SemiLight" panose="020B0609020000020004" pitchFamily="49" charset="0"/>
              </a:rPr>
              <a:t>printf</a:t>
            </a:r>
            <a:r>
              <a:rPr lang="en-US" altLang="zh-CN" sz="1400" dirty="0">
                <a:latin typeface="Cascadia Code SemiLight" panose="020B0609020000020004" pitchFamily="49" charset="0"/>
                <a:cs typeface="Cascadia Code SemiLight" panose="020B0609020000020004" pitchFamily="49" charset="0"/>
              </a:rPr>
              <a:t>("</a:t>
            </a:r>
            <a:r>
              <a:rPr lang="zh-CN" altLang="en-US" sz="1400" dirty="0">
                <a:latin typeface="Cascadia Code SemiLight" panose="020B0609020000020004" pitchFamily="49" charset="0"/>
                <a:cs typeface="Cascadia Code SemiLight" panose="020B0609020000020004" pitchFamily="49" charset="0"/>
              </a:rPr>
              <a:t>周末</a:t>
            </a:r>
            <a:r>
              <a:rPr lang="en-US" altLang="zh-CN" sz="1400" dirty="0">
                <a:latin typeface="Cascadia Code SemiLight" panose="020B0609020000020004" pitchFamily="49" charset="0"/>
                <a:cs typeface="Cascadia Code SemiLight" panose="020B0609020000020004" pitchFamily="49" charset="0"/>
              </a:rPr>
              <a:t>\n");</a:t>
            </a:r>
          </a:p>
          <a:p>
            <a:r>
              <a:rPr lang="en-US" altLang="zh-CN" sz="1400" dirty="0">
                <a:latin typeface="Cascadia Code SemiLight" panose="020B0609020000020004" pitchFamily="49" charset="0"/>
                <a:cs typeface="Cascadia Code SemiLight" panose="020B0609020000020004" pitchFamily="49" charset="0"/>
              </a:rPr>
              <a:t>    }</a:t>
            </a:r>
          </a:p>
          <a:p>
            <a:r>
              <a:rPr lang="en-US" altLang="zh-CN" sz="1400" dirty="0">
                <a:latin typeface="Cascadia Code SemiLight" panose="020B0609020000020004" pitchFamily="49" charset="0"/>
                <a:cs typeface="Cascadia Code SemiLight" panose="020B0609020000020004" pitchFamily="49" charset="0"/>
              </a:rPr>
              <a:t>    return 0;</a:t>
            </a:r>
          </a:p>
          <a:p>
            <a:r>
              <a:rPr lang="en-US" altLang="zh-CN" sz="1400" dirty="0">
                <a:latin typeface="Cascadia Code SemiLight" panose="020B0609020000020004" pitchFamily="49" charset="0"/>
                <a:cs typeface="Cascadia Code SemiLight" panose="020B0609020000020004" pitchFamily="49" charset="0"/>
              </a:rPr>
              <a:t>}</a:t>
            </a:r>
          </a:p>
        </p:txBody>
      </p:sp>
    </p:spTree>
    <p:extLst>
      <p:ext uri="{BB962C8B-B14F-4D97-AF65-F5344CB8AC3E}">
        <p14:creationId xmlns:p14="http://schemas.microsoft.com/office/powerpoint/2010/main" val="14503685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521207" y="448056"/>
            <a:ext cx="10552533" cy="640080"/>
          </a:xfrm>
        </p:spPr>
        <p:txBody>
          <a:bodyPr rtlCol="0">
            <a:noAutofit/>
          </a:bodyPr>
          <a:lstStyle/>
          <a:p>
            <a:pPr rtl="0"/>
            <a:r>
              <a:rPr lang="en-US" altLang="zh-CN" dirty="0">
                <a:cs typeface="Segoe UI Light" panose="020B0502040204020203" pitchFamily="34" charset="0"/>
              </a:rPr>
              <a:t>Chapter 3  </a:t>
            </a:r>
            <a:r>
              <a:rPr lang="zh-CN" altLang="en-US" dirty="0">
                <a:cs typeface="Segoe UI Light" panose="020B0502040204020203" pitchFamily="34" charset="0"/>
              </a:rPr>
              <a:t>程序和流程控制</a:t>
            </a:r>
          </a:p>
        </p:txBody>
      </p:sp>
      <p:sp>
        <p:nvSpPr>
          <p:cNvPr id="2" name="文本框 1">
            <a:extLst>
              <a:ext uri="{FF2B5EF4-FFF2-40B4-BE49-F238E27FC236}">
                <a16:creationId xmlns:a16="http://schemas.microsoft.com/office/drawing/2014/main" id="{278E70F4-2A89-46EF-8FA4-B65F4871C040}"/>
              </a:ext>
            </a:extLst>
          </p:cNvPr>
          <p:cNvSpPr txBox="1"/>
          <p:nvPr/>
        </p:nvSpPr>
        <p:spPr>
          <a:xfrm>
            <a:off x="611578" y="1413164"/>
            <a:ext cx="3621975" cy="369332"/>
          </a:xfrm>
          <a:prstGeom prst="rect">
            <a:avLst/>
          </a:prstGeom>
          <a:noFill/>
        </p:spPr>
        <p:txBody>
          <a:bodyPr wrap="square" rtlCol="0">
            <a:spAutoFit/>
          </a:bodyPr>
          <a:lstStyle/>
          <a:p>
            <a:r>
              <a:rPr lang="en-US" altLang="zh-CN" dirty="0"/>
              <a:t>3.3</a:t>
            </a:r>
            <a:r>
              <a:rPr lang="zh-CN" altLang="en-US" dirty="0"/>
              <a:t> </a:t>
            </a:r>
            <a:r>
              <a:rPr lang="en-US" altLang="zh-CN" dirty="0"/>
              <a:t>while</a:t>
            </a:r>
            <a:r>
              <a:rPr lang="zh-CN" altLang="en-US" dirty="0"/>
              <a:t>语句</a:t>
            </a:r>
          </a:p>
        </p:txBody>
      </p:sp>
      <p:pic>
        <p:nvPicPr>
          <p:cNvPr id="4" name="图片 3">
            <a:extLst>
              <a:ext uri="{FF2B5EF4-FFF2-40B4-BE49-F238E27FC236}">
                <a16:creationId xmlns:a16="http://schemas.microsoft.com/office/drawing/2014/main" id="{40E626F9-5D21-4952-A9FE-954F48013DBC}"/>
              </a:ext>
            </a:extLst>
          </p:cNvPr>
          <p:cNvPicPr>
            <a:picLocks noChangeAspect="1"/>
          </p:cNvPicPr>
          <p:nvPr/>
        </p:nvPicPr>
        <p:blipFill>
          <a:blip r:embed="rId3"/>
          <a:stretch>
            <a:fillRect/>
          </a:stretch>
        </p:blipFill>
        <p:spPr>
          <a:xfrm>
            <a:off x="3267447" y="1211282"/>
            <a:ext cx="5657105" cy="5533901"/>
          </a:xfrm>
          <a:prstGeom prst="rect">
            <a:avLst/>
          </a:prstGeom>
        </p:spPr>
      </p:pic>
    </p:spTree>
    <p:extLst>
      <p:ext uri="{BB962C8B-B14F-4D97-AF65-F5344CB8AC3E}">
        <p14:creationId xmlns:p14="http://schemas.microsoft.com/office/powerpoint/2010/main" val="42840406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521207" y="448056"/>
            <a:ext cx="10552533" cy="640080"/>
          </a:xfrm>
        </p:spPr>
        <p:txBody>
          <a:bodyPr rtlCol="0">
            <a:noAutofit/>
          </a:bodyPr>
          <a:lstStyle/>
          <a:p>
            <a:pPr rtl="0"/>
            <a:r>
              <a:rPr lang="en-US" altLang="zh-CN" dirty="0">
                <a:cs typeface="Segoe UI Light" panose="020B0502040204020203" pitchFamily="34" charset="0"/>
              </a:rPr>
              <a:t>Chapter 3  </a:t>
            </a:r>
            <a:r>
              <a:rPr lang="zh-CN" altLang="en-US" dirty="0">
                <a:cs typeface="Segoe UI Light" panose="020B0502040204020203" pitchFamily="34" charset="0"/>
              </a:rPr>
              <a:t>程序和流程控制</a:t>
            </a:r>
          </a:p>
        </p:txBody>
      </p:sp>
      <p:sp>
        <p:nvSpPr>
          <p:cNvPr id="2" name="文本框 1">
            <a:extLst>
              <a:ext uri="{FF2B5EF4-FFF2-40B4-BE49-F238E27FC236}">
                <a16:creationId xmlns:a16="http://schemas.microsoft.com/office/drawing/2014/main" id="{278E70F4-2A89-46EF-8FA4-B65F4871C040}"/>
              </a:ext>
            </a:extLst>
          </p:cNvPr>
          <p:cNvSpPr txBox="1"/>
          <p:nvPr/>
        </p:nvSpPr>
        <p:spPr>
          <a:xfrm>
            <a:off x="611578" y="1413164"/>
            <a:ext cx="3621975" cy="369332"/>
          </a:xfrm>
          <a:prstGeom prst="rect">
            <a:avLst/>
          </a:prstGeom>
          <a:noFill/>
        </p:spPr>
        <p:txBody>
          <a:bodyPr wrap="square" rtlCol="0">
            <a:spAutoFit/>
          </a:bodyPr>
          <a:lstStyle/>
          <a:p>
            <a:r>
              <a:rPr lang="en-US" altLang="zh-CN" dirty="0"/>
              <a:t>3.3</a:t>
            </a:r>
            <a:r>
              <a:rPr lang="zh-CN" altLang="en-US" dirty="0"/>
              <a:t> </a:t>
            </a:r>
            <a:r>
              <a:rPr lang="en-US" altLang="zh-CN" dirty="0"/>
              <a:t>do-while</a:t>
            </a:r>
            <a:r>
              <a:rPr lang="zh-CN" altLang="en-US" dirty="0"/>
              <a:t>语句</a:t>
            </a:r>
          </a:p>
        </p:txBody>
      </p:sp>
      <p:pic>
        <p:nvPicPr>
          <p:cNvPr id="5" name="图片 4">
            <a:extLst>
              <a:ext uri="{FF2B5EF4-FFF2-40B4-BE49-F238E27FC236}">
                <a16:creationId xmlns:a16="http://schemas.microsoft.com/office/drawing/2014/main" id="{35104544-9D84-499F-B47D-AAFC7986C896}"/>
              </a:ext>
            </a:extLst>
          </p:cNvPr>
          <p:cNvPicPr>
            <a:picLocks noChangeAspect="1"/>
          </p:cNvPicPr>
          <p:nvPr/>
        </p:nvPicPr>
        <p:blipFill>
          <a:blip r:embed="rId3"/>
          <a:stretch>
            <a:fillRect/>
          </a:stretch>
        </p:blipFill>
        <p:spPr>
          <a:xfrm>
            <a:off x="2823453" y="1157844"/>
            <a:ext cx="5948039" cy="5569527"/>
          </a:xfrm>
          <a:prstGeom prst="rect">
            <a:avLst/>
          </a:prstGeom>
        </p:spPr>
      </p:pic>
    </p:spTree>
    <p:extLst>
      <p:ext uri="{BB962C8B-B14F-4D97-AF65-F5344CB8AC3E}">
        <p14:creationId xmlns:p14="http://schemas.microsoft.com/office/powerpoint/2010/main" val="37547909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521207" y="448056"/>
            <a:ext cx="10552533" cy="640080"/>
          </a:xfrm>
        </p:spPr>
        <p:txBody>
          <a:bodyPr rtlCol="0">
            <a:noAutofit/>
          </a:bodyPr>
          <a:lstStyle/>
          <a:p>
            <a:pPr rtl="0"/>
            <a:r>
              <a:rPr lang="en-US" altLang="zh-CN" dirty="0">
                <a:cs typeface="Segoe UI Light" panose="020B0502040204020203" pitchFamily="34" charset="0"/>
              </a:rPr>
              <a:t>Chapter 3  </a:t>
            </a:r>
            <a:r>
              <a:rPr lang="zh-CN" altLang="en-US" dirty="0">
                <a:cs typeface="Segoe UI Light" panose="020B0502040204020203" pitchFamily="34" charset="0"/>
              </a:rPr>
              <a:t>程序和流程控制</a:t>
            </a:r>
          </a:p>
        </p:txBody>
      </p:sp>
      <p:sp>
        <p:nvSpPr>
          <p:cNvPr id="2" name="文本框 1">
            <a:extLst>
              <a:ext uri="{FF2B5EF4-FFF2-40B4-BE49-F238E27FC236}">
                <a16:creationId xmlns:a16="http://schemas.microsoft.com/office/drawing/2014/main" id="{278E70F4-2A89-46EF-8FA4-B65F4871C040}"/>
              </a:ext>
            </a:extLst>
          </p:cNvPr>
          <p:cNvSpPr txBox="1"/>
          <p:nvPr/>
        </p:nvSpPr>
        <p:spPr>
          <a:xfrm>
            <a:off x="611578" y="1413164"/>
            <a:ext cx="3621975" cy="369332"/>
          </a:xfrm>
          <a:prstGeom prst="rect">
            <a:avLst/>
          </a:prstGeom>
          <a:noFill/>
        </p:spPr>
        <p:txBody>
          <a:bodyPr wrap="square" rtlCol="0">
            <a:spAutoFit/>
          </a:bodyPr>
          <a:lstStyle/>
          <a:p>
            <a:r>
              <a:rPr lang="en-US" altLang="zh-CN" dirty="0"/>
              <a:t>3.3</a:t>
            </a:r>
            <a:r>
              <a:rPr lang="zh-CN" altLang="en-US" dirty="0"/>
              <a:t> </a:t>
            </a:r>
            <a:r>
              <a:rPr lang="en-US" altLang="zh-CN" dirty="0"/>
              <a:t>for</a:t>
            </a:r>
            <a:r>
              <a:rPr lang="zh-CN" altLang="en-US" dirty="0"/>
              <a:t>语句</a:t>
            </a:r>
          </a:p>
        </p:txBody>
      </p:sp>
      <p:pic>
        <p:nvPicPr>
          <p:cNvPr id="4" name="图片 3">
            <a:extLst>
              <a:ext uri="{FF2B5EF4-FFF2-40B4-BE49-F238E27FC236}">
                <a16:creationId xmlns:a16="http://schemas.microsoft.com/office/drawing/2014/main" id="{5AD5012D-0F66-4A69-BDEB-C7AC20BAD2EF}"/>
              </a:ext>
            </a:extLst>
          </p:cNvPr>
          <p:cNvPicPr>
            <a:picLocks noChangeAspect="1"/>
          </p:cNvPicPr>
          <p:nvPr/>
        </p:nvPicPr>
        <p:blipFill>
          <a:blip r:embed="rId3"/>
          <a:stretch>
            <a:fillRect/>
          </a:stretch>
        </p:blipFill>
        <p:spPr>
          <a:xfrm>
            <a:off x="2615683" y="1137202"/>
            <a:ext cx="6363580" cy="5590169"/>
          </a:xfrm>
          <a:prstGeom prst="rect">
            <a:avLst/>
          </a:prstGeom>
        </p:spPr>
      </p:pic>
    </p:spTree>
    <p:extLst>
      <p:ext uri="{BB962C8B-B14F-4D97-AF65-F5344CB8AC3E}">
        <p14:creationId xmlns:p14="http://schemas.microsoft.com/office/powerpoint/2010/main" val="42680196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521207" y="448056"/>
            <a:ext cx="10552533" cy="640080"/>
          </a:xfrm>
        </p:spPr>
        <p:txBody>
          <a:bodyPr rtlCol="0">
            <a:noAutofit/>
          </a:bodyPr>
          <a:lstStyle/>
          <a:p>
            <a:pPr rtl="0"/>
            <a:r>
              <a:rPr lang="en-US" altLang="zh-CN" dirty="0">
                <a:cs typeface="Segoe UI Light" panose="020B0502040204020203" pitchFamily="34" charset="0"/>
              </a:rPr>
              <a:t>Chapter 3  </a:t>
            </a:r>
            <a:r>
              <a:rPr lang="zh-CN" altLang="en-US" dirty="0">
                <a:cs typeface="Segoe UI Light" panose="020B0502040204020203" pitchFamily="34" charset="0"/>
              </a:rPr>
              <a:t>程序和流程控制</a:t>
            </a:r>
          </a:p>
        </p:txBody>
      </p:sp>
      <p:sp>
        <p:nvSpPr>
          <p:cNvPr id="2" name="文本框 1">
            <a:extLst>
              <a:ext uri="{FF2B5EF4-FFF2-40B4-BE49-F238E27FC236}">
                <a16:creationId xmlns:a16="http://schemas.microsoft.com/office/drawing/2014/main" id="{278E70F4-2A89-46EF-8FA4-B65F4871C040}"/>
              </a:ext>
            </a:extLst>
          </p:cNvPr>
          <p:cNvSpPr txBox="1"/>
          <p:nvPr/>
        </p:nvSpPr>
        <p:spPr>
          <a:xfrm>
            <a:off x="611578" y="1413164"/>
            <a:ext cx="3621975" cy="369332"/>
          </a:xfrm>
          <a:prstGeom prst="rect">
            <a:avLst/>
          </a:prstGeom>
          <a:noFill/>
        </p:spPr>
        <p:txBody>
          <a:bodyPr wrap="square" rtlCol="0">
            <a:spAutoFit/>
          </a:bodyPr>
          <a:lstStyle/>
          <a:p>
            <a:r>
              <a:rPr lang="en-US" altLang="zh-CN" dirty="0"/>
              <a:t>3.4 </a:t>
            </a:r>
            <a:r>
              <a:rPr lang="zh-CN" altLang="en-US" dirty="0"/>
              <a:t>辅助语句</a:t>
            </a:r>
          </a:p>
        </p:txBody>
      </p:sp>
      <p:sp>
        <p:nvSpPr>
          <p:cNvPr id="6" name="文本框 5">
            <a:extLst>
              <a:ext uri="{FF2B5EF4-FFF2-40B4-BE49-F238E27FC236}">
                <a16:creationId xmlns:a16="http://schemas.microsoft.com/office/drawing/2014/main" id="{12EF297C-F9C8-4583-97BA-083EE4EA710A}"/>
              </a:ext>
            </a:extLst>
          </p:cNvPr>
          <p:cNvSpPr txBox="1"/>
          <p:nvPr/>
        </p:nvSpPr>
        <p:spPr>
          <a:xfrm>
            <a:off x="611578" y="1959083"/>
            <a:ext cx="7321296" cy="646331"/>
          </a:xfrm>
          <a:prstGeom prst="rect">
            <a:avLst/>
          </a:prstGeom>
          <a:noFill/>
        </p:spPr>
        <p:txBody>
          <a:bodyPr wrap="square">
            <a:spAutoFit/>
          </a:bodyPr>
          <a:lstStyle/>
          <a:p>
            <a:r>
              <a:rPr lang="en-US" altLang="zh-CN" dirty="0">
                <a:latin typeface="Cascadia Code SemiLight" panose="020B0609020000020004" pitchFamily="49" charset="0"/>
                <a:cs typeface="Cascadia Code SemiLight" panose="020B0609020000020004" pitchFamily="49" charset="0"/>
              </a:rPr>
              <a:t>break</a:t>
            </a:r>
            <a:r>
              <a:rPr lang="zh-CN" altLang="en-US" dirty="0">
                <a:latin typeface="Cascadia Code SemiLight" panose="020B0609020000020004" pitchFamily="49" charset="0"/>
                <a:cs typeface="Cascadia Code SemiLight" panose="020B0609020000020004" pitchFamily="49" charset="0"/>
              </a:rPr>
              <a:t>：立即跳出当前循环，整个循环结束，不再继续执行。</a:t>
            </a:r>
          </a:p>
          <a:p>
            <a:r>
              <a:rPr lang="en-US" altLang="zh-CN" dirty="0">
                <a:latin typeface="Cascadia Code SemiLight" panose="020B0609020000020004" pitchFamily="49" charset="0"/>
                <a:cs typeface="Cascadia Code SemiLight" panose="020B0609020000020004" pitchFamily="49" charset="0"/>
              </a:rPr>
              <a:t>continue</a:t>
            </a:r>
            <a:r>
              <a:rPr lang="zh-CN" altLang="en-US" dirty="0">
                <a:latin typeface="Cascadia Code SemiLight" panose="020B0609020000020004" pitchFamily="49" charset="0"/>
                <a:cs typeface="Cascadia Code SemiLight" panose="020B0609020000020004" pitchFamily="49" charset="0"/>
              </a:rPr>
              <a:t>：跳过本次循环剩余语句，直接进入下一次循环判断或迭代。</a:t>
            </a:r>
          </a:p>
        </p:txBody>
      </p:sp>
    </p:spTree>
    <p:extLst>
      <p:ext uri="{BB962C8B-B14F-4D97-AF65-F5344CB8AC3E}">
        <p14:creationId xmlns:p14="http://schemas.microsoft.com/office/powerpoint/2010/main" val="4662321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521207" y="448056"/>
            <a:ext cx="10552533" cy="640080"/>
          </a:xfrm>
        </p:spPr>
        <p:txBody>
          <a:bodyPr rtlCol="0">
            <a:noAutofit/>
          </a:bodyPr>
          <a:lstStyle/>
          <a:p>
            <a:pPr rtl="0"/>
            <a:r>
              <a:rPr lang="en-US" altLang="zh-CN" dirty="0">
                <a:cs typeface="Segoe UI Light" panose="020B0502040204020203" pitchFamily="34" charset="0"/>
              </a:rPr>
              <a:t>Chapter 3  </a:t>
            </a:r>
            <a:r>
              <a:rPr lang="zh-CN" altLang="en-US" dirty="0">
                <a:cs typeface="Segoe UI Light" panose="020B0502040204020203" pitchFamily="34" charset="0"/>
              </a:rPr>
              <a:t>程序和流程控制</a:t>
            </a:r>
          </a:p>
        </p:txBody>
      </p:sp>
      <p:sp>
        <p:nvSpPr>
          <p:cNvPr id="2" name="文本框 1">
            <a:extLst>
              <a:ext uri="{FF2B5EF4-FFF2-40B4-BE49-F238E27FC236}">
                <a16:creationId xmlns:a16="http://schemas.microsoft.com/office/drawing/2014/main" id="{278E70F4-2A89-46EF-8FA4-B65F4871C040}"/>
              </a:ext>
            </a:extLst>
          </p:cNvPr>
          <p:cNvSpPr txBox="1"/>
          <p:nvPr/>
        </p:nvSpPr>
        <p:spPr>
          <a:xfrm>
            <a:off x="611578" y="1413164"/>
            <a:ext cx="3621975" cy="369332"/>
          </a:xfrm>
          <a:prstGeom prst="rect">
            <a:avLst/>
          </a:prstGeom>
          <a:noFill/>
        </p:spPr>
        <p:txBody>
          <a:bodyPr wrap="square" rtlCol="0">
            <a:spAutoFit/>
          </a:bodyPr>
          <a:lstStyle/>
          <a:p>
            <a:r>
              <a:rPr lang="en-US" altLang="zh-CN" dirty="0"/>
              <a:t>3.5 </a:t>
            </a:r>
            <a:r>
              <a:rPr lang="zh-CN" altLang="en-US" dirty="0"/>
              <a:t>综合举例：求水仙花数</a:t>
            </a:r>
          </a:p>
        </p:txBody>
      </p:sp>
      <p:pic>
        <p:nvPicPr>
          <p:cNvPr id="5" name="图片 4">
            <a:extLst>
              <a:ext uri="{FF2B5EF4-FFF2-40B4-BE49-F238E27FC236}">
                <a16:creationId xmlns:a16="http://schemas.microsoft.com/office/drawing/2014/main" id="{EB7930E1-22D1-4EFC-87D7-A561BB55664E}"/>
              </a:ext>
            </a:extLst>
          </p:cNvPr>
          <p:cNvPicPr>
            <a:picLocks noChangeAspect="1"/>
          </p:cNvPicPr>
          <p:nvPr/>
        </p:nvPicPr>
        <p:blipFill>
          <a:blip r:embed="rId3"/>
          <a:stretch>
            <a:fillRect/>
          </a:stretch>
        </p:blipFill>
        <p:spPr>
          <a:xfrm>
            <a:off x="1610933" y="1714673"/>
            <a:ext cx="8970133" cy="5101763"/>
          </a:xfrm>
          <a:prstGeom prst="rect">
            <a:avLst/>
          </a:prstGeom>
        </p:spPr>
      </p:pic>
    </p:spTree>
    <p:extLst>
      <p:ext uri="{BB962C8B-B14F-4D97-AF65-F5344CB8AC3E}">
        <p14:creationId xmlns:p14="http://schemas.microsoft.com/office/powerpoint/2010/main" val="34328116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rtlCol="0">
            <a:noAutofit/>
          </a:bodyPr>
          <a:lstStyle/>
          <a:p>
            <a:pPr rtl="0"/>
            <a:r>
              <a:rPr lang="zh-CN" altLang="en-US" dirty="0">
                <a:cs typeface="Segoe UI Light" panose="020B0502040204020203" pitchFamily="34" charset="0"/>
              </a:rPr>
              <a:t>第二部分</a:t>
            </a:r>
          </a:p>
        </p:txBody>
      </p:sp>
      <p:sp>
        <p:nvSpPr>
          <p:cNvPr id="38" name="内容占位符 17"/>
          <p:cNvSpPr txBox="1">
            <a:spLocks/>
          </p:cNvSpPr>
          <p:nvPr/>
        </p:nvSpPr>
        <p:spPr>
          <a:xfrm>
            <a:off x="541610" y="1524708"/>
            <a:ext cx="9902738" cy="3871518"/>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rtl="0">
              <a:lnSpc>
                <a:spcPct val="250000"/>
              </a:lnSpc>
              <a:spcAft>
                <a:spcPts val="600"/>
              </a:spcAft>
              <a:buNone/>
              <a:defRPr/>
            </a:pPr>
            <a:r>
              <a:rPr lang="en-US" altLang="zh-CN" sz="2000" dirty="0">
                <a:latin typeface="Microsoft YaHei UI" panose="020B0503020204020204" pitchFamily="34" charset="-122"/>
                <a:ea typeface="Microsoft YaHei UI" panose="020B0503020204020204" pitchFamily="34" charset="-122"/>
                <a:cs typeface="Segoe UI" panose="020B0502040204020203" pitchFamily="34" charset="0"/>
              </a:rPr>
              <a:t>Chapter 4 </a:t>
            </a:r>
            <a:r>
              <a:rPr lang="zh-CN" altLang="en-US" sz="2000" dirty="0">
                <a:latin typeface="Microsoft YaHei UI" panose="020B0503020204020204" pitchFamily="34" charset="-122"/>
                <a:ea typeface="Microsoft YaHei UI" panose="020B0503020204020204" pitchFamily="34" charset="-122"/>
                <a:cs typeface="Segoe UI" panose="020B0502040204020203" pitchFamily="34" charset="0"/>
              </a:rPr>
              <a:t>函数</a:t>
            </a:r>
            <a:endParaRPr lang="en-US" altLang="zh-CN" sz="2000" dirty="0">
              <a:latin typeface="Microsoft YaHei UI" panose="020B0503020204020204" pitchFamily="34" charset="-122"/>
              <a:ea typeface="Microsoft YaHei UI" panose="020B0503020204020204" pitchFamily="34" charset="-122"/>
              <a:cs typeface="Segoe UI" panose="020B0502040204020203" pitchFamily="34" charset="0"/>
            </a:endParaRPr>
          </a:p>
          <a:p>
            <a:pPr marL="0" lvl="0" indent="0" rtl="0">
              <a:lnSpc>
                <a:spcPct val="250000"/>
              </a:lnSpc>
              <a:spcAft>
                <a:spcPts val="600"/>
              </a:spcAft>
              <a:buNone/>
              <a:defRPr/>
            </a:pPr>
            <a:r>
              <a:rPr lang="en-US" altLang="zh-CN" sz="2000" dirty="0">
                <a:latin typeface="Microsoft YaHei UI" panose="020B0503020204020204" pitchFamily="34" charset="-122"/>
                <a:ea typeface="Microsoft YaHei UI" panose="020B0503020204020204" pitchFamily="34" charset="-122"/>
                <a:cs typeface="Segoe UI" panose="020B0502040204020203" pitchFamily="34" charset="0"/>
              </a:rPr>
              <a:t>Chapter 5 </a:t>
            </a:r>
            <a:r>
              <a:rPr lang="zh-CN" altLang="en-US" sz="2000" dirty="0">
                <a:latin typeface="Microsoft YaHei UI" panose="020B0503020204020204" pitchFamily="34" charset="-122"/>
                <a:ea typeface="Microsoft YaHei UI" panose="020B0503020204020204" pitchFamily="34" charset="-122"/>
                <a:cs typeface="Segoe UI" panose="020B0502040204020203" pitchFamily="34" charset="0"/>
              </a:rPr>
              <a:t>数组</a:t>
            </a:r>
            <a:endParaRPr lang="en-US" altLang="zh-CN" sz="2000" dirty="0">
              <a:latin typeface="Microsoft YaHei UI" panose="020B0503020204020204" pitchFamily="34" charset="-122"/>
              <a:ea typeface="Microsoft YaHei UI" panose="020B0503020204020204" pitchFamily="34" charset="-122"/>
              <a:cs typeface="Segoe UI" panose="020B0502040204020203" pitchFamily="34" charset="0"/>
            </a:endParaRPr>
          </a:p>
          <a:p>
            <a:pPr marL="0" lvl="0" indent="0" rtl="0">
              <a:lnSpc>
                <a:spcPct val="250000"/>
              </a:lnSpc>
              <a:spcAft>
                <a:spcPts val="600"/>
              </a:spcAft>
              <a:buNone/>
              <a:defRPr/>
            </a:pPr>
            <a:r>
              <a:rPr lang="en-US" altLang="zh-CN" sz="2000" dirty="0">
                <a:latin typeface="Microsoft YaHei UI" panose="020B0503020204020204" pitchFamily="34" charset="-122"/>
                <a:ea typeface="Microsoft YaHei UI" panose="020B0503020204020204" pitchFamily="34" charset="-122"/>
                <a:cs typeface="Segoe UI" panose="020B0502040204020203" pitchFamily="34" charset="0"/>
              </a:rPr>
              <a:t>Chapter 6 </a:t>
            </a:r>
            <a:r>
              <a:rPr lang="zh-CN" altLang="en-US" sz="2000" dirty="0">
                <a:latin typeface="Microsoft YaHei UI" panose="020B0503020204020204" pitchFamily="34" charset="-122"/>
                <a:ea typeface="Microsoft YaHei UI" panose="020B0503020204020204" pitchFamily="34" charset="-122"/>
                <a:cs typeface="Segoe UI" panose="020B0502040204020203" pitchFamily="34" charset="0"/>
              </a:rPr>
              <a:t>指针</a:t>
            </a:r>
            <a:endParaRPr lang="en-US" altLang="zh-CN" sz="2000" dirty="0">
              <a:latin typeface="Microsoft YaHei UI" panose="020B0503020204020204" pitchFamily="34" charset="-122"/>
              <a:ea typeface="Microsoft YaHei UI" panose="020B0503020204020204" pitchFamily="34" charset="-122"/>
              <a:cs typeface="Segoe UI" panose="020B0502040204020203" pitchFamily="34" charset="0"/>
            </a:endParaRPr>
          </a:p>
        </p:txBody>
      </p:sp>
      <p:sp>
        <p:nvSpPr>
          <p:cNvPr id="7" name="文本框 6">
            <a:extLst>
              <a:ext uri="{FF2B5EF4-FFF2-40B4-BE49-F238E27FC236}">
                <a16:creationId xmlns:a16="http://schemas.microsoft.com/office/drawing/2014/main" id="{2DD82681-9138-4AC1-BBB1-A123C3BAB5CB}"/>
              </a:ext>
            </a:extLst>
          </p:cNvPr>
          <p:cNvSpPr txBox="1"/>
          <p:nvPr/>
        </p:nvSpPr>
        <p:spPr>
          <a:xfrm>
            <a:off x="2554184" y="1888174"/>
            <a:ext cx="6974773" cy="369332"/>
          </a:xfrm>
          <a:prstGeom prst="rect">
            <a:avLst/>
          </a:prstGeom>
          <a:noFill/>
        </p:spPr>
        <p:txBody>
          <a:bodyPr wrap="square" rtlCol="0">
            <a:spAutoFit/>
          </a:bodyPr>
          <a:lstStyle/>
          <a:p>
            <a:r>
              <a:rPr lang="en-US" altLang="zh-CN" dirty="0"/>
              <a:t>-&gt;</a:t>
            </a:r>
            <a:r>
              <a:rPr lang="zh-CN" altLang="en-US" dirty="0">
                <a:highlight>
                  <a:srgbClr val="FFFF00"/>
                </a:highlight>
              </a:rPr>
              <a:t>函数的结构、声明、定义和调用；函数的类型，作用域；</a:t>
            </a:r>
          </a:p>
        </p:txBody>
      </p:sp>
      <p:sp>
        <p:nvSpPr>
          <p:cNvPr id="5" name="文本框 4">
            <a:extLst>
              <a:ext uri="{FF2B5EF4-FFF2-40B4-BE49-F238E27FC236}">
                <a16:creationId xmlns:a16="http://schemas.microsoft.com/office/drawing/2014/main" id="{AC8BF1E3-6E83-4D82-86B8-3E7D00EC529E}"/>
              </a:ext>
            </a:extLst>
          </p:cNvPr>
          <p:cNvSpPr txBox="1"/>
          <p:nvPr/>
        </p:nvSpPr>
        <p:spPr>
          <a:xfrm>
            <a:off x="2554184" y="2842158"/>
            <a:ext cx="6974773" cy="369332"/>
          </a:xfrm>
          <a:prstGeom prst="rect">
            <a:avLst/>
          </a:prstGeom>
          <a:noFill/>
        </p:spPr>
        <p:txBody>
          <a:bodyPr wrap="square" rtlCol="0">
            <a:spAutoFit/>
          </a:bodyPr>
          <a:lstStyle/>
          <a:p>
            <a:r>
              <a:rPr lang="en-US" altLang="zh-CN" dirty="0"/>
              <a:t>-&gt;</a:t>
            </a:r>
            <a:r>
              <a:rPr lang="zh-CN" altLang="en-US" dirty="0">
                <a:highlight>
                  <a:srgbClr val="FFFF00"/>
                </a:highlight>
              </a:rPr>
              <a:t>数组的定义和运用</a:t>
            </a:r>
          </a:p>
        </p:txBody>
      </p:sp>
      <p:sp>
        <p:nvSpPr>
          <p:cNvPr id="6" name="文本框 5">
            <a:extLst>
              <a:ext uri="{FF2B5EF4-FFF2-40B4-BE49-F238E27FC236}">
                <a16:creationId xmlns:a16="http://schemas.microsoft.com/office/drawing/2014/main" id="{56E6635D-4DC4-4A1C-8385-C363368228E5}"/>
              </a:ext>
            </a:extLst>
          </p:cNvPr>
          <p:cNvSpPr txBox="1"/>
          <p:nvPr/>
        </p:nvSpPr>
        <p:spPr>
          <a:xfrm>
            <a:off x="2554183" y="3784102"/>
            <a:ext cx="6974773" cy="369332"/>
          </a:xfrm>
          <a:prstGeom prst="rect">
            <a:avLst/>
          </a:prstGeom>
          <a:noFill/>
        </p:spPr>
        <p:txBody>
          <a:bodyPr wrap="square" rtlCol="0">
            <a:spAutoFit/>
          </a:bodyPr>
          <a:lstStyle/>
          <a:p>
            <a:r>
              <a:rPr lang="en-US" altLang="zh-CN" dirty="0"/>
              <a:t>-&gt;</a:t>
            </a:r>
            <a:r>
              <a:rPr lang="zh-CN" altLang="en-US" dirty="0">
                <a:highlight>
                  <a:srgbClr val="FFFF00"/>
                </a:highlight>
              </a:rPr>
              <a:t>准备好迎接</a:t>
            </a:r>
            <a:r>
              <a:rPr lang="en-US" altLang="zh-CN" dirty="0">
                <a:highlight>
                  <a:srgbClr val="FFFF00"/>
                </a:highlight>
              </a:rPr>
              <a:t>C</a:t>
            </a:r>
            <a:r>
              <a:rPr lang="zh-CN" altLang="en-US" dirty="0">
                <a:highlight>
                  <a:srgbClr val="FFFF00"/>
                </a:highlight>
              </a:rPr>
              <a:t>语言最深奥的东西了吗</a:t>
            </a:r>
          </a:p>
        </p:txBody>
      </p:sp>
    </p:spTree>
    <p:extLst>
      <p:ext uri="{BB962C8B-B14F-4D97-AF65-F5344CB8AC3E}">
        <p14:creationId xmlns:p14="http://schemas.microsoft.com/office/powerpoint/2010/main" val="32705124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521207" y="448056"/>
            <a:ext cx="10552533" cy="640080"/>
          </a:xfrm>
        </p:spPr>
        <p:txBody>
          <a:bodyPr rtlCol="0">
            <a:noAutofit/>
          </a:bodyPr>
          <a:lstStyle/>
          <a:p>
            <a:pPr rtl="0"/>
            <a:r>
              <a:rPr lang="en-US" altLang="zh-CN" dirty="0">
                <a:cs typeface="Segoe UI Light" panose="020B0502040204020203" pitchFamily="34" charset="0"/>
              </a:rPr>
              <a:t>Chapter 4  </a:t>
            </a:r>
            <a:r>
              <a:rPr lang="zh-CN" altLang="en-US" dirty="0">
                <a:cs typeface="Segoe UI Light" panose="020B0502040204020203" pitchFamily="34" charset="0"/>
              </a:rPr>
              <a:t>函数</a:t>
            </a:r>
          </a:p>
        </p:txBody>
      </p:sp>
      <p:sp>
        <p:nvSpPr>
          <p:cNvPr id="2" name="文本框 1">
            <a:extLst>
              <a:ext uri="{FF2B5EF4-FFF2-40B4-BE49-F238E27FC236}">
                <a16:creationId xmlns:a16="http://schemas.microsoft.com/office/drawing/2014/main" id="{278E70F4-2A89-46EF-8FA4-B65F4871C040}"/>
              </a:ext>
            </a:extLst>
          </p:cNvPr>
          <p:cNvSpPr txBox="1"/>
          <p:nvPr/>
        </p:nvSpPr>
        <p:spPr>
          <a:xfrm>
            <a:off x="611578" y="1413164"/>
            <a:ext cx="3621975" cy="369332"/>
          </a:xfrm>
          <a:prstGeom prst="rect">
            <a:avLst/>
          </a:prstGeom>
          <a:noFill/>
        </p:spPr>
        <p:txBody>
          <a:bodyPr wrap="square" rtlCol="0">
            <a:spAutoFit/>
          </a:bodyPr>
          <a:lstStyle/>
          <a:p>
            <a:r>
              <a:rPr lang="en-US" altLang="zh-CN" dirty="0"/>
              <a:t>4.1</a:t>
            </a:r>
            <a:r>
              <a:rPr lang="zh-CN" altLang="en-US" dirty="0"/>
              <a:t> 为什么要有函数</a:t>
            </a:r>
          </a:p>
        </p:txBody>
      </p:sp>
      <p:sp>
        <p:nvSpPr>
          <p:cNvPr id="6" name="文本框 5">
            <a:extLst>
              <a:ext uri="{FF2B5EF4-FFF2-40B4-BE49-F238E27FC236}">
                <a16:creationId xmlns:a16="http://schemas.microsoft.com/office/drawing/2014/main" id="{ACBBD6A4-1C1D-4C2A-9F82-32772650614A}"/>
              </a:ext>
            </a:extLst>
          </p:cNvPr>
          <p:cNvSpPr txBox="1"/>
          <p:nvPr/>
        </p:nvSpPr>
        <p:spPr>
          <a:xfrm>
            <a:off x="611578" y="1782496"/>
            <a:ext cx="5112328" cy="5078313"/>
          </a:xfrm>
          <a:prstGeom prst="rect">
            <a:avLst/>
          </a:prstGeom>
          <a:noFill/>
        </p:spPr>
        <p:txBody>
          <a:bodyPr wrap="square">
            <a:spAutoFit/>
          </a:bodyPr>
          <a:lstStyle/>
          <a:p>
            <a:r>
              <a:rPr lang="zh-CN" altLang="en-US" dirty="0">
                <a:latin typeface="Cascadia Code SemiLight" panose="020B0609020000020004" pitchFamily="49" charset="0"/>
                <a:cs typeface="Cascadia Code SemiLight" panose="020B0609020000020004" pitchFamily="49" charset="0"/>
              </a:rPr>
              <a:t>#include &lt;stdio.h&gt;</a:t>
            </a:r>
          </a:p>
          <a:p>
            <a:endParaRPr lang="zh-CN" altLang="en-US" dirty="0">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 定义一个函数</a:t>
            </a:r>
          </a:p>
          <a:p>
            <a:r>
              <a:rPr lang="zh-CN" altLang="en-US" dirty="0">
                <a:latin typeface="Cascadia Code SemiLight" panose="020B0609020000020004" pitchFamily="49" charset="0"/>
                <a:cs typeface="Cascadia Code SemiLight" panose="020B0609020000020004" pitchFamily="49" charset="0"/>
              </a:rPr>
              <a:t>int add(int a, int b) {</a:t>
            </a:r>
          </a:p>
          <a:p>
            <a:r>
              <a:rPr lang="zh-CN" altLang="en-US" dirty="0">
                <a:latin typeface="Cascadia Code SemiLight" panose="020B0609020000020004" pitchFamily="49" charset="0"/>
                <a:cs typeface="Cascadia Code SemiLight" panose="020B0609020000020004" pitchFamily="49" charset="0"/>
              </a:rPr>
              <a:t>    return a + b;</a:t>
            </a:r>
          </a:p>
          <a:p>
            <a:r>
              <a:rPr lang="zh-CN" altLang="en-US" dirty="0">
                <a:latin typeface="Cascadia Code SemiLight" panose="020B0609020000020004" pitchFamily="49" charset="0"/>
                <a:cs typeface="Cascadia Code SemiLight" panose="020B0609020000020004" pitchFamily="49" charset="0"/>
              </a:rPr>
              <a:t>}</a:t>
            </a:r>
          </a:p>
          <a:p>
            <a:endParaRPr lang="zh-CN" altLang="en-US" dirty="0">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int main() {</a:t>
            </a:r>
          </a:p>
          <a:p>
            <a:r>
              <a:rPr lang="zh-CN" altLang="en-US" dirty="0">
                <a:latin typeface="Cascadia Code SemiLight" panose="020B0609020000020004" pitchFamily="49" charset="0"/>
                <a:cs typeface="Cascadia Code SemiLight" panose="020B0609020000020004" pitchFamily="49" charset="0"/>
              </a:rPr>
              <a:t>    int x = 5, y = 3;</a:t>
            </a:r>
          </a:p>
          <a:p>
            <a:r>
              <a:rPr lang="zh-CN" altLang="en-US" dirty="0">
                <a:latin typeface="Cascadia Code SemiLight" panose="020B0609020000020004" pitchFamily="49" charset="0"/>
                <a:cs typeface="Cascadia Code SemiLight" panose="020B0609020000020004" pitchFamily="49" charset="0"/>
              </a:rPr>
              <a:t>    int result;</a:t>
            </a:r>
          </a:p>
          <a:p>
            <a:endParaRPr lang="zh-CN" altLang="en-US" dirty="0">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    // 调用函数</a:t>
            </a:r>
          </a:p>
          <a:p>
            <a:r>
              <a:rPr lang="zh-CN" altLang="en-US" dirty="0">
                <a:latin typeface="Cascadia Code SemiLight" panose="020B0609020000020004" pitchFamily="49" charset="0"/>
                <a:cs typeface="Cascadia Code SemiLight" panose="020B0609020000020004" pitchFamily="49" charset="0"/>
              </a:rPr>
              <a:t>    result = add(x, y);</a:t>
            </a:r>
          </a:p>
          <a:p>
            <a:endParaRPr lang="zh-CN" altLang="en-US" dirty="0">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    printf("结果是: %d\n", result);</a:t>
            </a:r>
          </a:p>
          <a:p>
            <a:endParaRPr lang="zh-CN" altLang="en-US" dirty="0">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    return 0;</a:t>
            </a:r>
          </a:p>
          <a:p>
            <a:r>
              <a:rPr lang="zh-CN" altLang="en-US" dirty="0">
                <a:latin typeface="Cascadia Code SemiLight" panose="020B0609020000020004" pitchFamily="49" charset="0"/>
                <a:cs typeface="Cascadia Code SemiLight" panose="020B0609020000020004" pitchFamily="49" charset="0"/>
              </a:rPr>
              <a:t>}</a:t>
            </a:r>
          </a:p>
        </p:txBody>
      </p:sp>
      <p:sp>
        <p:nvSpPr>
          <p:cNvPr id="5" name="文本框 4">
            <a:extLst>
              <a:ext uri="{FF2B5EF4-FFF2-40B4-BE49-F238E27FC236}">
                <a16:creationId xmlns:a16="http://schemas.microsoft.com/office/drawing/2014/main" id="{BDF48F2A-2627-4C54-BC72-9103B5D5FE06}"/>
              </a:ext>
            </a:extLst>
          </p:cNvPr>
          <p:cNvSpPr txBox="1"/>
          <p:nvPr/>
        </p:nvSpPr>
        <p:spPr>
          <a:xfrm>
            <a:off x="6468096" y="2690336"/>
            <a:ext cx="4227615" cy="1754326"/>
          </a:xfrm>
          <a:prstGeom prst="rect">
            <a:avLst/>
          </a:prstGeom>
          <a:noFill/>
        </p:spPr>
        <p:txBody>
          <a:bodyPr wrap="square" rtlCol="0">
            <a:spAutoFit/>
          </a:bodyPr>
          <a:lstStyle/>
          <a:p>
            <a:r>
              <a:rPr lang="zh-CN" altLang="en-US" dirty="0"/>
              <a:t>函数的意义就是封装一个特定功能，向其传入特定的内容，并返回某些内容，和数学上的函数相似。</a:t>
            </a:r>
            <a:endParaRPr lang="en-US" altLang="zh-CN" dirty="0"/>
          </a:p>
          <a:p>
            <a:endParaRPr lang="en-US" altLang="zh-CN" dirty="0"/>
          </a:p>
          <a:p>
            <a:r>
              <a:rPr lang="zh-CN" altLang="en-US" dirty="0"/>
              <a:t>如对于二次函数</a:t>
            </a:r>
            <a:r>
              <a:rPr lang="en-US" altLang="zh-CN" dirty="0"/>
              <a:t>f(x) = x²+5x</a:t>
            </a:r>
            <a:r>
              <a:rPr lang="zh-CN" altLang="en-US" dirty="0"/>
              <a:t>，我们向该函数传入</a:t>
            </a:r>
            <a:r>
              <a:rPr lang="en-US" altLang="zh-CN" dirty="0"/>
              <a:t>x=5</a:t>
            </a:r>
            <a:r>
              <a:rPr lang="zh-CN" altLang="en-US" dirty="0"/>
              <a:t>，那么可以得到</a:t>
            </a:r>
            <a:r>
              <a:rPr lang="en-US" altLang="zh-CN" dirty="0"/>
              <a:t>f(x)=50</a:t>
            </a:r>
            <a:r>
              <a:rPr lang="zh-CN" altLang="en-US" dirty="0"/>
              <a:t>。</a:t>
            </a:r>
          </a:p>
        </p:txBody>
      </p:sp>
    </p:spTree>
    <p:extLst>
      <p:ext uri="{BB962C8B-B14F-4D97-AF65-F5344CB8AC3E}">
        <p14:creationId xmlns:p14="http://schemas.microsoft.com/office/powerpoint/2010/main" val="41824474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521207" y="448056"/>
            <a:ext cx="10552533" cy="640080"/>
          </a:xfrm>
        </p:spPr>
        <p:txBody>
          <a:bodyPr rtlCol="0">
            <a:noAutofit/>
          </a:bodyPr>
          <a:lstStyle/>
          <a:p>
            <a:pPr rtl="0"/>
            <a:r>
              <a:rPr lang="en-US" altLang="zh-CN" dirty="0">
                <a:cs typeface="Segoe UI Light" panose="020B0502040204020203" pitchFamily="34" charset="0"/>
              </a:rPr>
              <a:t>Chapter 4  </a:t>
            </a:r>
            <a:r>
              <a:rPr lang="zh-CN" altLang="en-US" dirty="0">
                <a:cs typeface="Segoe UI Light" panose="020B0502040204020203" pitchFamily="34" charset="0"/>
              </a:rPr>
              <a:t>函数</a:t>
            </a:r>
          </a:p>
        </p:txBody>
      </p:sp>
      <p:sp>
        <p:nvSpPr>
          <p:cNvPr id="2" name="文本框 1">
            <a:extLst>
              <a:ext uri="{FF2B5EF4-FFF2-40B4-BE49-F238E27FC236}">
                <a16:creationId xmlns:a16="http://schemas.microsoft.com/office/drawing/2014/main" id="{278E70F4-2A89-46EF-8FA4-B65F4871C040}"/>
              </a:ext>
            </a:extLst>
          </p:cNvPr>
          <p:cNvSpPr txBox="1"/>
          <p:nvPr/>
        </p:nvSpPr>
        <p:spPr>
          <a:xfrm>
            <a:off x="611578" y="1413164"/>
            <a:ext cx="5373586" cy="369332"/>
          </a:xfrm>
          <a:prstGeom prst="rect">
            <a:avLst/>
          </a:prstGeom>
          <a:noFill/>
        </p:spPr>
        <p:txBody>
          <a:bodyPr wrap="square" rtlCol="0">
            <a:spAutoFit/>
          </a:bodyPr>
          <a:lstStyle/>
          <a:p>
            <a:r>
              <a:rPr lang="en-US" altLang="zh-CN" dirty="0"/>
              <a:t>4.2 </a:t>
            </a:r>
            <a:r>
              <a:rPr lang="zh-CN" altLang="en-US" dirty="0"/>
              <a:t>如何在源代码基础上封装一个函数</a:t>
            </a:r>
          </a:p>
        </p:txBody>
      </p:sp>
      <p:sp>
        <p:nvSpPr>
          <p:cNvPr id="6" name="文本框 5">
            <a:extLst>
              <a:ext uri="{FF2B5EF4-FFF2-40B4-BE49-F238E27FC236}">
                <a16:creationId xmlns:a16="http://schemas.microsoft.com/office/drawing/2014/main" id="{ACBBD6A4-1C1D-4C2A-9F82-32772650614A}"/>
              </a:ext>
            </a:extLst>
          </p:cNvPr>
          <p:cNvSpPr txBox="1"/>
          <p:nvPr/>
        </p:nvSpPr>
        <p:spPr>
          <a:xfrm>
            <a:off x="611577" y="2017838"/>
            <a:ext cx="5112328" cy="3416320"/>
          </a:xfrm>
          <a:prstGeom prst="rect">
            <a:avLst/>
          </a:prstGeom>
          <a:noFill/>
        </p:spPr>
        <p:txBody>
          <a:bodyPr wrap="square">
            <a:spAutoFit/>
          </a:bodyPr>
          <a:lstStyle/>
          <a:p>
            <a:r>
              <a:rPr lang="zh-CN" altLang="en-US" dirty="0">
                <a:latin typeface="Cascadia Code SemiLight" panose="020B0609020000020004" pitchFamily="49" charset="0"/>
                <a:cs typeface="Cascadia Code SemiLight" panose="020B0609020000020004" pitchFamily="49" charset="0"/>
              </a:rPr>
              <a:t>假设现在你写了以下代码</a:t>
            </a:r>
            <a:endParaRPr lang="en-US" altLang="zh-CN" dirty="0">
              <a:latin typeface="Cascadia Code SemiLight" panose="020B0609020000020004" pitchFamily="49" charset="0"/>
              <a:cs typeface="Cascadia Code SemiLight" panose="020B0609020000020004" pitchFamily="49" charset="0"/>
            </a:endParaRPr>
          </a:p>
          <a:p>
            <a:r>
              <a:rPr lang="en-US" altLang="zh-CN" dirty="0">
                <a:latin typeface="Cascadia Code SemiLight" panose="020B0609020000020004" pitchFamily="49" charset="0"/>
                <a:cs typeface="Cascadia Code SemiLight" panose="020B0609020000020004" pitchFamily="49" charset="0"/>
              </a:rPr>
              <a:t>#include &lt;</a:t>
            </a:r>
            <a:r>
              <a:rPr lang="en-US" altLang="zh-CN" dirty="0" err="1">
                <a:latin typeface="Cascadia Code SemiLight" panose="020B0609020000020004" pitchFamily="49" charset="0"/>
                <a:cs typeface="Cascadia Code SemiLight" panose="020B0609020000020004" pitchFamily="49" charset="0"/>
              </a:rPr>
              <a:t>stdio.h</a:t>
            </a:r>
            <a:r>
              <a:rPr lang="en-US" altLang="zh-CN" dirty="0">
                <a:latin typeface="Cascadia Code SemiLight" panose="020B0609020000020004" pitchFamily="49" charset="0"/>
                <a:cs typeface="Cascadia Code SemiLight" panose="020B0609020000020004" pitchFamily="49" charset="0"/>
              </a:rPr>
              <a:t>&gt;</a:t>
            </a:r>
          </a:p>
          <a:p>
            <a:endParaRPr lang="en-US" altLang="zh-CN" dirty="0">
              <a:latin typeface="Cascadia Code SemiLight" panose="020B0609020000020004" pitchFamily="49" charset="0"/>
              <a:cs typeface="Cascadia Code SemiLight" panose="020B0609020000020004" pitchFamily="49" charset="0"/>
            </a:endParaRPr>
          </a:p>
          <a:p>
            <a:r>
              <a:rPr lang="en-US" altLang="zh-CN" dirty="0">
                <a:latin typeface="Cascadia Code SemiLight" panose="020B0609020000020004" pitchFamily="49" charset="0"/>
                <a:cs typeface="Cascadia Code SemiLight" panose="020B0609020000020004" pitchFamily="49" charset="0"/>
              </a:rPr>
              <a:t>int main() {</a:t>
            </a:r>
          </a:p>
          <a:p>
            <a:r>
              <a:rPr lang="en-US" altLang="zh-CN" dirty="0">
                <a:latin typeface="Cascadia Code SemiLight" panose="020B0609020000020004" pitchFamily="49" charset="0"/>
                <a:cs typeface="Cascadia Code SemiLight" panose="020B0609020000020004" pitchFamily="49" charset="0"/>
              </a:rPr>
              <a:t>    int a = 5, b = 3;</a:t>
            </a:r>
          </a:p>
          <a:p>
            <a:r>
              <a:rPr lang="en-US" altLang="zh-CN" dirty="0">
                <a:latin typeface="Cascadia Code SemiLight" panose="020B0609020000020004" pitchFamily="49" charset="0"/>
                <a:cs typeface="Cascadia Code SemiLight" panose="020B0609020000020004" pitchFamily="49" charset="0"/>
              </a:rPr>
              <a:t>    </a:t>
            </a:r>
            <a:r>
              <a:rPr lang="en-US" altLang="zh-CN" dirty="0">
                <a:highlight>
                  <a:srgbClr val="FFFF00"/>
                </a:highlight>
                <a:latin typeface="Cascadia Code SemiLight" panose="020B0609020000020004" pitchFamily="49" charset="0"/>
                <a:cs typeface="Cascadia Code SemiLight" panose="020B0609020000020004" pitchFamily="49" charset="0"/>
              </a:rPr>
              <a:t>int sum = a + b;   </a:t>
            </a:r>
          </a:p>
          <a:p>
            <a:r>
              <a:rPr lang="en-US" altLang="zh-CN" dirty="0">
                <a:latin typeface="Cascadia Code SemiLight" panose="020B0609020000020004" pitchFamily="49" charset="0"/>
                <a:cs typeface="Cascadia Code SemiLight" panose="020B0609020000020004" pitchFamily="49" charset="0"/>
              </a:rPr>
              <a:t>    </a:t>
            </a:r>
            <a:r>
              <a:rPr lang="en-US" altLang="zh-CN" dirty="0">
                <a:highlight>
                  <a:srgbClr val="FFFF00"/>
                </a:highlight>
                <a:latin typeface="Cascadia Code SemiLight" panose="020B0609020000020004" pitchFamily="49" charset="0"/>
                <a:cs typeface="Cascadia Code SemiLight" panose="020B0609020000020004" pitchFamily="49" charset="0"/>
              </a:rPr>
              <a:t>// </a:t>
            </a:r>
            <a:r>
              <a:rPr lang="zh-CN" altLang="en-US" dirty="0">
                <a:highlight>
                  <a:srgbClr val="FFFF00"/>
                </a:highlight>
                <a:latin typeface="Cascadia Code SemiLight" panose="020B0609020000020004" pitchFamily="49" charset="0"/>
                <a:cs typeface="Cascadia Code SemiLight" panose="020B0609020000020004" pitchFamily="49" charset="0"/>
              </a:rPr>
              <a:t>直接在 </a:t>
            </a:r>
            <a:r>
              <a:rPr lang="en-US" altLang="zh-CN" dirty="0">
                <a:highlight>
                  <a:srgbClr val="FFFF00"/>
                </a:highlight>
                <a:latin typeface="Cascadia Code SemiLight" panose="020B0609020000020004" pitchFamily="49" charset="0"/>
                <a:cs typeface="Cascadia Code SemiLight" panose="020B0609020000020004" pitchFamily="49" charset="0"/>
              </a:rPr>
              <a:t>main </a:t>
            </a:r>
            <a:r>
              <a:rPr lang="zh-CN" altLang="en-US" dirty="0">
                <a:highlight>
                  <a:srgbClr val="FFFF00"/>
                </a:highlight>
                <a:latin typeface="Cascadia Code SemiLight" panose="020B0609020000020004" pitchFamily="49" charset="0"/>
                <a:cs typeface="Cascadia Code SemiLight" panose="020B0609020000020004" pitchFamily="49" charset="0"/>
              </a:rPr>
              <a:t>中计算</a:t>
            </a:r>
          </a:p>
          <a:p>
            <a:endParaRPr lang="zh-CN" altLang="en-US" dirty="0">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    </a:t>
            </a:r>
            <a:r>
              <a:rPr lang="en-US" altLang="zh-CN" dirty="0" err="1">
                <a:latin typeface="Cascadia Code SemiLight" panose="020B0609020000020004" pitchFamily="49" charset="0"/>
                <a:cs typeface="Cascadia Code SemiLight" panose="020B0609020000020004" pitchFamily="49" charset="0"/>
              </a:rPr>
              <a:t>printf</a:t>
            </a:r>
            <a:r>
              <a:rPr lang="en-US" altLang="zh-CN" dirty="0">
                <a:latin typeface="Cascadia Code SemiLight" panose="020B0609020000020004" pitchFamily="49" charset="0"/>
                <a:cs typeface="Cascadia Code SemiLight" panose="020B0609020000020004" pitchFamily="49" charset="0"/>
              </a:rPr>
              <a:t>("</a:t>
            </a:r>
            <a:r>
              <a:rPr lang="zh-CN" altLang="en-US" dirty="0">
                <a:latin typeface="Cascadia Code SemiLight" panose="020B0609020000020004" pitchFamily="49" charset="0"/>
                <a:cs typeface="Cascadia Code SemiLight" panose="020B0609020000020004" pitchFamily="49" charset="0"/>
              </a:rPr>
              <a:t>结果是</a:t>
            </a:r>
            <a:r>
              <a:rPr lang="en-US" altLang="zh-CN" dirty="0">
                <a:latin typeface="Cascadia Code SemiLight" panose="020B0609020000020004" pitchFamily="49" charset="0"/>
                <a:cs typeface="Cascadia Code SemiLight" panose="020B0609020000020004" pitchFamily="49" charset="0"/>
              </a:rPr>
              <a:t>: %d\n", sum);</a:t>
            </a:r>
          </a:p>
          <a:p>
            <a:endParaRPr lang="en-US" altLang="zh-CN" dirty="0">
              <a:latin typeface="Cascadia Code SemiLight" panose="020B0609020000020004" pitchFamily="49" charset="0"/>
              <a:cs typeface="Cascadia Code SemiLight" panose="020B0609020000020004" pitchFamily="49" charset="0"/>
            </a:endParaRPr>
          </a:p>
          <a:p>
            <a:r>
              <a:rPr lang="en-US" altLang="zh-CN" dirty="0">
                <a:latin typeface="Cascadia Code SemiLight" panose="020B0609020000020004" pitchFamily="49" charset="0"/>
                <a:cs typeface="Cascadia Code SemiLight" panose="020B0609020000020004" pitchFamily="49" charset="0"/>
              </a:rPr>
              <a:t>    return 0;</a:t>
            </a:r>
          </a:p>
          <a:p>
            <a:r>
              <a:rPr lang="en-US" altLang="zh-CN" dirty="0">
                <a:latin typeface="Cascadia Code SemiLight" panose="020B0609020000020004" pitchFamily="49" charset="0"/>
                <a:cs typeface="Cascadia Code SemiLight" panose="020B0609020000020004" pitchFamily="49" charset="0"/>
              </a:rPr>
              <a:t>}</a:t>
            </a:r>
          </a:p>
        </p:txBody>
      </p:sp>
      <p:sp>
        <p:nvSpPr>
          <p:cNvPr id="7" name="文本框 6">
            <a:extLst>
              <a:ext uri="{FF2B5EF4-FFF2-40B4-BE49-F238E27FC236}">
                <a16:creationId xmlns:a16="http://schemas.microsoft.com/office/drawing/2014/main" id="{2569C604-0678-4295-9258-2CE89E289C6C}"/>
              </a:ext>
            </a:extLst>
          </p:cNvPr>
          <p:cNvSpPr txBox="1"/>
          <p:nvPr/>
        </p:nvSpPr>
        <p:spPr>
          <a:xfrm>
            <a:off x="5909459" y="1507223"/>
            <a:ext cx="6095010" cy="4524315"/>
          </a:xfrm>
          <a:prstGeom prst="rect">
            <a:avLst/>
          </a:prstGeom>
          <a:noFill/>
        </p:spPr>
        <p:txBody>
          <a:bodyPr wrap="square">
            <a:spAutoFit/>
          </a:bodyPr>
          <a:lstStyle/>
          <a:p>
            <a:r>
              <a:rPr lang="zh-CN" altLang="en-US" dirty="0">
                <a:latin typeface="Cascadia Code SemiLight" panose="020B0609020000020004" pitchFamily="49" charset="0"/>
                <a:cs typeface="Cascadia Code SemiLight" panose="020B0609020000020004" pitchFamily="49" charset="0"/>
              </a:rPr>
              <a:t>为了将加法功能封装为一个函数，你可以</a:t>
            </a:r>
            <a:r>
              <a:rPr lang="en-US" altLang="zh-CN" dirty="0">
                <a:latin typeface="Cascadia Code SemiLight" panose="020B0609020000020004" pitchFamily="49" charset="0"/>
                <a:cs typeface="Cascadia Code SemiLight" panose="020B0609020000020004" pitchFamily="49" charset="0"/>
              </a:rPr>
              <a:t>…</a:t>
            </a:r>
            <a:br>
              <a:rPr lang="en-US" altLang="zh-CN" dirty="0">
                <a:latin typeface="Cascadia Code SemiLight" panose="020B0609020000020004" pitchFamily="49" charset="0"/>
                <a:cs typeface="Cascadia Code SemiLight" panose="020B0609020000020004" pitchFamily="49" charset="0"/>
              </a:rPr>
            </a:br>
            <a:r>
              <a:rPr lang="zh-CN" altLang="en-US" dirty="0">
                <a:latin typeface="Cascadia Code SemiLight" panose="020B0609020000020004" pitchFamily="49" charset="0"/>
                <a:cs typeface="Cascadia Code SemiLight" panose="020B0609020000020004" pitchFamily="49" charset="0"/>
              </a:rPr>
              <a:t>#include &lt;stdio.h&gt;</a:t>
            </a:r>
          </a:p>
          <a:p>
            <a:endParaRPr lang="zh-CN" altLang="en-US" dirty="0">
              <a:latin typeface="Cascadia Code SemiLight" panose="020B0609020000020004" pitchFamily="49" charset="0"/>
              <a:cs typeface="Cascadia Code SemiLight" panose="020B0609020000020004" pitchFamily="49" charset="0"/>
            </a:endParaRPr>
          </a:p>
          <a:p>
            <a:r>
              <a:rPr lang="zh-CN" altLang="en-US" dirty="0">
                <a:highlight>
                  <a:srgbClr val="FFFF00"/>
                </a:highlight>
                <a:latin typeface="Cascadia Code SemiLight" panose="020B0609020000020004" pitchFamily="49" charset="0"/>
                <a:cs typeface="Cascadia Code SemiLight" panose="020B0609020000020004" pitchFamily="49" charset="0"/>
              </a:rPr>
              <a:t>// 封装功能：计算两个整数的和</a:t>
            </a:r>
          </a:p>
          <a:p>
            <a:r>
              <a:rPr lang="zh-CN" altLang="en-US" dirty="0">
                <a:highlight>
                  <a:srgbClr val="FFFF00"/>
                </a:highlight>
                <a:latin typeface="Cascadia Code SemiLight" panose="020B0609020000020004" pitchFamily="49" charset="0"/>
                <a:cs typeface="Cascadia Code SemiLight" panose="020B0609020000020004" pitchFamily="49" charset="0"/>
              </a:rPr>
              <a:t>int add(int x, int y) {</a:t>
            </a:r>
          </a:p>
          <a:p>
            <a:r>
              <a:rPr lang="zh-CN" altLang="en-US" dirty="0">
                <a:highlight>
                  <a:srgbClr val="FFFF00"/>
                </a:highlight>
                <a:latin typeface="Cascadia Code SemiLight" panose="020B0609020000020004" pitchFamily="49" charset="0"/>
                <a:cs typeface="Cascadia Code SemiLight" panose="020B0609020000020004" pitchFamily="49" charset="0"/>
              </a:rPr>
              <a:t>    return x + y;</a:t>
            </a:r>
          </a:p>
          <a:p>
            <a:r>
              <a:rPr lang="zh-CN" altLang="en-US" dirty="0">
                <a:highlight>
                  <a:srgbClr val="FFFF00"/>
                </a:highlight>
                <a:latin typeface="Cascadia Code SemiLight" panose="020B0609020000020004" pitchFamily="49" charset="0"/>
                <a:cs typeface="Cascadia Code SemiLight" panose="020B0609020000020004" pitchFamily="49" charset="0"/>
              </a:rPr>
              <a:t>}</a:t>
            </a:r>
          </a:p>
          <a:p>
            <a:endParaRPr lang="zh-CN" altLang="en-US" dirty="0">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int main() {</a:t>
            </a:r>
          </a:p>
          <a:p>
            <a:r>
              <a:rPr lang="zh-CN" altLang="en-US" dirty="0">
                <a:latin typeface="Cascadia Code SemiLight" panose="020B0609020000020004" pitchFamily="49" charset="0"/>
                <a:cs typeface="Cascadia Code SemiLight" panose="020B0609020000020004" pitchFamily="49" charset="0"/>
              </a:rPr>
              <a:t>    int a = 5, b = 3;</a:t>
            </a:r>
          </a:p>
          <a:p>
            <a:r>
              <a:rPr lang="zh-CN" altLang="en-US" dirty="0">
                <a:latin typeface="Cascadia Code SemiLight" panose="020B0609020000020004" pitchFamily="49" charset="0"/>
                <a:cs typeface="Cascadia Code SemiLight" panose="020B0609020000020004" pitchFamily="49" charset="0"/>
              </a:rPr>
              <a:t>    </a:t>
            </a:r>
            <a:r>
              <a:rPr lang="zh-CN" altLang="en-US" dirty="0">
                <a:highlight>
                  <a:srgbClr val="FFFF00"/>
                </a:highlight>
                <a:latin typeface="Cascadia Code SemiLight" panose="020B0609020000020004" pitchFamily="49" charset="0"/>
                <a:cs typeface="Cascadia Code SemiLight" panose="020B0609020000020004" pitchFamily="49" charset="0"/>
              </a:rPr>
              <a:t>int sum = add(a, b);   // 调用函数</a:t>
            </a:r>
          </a:p>
          <a:p>
            <a:endParaRPr lang="zh-CN" altLang="en-US" dirty="0">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    printf("结果是: %d\n", sum);</a:t>
            </a:r>
          </a:p>
          <a:p>
            <a:endParaRPr lang="zh-CN" altLang="en-US" dirty="0">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    return 0;</a:t>
            </a:r>
          </a:p>
          <a:p>
            <a:r>
              <a:rPr lang="zh-CN" altLang="en-US" dirty="0">
                <a:latin typeface="Cascadia Code SemiLight" panose="020B0609020000020004" pitchFamily="49" charset="0"/>
                <a:cs typeface="Cascadia Code SemiLight" panose="020B0609020000020004" pitchFamily="49" charset="0"/>
              </a:rPr>
              <a:t>}</a:t>
            </a:r>
          </a:p>
        </p:txBody>
      </p:sp>
    </p:spTree>
    <p:extLst>
      <p:ext uri="{BB962C8B-B14F-4D97-AF65-F5344CB8AC3E}">
        <p14:creationId xmlns:p14="http://schemas.microsoft.com/office/powerpoint/2010/main" val="4062713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圆角 15">
            <a:extLst>
              <a:ext uri="{FF2B5EF4-FFF2-40B4-BE49-F238E27FC236}">
                <a16:creationId xmlns:a16="http://schemas.microsoft.com/office/drawing/2014/main" id="{AAD54F84-A3EB-45FB-98AC-37B201325041}"/>
              </a:ext>
            </a:extLst>
          </p:cNvPr>
          <p:cNvSpPr/>
          <p:nvPr/>
        </p:nvSpPr>
        <p:spPr>
          <a:xfrm>
            <a:off x="3770416" y="3177294"/>
            <a:ext cx="1828800" cy="36933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1" name="矩形: 圆角 10">
            <a:extLst>
              <a:ext uri="{FF2B5EF4-FFF2-40B4-BE49-F238E27FC236}">
                <a16:creationId xmlns:a16="http://schemas.microsoft.com/office/drawing/2014/main" id="{45228EBD-EF8E-4B79-B571-A282ED361951}"/>
              </a:ext>
            </a:extLst>
          </p:cNvPr>
          <p:cNvSpPr/>
          <p:nvPr/>
        </p:nvSpPr>
        <p:spPr>
          <a:xfrm>
            <a:off x="3770416" y="2867891"/>
            <a:ext cx="2325584" cy="36933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3" name="矩形: 圆角 2">
            <a:extLst>
              <a:ext uri="{FF2B5EF4-FFF2-40B4-BE49-F238E27FC236}">
                <a16:creationId xmlns:a16="http://schemas.microsoft.com/office/drawing/2014/main" id="{8C4337A2-F9B8-48D2-A4DF-03EB38D73BB7}"/>
              </a:ext>
            </a:extLst>
          </p:cNvPr>
          <p:cNvSpPr/>
          <p:nvPr/>
        </p:nvSpPr>
        <p:spPr>
          <a:xfrm>
            <a:off x="3129148" y="2867891"/>
            <a:ext cx="641268" cy="36933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8" name="标题 7"/>
          <p:cNvSpPr>
            <a:spLocks noGrp="1"/>
          </p:cNvSpPr>
          <p:nvPr>
            <p:ph type="title"/>
          </p:nvPr>
        </p:nvSpPr>
        <p:spPr>
          <a:xfrm>
            <a:off x="521207" y="448056"/>
            <a:ext cx="10552533" cy="640080"/>
          </a:xfrm>
        </p:spPr>
        <p:txBody>
          <a:bodyPr rtlCol="0">
            <a:noAutofit/>
          </a:bodyPr>
          <a:lstStyle/>
          <a:p>
            <a:pPr rtl="0"/>
            <a:r>
              <a:rPr lang="en-US" altLang="zh-CN" dirty="0">
                <a:cs typeface="Segoe UI Light" panose="020B0502040204020203" pitchFamily="34" charset="0"/>
              </a:rPr>
              <a:t>Chapter 4  </a:t>
            </a:r>
            <a:r>
              <a:rPr lang="zh-CN" altLang="en-US" dirty="0">
                <a:cs typeface="Segoe UI Light" panose="020B0502040204020203" pitchFamily="34" charset="0"/>
              </a:rPr>
              <a:t>函数</a:t>
            </a:r>
          </a:p>
        </p:txBody>
      </p:sp>
      <p:sp>
        <p:nvSpPr>
          <p:cNvPr id="2" name="文本框 1">
            <a:extLst>
              <a:ext uri="{FF2B5EF4-FFF2-40B4-BE49-F238E27FC236}">
                <a16:creationId xmlns:a16="http://schemas.microsoft.com/office/drawing/2014/main" id="{278E70F4-2A89-46EF-8FA4-B65F4871C040}"/>
              </a:ext>
            </a:extLst>
          </p:cNvPr>
          <p:cNvSpPr txBox="1"/>
          <p:nvPr/>
        </p:nvSpPr>
        <p:spPr>
          <a:xfrm>
            <a:off x="611578" y="1413164"/>
            <a:ext cx="5373586" cy="369332"/>
          </a:xfrm>
          <a:prstGeom prst="rect">
            <a:avLst/>
          </a:prstGeom>
          <a:noFill/>
        </p:spPr>
        <p:txBody>
          <a:bodyPr wrap="square" rtlCol="0">
            <a:spAutoFit/>
          </a:bodyPr>
          <a:lstStyle/>
          <a:p>
            <a:r>
              <a:rPr lang="en-US" altLang="zh-CN" dirty="0"/>
              <a:t>4.2 </a:t>
            </a:r>
            <a:r>
              <a:rPr lang="zh-CN" altLang="en-US" dirty="0"/>
              <a:t>如何在源代码基础上封装一个函数</a:t>
            </a:r>
          </a:p>
        </p:txBody>
      </p:sp>
      <p:sp>
        <p:nvSpPr>
          <p:cNvPr id="7" name="文本框 6">
            <a:extLst>
              <a:ext uri="{FF2B5EF4-FFF2-40B4-BE49-F238E27FC236}">
                <a16:creationId xmlns:a16="http://schemas.microsoft.com/office/drawing/2014/main" id="{2569C604-0678-4295-9258-2CE89E289C6C}"/>
              </a:ext>
            </a:extLst>
          </p:cNvPr>
          <p:cNvSpPr txBox="1"/>
          <p:nvPr/>
        </p:nvSpPr>
        <p:spPr>
          <a:xfrm>
            <a:off x="3178964" y="2576003"/>
            <a:ext cx="6095010" cy="2308324"/>
          </a:xfrm>
          <a:prstGeom prst="rect">
            <a:avLst/>
          </a:prstGeom>
          <a:noFill/>
        </p:spPr>
        <p:txBody>
          <a:bodyPr wrap="square">
            <a:spAutoFit/>
          </a:bodyPr>
          <a:lstStyle/>
          <a:p>
            <a:endParaRPr lang="zh-CN" altLang="en-US" dirty="0">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int add(int x, int y) {</a:t>
            </a:r>
          </a:p>
          <a:p>
            <a:r>
              <a:rPr lang="zh-CN" altLang="en-US" dirty="0">
                <a:latin typeface="Cascadia Code SemiLight" panose="020B0609020000020004" pitchFamily="49" charset="0"/>
                <a:cs typeface="Cascadia Code SemiLight" panose="020B0609020000020004" pitchFamily="49" charset="0"/>
              </a:rPr>
              <a:t>    return x + y;</a:t>
            </a:r>
          </a:p>
          <a:p>
            <a:r>
              <a:rPr lang="zh-CN" altLang="en-US" dirty="0">
                <a:latin typeface="Cascadia Code SemiLight" panose="020B0609020000020004" pitchFamily="49" charset="0"/>
                <a:cs typeface="Cascadia Code SemiLight" panose="020B0609020000020004" pitchFamily="49" charset="0"/>
              </a:rPr>
              <a:t>}</a:t>
            </a:r>
          </a:p>
          <a:p>
            <a:endParaRPr lang="en-US" altLang="zh-CN" dirty="0">
              <a:latin typeface="Cascadia Code SemiLight" panose="020B0609020000020004" pitchFamily="49" charset="0"/>
              <a:cs typeface="Cascadia Code SemiLight" panose="020B0609020000020004" pitchFamily="49" charset="0"/>
            </a:endParaRPr>
          </a:p>
          <a:p>
            <a:endParaRPr lang="en-US" altLang="zh-CN" dirty="0">
              <a:latin typeface="Cascadia Code SemiLight" panose="020B0609020000020004" pitchFamily="49" charset="0"/>
              <a:cs typeface="Cascadia Code SemiLight" panose="020B0609020000020004" pitchFamily="49" charset="0"/>
            </a:endParaRPr>
          </a:p>
          <a:p>
            <a:r>
              <a:rPr lang="en-US" altLang="zh-CN" dirty="0">
                <a:latin typeface="Cascadia Code SemiLight" panose="020B0609020000020004" pitchFamily="49" charset="0"/>
                <a:cs typeface="Cascadia Code SemiLight" panose="020B0609020000020004" pitchFamily="49" charset="0"/>
              </a:rPr>
              <a:t>//</a:t>
            </a:r>
            <a:r>
              <a:rPr lang="zh-CN" altLang="en-US" dirty="0">
                <a:latin typeface="Cascadia Code SemiLight" panose="020B0609020000020004" pitchFamily="49" charset="0"/>
                <a:cs typeface="Cascadia Code SemiLight" panose="020B0609020000020004" pitchFamily="49" charset="0"/>
              </a:rPr>
              <a:t>以下是在</a:t>
            </a:r>
            <a:r>
              <a:rPr lang="en-US" altLang="zh-CN" dirty="0">
                <a:latin typeface="Cascadia Code SemiLight" panose="020B0609020000020004" pitchFamily="49" charset="0"/>
                <a:cs typeface="Cascadia Code SemiLight" panose="020B0609020000020004" pitchFamily="49" charset="0"/>
              </a:rPr>
              <a:t>main</a:t>
            </a:r>
            <a:r>
              <a:rPr lang="zh-CN" altLang="en-US" dirty="0">
                <a:latin typeface="Cascadia Code SemiLight" panose="020B0609020000020004" pitchFamily="49" charset="0"/>
                <a:cs typeface="Cascadia Code SemiLight" panose="020B0609020000020004" pitchFamily="49" charset="0"/>
              </a:rPr>
              <a:t>函数中</a:t>
            </a:r>
          </a:p>
          <a:p>
            <a:r>
              <a:rPr lang="zh-CN" altLang="en-US" dirty="0">
                <a:latin typeface="Cascadia Code SemiLight" panose="020B0609020000020004" pitchFamily="49" charset="0"/>
                <a:cs typeface="Cascadia Code SemiLight" panose="020B0609020000020004" pitchFamily="49" charset="0"/>
              </a:rPr>
              <a:t>int sum = add(a, b);   // 调用函数</a:t>
            </a:r>
          </a:p>
        </p:txBody>
      </p:sp>
      <p:sp>
        <p:nvSpPr>
          <p:cNvPr id="9" name="文本框 8">
            <a:extLst>
              <a:ext uri="{FF2B5EF4-FFF2-40B4-BE49-F238E27FC236}">
                <a16:creationId xmlns:a16="http://schemas.microsoft.com/office/drawing/2014/main" id="{66BFCF37-A904-4452-948A-0862BAF1F68A}"/>
              </a:ext>
            </a:extLst>
          </p:cNvPr>
          <p:cNvSpPr txBox="1"/>
          <p:nvPr/>
        </p:nvSpPr>
        <p:spPr>
          <a:xfrm>
            <a:off x="611578" y="1885991"/>
            <a:ext cx="9458697" cy="369332"/>
          </a:xfrm>
          <a:prstGeom prst="rect">
            <a:avLst/>
          </a:prstGeom>
          <a:noFill/>
        </p:spPr>
        <p:txBody>
          <a:bodyPr wrap="square" rtlCol="0">
            <a:spAutoFit/>
          </a:bodyPr>
          <a:lstStyle/>
          <a:p>
            <a:r>
              <a:rPr lang="zh-CN" altLang="en-US" dirty="0"/>
              <a:t>让我们来仔细观察函数的结构</a:t>
            </a:r>
          </a:p>
        </p:txBody>
      </p:sp>
      <p:cxnSp>
        <p:nvCxnSpPr>
          <p:cNvPr id="5" name="直接箭头连接符 4">
            <a:extLst>
              <a:ext uri="{FF2B5EF4-FFF2-40B4-BE49-F238E27FC236}">
                <a16:creationId xmlns:a16="http://schemas.microsoft.com/office/drawing/2014/main" id="{22120ABC-48FC-4820-8EF0-0B5D24DB181B}"/>
              </a:ext>
            </a:extLst>
          </p:cNvPr>
          <p:cNvCxnSpPr>
            <a:stCxn id="3" idx="1"/>
          </p:cNvCxnSpPr>
          <p:nvPr/>
        </p:nvCxnSpPr>
        <p:spPr>
          <a:xfrm flipH="1" flipV="1">
            <a:off x="2410691" y="2921330"/>
            <a:ext cx="718457" cy="1312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39F01BC6-8DA3-4B05-A70C-82C85A36C4B8}"/>
              </a:ext>
            </a:extLst>
          </p:cNvPr>
          <p:cNvSpPr/>
          <p:nvPr/>
        </p:nvSpPr>
        <p:spPr>
          <a:xfrm>
            <a:off x="938152" y="2736664"/>
            <a:ext cx="1472540" cy="3693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返回值类型</a:t>
            </a:r>
          </a:p>
        </p:txBody>
      </p:sp>
      <p:cxnSp>
        <p:nvCxnSpPr>
          <p:cNvPr id="12" name="直接箭头连接符 11">
            <a:extLst>
              <a:ext uri="{FF2B5EF4-FFF2-40B4-BE49-F238E27FC236}">
                <a16:creationId xmlns:a16="http://schemas.microsoft.com/office/drawing/2014/main" id="{F1EDCBDE-9632-4675-88A7-81FB5554AEF1}"/>
              </a:ext>
            </a:extLst>
          </p:cNvPr>
          <p:cNvCxnSpPr>
            <a:cxnSpLocks/>
          </p:cNvCxnSpPr>
          <p:nvPr/>
        </p:nvCxnSpPr>
        <p:spPr>
          <a:xfrm flipV="1">
            <a:off x="4933209" y="2358818"/>
            <a:ext cx="208807" cy="5090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矩形 14">
            <a:extLst>
              <a:ext uri="{FF2B5EF4-FFF2-40B4-BE49-F238E27FC236}">
                <a16:creationId xmlns:a16="http://schemas.microsoft.com/office/drawing/2014/main" id="{FD8636A8-79ED-4BB4-97CF-09CBF0E04AE2}"/>
              </a:ext>
            </a:extLst>
          </p:cNvPr>
          <p:cNvSpPr/>
          <p:nvPr/>
        </p:nvSpPr>
        <p:spPr>
          <a:xfrm>
            <a:off x="4664530" y="1999681"/>
            <a:ext cx="4378529" cy="3693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函数标识符（传入参数</a:t>
            </a:r>
            <a:r>
              <a:rPr lang="en-US" altLang="zh-CN" dirty="0"/>
              <a:t>1</a:t>
            </a:r>
            <a:r>
              <a:rPr lang="zh-CN" altLang="en-US" dirty="0"/>
              <a:t>，传入参数</a:t>
            </a:r>
            <a:r>
              <a:rPr lang="en-US" altLang="zh-CN" dirty="0"/>
              <a:t>2</a:t>
            </a:r>
            <a:r>
              <a:rPr lang="zh-CN" altLang="en-US" dirty="0"/>
              <a:t>）</a:t>
            </a:r>
          </a:p>
        </p:txBody>
      </p:sp>
      <p:cxnSp>
        <p:nvCxnSpPr>
          <p:cNvPr id="17" name="直接箭头连接符 16">
            <a:extLst>
              <a:ext uri="{FF2B5EF4-FFF2-40B4-BE49-F238E27FC236}">
                <a16:creationId xmlns:a16="http://schemas.microsoft.com/office/drawing/2014/main" id="{682CCF0E-6CEC-4B4D-94B1-5BFCEC3C7229}"/>
              </a:ext>
            </a:extLst>
          </p:cNvPr>
          <p:cNvCxnSpPr>
            <a:cxnSpLocks/>
          </p:cNvCxnSpPr>
          <p:nvPr/>
        </p:nvCxnSpPr>
        <p:spPr>
          <a:xfrm flipH="1">
            <a:off x="2460508" y="3546627"/>
            <a:ext cx="2204022" cy="7225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06D3A7CA-7F96-4F66-83B6-07CB96FCCAA0}"/>
              </a:ext>
            </a:extLst>
          </p:cNvPr>
          <p:cNvSpPr/>
          <p:nvPr/>
        </p:nvSpPr>
        <p:spPr>
          <a:xfrm>
            <a:off x="338447" y="3805444"/>
            <a:ext cx="2111493" cy="107888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函数具体功能</a:t>
            </a:r>
            <a:endParaRPr lang="en-US" altLang="zh-CN" dirty="0"/>
          </a:p>
          <a:p>
            <a:pPr algn="ctr"/>
            <a:r>
              <a:rPr lang="zh-CN" altLang="en-US" dirty="0"/>
              <a:t>返回部分：</a:t>
            </a:r>
            <a:br>
              <a:rPr lang="en-US" altLang="zh-CN" dirty="0"/>
            </a:br>
            <a:r>
              <a:rPr lang="en-US" altLang="zh-CN" dirty="0"/>
              <a:t>return </a:t>
            </a:r>
            <a:r>
              <a:rPr lang="zh-CN" altLang="en-US" dirty="0"/>
              <a:t>（返回内容）</a:t>
            </a:r>
          </a:p>
        </p:txBody>
      </p:sp>
    </p:spTree>
    <p:extLst>
      <p:ext uri="{BB962C8B-B14F-4D97-AF65-F5344CB8AC3E}">
        <p14:creationId xmlns:p14="http://schemas.microsoft.com/office/powerpoint/2010/main" val="35493831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521207" y="448056"/>
            <a:ext cx="10552533" cy="640080"/>
          </a:xfrm>
        </p:spPr>
        <p:txBody>
          <a:bodyPr rtlCol="0">
            <a:noAutofit/>
          </a:bodyPr>
          <a:lstStyle/>
          <a:p>
            <a:pPr rtl="0"/>
            <a:r>
              <a:rPr lang="en-US" altLang="zh-CN" dirty="0">
                <a:cs typeface="Segoe UI Light" panose="020B0502040204020203" pitchFamily="34" charset="0"/>
              </a:rPr>
              <a:t>Chapter 4  </a:t>
            </a:r>
            <a:r>
              <a:rPr lang="zh-CN" altLang="en-US" dirty="0">
                <a:cs typeface="Segoe UI Light" panose="020B0502040204020203" pitchFamily="34" charset="0"/>
              </a:rPr>
              <a:t>函数</a:t>
            </a:r>
          </a:p>
        </p:txBody>
      </p:sp>
      <p:sp>
        <p:nvSpPr>
          <p:cNvPr id="2" name="文本框 1">
            <a:extLst>
              <a:ext uri="{FF2B5EF4-FFF2-40B4-BE49-F238E27FC236}">
                <a16:creationId xmlns:a16="http://schemas.microsoft.com/office/drawing/2014/main" id="{278E70F4-2A89-46EF-8FA4-B65F4871C040}"/>
              </a:ext>
            </a:extLst>
          </p:cNvPr>
          <p:cNvSpPr txBox="1"/>
          <p:nvPr/>
        </p:nvSpPr>
        <p:spPr>
          <a:xfrm>
            <a:off x="611578" y="1413164"/>
            <a:ext cx="3621975" cy="369332"/>
          </a:xfrm>
          <a:prstGeom prst="rect">
            <a:avLst/>
          </a:prstGeom>
          <a:noFill/>
        </p:spPr>
        <p:txBody>
          <a:bodyPr wrap="square" rtlCol="0">
            <a:spAutoFit/>
          </a:bodyPr>
          <a:lstStyle/>
          <a:p>
            <a:r>
              <a:rPr lang="en-US" altLang="zh-CN" dirty="0"/>
              <a:t>4.3 </a:t>
            </a:r>
            <a:r>
              <a:rPr lang="zh-CN" altLang="en-US" dirty="0"/>
              <a:t>作用域</a:t>
            </a:r>
          </a:p>
        </p:txBody>
      </p:sp>
      <p:sp>
        <p:nvSpPr>
          <p:cNvPr id="7" name="文本框 6">
            <a:extLst>
              <a:ext uri="{FF2B5EF4-FFF2-40B4-BE49-F238E27FC236}">
                <a16:creationId xmlns:a16="http://schemas.microsoft.com/office/drawing/2014/main" id="{9A4BF3FB-290D-43F0-BBBF-FE2B8C81742D}"/>
              </a:ext>
            </a:extLst>
          </p:cNvPr>
          <p:cNvSpPr txBox="1"/>
          <p:nvPr/>
        </p:nvSpPr>
        <p:spPr>
          <a:xfrm>
            <a:off x="2422565" y="1331631"/>
            <a:ext cx="8423069" cy="4801314"/>
          </a:xfrm>
          <a:prstGeom prst="rect">
            <a:avLst/>
          </a:prstGeom>
          <a:noFill/>
        </p:spPr>
        <p:txBody>
          <a:bodyPr wrap="square">
            <a:spAutoFit/>
          </a:bodyPr>
          <a:lstStyle/>
          <a:p>
            <a:r>
              <a:rPr lang="zh-CN" altLang="en-US" dirty="0">
                <a:latin typeface="Cascadia Code SemiLight" panose="020B0609020000020004" pitchFamily="49" charset="0"/>
                <a:cs typeface="Cascadia Code SemiLight" panose="020B0609020000020004" pitchFamily="49" charset="0"/>
              </a:rPr>
              <a:t>#include &lt;stdio.h&gt;</a:t>
            </a:r>
          </a:p>
          <a:p>
            <a:endParaRPr lang="zh-CN" altLang="en-US" dirty="0">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int x = 10;   // 全局变量</a:t>
            </a:r>
          </a:p>
          <a:p>
            <a:endParaRPr lang="zh-CN" altLang="en-US" dirty="0">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int main() {</a:t>
            </a:r>
          </a:p>
          <a:p>
            <a:r>
              <a:rPr lang="zh-CN" altLang="en-US" dirty="0">
                <a:latin typeface="Cascadia Code SemiLight" panose="020B0609020000020004" pitchFamily="49" charset="0"/>
                <a:cs typeface="Cascadia Code SemiLight" panose="020B0609020000020004" pitchFamily="49" charset="0"/>
              </a:rPr>
              <a:t>    int y = 20;   // main 函数的局部变量</a:t>
            </a:r>
          </a:p>
          <a:p>
            <a:endParaRPr lang="zh-CN" altLang="en-US" dirty="0">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    if (y &gt; 0) {</a:t>
            </a:r>
          </a:p>
          <a:p>
            <a:r>
              <a:rPr lang="zh-CN" altLang="en-US" dirty="0">
                <a:latin typeface="Cascadia Code SemiLight" panose="020B0609020000020004" pitchFamily="49" charset="0"/>
                <a:cs typeface="Cascadia Code SemiLight" panose="020B0609020000020004" pitchFamily="49" charset="0"/>
              </a:rPr>
              <a:t>        int z = 30;   // if 语句块的局部变量</a:t>
            </a:r>
          </a:p>
          <a:p>
            <a:r>
              <a:rPr lang="zh-CN" altLang="en-US" dirty="0">
                <a:latin typeface="Cascadia Code SemiLight" panose="020B0609020000020004" pitchFamily="49" charset="0"/>
                <a:cs typeface="Cascadia Code SemiLight" panose="020B0609020000020004" pitchFamily="49" charset="0"/>
              </a:rPr>
              <a:t>        printf("%d %d %d\n", x, y, z);</a:t>
            </a:r>
          </a:p>
          <a:p>
            <a:r>
              <a:rPr lang="zh-CN" altLang="en-US" dirty="0">
                <a:latin typeface="Cascadia Code SemiLight" panose="020B0609020000020004" pitchFamily="49" charset="0"/>
                <a:cs typeface="Cascadia Code SemiLight" panose="020B0609020000020004" pitchFamily="49" charset="0"/>
              </a:rPr>
              <a:t>    }</a:t>
            </a:r>
          </a:p>
          <a:p>
            <a:endParaRPr lang="zh-CN" altLang="en-US" dirty="0">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    // printf("%d\n", z); // ❌ 错误：z 在 if 块外不可见</a:t>
            </a:r>
          </a:p>
          <a:p>
            <a:endParaRPr lang="zh-CN" altLang="en-US" dirty="0">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    ...</a:t>
            </a:r>
          </a:p>
          <a:p>
            <a:r>
              <a:rPr lang="zh-CN" altLang="en-US" dirty="0">
                <a:latin typeface="Cascadia Code SemiLight" panose="020B0609020000020004" pitchFamily="49" charset="0"/>
                <a:cs typeface="Cascadia Code SemiLight" panose="020B0609020000020004" pitchFamily="49" charset="0"/>
              </a:rPr>
              <a:t>    return 0;</a:t>
            </a:r>
          </a:p>
          <a:p>
            <a:r>
              <a:rPr lang="zh-CN" altLang="en-US" dirty="0">
                <a:latin typeface="Cascadia Code SemiLight" panose="020B0609020000020004" pitchFamily="49" charset="0"/>
                <a:cs typeface="Cascadia Code SemiLight" panose="020B0609020000020004" pitchFamily="49" charset="0"/>
              </a:rPr>
              <a:t>}</a:t>
            </a:r>
          </a:p>
        </p:txBody>
      </p:sp>
    </p:spTree>
    <p:extLst>
      <p:ext uri="{BB962C8B-B14F-4D97-AF65-F5344CB8AC3E}">
        <p14:creationId xmlns:p14="http://schemas.microsoft.com/office/powerpoint/2010/main" val="30132449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521207" y="448056"/>
            <a:ext cx="10552533" cy="640080"/>
          </a:xfrm>
        </p:spPr>
        <p:txBody>
          <a:bodyPr rtlCol="0">
            <a:noAutofit/>
          </a:bodyPr>
          <a:lstStyle/>
          <a:p>
            <a:pPr rtl="0"/>
            <a:r>
              <a:rPr lang="en-US" altLang="zh-CN" dirty="0">
                <a:cs typeface="Segoe UI Light" panose="020B0502040204020203" pitchFamily="34" charset="0"/>
              </a:rPr>
              <a:t>Chapter 4  </a:t>
            </a:r>
            <a:r>
              <a:rPr lang="zh-CN" altLang="en-US" dirty="0">
                <a:cs typeface="Segoe UI Light" panose="020B0502040204020203" pitchFamily="34" charset="0"/>
              </a:rPr>
              <a:t>函数</a:t>
            </a:r>
          </a:p>
        </p:txBody>
      </p:sp>
      <p:sp>
        <p:nvSpPr>
          <p:cNvPr id="2" name="文本框 1">
            <a:extLst>
              <a:ext uri="{FF2B5EF4-FFF2-40B4-BE49-F238E27FC236}">
                <a16:creationId xmlns:a16="http://schemas.microsoft.com/office/drawing/2014/main" id="{278E70F4-2A89-46EF-8FA4-B65F4871C040}"/>
              </a:ext>
            </a:extLst>
          </p:cNvPr>
          <p:cNvSpPr txBox="1"/>
          <p:nvPr/>
        </p:nvSpPr>
        <p:spPr>
          <a:xfrm>
            <a:off x="611578" y="1413164"/>
            <a:ext cx="3621975" cy="369332"/>
          </a:xfrm>
          <a:prstGeom prst="rect">
            <a:avLst/>
          </a:prstGeom>
          <a:noFill/>
        </p:spPr>
        <p:txBody>
          <a:bodyPr wrap="square" rtlCol="0">
            <a:spAutoFit/>
          </a:bodyPr>
          <a:lstStyle/>
          <a:p>
            <a:r>
              <a:rPr lang="en-US" altLang="zh-CN" dirty="0"/>
              <a:t>Episode 4.1 </a:t>
            </a:r>
            <a:r>
              <a:rPr lang="zh-CN" altLang="en-US" dirty="0"/>
              <a:t>变量的存储类型</a:t>
            </a:r>
          </a:p>
        </p:txBody>
      </p:sp>
      <p:pic>
        <p:nvPicPr>
          <p:cNvPr id="4" name="图片 3">
            <a:extLst>
              <a:ext uri="{FF2B5EF4-FFF2-40B4-BE49-F238E27FC236}">
                <a16:creationId xmlns:a16="http://schemas.microsoft.com/office/drawing/2014/main" id="{10724E69-67E3-438B-B86C-72565D366622}"/>
              </a:ext>
            </a:extLst>
          </p:cNvPr>
          <p:cNvPicPr>
            <a:picLocks noChangeAspect="1"/>
          </p:cNvPicPr>
          <p:nvPr/>
        </p:nvPicPr>
        <p:blipFill>
          <a:blip r:embed="rId3"/>
          <a:stretch>
            <a:fillRect/>
          </a:stretch>
        </p:blipFill>
        <p:spPr>
          <a:xfrm>
            <a:off x="867561" y="2107524"/>
            <a:ext cx="10456878" cy="3879495"/>
          </a:xfrm>
          <a:prstGeom prst="rect">
            <a:avLst/>
          </a:prstGeom>
        </p:spPr>
      </p:pic>
    </p:spTree>
    <p:extLst>
      <p:ext uri="{BB962C8B-B14F-4D97-AF65-F5344CB8AC3E}">
        <p14:creationId xmlns:p14="http://schemas.microsoft.com/office/powerpoint/2010/main" val="3047782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521207" y="448056"/>
            <a:ext cx="10552533" cy="640080"/>
          </a:xfrm>
        </p:spPr>
        <p:txBody>
          <a:bodyPr rtlCol="0">
            <a:noAutofit/>
          </a:bodyPr>
          <a:lstStyle/>
          <a:p>
            <a:pPr rtl="0"/>
            <a:r>
              <a:rPr lang="en-US" altLang="zh-CN" dirty="0">
                <a:cs typeface="Segoe UI Light" panose="020B0502040204020203" pitchFamily="34" charset="0"/>
              </a:rPr>
              <a:t>Chapter 4  </a:t>
            </a:r>
            <a:r>
              <a:rPr lang="zh-CN" altLang="en-US" dirty="0">
                <a:cs typeface="Segoe UI Light" panose="020B0502040204020203" pitchFamily="34" charset="0"/>
              </a:rPr>
              <a:t>函数</a:t>
            </a:r>
          </a:p>
        </p:txBody>
      </p:sp>
      <p:sp>
        <p:nvSpPr>
          <p:cNvPr id="5" name="文本框 4">
            <a:extLst>
              <a:ext uri="{FF2B5EF4-FFF2-40B4-BE49-F238E27FC236}">
                <a16:creationId xmlns:a16="http://schemas.microsoft.com/office/drawing/2014/main" id="{EF1498B8-D2A9-422D-95BE-F2C949916B8E}"/>
              </a:ext>
            </a:extLst>
          </p:cNvPr>
          <p:cNvSpPr txBox="1"/>
          <p:nvPr/>
        </p:nvSpPr>
        <p:spPr>
          <a:xfrm>
            <a:off x="611578" y="1413164"/>
            <a:ext cx="3621975" cy="369332"/>
          </a:xfrm>
          <a:prstGeom prst="rect">
            <a:avLst/>
          </a:prstGeom>
          <a:noFill/>
        </p:spPr>
        <p:txBody>
          <a:bodyPr wrap="square" rtlCol="0">
            <a:spAutoFit/>
          </a:bodyPr>
          <a:lstStyle/>
          <a:p>
            <a:r>
              <a:rPr lang="en-US" altLang="zh-CN" dirty="0"/>
              <a:t>Episode 4.1 </a:t>
            </a:r>
            <a:r>
              <a:rPr lang="zh-CN" altLang="en-US" dirty="0"/>
              <a:t>变量的存储类型</a:t>
            </a:r>
          </a:p>
        </p:txBody>
      </p:sp>
      <p:sp>
        <p:nvSpPr>
          <p:cNvPr id="6" name="文本框 5">
            <a:extLst>
              <a:ext uri="{FF2B5EF4-FFF2-40B4-BE49-F238E27FC236}">
                <a16:creationId xmlns:a16="http://schemas.microsoft.com/office/drawing/2014/main" id="{5FB73E9E-3559-49F9-8715-00C0BC7FEA10}"/>
              </a:ext>
            </a:extLst>
          </p:cNvPr>
          <p:cNvSpPr txBox="1"/>
          <p:nvPr/>
        </p:nvSpPr>
        <p:spPr>
          <a:xfrm>
            <a:off x="611578" y="1885991"/>
            <a:ext cx="9458697" cy="1477328"/>
          </a:xfrm>
          <a:prstGeom prst="rect">
            <a:avLst/>
          </a:prstGeom>
          <a:noFill/>
        </p:spPr>
        <p:txBody>
          <a:bodyPr wrap="square" rtlCol="0">
            <a:spAutoFit/>
          </a:bodyPr>
          <a:lstStyle/>
          <a:p>
            <a:r>
              <a:rPr lang="en-US" altLang="zh-CN" dirty="0"/>
              <a:t>auto  </a:t>
            </a:r>
            <a:r>
              <a:rPr lang="zh-CN" altLang="en-US" dirty="0"/>
              <a:t>自动型变量 </a:t>
            </a:r>
            <a:r>
              <a:rPr lang="en-US" altLang="zh-CN" dirty="0"/>
              <a:t>-&gt; </a:t>
            </a:r>
            <a:r>
              <a:rPr lang="zh-CN" altLang="en-US" dirty="0"/>
              <a:t>最常用的，编写代码时不必写</a:t>
            </a:r>
            <a:endParaRPr lang="en-US" altLang="zh-CN" dirty="0"/>
          </a:p>
          <a:p>
            <a:endParaRPr lang="en-US" altLang="zh-CN" dirty="0"/>
          </a:p>
          <a:p>
            <a:r>
              <a:rPr lang="en-US" altLang="zh-CN" dirty="0"/>
              <a:t>register  </a:t>
            </a:r>
            <a:r>
              <a:rPr lang="zh-CN" altLang="en-US" dirty="0"/>
              <a:t>寄存型变量 </a:t>
            </a:r>
            <a:r>
              <a:rPr lang="en-US" altLang="zh-CN" dirty="0"/>
              <a:t>-&gt; </a:t>
            </a:r>
            <a:r>
              <a:rPr lang="zh-CN" altLang="en-US" dirty="0"/>
              <a:t>唯一考点：</a:t>
            </a:r>
            <a:r>
              <a:rPr lang="zh-CN" altLang="en-US" dirty="0">
                <a:highlight>
                  <a:srgbClr val="FFFF00"/>
                </a:highlight>
              </a:rPr>
              <a:t>该变量寄存在</a:t>
            </a:r>
            <a:r>
              <a:rPr lang="en-US" altLang="zh-CN" dirty="0">
                <a:highlight>
                  <a:srgbClr val="FFFF00"/>
                </a:highlight>
              </a:rPr>
              <a:t>CPU</a:t>
            </a:r>
            <a:r>
              <a:rPr lang="zh-CN" altLang="en-US" dirty="0">
                <a:highlight>
                  <a:srgbClr val="FFFF00"/>
                </a:highlight>
              </a:rPr>
              <a:t>中，没有内存地址，因此取地址无效</a:t>
            </a:r>
            <a:endParaRPr lang="en-US" altLang="zh-CN" dirty="0">
              <a:highlight>
                <a:srgbClr val="FFFF00"/>
              </a:highlight>
            </a:endParaRPr>
          </a:p>
          <a:p>
            <a:endParaRPr lang="en-US" altLang="zh-CN" dirty="0"/>
          </a:p>
          <a:p>
            <a:r>
              <a:rPr lang="en-US" altLang="zh-CN" dirty="0"/>
              <a:t>extern  </a:t>
            </a:r>
            <a:r>
              <a:rPr lang="zh-CN" altLang="en-US" dirty="0"/>
              <a:t>外部参照性变量 </a:t>
            </a:r>
            <a:r>
              <a:rPr lang="en-US" altLang="zh-CN" dirty="0"/>
              <a:t>-&gt; </a:t>
            </a:r>
            <a:r>
              <a:rPr lang="zh-CN" altLang="en-US" dirty="0"/>
              <a:t>变量定义应于本文件外找到，所有相关文件共用一个变量</a:t>
            </a:r>
          </a:p>
        </p:txBody>
      </p:sp>
      <p:pic>
        <p:nvPicPr>
          <p:cNvPr id="7" name="图片 6">
            <a:extLst>
              <a:ext uri="{FF2B5EF4-FFF2-40B4-BE49-F238E27FC236}">
                <a16:creationId xmlns:a16="http://schemas.microsoft.com/office/drawing/2014/main" id="{96C9A01E-A6F4-40BC-AC17-1AE3001C5509}"/>
              </a:ext>
            </a:extLst>
          </p:cNvPr>
          <p:cNvPicPr>
            <a:picLocks noChangeAspect="1"/>
          </p:cNvPicPr>
          <p:nvPr/>
        </p:nvPicPr>
        <p:blipFill>
          <a:blip r:embed="rId3"/>
          <a:stretch>
            <a:fillRect/>
          </a:stretch>
        </p:blipFill>
        <p:spPr>
          <a:xfrm>
            <a:off x="1471612" y="3551463"/>
            <a:ext cx="9248775" cy="2628900"/>
          </a:xfrm>
          <a:prstGeom prst="rect">
            <a:avLst/>
          </a:prstGeom>
        </p:spPr>
      </p:pic>
    </p:spTree>
    <p:extLst>
      <p:ext uri="{BB962C8B-B14F-4D97-AF65-F5344CB8AC3E}">
        <p14:creationId xmlns:p14="http://schemas.microsoft.com/office/powerpoint/2010/main" val="28434104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521207" y="448056"/>
            <a:ext cx="10552533" cy="640080"/>
          </a:xfrm>
        </p:spPr>
        <p:txBody>
          <a:bodyPr rtlCol="0">
            <a:noAutofit/>
          </a:bodyPr>
          <a:lstStyle/>
          <a:p>
            <a:pPr rtl="0"/>
            <a:r>
              <a:rPr lang="en-US" altLang="zh-CN" dirty="0">
                <a:cs typeface="Segoe UI Light" panose="020B0502040204020203" pitchFamily="34" charset="0"/>
              </a:rPr>
              <a:t>Chapter 4  </a:t>
            </a:r>
            <a:r>
              <a:rPr lang="zh-CN" altLang="en-US" dirty="0">
                <a:cs typeface="Segoe UI Light" panose="020B0502040204020203" pitchFamily="34" charset="0"/>
              </a:rPr>
              <a:t>函数</a:t>
            </a:r>
          </a:p>
        </p:txBody>
      </p:sp>
      <p:sp>
        <p:nvSpPr>
          <p:cNvPr id="5" name="文本框 4">
            <a:extLst>
              <a:ext uri="{FF2B5EF4-FFF2-40B4-BE49-F238E27FC236}">
                <a16:creationId xmlns:a16="http://schemas.microsoft.com/office/drawing/2014/main" id="{EF1498B8-D2A9-422D-95BE-F2C949916B8E}"/>
              </a:ext>
            </a:extLst>
          </p:cNvPr>
          <p:cNvSpPr txBox="1"/>
          <p:nvPr/>
        </p:nvSpPr>
        <p:spPr>
          <a:xfrm>
            <a:off x="611578" y="1413164"/>
            <a:ext cx="3621975" cy="369332"/>
          </a:xfrm>
          <a:prstGeom prst="rect">
            <a:avLst/>
          </a:prstGeom>
          <a:noFill/>
        </p:spPr>
        <p:txBody>
          <a:bodyPr wrap="square" rtlCol="0">
            <a:spAutoFit/>
          </a:bodyPr>
          <a:lstStyle/>
          <a:p>
            <a:r>
              <a:rPr lang="en-US" altLang="zh-CN" dirty="0"/>
              <a:t>Episode 4.1 </a:t>
            </a:r>
            <a:r>
              <a:rPr lang="zh-CN" altLang="en-US" dirty="0"/>
              <a:t>变量的存储类型</a:t>
            </a:r>
          </a:p>
        </p:txBody>
      </p:sp>
      <p:sp>
        <p:nvSpPr>
          <p:cNvPr id="6" name="文本框 5">
            <a:extLst>
              <a:ext uri="{FF2B5EF4-FFF2-40B4-BE49-F238E27FC236}">
                <a16:creationId xmlns:a16="http://schemas.microsoft.com/office/drawing/2014/main" id="{5FB73E9E-3559-49F9-8715-00C0BC7FEA10}"/>
              </a:ext>
            </a:extLst>
          </p:cNvPr>
          <p:cNvSpPr txBox="1"/>
          <p:nvPr/>
        </p:nvSpPr>
        <p:spPr>
          <a:xfrm>
            <a:off x="611578" y="1885991"/>
            <a:ext cx="9458697" cy="369332"/>
          </a:xfrm>
          <a:prstGeom prst="rect">
            <a:avLst/>
          </a:prstGeom>
          <a:noFill/>
        </p:spPr>
        <p:txBody>
          <a:bodyPr wrap="square" rtlCol="0">
            <a:spAutoFit/>
          </a:bodyPr>
          <a:lstStyle/>
          <a:p>
            <a:r>
              <a:rPr lang="en-US" altLang="zh-CN" dirty="0"/>
              <a:t>static  </a:t>
            </a:r>
            <a:r>
              <a:rPr lang="zh-CN" altLang="en-US" dirty="0">
                <a:solidFill>
                  <a:srgbClr val="FF0000"/>
                </a:solidFill>
              </a:rPr>
              <a:t>静态变量</a:t>
            </a:r>
            <a:r>
              <a:rPr lang="zh-CN" altLang="en-US" dirty="0"/>
              <a:t> </a:t>
            </a:r>
            <a:r>
              <a:rPr lang="en-US" altLang="zh-CN" dirty="0"/>
              <a:t>-&gt; </a:t>
            </a:r>
            <a:r>
              <a:rPr lang="zh-CN" altLang="en-US" dirty="0"/>
              <a:t>在程序结束前都不释放 </a:t>
            </a:r>
          </a:p>
        </p:txBody>
      </p:sp>
      <p:sp>
        <p:nvSpPr>
          <p:cNvPr id="2" name="文本框 1">
            <a:extLst>
              <a:ext uri="{FF2B5EF4-FFF2-40B4-BE49-F238E27FC236}">
                <a16:creationId xmlns:a16="http://schemas.microsoft.com/office/drawing/2014/main" id="{528FA888-7E5C-41E2-9A28-667C32B65F94}"/>
              </a:ext>
            </a:extLst>
          </p:cNvPr>
          <p:cNvSpPr txBox="1"/>
          <p:nvPr/>
        </p:nvSpPr>
        <p:spPr>
          <a:xfrm>
            <a:off x="611578" y="2480278"/>
            <a:ext cx="3087585" cy="584775"/>
          </a:xfrm>
          <a:prstGeom prst="rect">
            <a:avLst/>
          </a:prstGeom>
          <a:noFill/>
        </p:spPr>
        <p:txBody>
          <a:bodyPr wrap="square" rtlCol="0">
            <a:spAutoFit/>
          </a:bodyPr>
          <a:lstStyle/>
          <a:p>
            <a:r>
              <a:rPr lang="zh-CN" altLang="en-US" sz="1600" dirty="0"/>
              <a:t>情景</a:t>
            </a:r>
            <a:r>
              <a:rPr lang="en-US" altLang="zh-CN" sz="1600" dirty="0"/>
              <a:t>1</a:t>
            </a:r>
            <a:r>
              <a:rPr lang="zh-CN" altLang="en-US" sz="1600" dirty="0"/>
              <a:t>：定义在一个文件中的静态全局变量，外部不可访问</a:t>
            </a:r>
            <a:endParaRPr lang="en-US" altLang="zh-CN" sz="1600" dirty="0"/>
          </a:p>
        </p:txBody>
      </p:sp>
      <p:sp>
        <p:nvSpPr>
          <p:cNvPr id="3" name="文本框 2">
            <a:extLst>
              <a:ext uri="{FF2B5EF4-FFF2-40B4-BE49-F238E27FC236}">
                <a16:creationId xmlns:a16="http://schemas.microsoft.com/office/drawing/2014/main" id="{9877AF87-48BD-43C9-8F78-42A5D13C787F}"/>
              </a:ext>
            </a:extLst>
          </p:cNvPr>
          <p:cNvSpPr txBox="1"/>
          <p:nvPr/>
        </p:nvSpPr>
        <p:spPr>
          <a:xfrm>
            <a:off x="748145" y="3336966"/>
            <a:ext cx="2731325" cy="923330"/>
          </a:xfrm>
          <a:prstGeom prst="rect">
            <a:avLst/>
          </a:prstGeom>
          <a:noFill/>
        </p:spPr>
        <p:txBody>
          <a:bodyPr wrap="square" rtlCol="0">
            <a:spAutoFit/>
          </a:bodyPr>
          <a:lstStyle/>
          <a:p>
            <a:r>
              <a:rPr lang="en-US" altLang="zh-CN" dirty="0">
                <a:latin typeface="Cascadia Code SemiLight" panose="020B0609020000020004" pitchFamily="49" charset="0"/>
                <a:cs typeface="Cascadia Code SemiLight" panose="020B0609020000020004" pitchFamily="49" charset="0"/>
              </a:rPr>
              <a:t>#include &lt;</a:t>
            </a:r>
            <a:r>
              <a:rPr lang="en-US" altLang="zh-CN" dirty="0" err="1">
                <a:latin typeface="Cascadia Code SemiLight" panose="020B0609020000020004" pitchFamily="49" charset="0"/>
                <a:cs typeface="Cascadia Code SemiLight" panose="020B0609020000020004" pitchFamily="49" charset="0"/>
              </a:rPr>
              <a:t>stdio.h</a:t>
            </a:r>
            <a:r>
              <a:rPr lang="en-US" altLang="zh-CN" dirty="0">
                <a:latin typeface="Cascadia Code SemiLight" panose="020B0609020000020004" pitchFamily="49" charset="0"/>
                <a:cs typeface="Cascadia Code SemiLight" panose="020B0609020000020004" pitchFamily="49" charset="0"/>
              </a:rPr>
              <a:t>&gt;</a:t>
            </a:r>
          </a:p>
          <a:p>
            <a:r>
              <a:rPr lang="en-US" altLang="zh-CN" dirty="0">
                <a:latin typeface="Cascadia Code SemiLight" panose="020B0609020000020004" pitchFamily="49" charset="0"/>
                <a:cs typeface="Cascadia Code SemiLight" panose="020B0609020000020004" pitchFamily="49" charset="0"/>
              </a:rPr>
              <a:t>static int a = 10;</a:t>
            </a:r>
          </a:p>
          <a:p>
            <a:r>
              <a:rPr lang="en-US" altLang="zh-CN" dirty="0">
                <a:latin typeface="Cascadia Code SemiLight" panose="020B0609020000020004" pitchFamily="49" charset="0"/>
                <a:cs typeface="Cascadia Code SemiLight" panose="020B0609020000020004" pitchFamily="49" charset="0"/>
              </a:rPr>
              <a:t>…</a:t>
            </a:r>
            <a:endParaRPr lang="zh-CN" altLang="en-US" dirty="0">
              <a:latin typeface="Cascadia Code SemiLight" panose="020B0609020000020004" pitchFamily="49" charset="0"/>
              <a:cs typeface="Cascadia Code SemiLight" panose="020B0609020000020004" pitchFamily="49" charset="0"/>
            </a:endParaRPr>
          </a:p>
        </p:txBody>
      </p:sp>
      <p:sp>
        <p:nvSpPr>
          <p:cNvPr id="9" name="文本框 8">
            <a:extLst>
              <a:ext uri="{FF2B5EF4-FFF2-40B4-BE49-F238E27FC236}">
                <a16:creationId xmlns:a16="http://schemas.microsoft.com/office/drawing/2014/main" id="{9670699D-BB24-4ADA-8197-999E4856276B}"/>
              </a:ext>
            </a:extLst>
          </p:cNvPr>
          <p:cNvSpPr txBox="1"/>
          <p:nvPr/>
        </p:nvSpPr>
        <p:spPr>
          <a:xfrm>
            <a:off x="611577" y="5412265"/>
            <a:ext cx="3087585" cy="830997"/>
          </a:xfrm>
          <a:prstGeom prst="rect">
            <a:avLst/>
          </a:prstGeom>
          <a:noFill/>
        </p:spPr>
        <p:txBody>
          <a:bodyPr wrap="square" rtlCol="0">
            <a:spAutoFit/>
          </a:bodyPr>
          <a:lstStyle/>
          <a:p>
            <a:r>
              <a:rPr lang="zh-CN" altLang="en-US" sz="1600" dirty="0"/>
              <a:t>将整个文件的内容都会使用的量储存为静态全局变量，方便使用的同时避免污染其他文件</a:t>
            </a:r>
            <a:endParaRPr lang="en-US" altLang="zh-CN" sz="1600" dirty="0"/>
          </a:p>
        </p:txBody>
      </p:sp>
      <p:sp>
        <p:nvSpPr>
          <p:cNvPr id="10" name="文本框 9">
            <a:extLst>
              <a:ext uri="{FF2B5EF4-FFF2-40B4-BE49-F238E27FC236}">
                <a16:creationId xmlns:a16="http://schemas.microsoft.com/office/drawing/2014/main" id="{8B20013B-7030-49D0-A64E-F12FFCD48FDC}"/>
              </a:ext>
            </a:extLst>
          </p:cNvPr>
          <p:cNvSpPr txBox="1"/>
          <p:nvPr/>
        </p:nvSpPr>
        <p:spPr>
          <a:xfrm>
            <a:off x="4403765" y="2480278"/>
            <a:ext cx="3087585" cy="584775"/>
          </a:xfrm>
          <a:prstGeom prst="rect">
            <a:avLst/>
          </a:prstGeom>
          <a:noFill/>
        </p:spPr>
        <p:txBody>
          <a:bodyPr wrap="square" rtlCol="0">
            <a:spAutoFit/>
          </a:bodyPr>
          <a:lstStyle/>
          <a:p>
            <a:r>
              <a:rPr lang="zh-CN" altLang="en-US" sz="1600" dirty="0"/>
              <a:t>情景</a:t>
            </a:r>
            <a:r>
              <a:rPr lang="en-US" altLang="zh-CN" sz="1600" dirty="0"/>
              <a:t>2</a:t>
            </a:r>
            <a:r>
              <a:rPr lang="zh-CN" altLang="en-US" sz="1600" dirty="0"/>
              <a:t>：定义在函数中，让函数“记住”该量</a:t>
            </a:r>
            <a:endParaRPr lang="en-US" altLang="zh-CN" sz="1600" dirty="0"/>
          </a:p>
        </p:txBody>
      </p:sp>
      <p:sp>
        <p:nvSpPr>
          <p:cNvPr id="11" name="文本框 10">
            <a:extLst>
              <a:ext uri="{FF2B5EF4-FFF2-40B4-BE49-F238E27FC236}">
                <a16:creationId xmlns:a16="http://schemas.microsoft.com/office/drawing/2014/main" id="{EF7AB810-0D8B-459D-934E-78CE825DE5CC}"/>
              </a:ext>
            </a:extLst>
          </p:cNvPr>
          <p:cNvSpPr txBox="1"/>
          <p:nvPr/>
        </p:nvSpPr>
        <p:spPr>
          <a:xfrm>
            <a:off x="4403765" y="5412265"/>
            <a:ext cx="3087585" cy="830997"/>
          </a:xfrm>
          <a:prstGeom prst="rect">
            <a:avLst/>
          </a:prstGeom>
          <a:noFill/>
        </p:spPr>
        <p:txBody>
          <a:bodyPr wrap="square" rtlCol="0">
            <a:spAutoFit/>
          </a:bodyPr>
          <a:lstStyle/>
          <a:p>
            <a:r>
              <a:rPr lang="zh-CN" altLang="en-US" sz="1600" dirty="0"/>
              <a:t>函数调用结束后该量不会被释放，下次调用时可使用上次调用结束后的结果</a:t>
            </a:r>
            <a:endParaRPr lang="en-US" altLang="zh-CN" sz="1600" dirty="0"/>
          </a:p>
        </p:txBody>
      </p:sp>
      <p:pic>
        <p:nvPicPr>
          <p:cNvPr id="12" name="图片 11">
            <a:extLst>
              <a:ext uri="{FF2B5EF4-FFF2-40B4-BE49-F238E27FC236}">
                <a16:creationId xmlns:a16="http://schemas.microsoft.com/office/drawing/2014/main" id="{2A950546-84E3-46E5-988A-D09869563B53}"/>
              </a:ext>
            </a:extLst>
          </p:cNvPr>
          <p:cNvPicPr>
            <a:picLocks noChangeAspect="1"/>
          </p:cNvPicPr>
          <p:nvPr/>
        </p:nvPicPr>
        <p:blipFill>
          <a:blip r:embed="rId3"/>
          <a:stretch>
            <a:fillRect/>
          </a:stretch>
        </p:blipFill>
        <p:spPr>
          <a:xfrm>
            <a:off x="4477835" y="3230631"/>
            <a:ext cx="2939443" cy="1923803"/>
          </a:xfrm>
          <a:prstGeom prst="rect">
            <a:avLst/>
          </a:prstGeom>
        </p:spPr>
      </p:pic>
      <p:sp>
        <p:nvSpPr>
          <p:cNvPr id="13" name="文本框 12">
            <a:extLst>
              <a:ext uri="{FF2B5EF4-FFF2-40B4-BE49-F238E27FC236}">
                <a16:creationId xmlns:a16="http://schemas.microsoft.com/office/drawing/2014/main" id="{F3780E9E-8B9C-425B-92EF-48E037E487C2}"/>
              </a:ext>
            </a:extLst>
          </p:cNvPr>
          <p:cNvSpPr txBox="1"/>
          <p:nvPr/>
        </p:nvSpPr>
        <p:spPr>
          <a:xfrm>
            <a:off x="8195952" y="2468403"/>
            <a:ext cx="3087585" cy="584775"/>
          </a:xfrm>
          <a:prstGeom prst="rect">
            <a:avLst/>
          </a:prstGeom>
          <a:noFill/>
        </p:spPr>
        <p:txBody>
          <a:bodyPr wrap="square" rtlCol="0">
            <a:spAutoFit/>
          </a:bodyPr>
          <a:lstStyle/>
          <a:p>
            <a:r>
              <a:rPr lang="zh-CN" altLang="en-US" sz="1600" dirty="0"/>
              <a:t>情景</a:t>
            </a:r>
            <a:r>
              <a:rPr lang="en-US" altLang="zh-CN" sz="1600" dirty="0"/>
              <a:t>3</a:t>
            </a:r>
            <a:r>
              <a:rPr lang="zh-CN" altLang="en-US" sz="1600" dirty="0"/>
              <a:t>：定义函数类型，使外部文件不可用</a:t>
            </a:r>
            <a:endParaRPr lang="en-US" altLang="zh-CN" sz="1600" dirty="0"/>
          </a:p>
        </p:txBody>
      </p:sp>
      <p:sp>
        <p:nvSpPr>
          <p:cNvPr id="14" name="文本框 13">
            <a:extLst>
              <a:ext uri="{FF2B5EF4-FFF2-40B4-BE49-F238E27FC236}">
                <a16:creationId xmlns:a16="http://schemas.microsoft.com/office/drawing/2014/main" id="{B8D18EED-6698-4577-A301-FC911C63BB68}"/>
              </a:ext>
            </a:extLst>
          </p:cNvPr>
          <p:cNvSpPr txBox="1"/>
          <p:nvPr/>
        </p:nvSpPr>
        <p:spPr>
          <a:xfrm>
            <a:off x="8195951" y="5412265"/>
            <a:ext cx="3087585" cy="1323439"/>
          </a:xfrm>
          <a:prstGeom prst="rect">
            <a:avLst/>
          </a:prstGeom>
          <a:noFill/>
        </p:spPr>
        <p:txBody>
          <a:bodyPr wrap="square" rtlCol="0">
            <a:spAutoFit/>
          </a:bodyPr>
          <a:lstStyle/>
          <a:p>
            <a:r>
              <a:rPr lang="zh-CN" altLang="en-US" sz="1600" dirty="0"/>
              <a:t>类似情景</a:t>
            </a:r>
            <a:r>
              <a:rPr lang="en-US" altLang="zh-CN" sz="1600" dirty="0"/>
              <a:t>1</a:t>
            </a:r>
          </a:p>
          <a:p>
            <a:r>
              <a:rPr lang="zh-CN" altLang="en-US" sz="1600" dirty="0"/>
              <a:t>自</a:t>
            </a:r>
            <a:r>
              <a:rPr lang="en-US" altLang="zh-CN" sz="1600" dirty="0"/>
              <a:t>C99</a:t>
            </a:r>
            <a:r>
              <a:rPr lang="zh-CN" altLang="en-US" sz="1600" dirty="0"/>
              <a:t>标准后，新增了</a:t>
            </a:r>
            <a:r>
              <a:rPr lang="en-US" altLang="zh-CN" sz="1600" dirty="0"/>
              <a:t>inline</a:t>
            </a:r>
            <a:r>
              <a:rPr lang="zh-CN" altLang="en-US" sz="1600" dirty="0"/>
              <a:t>关键字，</a:t>
            </a:r>
            <a:r>
              <a:rPr lang="en-US" altLang="zh-CN" sz="1600" dirty="0"/>
              <a:t>static</a:t>
            </a:r>
            <a:r>
              <a:rPr lang="zh-CN" altLang="en-US" sz="1600" dirty="0"/>
              <a:t>的作用是将</a:t>
            </a:r>
            <a:r>
              <a:rPr lang="en-US" altLang="zh-CN" sz="1600" dirty="0"/>
              <a:t>extern</a:t>
            </a:r>
            <a:r>
              <a:rPr lang="zh-CN" altLang="en-US" sz="1600" dirty="0"/>
              <a:t>转为</a:t>
            </a:r>
            <a:r>
              <a:rPr lang="en-US" altLang="zh-CN" sz="1600" dirty="0"/>
              <a:t>inline</a:t>
            </a:r>
            <a:r>
              <a:rPr lang="zh-CN" altLang="en-US" sz="1600" dirty="0"/>
              <a:t>（简单理解为可以牺牲作用域提升性能）</a:t>
            </a:r>
            <a:endParaRPr lang="en-US" altLang="zh-CN" sz="1600" dirty="0"/>
          </a:p>
        </p:txBody>
      </p:sp>
      <p:sp>
        <p:nvSpPr>
          <p:cNvPr id="15" name="文本框 14">
            <a:extLst>
              <a:ext uri="{FF2B5EF4-FFF2-40B4-BE49-F238E27FC236}">
                <a16:creationId xmlns:a16="http://schemas.microsoft.com/office/drawing/2014/main" id="{BC25776F-D37C-4957-9387-FAE84E57A9FF}"/>
              </a:ext>
            </a:extLst>
          </p:cNvPr>
          <p:cNvSpPr txBox="1"/>
          <p:nvPr/>
        </p:nvSpPr>
        <p:spPr>
          <a:xfrm>
            <a:off x="8374080" y="3510115"/>
            <a:ext cx="2731325" cy="646331"/>
          </a:xfrm>
          <a:prstGeom prst="rect">
            <a:avLst/>
          </a:prstGeom>
          <a:noFill/>
        </p:spPr>
        <p:txBody>
          <a:bodyPr wrap="square" rtlCol="0">
            <a:spAutoFit/>
          </a:bodyPr>
          <a:lstStyle/>
          <a:p>
            <a:r>
              <a:rPr lang="en-US" altLang="zh-CN" dirty="0">
                <a:latin typeface="Cascadia Code SemiLight" panose="020B0609020000020004" pitchFamily="49" charset="0"/>
                <a:cs typeface="Cascadia Code SemiLight" panose="020B0609020000020004" pitchFamily="49" charset="0"/>
              </a:rPr>
              <a:t>#include &lt;</a:t>
            </a:r>
            <a:r>
              <a:rPr lang="en-US" altLang="zh-CN" dirty="0" err="1">
                <a:latin typeface="Cascadia Code SemiLight" panose="020B0609020000020004" pitchFamily="49" charset="0"/>
                <a:cs typeface="Cascadia Code SemiLight" panose="020B0609020000020004" pitchFamily="49" charset="0"/>
              </a:rPr>
              <a:t>stdio.h</a:t>
            </a:r>
            <a:r>
              <a:rPr lang="en-US" altLang="zh-CN" dirty="0">
                <a:latin typeface="Cascadia Code SemiLight" panose="020B0609020000020004" pitchFamily="49" charset="0"/>
                <a:cs typeface="Cascadia Code SemiLight" panose="020B0609020000020004" pitchFamily="49" charset="0"/>
              </a:rPr>
              <a:t>&gt;</a:t>
            </a:r>
          </a:p>
          <a:p>
            <a:r>
              <a:rPr lang="en-US" altLang="zh-CN" dirty="0">
                <a:latin typeface="Cascadia Code SemiLight" panose="020B0609020000020004" pitchFamily="49" charset="0"/>
                <a:cs typeface="Cascadia Code SemiLight" panose="020B0609020000020004" pitchFamily="49" charset="0"/>
              </a:rPr>
              <a:t>static int </a:t>
            </a:r>
            <a:r>
              <a:rPr lang="en-US" altLang="zh-CN" dirty="0" err="1">
                <a:latin typeface="Cascadia Code SemiLight" panose="020B0609020000020004" pitchFamily="49" charset="0"/>
                <a:cs typeface="Cascadia Code SemiLight" panose="020B0609020000020004" pitchFamily="49" charset="0"/>
              </a:rPr>
              <a:t>func</a:t>
            </a:r>
            <a:r>
              <a:rPr lang="en-US" altLang="zh-CN" dirty="0">
                <a:latin typeface="Cascadia Code SemiLight" panose="020B0609020000020004" pitchFamily="49" charset="0"/>
                <a:cs typeface="Cascadia Code SemiLight" panose="020B0609020000020004" pitchFamily="49" charset="0"/>
              </a:rPr>
              <a:t>(…);</a:t>
            </a:r>
            <a:endParaRPr lang="zh-CN" altLang="en-US" dirty="0">
              <a:latin typeface="Cascadia Code SemiLight" panose="020B0609020000020004" pitchFamily="49" charset="0"/>
              <a:cs typeface="Cascadia Code SemiLight" panose="020B0609020000020004" pitchFamily="49" charset="0"/>
            </a:endParaRPr>
          </a:p>
        </p:txBody>
      </p:sp>
    </p:spTree>
    <p:extLst>
      <p:ext uri="{BB962C8B-B14F-4D97-AF65-F5344CB8AC3E}">
        <p14:creationId xmlns:p14="http://schemas.microsoft.com/office/powerpoint/2010/main" val="17493844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521207" y="448056"/>
            <a:ext cx="10552533" cy="640080"/>
          </a:xfrm>
        </p:spPr>
        <p:txBody>
          <a:bodyPr rtlCol="0">
            <a:noAutofit/>
          </a:bodyPr>
          <a:lstStyle/>
          <a:p>
            <a:pPr rtl="0"/>
            <a:r>
              <a:rPr lang="en-US" altLang="zh-CN" dirty="0">
                <a:cs typeface="Segoe UI Light" panose="020B0502040204020203" pitchFamily="34" charset="0"/>
              </a:rPr>
              <a:t>Chapter 4  </a:t>
            </a:r>
            <a:r>
              <a:rPr lang="zh-CN" altLang="en-US" dirty="0">
                <a:cs typeface="Segoe UI Light" panose="020B0502040204020203" pitchFamily="34" charset="0"/>
              </a:rPr>
              <a:t>函数</a:t>
            </a:r>
          </a:p>
        </p:txBody>
      </p:sp>
      <p:sp>
        <p:nvSpPr>
          <p:cNvPr id="2" name="文本框 1">
            <a:extLst>
              <a:ext uri="{FF2B5EF4-FFF2-40B4-BE49-F238E27FC236}">
                <a16:creationId xmlns:a16="http://schemas.microsoft.com/office/drawing/2014/main" id="{278E70F4-2A89-46EF-8FA4-B65F4871C040}"/>
              </a:ext>
            </a:extLst>
          </p:cNvPr>
          <p:cNvSpPr txBox="1"/>
          <p:nvPr/>
        </p:nvSpPr>
        <p:spPr>
          <a:xfrm>
            <a:off x="611578" y="1413164"/>
            <a:ext cx="3621975" cy="369332"/>
          </a:xfrm>
          <a:prstGeom prst="rect">
            <a:avLst/>
          </a:prstGeom>
          <a:noFill/>
        </p:spPr>
        <p:txBody>
          <a:bodyPr wrap="square" rtlCol="0">
            <a:spAutoFit/>
          </a:bodyPr>
          <a:lstStyle/>
          <a:p>
            <a:r>
              <a:rPr lang="en-US" altLang="zh-CN" dirty="0"/>
              <a:t>4.4  </a:t>
            </a:r>
            <a:r>
              <a:rPr lang="zh-CN" altLang="en-US" dirty="0"/>
              <a:t>递归函数</a:t>
            </a:r>
          </a:p>
        </p:txBody>
      </p:sp>
      <p:sp>
        <p:nvSpPr>
          <p:cNvPr id="5" name="文本框 4">
            <a:extLst>
              <a:ext uri="{FF2B5EF4-FFF2-40B4-BE49-F238E27FC236}">
                <a16:creationId xmlns:a16="http://schemas.microsoft.com/office/drawing/2014/main" id="{ECA6AF00-0642-4C37-92C6-E801DAE8A115}"/>
              </a:ext>
            </a:extLst>
          </p:cNvPr>
          <p:cNvSpPr txBox="1"/>
          <p:nvPr/>
        </p:nvSpPr>
        <p:spPr>
          <a:xfrm>
            <a:off x="611578" y="1885991"/>
            <a:ext cx="9458697" cy="369332"/>
          </a:xfrm>
          <a:prstGeom prst="rect">
            <a:avLst/>
          </a:prstGeom>
          <a:noFill/>
        </p:spPr>
        <p:txBody>
          <a:bodyPr wrap="square" rtlCol="0">
            <a:spAutoFit/>
          </a:bodyPr>
          <a:lstStyle/>
          <a:p>
            <a:r>
              <a:rPr lang="zh-CN" altLang="en-US" dirty="0"/>
              <a:t>递归函数成为自调用函数，它的特点是，在函数内部直接或间接地自己调用自己。</a:t>
            </a:r>
          </a:p>
        </p:txBody>
      </p:sp>
      <p:sp>
        <p:nvSpPr>
          <p:cNvPr id="3" name="文本框 2">
            <a:extLst>
              <a:ext uri="{FF2B5EF4-FFF2-40B4-BE49-F238E27FC236}">
                <a16:creationId xmlns:a16="http://schemas.microsoft.com/office/drawing/2014/main" id="{1C3E4266-ED55-4133-9719-6EF81F66D61F}"/>
              </a:ext>
            </a:extLst>
          </p:cNvPr>
          <p:cNvSpPr txBox="1"/>
          <p:nvPr/>
        </p:nvSpPr>
        <p:spPr>
          <a:xfrm>
            <a:off x="611579" y="2255323"/>
            <a:ext cx="3994928" cy="2862322"/>
          </a:xfrm>
          <a:prstGeom prst="rect">
            <a:avLst/>
          </a:prstGeom>
          <a:noFill/>
        </p:spPr>
        <p:txBody>
          <a:bodyPr wrap="square" rtlCol="0">
            <a:spAutoFit/>
          </a:bodyPr>
          <a:lstStyle/>
          <a:p>
            <a:r>
              <a:rPr lang="en-US" altLang="zh-CN" dirty="0">
                <a:latin typeface="Cascadia Code SemiLight" panose="020B0609020000020004" pitchFamily="49" charset="0"/>
                <a:cs typeface="Cascadia Code SemiLight" panose="020B0609020000020004" pitchFamily="49" charset="0"/>
              </a:rPr>
              <a:t>#include &lt;</a:t>
            </a:r>
            <a:r>
              <a:rPr lang="en-US" altLang="zh-CN" dirty="0" err="1">
                <a:latin typeface="Cascadia Code SemiLight" panose="020B0609020000020004" pitchFamily="49" charset="0"/>
                <a:cs typeface="Cascadia Code SemiLight" panose="020B0609020000020004" pitchFamily="49" charset="0"/>
              </a:rPr>
              <a:t>stdio.h</a:t>
            </a:r>
            <a:r>
              <a:rPr lang="en-US" altLang="zh-CN" dirty="0">
                <a:latin typeface="Cascadia Code SemiLight" panose="020B0609020000020004" pitchFamily="49" charset="0"/>
                <a:cs typeface="Cascadia Code SemiLight" panose="020B0609020000020004" pitchFamily="49" charset="0"/>
              </a:rPr>
              <a:t>&gt;</a:t>
            </a:r>
          </a:p>
          <a:p>
            <a:r>
              <a:rPr lang="en-US" altLang="zh-CN" dirty="0">
                <a:latin typeface="Cascadia Code SemiLight" panose="020B0609020000020004" pitchFamily="49" charset="0"/>
                <a:cs typeface="Cascadia Code SemiLight" panose="020B0609020000020004" pitchFamily="49" charset="0"/>
              </a:rPr>
              <a:t>int facto(int x)</a:t>
            </a:r>
            <a:r>
              <a:rPr lang="zh-CN" altLang="en-US" dirty="0">
                <a:latin typeface="Cascadia Code SemiLight" panose="020B0609020000020004" pitchFamily="49" charset="0"/>
                <a:cs typeface="Cascadia Code SemiLight" panose="020B0609020000020004" pitchFamily="49" charset="0"/>
              </a:rPr>
              <a:t> </a:t>
            </a:r>
            <a:r>
              <a:rPr lang="en-US" altLang="zh-CN" dirty="0">
                <a:latin typeface="Cascadia Code SemiLight" panose="020B0609020000020004" pitchFamily="49" charset="0"/>
                <a:cs typeface="Cascadia Code SemiLight" panose="020B0609020000020004" pitchFamily="49" charset="0"/>
              </a:rPr>
              <a:t>{</a:t>
            </a:r>
          </a:p>
          <a:p>
            <a:r>
              <a:rPr lang="en-US" altLang="zh-CN" dirty="0">
                <a:latin typeface="Cascadia Code SemiLight" panose="020B0609020000020004" pitchFamily="49" charset="0"/>
                <a:cs typeface="Cascadia Code SemiLight" panose="020B0609020000020004" pitchFamily="49" charset="0"/>
              </a:rPr>
              <a:t>    if (x == 1 || x == 0) </a:t>
            </a:r>
          </a:p>
          <a:p>
            <a:r>
              <a:rPr lang="en-US" altLang="zh-CN" dirty="0">
                <a:latin typeface="Cascadia Code SemiLight" panose="020B0609020000020004" pitchFamily="49" charset="0"/>
                <a:cs typeface="Cascadia Code SemiLight" panose="020B0609020000020004" pitchFamily="49" charset="0"/>
              </a:rPr>
              <a:t>        return 1;</a:t>
            </a:r>
          </a:p>
          <a:p>
            <a:r>
              <a:rPr lang="en-US" altLang="zh-CN" dirty="0">
                <a:latin typeface="Cascadia Code SemiLight" panose="020B0609020000020004" pitchFamily="49" charset="0"/>
                <a:cs typeface="Cascadia Code SemiLight" panose="020B0609020000020004" pitchFamily="49" charset="0"/>
              </a:rPr>
              <a:t>    else </a:t>
            </a:r>
          </a:p>
          <a:p>
            <a:r>
              <a:rPr lang="en-US" altLang="zh-CN" dirty="0">
                <a:latin typeface="Cascadia Code SemiLight" panose="020B0609020000020004" pitchFamily="49" charset="0"/>
                <a:cs typeface="Cascadia Code SemiLight" panose="020B0609020000020004" pitchFamily="49" charset="0"/>
              </a:rPr>
              <a:t>        return x*</a:t>
            </a:r>
            <a:r>
              <a:rPr lang="en-US" altLang="zh-CN" dirty="0">
                <a:highlight>
                  <a:srgbClr val="FFFF00"/>
                </a:highlight>
                <a:latin typeface="Cascadia Code SemiLight" panose="020B0609020000020004" pitchFamily="49" charset="0"/>
                <a:cs typeface="Cascadia Code SemiLight" panose="020B0609020000020004" pitchFamily="49" charset="0"/>
              </a:rPr>
              <a:t>facto(x-1)</a:t>
            </a:r>
            <a:r>
              <a:rPr lang="en-US" altLang="zh-CN" dirty="0">
                <a:latin typeface="Cascadia Code SemiLight" panose="020B0609020000020004" pitchFamily="49" charset="0"/>
                <a:cs typeface="Cascadia Code SemiLight" panose="020B0609020000020004" pitchFamily="49" charset="0"/>
              </a:rPr>
              <a:t>;</a:t>
            </a:r>
          </a:p>
          <a:p>
            <a:r>
              <a:rPr lang="en-US" altLang="zh-CN" dirty="0">
                <a:latin typeface="Cascadia Code SemiLight" panose="020B0609020000020004" pitchFamily="49" charset="0"/>
                <a:cs typeface="Cascadia Code SemiLight" panose="020B0609020000020004" pitchFamily="49" charset="0"/>
              </a:rPr>
              <a:t>}</a:t>
            </a:r>
          </a:p>
          <a:p>
            <a:r>
              <a:rPr lang="en-US" altLang="zh-CN" dirty="0">
                <a:latin typeface="Cascadia Code SemiLight" panose="020B0609020000020004" pitchFamily="49" charset="0"/>
                <a:cs typeface="Cascadia Code SemiLight" panose="020B0609020000020004" pitchFamily="49" charset="0"/>
              </a:rPr>
              <a:t>int main() {</a:t>
            </a:r>
          </a:p>
          <a:p>
            <a:r>
              <a:rPr lang="en-US" altLang="zh-CN" dirty="0">
                <a:latin typeface="Cascadia Code SemiLight" panose="020B0609020000020004" pitchFamily="49" charset="0"/>
                <a:cs typeface="Cascadia Code SemiLight" panose="020B0609020000020004" pitchFamily="49" charset="0"/>
              </a:rPr>
              <a:t>    </a:t>
            </a:r>
            <a:r>
              <a:rPr lang="en-US" altLang="zh-CN" dirty="0" err="1">
                <a:latin typeface="Cascadia Code SemiLight" panose="020B0609020000020004" pitchFamily="49" charset="0"/>
                <a:cs typeface="Cascadia Code SemiLight" panose="020B0609020000020004" pitchFamily="49" charset="0"/>
              </a:rPr>
              <a:t>printf</a:t>
            </a:r>
            <a:r>
              <a:rPr lang="en-US" altLang="zh-CN" dirty="0">
                <a:latin typeface="Cascadia Code SemiLight" panose="020B0609020000020004" pitchFamily="49" charset="0"/>
                <a:cs typeface="Cascadia Code SemiLight" panose="020B0609020000020004" pitchFamily="49" charset="0"/>
              </a:rPr>
              <a:t>(“%d”, facto(5));</a:t>
            </a:r>
          </a:p>
          <a:p>
            <a:r>
              <a:rPr lang="en-US" altLang="zh-CN" dirty="0">
                <a:latin typeface="Cascadia Code SemiLight" panose="020B0609020000020004" pitchFamily="49" charset="0"/>
                <a:cs typeface="Cascadia Code SemiLight" panose="020B0609020000020004" pitchFamily="49" charset="0"/>
              </a:rPr>
              <a:t>}</a:t>
            </a:r>
          </a:p>
        </p:txBody>
      </p:sp>
      <p:sp>
        <p:nvSpPr>
          <p:cNvPr id="9" name="文本框 8">
            <a:extLst>
              <a:ext uri="{FF2B5EF4-FFF2-40B4-BE49-F238E27FC236}">
                <a16:creationId xmlns:a16="http://schemas.microsoft.com/office/drawing/2014/main" id="{95E10589-C97D-483B-8CB0-506F8E5F3261}"/>
              </a:ext>
            </a:extLst>
          </p:cNvPr>
          <p:cNvSpPr txBox="1"/>
          <p:nvPr/>
        </p:nvSpPr>
        <p:spPr>
          <a:xfrm>
            <a:off x="617516" y="5713804"/>
            <a:ext cx="1429820" cy="369332"/>
          </a:xfrm>
          <a:prstGeom prst="rect">
            <a:avLst/>
          </a:prstGeom>
          <a:noFill/>
        </p:spPr>
        <p:txBody>
          <a:bodyPr wrap="square" rtlCol="0">
            <a:spAutoFit/>
          </a:bodyPr>
          <a:lstStyle/>
          <a:p>
            <a:r>
              <a:rPr lang="zh-CN" altLang="en-US" dirty="0"/>
              <a:t>输出：</a:t>
            </a:r>
            <a:r>
              <a:rPr lang="en-US" altLang="zh-CN" dirty="0"/>
              <a:t>120</a:t>
            </a:r>
            <a:endParaRPr lang="zh-CN" altLang="en-US" dirty="0"/>
          </a:p>
        </p:txBody>
      </p:sp>
      <p:sp>
        <p:nvSpPr>
          <p:cNvPr id="4" name="矩形 3">
            <a:extLst>
              <a:ext uri="{FF2B5EF4-FFF2-40B4-BE49-F238E27FC236}">
                <a16:creationId xmlns:a16="http://schemas.microsoft.com/office/drawing/2014/main" id="{05E3DD3D-C469-461F-9B6E-D9C441AB7FEA}"/>
              </a:ext>
            </a:extLst>
          </p:cNvPr>
          <p:cNvSpPr/>
          <p:nvPr/>
        </p:nvSpPr>
        <p:spPr>
          <a:xfrm>
            <a:off x="5526657" y="2599426"/>
            <a:ext cx="1909313"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facto(5)</a:t>
            </a:r>
            <a:endParaRPr lang="zh-CN" altLang="en-US" dirty="0"/>
          </a:p>
        </p:txBody>
      </p:sp>
      <p:cxnSp>
        <p:nvCxnSpPr>
          <p:cNvPr id="7" name="直接箭头连接符 6">
            <a:extLst>
              <a:ext uri="{FF2B5EF4-FFF2-40B4-BE49-F238E27FC236}">
                <a16:creationId xmlns:a16="http://schemas.microsoft.com/office/drawing/2014/main" id="{3D4336DB-6712-4587-A65A-F989D37411AA}"/>
              </a:ext>
            </a:extLst>
          </p:cNvPr>
          <p:cNvCxnSpPr>
            <a:cxnSpLocks/>
            <a:endCxn id="11" idx="0"/>
          </p:cNvCxnSpPr>
          <p:nvPr/>
        </p:nvCxnSpPr>
        <p:spPr>
          <a:xfrm>
            <a:off x="6481313" y="2968758"/>
            <a:ext cx="1" cy="711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矩形 10">
            <a:extLst>
              <a:ext uri="{FF2B5EF4-FFF2-40B4-BE49-F238E27FC236}">
                <a16:creationId xmlns:a16="http://schemas.microsoft.com/office/drawing/2014/main" id="{B483E32D-F15C-4617-92E6-93D73C325095}"/>
              </a:ext>
            </a:extLst>
          </p:cNvPr>
          <p:cNvSpPr/>
          <p:nvPr/>
        </p:nvSpPr>
        <p:spPr>
          <a:xfrm>
            <a:off x="5526657" y="3680558"/>
            <a:ext cx="1909313"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facto(4)</a:t>
            </a:r>
            <a:endParaRPr lang="zh-CN" altLang="en-US" dirty="0"/>
          </a:p>
        </p:txBody>
      </p:sp>
      <p:cxnSp>
        <p:nvCxnSpPr>
          <p:cNvPr id="13" name="直接箭头连接符 12">
            <a:extLst>
              <a:ext uri="{FF2B5EF4-FFF2-40B4-BE49-F238E27FC236}">
                <a16:creationId xmlns:a16="http://schemas.microsoft.com/office/drawing/2014/main" id="{EC61CFCD-E664-4ABA-B4F3-9B341B6E6311}"/>
              </a:ext>
            </a:extLst>
          </p:cNvPr>
          <p:cNvCxnSpPr>
            <a:cxnSpLocks/>
          </p:cNvCxnSpPr>
          <p:nvPr/>
        </p:nvCxnSpPr>
        <p:spPr>
          <a:xfrm>
            <a:off x="6481313" y="4049890"/>
            <a:ext cx="1" cy="711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4FB8D7BC-8B37-4A04-BE23-AB2958F6C45E}"/>
              </a:ext>
            </a:extLst>
          </p:cNvPr>
          <p:cNvSpPr/>
          <p:nvPr/>
        </p:nvSpPr>
        <p:spPr>
          <a:xfrm>
            <a:off x="5526656" y="4761690"/>
            <a:ext cx="1909313"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facto(3)</a:t>
            </a:r>
            <a:endParaRPr lang="zh-CN" altLang="en-US" dirty="0"/>
          </a:p>
        </p:txBody>
      </p:sp>
      <p:cxnSp>
        <p:nvCxnSpPr>
          <p:cNvPr id="15" name="直接箭头连接符 14">
            <a:extLst>
              <a:ext uri="{FF2B5EF4-FFF2-40B4-BE49-F238E27FC236}">
                <a16:creationId xmlns:a16="http://schemas.microsoft.com/office/drawing/2014/main" id="{B4DDC6AC-FBAE-4C64-A610-2B738C9A6DE2}"/>
              </a:ext>
            </a:extLst>
          </p:cNvPr>
          <p:cNvCxnSpPr>
            <a:cxnSpLocks/>
            <a:endCxn id="16" idx="0"/>
          </p:cNvCxnSpPr>
          <p:nvPr/>
        </p:nvCxnSpPr>
        <p:spPr>
          <a:xfrm>
            <a:off x="6481312" y="5131022"/>
            <a:ext cx="1" cy="711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矩形 15">
            <a:extLst>
              <a:ext uri="{FF2B5EF4-FFF2-40B4-BE49-F238E27FC236}">
                <a16:creationId xmlns:a16="http://schemas.microsoft.com/office/drawing/2014/main" id="{41EEA1F2-5E39-4DC3-9D63-1793D2AF2162}"/>
              </a:ext>
            </a:extLst>
          </p:cNvPr>
          <p:cNvSpPr/>
          <p:nvPr/>
        </p:nvSpPr>
        <p:spPr>
          <a:xfrm>
            <a:off x="5526656" y="5842822"/>
            <a:ext cx="1909313"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facto(2)</a:t>
            </a:r>
            <a:endParaRPr lang="zh-CN" altLang="en-US" dirty="0"/>
          </a:p>
        </p:txBody>
      </p:sp>
      <p:cxnSp>
        <p:nvCxnSpPr>
          <p:cNvPr id="17" name="直接箭头连接符 16">
            <a:extLst>
              <a:ext uri="{FF2B5EF4-FFF2-40B4-BE49-F238E27FC236}">
                <a16:creationId xmlns:a16="http://schemas.microsoft.com/office/drawing/2014/main" id="{69DE0615-ECBF-4F9D-A7D6-27895B2C3065}"/>
              </a:ext>
            </a:extLst>
          </p:cNvPr>
          <p:cNvCxnSpPr>
            <a:cxnSpLocks/>
          </p:cNvCxnSpPr>
          <p:nvPr/>
        </p:nvCxnSpPr>
        <p:spPr>
          <a:xfrm>
            <a:off x="7435969" y="6031120"/>
            <a:ext cx="16735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矩形 18">
            <a:extLst>
              <a:ext uri="{FF2B5EF4-FFF2-40B4-BE49-F238E27FC236}">
                <a16:creationId xmlns:a16="http://schemas.microsoft.com/office/drawing/2014/main" id="{A28621D9-E270-4235-AB00-8F6A225BCCE5}"/>
              </a:ext>
            </a:extLst>
          </p:cNvPr>
          <p:cNvSpPr/>
          <p:nvPr/>
        </p:nvSpPr>
        <p:spPr>
          <a:xfrm>
            <a:off x="9115618" y="5842822"/>
            <a:ext cx="1909313"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facto(1)</a:t>
            </a:r>
            <a:endParaRPr lang="zh-CN" altLang="en-US" dirty="0"/>
          </a:p>
        </p:txBody>
      </p:sp>
      <p:cxnSp>
        <p:nvCxnSpPr>
          <p:cNvPr id="21" name="直接箭头连接符 20">
            <a:extLst>
              <a:ext uri="{FF2B5EF4-FFF2-40B4-BE49-F238E27FC236}">
                <a16:creationId xmlns:a16="http://schemas.microsoft.com/office/drawing/2014/main" id="{457E717B-C35A-43EE-9CAD-D4630827C0DA}"/>
              </a:ext>
            </a:extLst>
          </p:cNvPr>
          <p:cNvCxnSpPr/>
          <p:nvPr/>
        </p:nvCxnSpPr>
        <p:spPr>
          <a:xfrm flipH="1">
            <a:off x="7435969" y="5898470"/>
            <a:ext cx="1673525"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3" name="直接箭头连接符 22">
            <a:extLst>
              <a:ext uri="{FF2B5EF4-FFF2-40B4-BE49-F238E27FC236}">
                <a16:creationId xmlns:a16="http://schemas.microsoft.com/office/drawing/2014/main" id="{2F07B932-4811-4F2A-8F57-3074B96D4302}"/>
              </a:ext>
            </a:extLst>
          </p:cNvPr>
          <p:cNvCxnSpPr/>
          <p:nvPr/>
        </p:nvCxnSpPr>
        <p:spPr>
          <a:xfrm flipV="1">
            <a:off x="6780362" y="5117645"/>
            <a:ext cx="0" cy="72517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4" name="直接箭头连接符 23">
            <a:extLst>
              <a:ext uri="{FF2B5EF4-FFF2-40B4-BE49-F238E27FC236}">
                <a16:creationId xmlns:a16="http://schemas.microsoft.com/office/drawing/2014/main" id="{E36AEBB0-0BB1-46A3-9997-711F77F1BF5C}"/>
              </a:ext>
            </a:extLst>
          </p:cNvPr>
          <p:cNvCxnSpPr/>
          <p:nvPr/>
        </p:nvCxnSpPr>
        <p:spPr>
          <a:xfrm flipV="1">
            <a:off x="6780362" y="4036513"/>
            <a:ext cx="0" cy="72517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5" name="直接箭头连接符 24">
            <a:extLst>
              <a:ext uri="{FF2B5EF4-FFF2-40B4-BE49-F238E27FC236}">
                <a16:creationId xmlns:a16="http://schemas.microsoft.com/office/drawing/2014/main" id="{EF465301-876A-45BD-A57E-8636D25750DD}"/>
              </a:ext>
            </a:extLst>
          </p:cNvPr>
          <p:cNvCxnSpPr/>
          <p:nvPr/>
        </p:nvCxnSpPr>
        <p:spPr>
          <a:xfrm flipV="1">
            <a:off x="6777486" y="2955381"/>
            <a:ext cx="0" cy="72517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6" name="矩形 25">
            <a:extLst>
              <a:ext uri="{FF2B5EF4-FFF2-40B4-BE49-F238E27FC236}">
                <a16:creationId xmlns:a16="http://schemas.microsoft.com/office/drawing/2014/main" id="{0302D0E0-15C6-4CD4-8389-9BF66EAF2821}"/>
              </a:ext>
            </a:extLst>
          </p:cNvPr>
          <p:cNvSpPr/>
          <p:nvPr/>
        </p:nvSpPr>
        <p:spPr>
          <a:xfrm>
            <a:off x="9109494" y="2598608"/>
            <a:ext cx="1909313"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main()</a:t>
            </a:r>
            <a:r>
              <a:rPr lang="zh-CN" altLang="en-US" dirty="0"/>
              <a:t>中的</a:t>
            </a:r>
            <a:r>
              <a:rPr lang="en-US" altLang="zh-CN" dirty="0" err="1"/>
              <a:t>printf</a:t>
            </a:r>
            <a:r>
              <a:rPr lang="en-US" altLang="zh-CN" dirty="0"/>
              <a:t>()</a:t>
            </a:r>
            <a:endParaRPr lang="zh-CN" altLang="en-US" dirty="0"/>
          </a:p>
        </p:txBody>
      </p:sp>
      <p:cxnSp>
        <p:nvCxnSpPr>
          <p:cNvPr id="27" name="直接箭头连接符 26">
            <a:extLst>
              <a:ext uri="{FF2B5EF4-FFF2-40B4-BE49-F238E27FC236}">
                <a16:creationId xmlns:a16="http://schemas.microsoft.com/office/drawing/2014/main" id="{7602173D-5935-40DB-A347-C7B5A89692AA}"/>
              </a:ext>
            </a:extLst>
          </p:cNvPr>
          <p:cNvCxnSpPr>
            <a:cxnSpLocks/>
            <a:stCxn id="26" idx="1"/>
            <a:endCxn id="4" idx="3"/>
          </p:cNvCxnSpPr>
          <p:nvPr/>
        </p:nvCxnSpPr>
        <p:spPr>
          <a:xfrm flipH="1">
            <a:off x="7435970" y="2783274"/>
            <a:ext cx="1673524" cy="8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22E45DD6-7576-458D-9693-32F29214DF33}"/>
              </a:ext>
            </a:extLst>
          </p:cNvPr>
          <p:cNvCxnSpPr>
            <a:cxnSpLocks/>
          </p:cNvCxnSpPr>
          <p:nvPr/>
        </p:nvCxnSpPr>
        <p:spPr>
          <a:xfrm>
            <a:off x="7435970" y="2645434"/>
            <a:ext cx="1673524" cy="519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36" name="文本框 35">
            <a:extLst>
              <a:ext uri="{FF2B5EF4-FFF2-40B4-BE49-F238E27FC236}">
                <a16:creationId xmlns:a16="http://schemas.microsoft.com/office/drawing/2014/main" id="{4B5BFE58-5FB6-435A-83C3-F1BB2D3A95DB}"/>
              </a:ext>
            </a:extLst>
          </p:cNvPr>
          <p:cNvSpPr txBox="1"/>
          <p:nvPr/>
        </p:nvSpPr>
        <p:spPr>
          <a:xfrm>
            <a:off x="7975213" y="2767439"/>
            <a:ext cx="595035" cy="338554"/>
          </a:xfrm>
          <a:prstGeom prst="rect">
            <a:avLst/>
          </a:prstGeom>
          <a:noFill/>
        </p:spPr>
        <p:txBody>
          <a:bodyPr wrap="none" rtlCol="0">
            <a:spAutoFit/>
          </a:bodyPr>
          <a:lstStyle/>
          <a:p>
            <a:r>
              <a:rPr lang="zh-CN" altLang="en-US" sz="1600" dirty="0"/>
              <a:t>调用</a:t>
            </a:r>
          </a:p>
        </p:txBody>
      </p:sp>
      <p:sp>
        <p:nvSpPr>
          <p:cNvPr id="37" name="文本框 36">
            <a:extLst>
              <a:ext uri="{FF2B5EF4-FFF2-40B4-BE49-F238E27FC236}">
                <a16:creationId xmlns:a16="http://schemas.microsoft.com/office/drawing/2014/main" id="{A760D3F7-3874-45AA-911C-C5B9BBDC2A90}"/>
              </a:ext>
            </a:extLst>
          </p:cNvPr>
          <p:cNvSpPr txBox="1"/>
          <p:nvPr/>
        </p:nvSpPr>
        <p:spPr>
          <a:xfrm>
            <a:off x="5886277" y="3118508"/>
            <a:ext cx="595035" cy="338554"/>
          </a:xfrm>
          <a:prstGeom prst="rect">
            <a:avLst/>
          </a:prstGeom>
          <a:noFill/>
        </p:spPr>
        <p:txBody>
          <a:bodyPr wrap="none" rtlCol="0">
            <a:spAutoFit/>
          </a:bodyPr>
          <a:lstStyle/>
          <a:p>
            <a:r>
              <a:rPr lang="zh-CN" altLang="en-US" sz="1600" dirty="0"/>
              <a:t>调用</a:t>
            </a:r>
          </a:p>
        </p:txBody>
      </p:sp>
      <p:sp>
        <p:nvSpPr>
          <p:cNvPr id="38" name="文本框 37">
            <a:extLst>
              <a:ext uri="{FF2B5EF4-FFF2-40B4-BE49-F238E27FC236}">
                <a16:creationId xmlns:a16="http://schemas.microsoft.com/office/drawing/2014/main" id="{8029D66B-79C5-47FB-97DE-BA8DDCB5E34C}"/>
              </a:ext>
            </a:extLst>
          </p:cNvPr>
          <p:cNvSpPr txBox="1"/>
          <p:nvPr/>
        </p:nvSpPr>
        <p:spPr>
          <a:xfrm>
            <a:off x="5884747" y="4212075"/>
            <a:ext cx="595035" cy="338554"/>
          </a:xfrm>
          <a:prstGeom prst="rect">
            <a:avLst/>
          </a:prstGeom>
          <a:noFill/>
        </p:spPr>
        <p:txBody>
          <a:bodyPr wrap="none" rtlCol="0">
            <a:spAutoFit/>
          </a:bodyPr>
          <a:lstStyle/>
          <a:p>
            <a:r>
              <a:rPr lang="zh-CN" altLang="en-US" sz="1600" dirty="0"/>
              <a:t>调用</a:t>
            </a:r>
          </a:p>
        </p:txBody>
      </p:sp>
      <p:sp>
        <p:nvSpPr>
          <p:cNvPr id="39" name="文本框 38">
            <a:extLst>
              <a:ext uri="{FF2B5EF4-FFF2-40B4-BE49-F238E27FC236}">
                <a16:creationId xmlns:a16="http://schemas.microsoft.com/office/drawing/2014/main" id="{FDEA1DEE-B4B6-40EB-A44F-3B27651C4C24}"/>
              </a:ext>
            </a:extLst>
          </p:cNvPr>
          <p:cNvSpPr txBox="1"/>
          <p:nvPr/>
        </p:nvSpPr>
        <p:spPr>
          <a:xfrm>
            <a:off x="5884747" y="5289384"/>
            <a:ext cx="595035" cy="338554"/>
          </a:xfrm>
          <a:prstGeom prst="rect">
            <a:avLst/>
          </a:prstGeom>
          <a:noFill/>
        </p:spPr>
        <p:txBody>
          <a:bodyPr wrap="none" rtlCol="0">
            <a:spAutoFit/>
          </a:bodyPr>
          <a:lstStyle/>
          <a:p>
            <a:r>
              <a:rPr lang="zh-CN" altLang="en-US" sz="1600" dirty="0"/>
              <a:t>调用</a:t>
            </a:r>
          </a:p>
        </p:txBody>
      </p:sp>
      <p:sp>
        <p:nvSpPr>
          <p:cNvPr id="40" name="文本框 39">
            <a:extLst>
              <a:ext uri="{FF2B5EF4-FFF2-40B4-BE49-F238E27FC236}">
                <a16:creationId xmlns:a16="http://schemas.microsoft.com/office/drawing/2014/main" id="{AABE39BB-A016-4D5F-8CD0-8F36645713BF}"/>
              </a:ext>
            </a:extLst>
          </p:cNvPr>
          <p:cNvSpPr txBox="1"/>
          <p:nvPr/>
        </p:nvSpPr>
        <p:spPr>
          <a:xfrm>
            <a:off x="7985184" y="6027488"/>
            <a:ext cx="595035" cy="338554"/>
          </a:xfrm>
          <a:prstGeom prst="rect">
            <a:avLst/>
          </a:prstGeom>
          <a:noFill/>
        </p:spPr>
        <p:txBody>
          <a:bodyPr wrap="none" rtlCol="0">
            <a:spAutoFit/>
          </a:bodyPr>
          <a:lstStyle/>
          <a:p>
            <a:r>
              <a:rPr lang="zh-CN" altLang="en-US" sz="1600" dirty="0"/>
              <a:t>调用</a:t>
            </a:r>
          </a:p>
        </p:txBody>
      </p:sp>
      <p:sp>
        <p:nvSpPr>
          <p:cNvPr id="41" name="文本框 40">
            <a:extLst>
              <a:ext uri="{FF2B5EF4-FFF2-40B4-BE49-F238E27FC236}">
                <a16:creationId xmlns:a16="http://schemas.microsoft.com/office/drawing/2014/main" id="{346F59F0-69A7-4DFB-A4E9-913A2DC469A5}"/>
              </a:ext>
            </a:extLst>
          </p:cNvPr>
          <p:cNvSpPr txBox="1"/>
          <p:nvPr/>
        </p:nvSpPr>
        <p:spPr>
          <a:xfrm>
            <a:off x="7800422" y="5559916"/>
            <a:ext cx="944618" cy="338554"/>
          </a:xfrm>
          <a:prstGeom prst="rect">
            <a:avLst/>
          </a:prstGeom>
          <a:noFill/>
        </p:spPr>
        <p:txBody>
          <a:bodyPr wrap="none" rtlCol="0">
            <a:spAutoFit/>
          </a:bodyPr>
          <a:lstStyle/>
          <a:p>
            <a:r>
              <a:rPr lang="en-US" altLang="zh-CN" sz="1600" dirty="0"/>
              <a:t>return 1;</a:t>
            </a:r>
            <a:endParaRPr lang="zh-CN" altLang="en-US" sz="1600" dirty="0"/>
          </a:p>
        </p:txBody>
      </p:sp>
      <p:sp>
        <p:nvSpPr>
          <p:cNvPr id="42" name="文本框 41">
            <a:extLst>
              <a:ext uri="{FF2B5EF4-FFF2-40B4-BE49-F238E27FC236}">
                <a16:creationId xmlns:a16="http://schemas.microsoft.com/office/drawing/2014/main" id="{469DDFE7-6E00-4AF1-9248-032D454F5792}"/>
              </a:ext>
            </a:extLst>
          </p:cNvPr>
          <p:cNvSpPr txBox="1"/>
          <p:nvPr/>
        </p:nvSpPr>
        <p:spPr>
          <a:xfrm>
            <a:off x="6773077" y="5317645"/>
            <a:ext cx="1265218" cy="338554"/>
          </a:xfrm>
          <a:prstGeom prst="rect">
            <a:avLst/>
          </a:prstGeom>
          <a:noFill/>
        </p:spPr>
        <p:txBody>
          <a:bodyPr wrap="none" rtlCol="0">
            <a:spAutoFit/>
          </a:bodyPr>
          <a:lstStyle/>
          <a:p>
            <a:r>
              <a:rPr lang="en-US" altLang="zh-CN" sz="1600" dirty="0"/>
              <a:t>return 2*</a:t>
            </a:r>
            <a:r>
              <a:rPr lang="en-US" altLang="zh-CN" sz="1600" dirty="0">
                <a:highlight>
                  <a:srgbClr val="FFFF00"/>
                </a:highlight>
              </a:rPr>
              <a:t>(1)</a:t>
            </a:r>
            <a:r>
              <a:rPr lang="en-US" altLang="zh-CN" sz="1600" dirty="0"/>
              <a:t>;</a:t>
            </a:r>
            <a:endParaRPr lang="zh-CN" altLang="en-US" sz="1600" dirty="0"/>
          </a:p>
        </p:txBody>
      </p:sp>
      <p:sp>
        <p:nvSpPr>
          <p:cNvPr id="43" name="文本框 42">
            <a:extLst>
              <a:ext uri="{FF2B5EF4-FFF2-40B4-BE49-F238E27FC236}">
                <a16:creationId xmlns:a16="http://schemas.microsoft.com/office/drawing/2014/main" id="{A703A9B8-2278-4F84-B862-9735D8AE9B6F}"/>
              </a:ext>
            </a:extLst>
          </p:cNvPr>
          <p:cNvSpPr txBox="1"/>
          <p:nvPr/>
        </p:nvSpPr>
        <p:spPr>
          <a:xfrm>
            <a:off x="6780361" y="4245159"/>
            <a:ext cx="1460785" cy="338554"/>
          </a:xfrm>
          <a:prstGeom prst="rect">
            <a:avLst/>
          </a:prstGeom>
          <a:noFill/>
        </p:spPr>
        <p:txBody>
          <a:bodyPr wrap="none" rtlCol="0">
            <a:spAutoFit/>
          </a:bodyPr>
          <a:lstStyle/>
          <a:p>
            <a:r>
              <a:rPr lang="en-US" altLang="zh-CN" sz="1600" dirty="0"/>
              <a:t>return 3*</a:t>
            </a:r>
            <a:r>
              <a:rPr lang="en-US" altLang="zh-CN" sz="1600" dirty="0">
                <a:highlight>
                  <a:srgbClr val="FFFF00"/>
                </a:highlight>
              </a:rPr>
              <a:t>(2*1)</a:t>
            </a:r>
            <a:r>
              <a:rPr lang="en-US" altLang="zh-CN" sz="1600" dirty="0"/>
              <a:t>;</a:t>
            </a:r>
            <a:endParaRPr lang="zh-CN" altLang="en-US" sz="1600" dirty="0"/>
          </a:p>
        </p:txBody>
      </p:sp>
      <p:sp>
        <p:nvSpPr>
          <p:cNvPr id="44" name="文本框 43">
            <a:extLst>
              <a:ext uri="{FF2B5EF4-FFF2-40B4-BE49-F238E27FC236}">
                <a16:creationId xmlns:a16="http://schemas.microsoft.com/office/drawing/2014/main" id="{4257FD26-1959-4489-88A5-090EDC35E916}"/>
              </a:ext>
            </a:extLst>
          </p:cNvPr>
          <p:cNvSpPr txBox="1"/>
          <p:nvPr/>
        </p:nvSpPr>
        <p:spPr>
          <a:xfrm>
            <a:off x="6833603" y="3167489"/>
            <a:ext cx="1781385" cy="338554"/>
          </a:xfrm>
          <a:prstGeom prst="rect">
            <a:avLst/>
          </a:prstGeom>
          <a:noFill/>
        </p:spPr>
        <p:txBody>
          <a:bodyPr wrap="none" rtlCol="0">
            <a:spAutoFit/>
          </a:bodyPr>
          <a:lstStyle/>
          <a:p>
            <a:r>
              <a:rPr lang="en-US" altLang="zh-CN" sz="1600" dirty="0"/>
              <a:t>return 4*</a:t>
            </a:r>
            <a:r>
              <a:rPr lang="en-US" altLang="zh-CN" sz="1600" dirty="0">
                <a:highlight>
                  <a:srgbClr val="FFFF00"/>
                </a:highlight>
              </a:rPr>
              <a:t>(3*(2*1)</a:t>
            </a:r>
            <a:r>
              <a:rPr lang="en-US" altLang="zh-CN" sz="1600" dirty="0"/>
              <a:t>);</a:t>
            </a:r>
            <a:endParaRPr lang="zh-CN" altLang="en-US" sz="1600" dirty="0"/>
          </a:p>
        </p:txBody>
      </p:sp>
      <p:sp>
        <p:nvSpPr>
          <p:cNvPr id="45" name="文本框 44">
            <a:extLst>
              <a:ext uri="{FF2B5EF4-FFF2-40B4-BE49-F238E27FC236}">
                <a16:creationId xmlns:a16="http://schemas.microsoft.com/office/drawing/2014/main" id="{E26CAF95-E338-4A80-919E-E30907C01CBF}"/>
              </a:ext>
            </a:extLst>
          </p:cNvPr>
          <p:cNvSpPr txBox="1"/>
          <p:nvPr/>
        </p:nvSpPr>
        <p:spPr>
          <a:xfrm>
            <a:off x="7339655" y="2233682"/>
            <a:ext cx="2101986" cy="338554"/>
          </a:xfrm>
          <a:prstGeom prst="rect">
            <a:avLst/>
          </a:prstGeom>
          <a:noFill/>
        </p:spPr>
        <p:txBody>
          <a:bodyPr wrap="none" rtlCol="0">
            <a:spAutoFit/>
          </a:bodyPr>
          <a:lstStyle/>
          <a:p>
            <a:r>
              <a:rPr lang="en-US" altLang="zh-CN" sz="1600" dirty="0"/>
              <a:t>return 5*</a:t>
            </a:r>
            <a:r>
              <a:rPr lang="en-US" altLang="zh-CN" sz="1600" dirty="0">
                <a:highlight>
                  <a:srgbClr val="FFFF00"/>
                </a:highlight>
              </a:rPr>
              <a:t>(4*(3*(2*1)))</a:t>
            </a:r>
            <a:r>
              <a:rPr lang="en-US" altLang="zh-CN" sz="1600" dirty="0"/>
              <a:t>;</a:t>
            </a:r>
            <a:endParaRPr lang="zh-CN" altLang="en-US" sz="1600" dirty="0"/>
          </a:p>
        </p:txBody>
      </p:sp>
    </p:spTree>
    <p:extLst>
      <p:ext uri="{BB962C8B-B14F-4D97-AF65-F5344CB8AC3E}">
        <p14:creationId xmlns:p14="http://schemas.microsoft.com/office/powerpoint/2010/main" val="19648861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521207" y="448056"/>
            <a:ext cx="10552533" cy="640080"/>
          </a:xfrm>
        </p:spPr>
        <p:txBody>
          <a:bodyPr rtlCol="0">
            <a:noAutofit/>
          </a:bodyPr>
          <a:lstStyle/>
          <a:p>
            <a:pPr rtl="0"/>
            <a:r>
              <a:rPr lang="en-US" altLang="zh-CN" dirty="0">
                <a:cs typeface="Segoe UI Light" panose="020B0502040204020203" pitchFamily="34" charset="0"/>
              </a:rPr>
              <a:t>Chapter 5  </a:t>
            </a:r>
            <a:r>
              <a:rPr lang="zh-CN" altLang="en-US" dirty="0">
                <a:cs typeface="Segoe UI Light" panose="020B0502040204020203" pitchFamily="34" charset="0"/>
              </a:rPr>
              <a:t>数组</a:t>
            </a:r>
          </a:p>
        </p:txBody>
      </p:sp>
      <p:sp>
        <p:nvSpPr>
          <p:cNvPr id="2" name="文本框 1">
            <a:extLst>
              <a:ext uri="{FF2B5EF4-FFF2-40B4-BE49-F238E27FC236}">
                <a16:creationId xmlns:a16="http://schemas.microsoft.com/office/drawing/2014/main" id="{278E70F4-2A89-46EF-8FA4-B65F4871C040}"/>
              </a:ext>
            </a:extLst>
          </p:cNvPr>
          <p:cNvSpPr txBox="1"/>
          <p:nvPr/>
        </p:nvSpPr>
        <p:spPr>
          <a:xfrm>
            <a:off x="611578" y="1413164"/>
            <a:ext cx="3621975" cy="369332"/>
          </a:xfrm>
          <a:prstGeom prst="rect">
            <a:avLst/>
          </a:prstGeom>
          <a:noFill/>
        </p:spPr>
        <p:txBody>
          <a:bodyPr wrap="square" rtlCol="0">
            <a:spAutoFit/>
          </a:bodyPr>
          <a:lstStyle/>
          <a:p>
            <a:r>
              <a:rPr lang="en-US" altLang="zh-CN" dirty="0"/>
              <a:t>5.1  </a:t>
            </a:r>
            <a:r>
              <a:rPr lang="zh-CN" altLang="en-US" dirty="0"/>
              <a:t>数组的定义</a:t>
            </a:r>
          </a:p>
        </p:txBody>
      </p:sp>
      <p:sp>
        <p:nvSpPr>
          <p:cNvPr id="5" name="文本框 4">
            <a:extLst>
              <a:ext uri="{FF2B5EF4-FFF2-40B4-BE49-F238E27FC236}">
                <a16:creationId xmlns:a16="http://schemas.microsoft.com/office/drawing/2014/main" id="{ECA6AF00-0642-4C37-92C6-E801DAE8A115}"/>
              </a:ext>
            </a:extLst>
          </p:cNvPr>
          <p:cNvSpPr txBox="1"/>
          <p:nvPr/>
        </p:nvSpPr>
        <p:spPr>
          <a:xfrm>
            <a:off x="611578" y="1885991"/>
            <a:ext cx="10681856" cy="4247317"/>
          </a:xfrm>
          <a:prstGeom prst="rect">
            <a:avLst/>
          </a:prstGeom>
          <a:noFill/>
        </p:spPr>
        <p:txBody>
          <a:bodyPr wrap="square" rtlCol="0">
            <a:spAutoFit/>
          </a:bodyPr>
          <a:lstStyle/>
          <a:p>
            <a:r>
              <a:rPr lang="zh-CN" altLang="en-US" dirty="0"/>
              <a:t>数组的定义：</a:t>
            </a:r>
            <a:endParaRPr lang="en-US" altLang="zh-CN" dirty="0"/>
          </a:p>
          <a:p>
            <a:r>
              <a:rPr lang="en-US" altLang="zh-CN" dirty="0"/>
              <a:t>[</a:t>
            </a:r>
            <a:r>
              <a:rPr lang="zh-CN" altLang="en-US" dirty="0"/>
              <a:t>存储类型</a:t>
            </a:r>
            <a:r>
              <a:rPr lang="en-US" altLang="zh-CN" dirty="0"/>
              <a:t>] </a:t>
            </a:r>
            <a:r>
              <a:rPr lang="zh-CN" altLang="en-US" dirty="0"/>
              <a:t>数据类型 数组名</a:t>
            </a:r>
            <a:r>
              <a:rPr lang="en-US" altLang="zh-CN" dirty="0"/>
              <a:t>[</a:t>
            </a:r>
            <a:r>
              <a:rPr lang="zh-CN" altLang="en-US" dirty="0"/>
              <a:t>常量表达式</a:t>
            </a:r>
            <a:r>
              <a:rPr lang="en-US" altLang="zh-CN" dirty="0"/>
              <a:t>]</a:t>
            </a:r>
          </a:p>
          <a:p>
            <a:endParaRPr lang="en-US" altLang="zh-CN" dirty="0"/>
          </a:p>
          <a:p>
            <a:r>
              <a:rPr lang="zh-CN" altLang="en-US" dirty="0"/>
              <a:t>例如：</a:t>
            </a:r>
            <a:endParaRPr lang="en-US" altLang="zh-CN" dirty="0"/>
          </a:p>
          <a:p>
            <a:r>
              <a:rPr lang="en-US" altLang="zh-CN" dirty="0">
                <a:latin typeface="Cascadia Code SemiLight" panose="020B0609020000020004" pitchFamily="49" charset="0"/>
                <a:cs typeface="Cascadia Code SemiLight" panose="020B0609020000020004" pitchFamily="49" charset="0"/>
              </a:rPr>
              <a:t>int a[10] = {0,1,2,3,4,5,6,7,8,9};</a:t>
            </a:r>
          </a:p>
          <a:p>
            <a:endParaRPr lang="en-US" altLang="zh-CN" dirty="0">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调用数组内数据时：</a:t>
            </a:r>
            <a:endParaRPr lang="en-US" altLang="zh-CN" dirty="0">
              <a:latin typeface="Cascadia Code SemiLight" panose="020B0609020000020004" pitchFamily="49" charset="0"/>
              <a:cs typeface="Cascadia Code SemiLight" panose="020B0609020000020004" pitchFamily="49" charset="0"/>
            </a:endParaRPr>
          </a:p>
          <a:p>
            <a:r>
              <a:rPr lang="en-US" altLang="zh-CN" dirty="0" err="1">
                <a:latin typeface="Cascadia Code SemiLight" panose="020B0609020000020004" pitchFamily="49" charset="0"/>
                <a:cs typeface="Cascadia Code SemiLight" panose="020B0609020000020004" pitchFamily="49" charset="0"/>
              </a:rPr>
              <a:t>printf</a:t>
            </a:r>
            <a:r>
              <a:rPr lang="en-US" altLang="zh-CN" dirty="0">
                <a:latin typeface="Cascadia Code SemiLight" panose="020B0609020000020004" pitchFamily="49" charset="0"/>
                <a:cs typeface="Cascadia Code SemiLight" panose="020B0609020000020004" pitchFamily="49" charset="0"/>
              </a:rPr>
              <a:t>(“%d”, a[3]); // </a:t>
            </a:r>
            <a:r>
              <a:rPr lang="zh-CN" altLang="en-US" dirty="0">
                <a:latin typeface="Cascadia Code SemiLight" panose="020B0609020000020004" pitchFamily="49" charset="0"/>
                <a:cs typeface="Cascadia Code SemiLight" panose="020B0609020000020004" pitchFamily="49" charset="0"/>
              </a:rPr>
              <a:t>从</a:t>
            </a:r>
            <a:r>
              <a:rPr lang="en-US" altLang="zh-CN" dirty="0">
                <a:latin typeface="Cascadia Code SemiLight" panose="020B0609020000020004" pitchFamily="49" charset="0"/>
                <a:cs typeface="Cascadia Code SemiLight" panose="020B0609020000020004" pitchFamily="49" charset="0"/>
              </a:rPr>
              <a:t>0</a:t>
            </a:r>
            <a:r>
              <a:rPr lang="zh-CN" altLang="en-US" dirty="0">
                <a:latin typeface="Cascadia Code SemiLight" panose="020B0609020000020004" pitchFamily="49" charset="0"/>
                <a:cs typeface="Cascadia Code SemiLight" panose="020B0609020000020004" pitchFamily="49" charset="0"/>
              </a:rPr>
              <a:t>开始数，</a:t>
            </a:r>
            <a:r>
              <a:rPr lang="en-US" altLang="zh-CN" dirty="0">
                <a:latin typeface="Cascadia Code SemiLight" panose="020B0609020000020004" pitchFamily="49" charset="0"/>
                <a:cs typeface="Cascadia Code SemiLight" panose="020B0609020000020004" pitchFamily="49" charset="0"/>
              </a:rPr>
              <a:t>0-9</a:t>
            </a:r>
            <a:r>
              <a:rPr lang="zh-CN" altLang="en-US" dirty="0">
                <a:latin typeface="Cascadia Code SemiLight" panose="020B0609020000020004" pitchFamily="49" charset="0"/>
                <a:cs typeface="Cascadia Code SemiLight" panose="020B0609020000020004" pitchFamily="49" charset="0"/>
              </a:rPr>
              <a:t>十个空间，分别代表十个量</a:t>
            </a:r>
            <a:endParaRPr lang="en-US" altLang="zh-CN" dirty="0">
              <a:latin typeface="Cascadia Code SemiLight" panose="020B0609020000020004" pitchFamily="49" charset="0"/>
              <a:cs typeface="Cascadia Code SemiLight" panose="020B0609020000020004" pitchFamily="49" charset="0"/>
            </a:endParaRPr>
          </a:p>
          <a:p>
            <a:endParaRPr lang="en-US" altLang="zh-CN" dirty="0">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注意：</a:t>
            </a:r>
            <a:endParaRPr lang="en-US" altLang="zh-CN" dirty="0">
              <a:latin typeface="Cascadia Code SemiLight" panose="020B0609020000020004" pitchFamily="49" charset="0"/>
              <a:cs typeface="Cascadia Code SemiLight" panose="020B0609020000020004" pitchFamily="49" charset="0"/>
            </a:endParaRPr>
          </a:p>
          <a:p>
            <a:pPr marL="342900" indent="-342900">
              <a:buAutoNum type="arabicPeriod"/>
            </a:pPr>
            <a:r>
              <a:rPr lang="zh-CN" altLang="en-US" dirty="0">
                <a:latin typeface="Cascadia Code SemiLight" panose="020B0609020000020004" pitchFamily="49" charset="0"/>
                <a:cs typeface="Cascadia Code SemiLight" panose="020B0609020000020004" pitchFamily="49" charset="0"/>
              </a:rPr>
              <a:t>数组是个集体，不能直接参与运算</a:t>
            </a:r>
            <a:endParaRPr lang="en-US" altLang="zh-CN" dirty="0">
              <a:latin typeface="Cascadia Code SemiLight" panose="020B0609020000020004" pitchFamily="49" charset="0"/>
              <a:cs typeface="Cascadia Code SemiLight" panose="020B0609020000020004" pitchFamily="49" charset="0"/>
            </a:endParaRPr>
          </a:p>
          <a:p>
            <a:pPr marL="342900" indent="-342900">
              <a:buAutoNum type="arabicPeriod"/>
            </a:pPr>
            <a:r>
              <a:rPr lang="zh-CN" altLang="en-US" dirty="0">
                <a:latin typeface="Cascadia Code SemiLight" panose="020B0609020000020004" pitchFamily="49" charset="0"/>
                <a:cs typeface="Cascadia Code SemiLight" panose="020B0609020000020004" pitchFamily="49" charset="0"/>
              </a:rPr>
              <a:t>数组名就是一个</a:t>
            </a:r>
            <a:r>
              <a:rPr lang="zh-CN" altLang="en-US" dirty="0">
                <a:highlight>
                  <a:srgbClr val="FFFF00"/>
                </a:highlight>
                <a:latin typeface="Cascadia Code SemiLight" panose="020B0609020000020004" pitchFamily="49" charset="0"/>
                <a:cs typeface="Cascadia Code SemiLight" panose="020B0609020000020004" pitchFamily="49" charset="0"/>
              </a:rPr>
              <a:t>指针</a:t>
            </a:r>
            <a:r>
              <a:rPr lang="zh-CN" altLang="en-US" dirty="0">
                <a:latin typeface="Cascadia Code SemiLight" panose="020B0609020000020004" pitchFamily="49" charset="0"/>
                <a:cs typeface="Cascadia Code SemiLight" panose="020B0609020000020004" pitchFamily="49" charset="0"/>
              </a:rPr>
              <a:t>，它代表该数组的首地址，如 </a:t>
            </a:r>
            <a:r>
              <a:rPr lang="en-US" altLang="zh-CN" dirty="0">
                <a:latin typeface="Cascadia Code SemiLight" panose="020B0609020000020004" pitchFamily="49" charset="0"/>
                <a:cs typeface="Cascadia Code SemiLight" panose="020B0609020000020004" pitchFamily="49" charset="0"/>
              </a:rPr>
              <a:t>&amp;a[0] == a</a:t>
            </a:r>
          </a:p>
          <a:p>
            <a:pPr marL="342900" indent="-342900">
              <a:buAutoNum type="arabicPeriod"/>
            </a:pPr>
            <a:r>
              <a:rPr lang="zh-CN" altLang="en-US" dirty="0">
                <a:latin typeface="Cascadia Code SemiLight" panose="020B0609020000020004" pitchFamily="49" charset="0"/>
                <a:cs typeface="Cascadia Code SemiLight" panose="020B0609020000020004" pitchFamily="49" charset="0"/>
              </a:rPr>
              <a:t>当想尝试访问</a:t>
            </a:r>
            <a:r>
              <a:rPr lang="en-US" altLang="zh-CN" dirty="0">
                <a:latin typeface="Cascadia Code SemiLight" panose="020B0609020000020004" pitchFamily="49" charset="0"/>
                <a:cs typeface="Cascadia Code SemiLight" panose="020B0609020000020004" pitchFamily="49" charset="0"/>
              </a:rPr>
              <a:t>a[10]</a:t>
            </a:r>
            <a:r>
              <a:rPr lang="zh-CN" altLang="en-US" dirty="0">
                <a:latin typeface="Cascadia Code SemiLight" panose="020B0609020000020004" pitchFamily="49" charset="0"/>
                <a:cs typeface="Cascadia Code SemiLight" panose="020B0609020000020004" pitchFamily="49" charset="0"/>
              </a:rPr>
              <a:t>时，会出现越界，可能造成程序运行异常</a:t>
            </a:r>
            <a:endParaRPr lang="en-US" altLang="zh-CN" dirty="0">
              <a:latin typeface="Cascadia Code SemiLight" panose="020B0609020000020004" pitchFamily="49" charset="0"/>
              <a:cs typeface="Cascadia Code SemiLight" panose="020B0609020000020004" pitchFamily="49" charset="0"/>
            </a:endParaRPr>
          </a:p>
          <a:p>
            <a:pPr marL="342900" indent="-342900">
              <a:buAutoNum type="arabicPeriod"/>
            </a:pPr>
            <a:r>
              <a:rPr lang="zh-CN" altLang="en-US" dirty="0">
                <a:latin typeface="Cascadia Code SemiLight" panose="020B0609020000020004" pitchFamily="49" charset="0"/>
                <a:cs typeface="Cascadia Code SemiLight" panose="020B0609020000020004" pitchFamily="49" charset="0"/>
              </a:rPr>
              <a:t>在遍历数组时，对于循环的初始条件，一般都会令临时变量</a:t>
            </a:r>
            <a:r>
              <a:rPr lang="en-US" altLang="zh-CN" dirty="0" err="1">
                <a:latin typeface="Cascadia Code SemiLight" panose="020B0609020000020004" pitchFamily="49" charset="0"/>
                <a:cs typeface="Cascadia Code SemiLight" panose="020B0609020000020004" pitchFamily="49" charset="0"/>
              </a:rPr>
              <a:t>i</a:t>
            </a:r>
            <a:r>
              <a:rPr lang="en-US" altLang="zh-CN" dirty="0">
                <a:latin typeface="Cascadia Code SemiLight" panose="020B0609020000020004" pitchFamily="49" charset="0"/>
                <a:cs typeface="Cascadia Code SemiLight" panose="020B0609020000020004" pitchFamily="49" charset="0"/>
              </a:rPr>
              <a:t>=0</a:t>
            </a:r>
            <a:r>
              <a:rPr lang="zh-CN" altLang="en-US" dirty="0">
                <a:latin typeface="Cascadia Code SemiLight" panose="020B0609020000020004" pitchFamily="49" charset="0"/>
                <a:cs typeface="Cascadia Code SemiLight" panose="020B0609020000020004" pitchFamily="49" charset="0"/>
              </a:rPr>
              <a:t>再开始循环，如</a:t>
            </a:r>
            <a:endParaRPr lang="en-US" altLang="zh-CN" dirty="0">
              <a:latin typeface="Cascadia Code SemiLight" panose="020B0609020000020004" pitchFamily="49" charset="0"/>
              <a:cs typeface="Cascadia Code SemiLight" panose="020B0609020000020004" pitchFamily="49" charset="0"/>
            </a:endParaRPr>
          </a:p>
          <a:p>
            <a:pPr algn="ctr"/>
            <a:r>
              <a:rPr lang="en-US" altLang="zh-CN" dirty="0">
                <a:latin typeface="Cascadia Code SemiLight" panose="020B0609020000020004" pitchFamily="49" charset="0"/>
                <a:cs typeface="Cascadia Code SemiLight" panose="020B0609020000020004" pitchFamily="49" charset="0"/>
              </a:rPr>
              <a:t>for(</a:t>
            </a:r>
            <a:r>
              <a:rPr lang="en-US" altLang="zh-CN" dirty="0" err="1">
                <a:latin typeface="Cascadia Code SemiLight" panose="020B0609020000020004" pitchFamily="49" charset="0"/>
                <a:cs typeface="Cascadia Code SemiLight" panose="020B0609020000020004" pitchFamily="49" charset="0"/>
              </a:rPr>
              <a:t>i</a:t>
            </a:r>
            <a:r>
              <a:rPr lang="en-US" altLang="zh-CN" dirty="0">
                <a:latin typeface="Cascadia Code SemiLight" panose="020B0609020000020004" pitchFamily="49" charset="0"/>
                <a:cs typeface="Cascadia Code SemiLight" panose="020B0609020000020004" pitchFamily="49" charset="0"/>
              </a:rPr>
              <a:t> = 0; …; …)</a:t>
            </a:r>
            <a:endParaRPr lang="zh-CN" altLang="en-US" dirty="0">
              <a:latin typeface="Cascadia Code SemiLight" panose="020B0609020000020004" pitchFamily="49" charset="0"/>
              <a:cs typeface="Cascadia Code SemiLight" panose="020B0609020000020004" pitchFamily="49" charset="0"/>
            </a:endParaRPr>
          </a:p>
        </p:txBody>
      </p:sp>
    </p:spTree>
    <p:extLst>
      <p:ext uri="{BB962C8B-B14F-4D97-AF65-F5344CB8AC3E}">
        <p14:creationId xmlns:p14="http://schemas.microsoft.com/office/powerpoint/2010/main" val="7323739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521207" y="448056"/>
            <a:ext cx="10552533" cy="640080"/>
          </a:xfrm>
        </p:spPr>
        <p:txBody>
          <a:bodyPr rtlCol="0">
            <a:noAutofit/>
          </a:bodyPr>
          <a:lstStyle/>
          <a:p>
            <a:pPr rtl="0"/>
            <a:r>
              <a:rPr lang="en-US" altLang="zh-CN" dirty="0">
                <a:cs typeface="Segoe UI Light" panose="020B0502040204020203" pitchFamily="34" charset="0"/>
              </a:rPr>
              <a:t>Chapter 5  </a:t>
            </a:r>
            <a:r>
              <a:rPr lang="zh-CN" altLang="en-US" dirty="0">
                <a:cs typeface="Segoe UI Light" panose="020B0502040204020203" pitchFamily="34" charset="0"/>
              </a:rPr>
              <a:t>数组</a:t>
            </a:r>
          </a:p>
        </p:txBody>
      </p:sp>
      <p:sp>
        <p:nvSpPr>
          <p:cNvPr id="2" name="文本框 1">
            <a:extLst>
              <a:ext uri="{FF2B5EF4-FFF2-40B4-BE49-F238E27FC236}">
                <a16:creationId xmlns:a16="http://schemas.microsoft.com/office/drawing/2014/main" id="{278E70F4-2A89-46EF-8FA4-B65F4871C040}"/>
              </a:ext>
            </a:extLst>
          </p:cNvPr>
          <p:cNvSpPr txBox="1"/>
          <p:nvPr/>
        </p:nvSpPr>
        <p:spPr>
          <a:xfrm>
            <a:off x="611578" y="1413164"/>
            <a:ext cx="3621975" cy="369332"/>
          </a:xfrm>
          <a:prstGeom prst="rect">
            <a:avLst/>
          </a:prstGeom>
          <a:noFill/>
        </p:spPr>
        <p:txBody>
          <a:bodyPr wrap="square" rtlCol="0">
            <a:spAutoFit/>
          </a:bodyPr>
          <a:lstStyle/>
          <a:p>
            <a:r>
              <a:rPr lang="en-US" altLang="zh-CN" dirty="0"/>
              <a:t>5.2  </a:t>
            </a:r>
            <a:r>
              <a:rPr lang="zh-CN" altLang="en-US" dirty="0"/>
              <a:t>多维数组</a:t>
            </a:r>
          </a:p>
        </p:txBody>
      </p:sp>
      <p:pic>
        <p:nvPicPr>
          <p:cNvPr id="4" name="图片 3">
            <a:extLst>
              <a:ext uri="{FF2B5EF4-FFF2-40B4-BE49-F238E27FC236}">
                <a16:creationId xmlns:a16="http://schemas.microsoft.com/office/drawing/2014/main" id="{E62661E8-28BD-49DF-8929-6E3C75B18C68}"/>
              </a:ext>
            </a:extLst>
          </p:cNvPr>
          <p:cNvPicPr>
            <a:picLocks noChangeAspect="1"/>
          </p:cNvPicPr>
          <p:nvPr/>
        </p:nvPicPr>
        <p:blipFill>
          <a:blip r:embed="rId3"/>
          <a:stretch>
            <a:fillRect/>
          </a:stretch>
        </p:blipFill>
        <p:spPr>
          <a:xfrm>
            <a:off x="5440756" y="323140"/>
            <a:ext cx="6393006" cy="6211719"/>
          </a:xfrm>
          <a:prstGeom prst="rect">
            <a:avLst/>
          </a:prstGeom>
        </p:spPr>
      </p:pic>
      <p:sp>
        <p:nvSpPr>
          <p:cNvPr id="7" name="文本框 6">
            <a:extLst>
              <a:ext uri="{FF2B5EF4-FFF2-40B4-BE49-F238E27FC236}">
                <a16:creationId xmlns:a16="http://schemas.microsoft.com/office/drawing/2014/main" id="{4FD32359-AA65-4E54-A502-3B371D5D195A}"/>
              </a:ext>
            </a:extLst>
          </p:cNvPr>
          <p:cNvSpPr txBox="1"/>
          <p:nvPr/>
        </p:nvSpPr>
        <p:spPr>
          <a:xfrm>
            <a:off x="611578" y="1885991"/>
            <a:ext cx="4714505" cy="3416320"/>
          </a:xfrm>
          <a:prstGeom prst="rect">
            <a:avLst/>
          </a:prstGeom>
          <a:noFill/>
        </p:spPr>
        <p:txBody>
          <a:bodyPr wrap="square" rtlCol="0">
            <a:spAutoFit/>
          </a:bodyPr>
          <a:lstStyle/>
          <a:p>
            <a:r>
              <a:rPr lang="zh-CN" altLang="en-US" dirty="0">
                <a:latin typeface="Cascadia Code SemiLight" panose="020B0609020000020004" pitchFamily="49" charset="0"/>
                <a:cs typeface="Cascadia Code SemiLight" panose="020B0609020000020004" pitchFamily="49" charset="0"/>
              </a:rPr>
              <a:t>注意：</a:t>
            </a:r>
            <a:endParaRPr lang="en-US" altLang="zh-CN" dirty="0">
              <a:latin typeface="Cascadia Code SemiLight" panose="020B0609020000020004" pitchFamily="49" charset="0"/>
              <a:cs typeface="Cascadia Code SemiLight" panose="020B0609020000020004" pitchFamily="49" charset="0"/>
            </a:endParaRPr>
          </a:p>
          <a:p>
            <a:endParaRPr lang="en-US" altLang="zh-CN" dirty="0">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在</a:t>
            </a:r>
            <a:r>
              <a:rPr lang="en-US" altLang="zh-CN" dirty="0">
                <a:latin typeface="Cascadia Code SemiLight" panose="020B0609020000020004" pitchFamily="49" charset="0"/>
                <a:cs typeface="Cascadia Code SemiLight" panose="020B0609020000020004" pitchFamily="49" charset="0"/>
              </a:rPr>
              <a:t>C</a:t>
            </a:r>
            <a:r>
              <a:rPr lang="zh-CN" altLang="en-US" dirty="0">
                <a:latin typeface="Cascadia Code SemiLight" panose="020B0609020000020004" pitchFamily="49" charset="0"/>
                <a:cs typeface="Cascadia Code SemiLight" panose="020B0609020000020004" pitchFamily="49" charset="0"/>
              </a:rPr>
              <a:t>语言中，多维数组的定义更注重更低维的定义，即你可以不定义高维边界，如</a:t>
            </a:r>
            <a:endParaRPr lang="en-US" altLang="zh-CN" dirty="0">
              <a:latin typeface="Cascadia Code SemiLight" panose="020B0609020000020004" pitchFamily="49" charset="0"/>
              <a:cs typeface="Cascadia Code SemiLight" panose="020B0609020000020004" pitchFamily="49" charset="0"/>
            </a:endParaRPr>
          </a:p>
          <a:p>
            <a:r>
              <a:rPr lang="en-US" altLang="zh-CN" dirty="0">
                <a:latin typeface="Cascadia Code SemiLight" panose="020B0609020000020004" pitchFamily="49" charset="0"/>
                <a:cs typeface="Cascadia Code SemiLight" panose="020B0609020000020004" pitchFamily="49" charset="0"/>
              </a:rPr>
              <a:t>a[][4]</a:t>
            </a:r>
          </a:p>
          <a:p>
            <a:r>
              <a:rPr lang="en-US" altLang="zh-CN" dirty="0">
                <a:latin typeface="Cascadia Code SemiLight" panose="020B0609020000020004" pitchFamily="49" charset="0"/>
                <a:cs typeface="Cascadia Code SemiLight" panose="020B0609020000020004" pitchFamily="49" charset="0"/>
              </a:rPr>
              <a:t>a[][7][3]</a:t>
            </a:r>
          </a:p>
          <a:p>
            <a:r>
              <a:rPr lang="zh-CN" altLang="en-US" dirty="0">
                <a:latin typeface="Cascadia Code SemiLight" panose="020B0609020000020004" pitchFamily="49" charset="0"/>
                <a:cs typeface="Cascadia Code SemiLight" panose="020B0609020000020004" pitchFamily="49" charset="0"/>
              </a:rPr>
              <a:t>但这样仅限于形参类型说明时简约化编写如</a:t>
            </a:r>
            <a:endParaRPr lang="en-US" altLang="zh-CN" dirty="0">
              <a:latin typeface="Cascadia Code SemiLight" panose="020B0609020000020004" pitchFamily="49" charset="0"/>
              <a:cs typeface="Cascadia Code SemiLight" panose="020B0609020000020004" pitchFamily="49" charset="0"/>
            </a:endParaRPr>
          </a:p>
          <a:p>
            <a:r>
              <a:rPr lang="en-US" altLang="zh-CN" dirty="0">
                <a:latin typeface="Cascadia Code SemiLight" panose="020B0609020000020004" pitchFamily="49" charset="0"/>
                <a:cs typeface="Cascadia Code SemiLight" panose="020B0609020000020004" pitchFamily="49" charset="0"/>
              </a:rPr>
              <a:t>int </a:t>
            </a:r>
            <a:r>
              <a:rPr lang="en-US" altLang="zh-CN" dirty="0" err="1">
                <a:latin typeface="Cascadia Code SemiLight" panose="020B0609020000020004" pitchFamily="49" charset="0"/>
                <a:cs typeface="Cascadia Code SemiLight" panose="020B0609020000020004" pitchFamily="49" charset="0"/>
              </a:rPr>
              <a:t>func</a:t>
            </a:r>
            <a:r>
              <a:rPr lang="en-US" altLang="zh-CN" dirty="0">
                <a:latin typeface="Cascadia Code SemiLight" panose="020B0609020000020004" pitchFamily="49" charset="0"/>
                <a:cs typeface="Cascadia Code SemiLight" panose="020B0609020000020004" pitchFamily="49" charset="0"/>
              </a:rPr>
              <a:t>(int a[][4]){…};</a:t>
            </a:r>
          </a:p>
          <a:p>
            <a:endParaRPr lang="en-US" altLang="zh-CN" dirty="0">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其他情况容易出错，不要养成这样的习惯，该多少明确写，不然数组越界了就是</a:t>
            </a:r>
            <a:endParaRPr lang="en-US" altLang="zh-CN" dirty="0">
              <a:latin typeface="Cascadia Code SemiLight" panose="020B0609020000020004" pitchFamily="49" charset="0"/>
              <a:cs typeface="Cascadia Code SemiLight" panose="020B0609020000020004" pitchFamily="49" charset="0"/>
            </a:endParaRPr>
          </a:p>
          <a:p>
            <a:pPr algn="ctr"/>
            <a:r>
              <a:rPr lang="zh-CN" altLang="en-US" dirty="0">
                <a:solidFill>
                  <a:srgbClr val="FF0000"/>
                </a:solidFill>
                <a:latin typeface="Cascadia Code SemiLight" panose="020B0609020000020004" pitchFamily="49" charset="0"/>
                <a:cs typeface="Cascadia Code SemiLight" panose="020B0609020000020004" pitchFamily="49" charset="0"/>
              </a:rPr>
              <a:t>指针越界</a:t>
            </a:r>
            <a:endParaRPr lang="en-US" altLang="zh-CN" dirty="0">
              <a:solidFill>
                <a:srgbClr val="FF0000"/>
              </a:solidFill>
              <a:latin typeface="Cascadia Code SemiLight" panose="020B0609020000020004" pitchFamily="49" charset="0"/>
              <a:cs typeface="Cascadia Code SemiLight" panose="020B0609020000020004" pitchFamily="49" charset="0"/>
            </a:endParaRPr>
          </a:p>
        </p:txBody>
      </p:sp>
    </p:spTree>
    <p:extLst>
      <p:ext uri="{BB962C8B-B14F-4D97-AF65-F5344CB8AC3E}">
        <p14:creationId xmlns:p14="http://schemas.microsoft.com/office/powerpoint/2010/main" val="7899584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521207" y="448056"/>
            <a:ext cx="10552533" cy="640080"/>
          </a:xfrm>
        </p:spPr>
        <p:txBody>
          <a:bodyPr rtlCol="0">
            <a:noAutofit/>
          </a:bodyPr>
          <a:lstStyle/>
          <a:p>
            <a:pPr rtl="0"/>
            <a:r>
              <a:rPr lang="en-US" altLang="zh-CN" dirty="0">
                <a:cs typeface="Segoe UI Light" panose="020B0502040204020203" pitchFamily="34" charset="0"/>
              </a:rPr>
              <a:t>Chapter 5  </a:t>
            </a:r>
            <a:r>
              <a:rPr lang="zh-CN" altLang="en-US" dirty="0">
                <a:cs typeface="Segoe UI Light" panose="020B0502040204020203" pitchFamily="34" charset="0"/>
              </a:rPr>
              <a:t>数组</a:t>
            </a:r>
          </a:p>
        </p:txBody>
      </p:sp>
      <p:sp>
        <p:nvSpPr>
          <p:cNvPr id="2" name="文本框 1">
            <a:extLst>
              <a:ext uri="{FF2B5EF4-FFF2-40B4-BE49-F238E27FC236}">
                <a16:creationId xmlns:a16="http://schemas.microsoft.com/office/drawing/2014/main" id="{278E70F4-2A89-46EF-8FA4-B65F4871C040}"/>
              </a:ext>
            </a:extLst>
          </p:cNvPr>
          <p:cNvSpPr txBox="1"/>
          <p:nvPr/>
        </p:nvSpPr>
        <p:spPr>
          <a:xfrm>
            <a:off x="611578" y="1413164"/>
            <a:ext cx="3621975" cy="369332"/>
          </a:xfrm>
          <a:prstGeom prst="rect">
            <a:avLst/>
          </a:prstGeom>
          <a:noFill/>
        </p:spPr>
        <p:txBody>
          <a:bodyPr wrap="square" rtlCol="0">
            <a:spAutoFit/>
          </a:bodyPr>
          <a:lstStyle/>
          <a:p>
            <a:r>
              <a:rPr lang="en-US" altLang="zh-CN" dirty="0"/>
              <a:t>5.4 </a:t>
            </a:r>
            <a:r>
              <a:rPr lang="zh-CN" altLang="en-US" dirty="0"/>
              <a:t>数组在函数间的传递</a:t>
            </a:r>
          </a:p>
        </p:txBody>
      </p:sp>
      <p:sp>
        <p:nvSpPr>
          <p:cNvPr id="9" name="文本框 8">
            <a:extLst>
              <a:ext uri="{FF2B5EF4-FFF2-40B4-BE49-F238E27FC236}">
                <a16:creationId xmlns:a16="http://schemas.microsoft.com/office/drawing/2014/main" id="{960E6E0D-9345-491B-BCB9-24517E6F03D8}"/>
              </a:ext>
            </a:extLst>
          </p:cNvPr>
          <p:cNvSpPr txBox="1"/>
          <p:nvPr/>
        </p:nvSpPr>
        <p:spPr>
          <a:xfrm>
            <a:off x="611578" y="1885991"/>
            <a:ext cx="10681856" cy="369332"/>
          </a:xfrm>
          <a:prstGeom prst="rect">
            <a:avLst/>
          </a:prstGeom>
          <a:noFill/>
        </p:spPr>
        <p:txBody>
          <a:bodyPr wrap="square" rtlCol="0">
            <a:spAutoFit/>
          </a:bodyPr>
          <a:lstStyle/>
          <a:p>
            <a:r>
              <a:rPr lang="zh-CN" altLang="en-US" dirty="0">
                <a:latin typeface="Cascadia Code SemiLight" panose="020B0609020000020004" pitchFamily="49" charset="0"/>
                <a:cs typeface="Cascadia Code SemiLight" panose="020B0609020000020004" pitchFamily="49" charset="0"/>
              </a:rPr>
              <a:t>放到第六章一起讲</a:t>
            </a:r>
          </a:p>
        </p:txBody>
      </p:sp>
    </p:spTree>
    <p:extLst>
      <p:ext uri="{BB962C8B-B14F-4D97-AF65-F5344CB8AC3E}">
        <p14:creationId xmlns:p14="http://schemas.microsoft.com/office/powerpoint/2010/main" val="27258022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521207" y="448056"/>
            <a:ext cx="10552533" cy="640080"/>
          </a:xfrm>
        </p:spPr>
        <p:txBody>
          <a:bodyPr rtlCol="0">
            <a:noAutofit/>
          </a:bodyPr>
          <a:lstStyle/>
          <a:p>
            <a:pPr rtl="0"/>
            <a:r>
              <a:rPr lang="en-US" altLang="zh-CN" dirty="0">
                <a:cs typeface="Segoe UI Light" panose="020B0502040204020203" pitchFamily="34" charset="0"/>
              </a:rPr>
              <a:t>Chapter 6  </a:t>
            </a:r>
            <a:r>
              <a:rPr lang="zh-CN" altLang="en-US" dirty="0">
                <a:cs typeface="Segoe UI Light" panose="020B0502040204020203" pitchFamily="34" charset="0"/>
              </a:rPr>
              <a:t>指针</a:t>
            </a:r>
          </a:p>
        </p:txBody>
      </p:sp>
      <p:sp>
        <p:nvSpPr>
          <p:cNvPr id="2" name="文本框 1">
            <a:extLst>
              <a:ext uri="{FF2B5EF4-FFF2-40B4-BE49-F238E27FC236}">
                <a16:creationId xmlns:a16="http://schemas.microsoft.com/office/drawing/2014/main" id="{278E70F4-2A89-46EF-8FA4-B65F4871C040}"/>
              </a:ext>
            </a:extLst>
          </p:cNvPr>
          <p:cNvSpPr txBox="1"/>
          <p:nvPr/>
        </p:nvSpPr>
        <p:spPr>
          <a:xfrm>
            <a:off x="611578" y="1413164"/>
            <a:ext cx="3621975" cy="369332"/>
          </a:xfrm>
          <a:prstGeom prst="rect">
            <a:avLst/>
          </a:prstGeom>
          <a:noFill/>
        </p:spPr>
        <p:txBody>
          <a:bodyPr wrap="square" rtlCol="0">
            <a:spAutoFit/>
          </a:bodyPr>
          <a:lstStyle/>
          <a:p>
            <a:r>
              <a:rPr lang="en-US" altLang="zh-CN" dirty="0"/>
              <a:t>6.1  </a:t>
            </a:r>
            <a:r>
              <a:rPr lang="zh-CN" altLang="en-US" dirty="0"/>
              <a:t>指针定义、内存</a:t>
            </a:r>
          </a:p>
        </p:txBody>
      </p:sp>
      <p:sp>
        <p:nvSpPr>
          <p:cNvPr id="6" name="文本框 5">
            <a:extLst>
              <a:ext uri="{FF2B5EF4-FFF2-40B4-BE49-F238E27FC236}">
                <a16:creationId xmlns:a16="http://schemas.microsoft.com/office/drawing/2014/main" id="{B119C729-DD1B-4646-8CC0-5E4643253833}"/>
              </a:ext>
            </a:extLst>
          </p:cNvPr>
          <p:cNvSpPr txBox="1"/>
          <p:nvPr/>
        </p:nvSpPr>
        <p:spPr>
          <a:xfrm>
            <a:off x="611578" y="1885991"/>
            <a:ext cx="10681856" cy="3970318"/>
          </a:xfrm>
          <a:prstGeom prst="rect">
            <a:avLst/>
          </a:prstGeom>
          <a:noFill/>
        </p:spPr>
        <p:txBody>
          <a:bodyPr wrap="square" rtlCol="0">
            <a:spAutoFit/>
          </a:bodyPr>
          <a:lstStyle/>
          <a:p>
            <a:r>
              <a:rPr lang="zh-CN" altLang="en-US" dirty="0">
                <a:latin typeface="Cascadia Code SemiLight" panose="020B0609020000020004" pitchFamily="49" charset="0"/>
                <a:cs typeface="Cascadia Code SemiLight" panose="020B0609020000020004" pitchFamily="49" charset="0"/>
              </a:rPr>
              <a:t>指针，即变量的地址，它揭漏了变量的位置，从而你可以直接通过指针操纵该变量（如果可以）。</a:t>
            </a:r>
            <a:endParaRPr lang="en-US" altLang="zh-CN" dirty="0">
              <a:latin typeface="Cascadia Code SemiLight" panose="020B0609020000020004" pitchFamily="49" charset="0"/>
              <a:cs typeface="Cascadia Code SemiLight" panose="020B0609020000020004" pitchFamily="49" charset="0"/>
            </a:endParaRPr>
          </a:p>
          <a:p>
            <a:endParaRPr lang="en-US" altLang="zh-CN" dirty="0">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（一维）指针的定义形式：</a:t>
            </a:r>
            <a:endParaRPr lang="en-US" altLang="zh-CN" dirty="0">
              <a:latin typeface="Cascadia Code SemiLight" panose="020B0609020000020004" pitchFamily="49" charset="0"/>
              <a:cs typeface="Cascadia Code SemiLight" panose="020B0609020000020004" pitchFamily="49" charset="0"/>
            </a:endParaRPr>
          </a:p>
          <a:p>
            <a:r>
              <a:rPr lang="en-US" altLang="zh-CN" dirty="0">
                <a:latin typeface="Cascadia Code SemiLight" panose="020B0609020000020004" pitchFamily="49" charset="0"/>
                <a:cs typeface="Cascadia Code SemiLight" panose="020B0609020000020004" pitchFamily="49" charset="0"/>
              </a:rPr>
              <a:t>[</a:t>
            </a:r>
            <a:r>
              <a:rPr lang="zh-CN" altLang="en-US" dirty="0">
                <a:latin typeface="Cascadia Code SemiLight" panose="020B0609020000020004" pitchFamily="49" charset="0"/>
                <a:cs typeface="Cascadia Code SemiLight" panose="020B0609020000020004" pitchFamily="49" charset="0"/>
              </a:rPr>
              <a:t>存储类型</a:t>
            </a:r>
            <a:r>
              <a:rPr lang="en-US" altLang="zh-CN" dirty="0">
                <a:latin typeface="Cascadia Code SemiLight" panose="020B0609020000020004" pitchFamily="49" charset="0"/>
                <a:cs typeface="Cascadia Code SemiLight" panose="020B0609020000020004" pitchFamily="49" charset="0"/>
              </a:rPr>
              <a:t>] </a:t>
            </a:r>
            <a:r>
              <a:rPr lang="zh-CN" altLang="en-US" dirty="0">
                <a:latin typeface="Cascadia Code SemiLight" panose="020B0609020000020004" pitchFamily="49" charset="0"/>
                <a:cs typeface="Cascadia Code SemiLight" panose="020B0609020000020004" pitchFamily="49" charset="0"/>
              </a:rPr>
              <a:t>数据类型 </a:t>
            </a:r>
            <a:r>
              <a:rPr lang="en-US" altLang="zh-CN" dirty="0">
                <a:solidFill>
                  <a:srgbClr val="FF0000"/>
                </a:solidFill>
                <a:latin typeface="Cascadia Code SemiLight" panose="020B0609020000020004" pitchFamily="49" charset="0"/>
                <a:cs typeface="Cascadia Code SemiLight" panose="020B0609020000020004" pitchFamily="49" charset="0"/>
              </a:rPr>
              <a:t>*</a:t>
            </a:r>
            <a:r>
              <a:rPr lang="zh-CN" altLang="en-US" dirty="0">
                <a:latin typeface="Cascadia Code SemiLight" panose="020B0609020000020004" pitchFamily="49" charset="0"/>
                <a:cs typeface="Cascadia Code SemiLight" panose="020B0609020000020004" pitchFamily="49" charset="0"/>
              </a:rPr>
              <a:t>指针名</a:t>
            </a:r>
            <a:endParaRPr lang="en-US" altLang="zh-CN" dirty="0">
              <a:latin typeface="Cascadia Code SemiLight" panose="020B0609020000020004" pitchFamily="49" charset="0"/>
              <a:cs typeface="Cascadia Code SemiLight" panose="020B0609020000020004" pitchFamily="49" charset="0"/>
            </a:endParaRPr>
          </a:p>
          <a:p>
            <a:endParaRPr lang="en-US" altLang="zh-CN" dirty="0">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例如：</a:t>
            </a:r>
            <a:endParaRPr lang="en-US" altLang="zh-CN" dirty="0">
              <a:latin typeface="Cascadia Code SemiLight" panose="020B0609020000020004" pitchFamily="49" charset="0"/>
              <a:cs typeface="Cascadia Code SemiLight" panose="020B0609020000020004" pitchFamily="49" charset="0"/>
            </a:endParaRPr>
          </a:p>
          <a:p>
            <a:r>
              <a:rPr lang="en-US" altLang="zh-CN" dirty="0">
                <a:latin typeface="Cascadia Code SemiLight" panose="020B0609020000020004" pitchFamily="49" charset="0"/>
                <a:cs typeface="Cascadia Code SemiLight" panose="020B0609020000020004" pitchFamily="49" charset="0"/>
              </a:rPr>
              <a:t>int *px; // </a:t>
            </a:r>
            <a:r>
              <a:rPr lang="zh-CN" altLang="en-US" dirty="0">
                <a:latin typeface="Cascadia Code SemiLight" panose="020B0609020000020004" pitchFamily="49" charset="0"/>
                <a:cs typeface="Cascadia Code SemiLight" panose="020B0609020000020004" pitchFamily="49" charset="0"/>
              </a:rPr>
              <a:t>习惯上，我们会定义</a:t>
            </a:r>
            <a:r>
              <a:rPr lang="en-US" altLang="zh-CN" dirty="0">
                <a:latin typeface="Cascadia Code SemiLight" panose="020B0609020000020004" pitchFamily="49" charset="0"/>
                <a:cs typeface="Cascadia Code SemiLight" panose="020B0609020000020004" pitchFamily="49" charset="0"/>
              </a:rPr>
              <a:t>int x;  </a:t>
            </a:r>
            <a:r>
              <a:rPr lang="zh-CN" altLang="en-US" dirty="0">
                <a:latin typeface="Cascadia Code SemiLight" panose="020B0609020000020004" pitchFamily="49" charset="0"/>
                <a:cs typeface="Cascadia Code SemiLight" panose="020B0609020000020004" pitchFamily="49" charset="0"/>
              </a:rPr>
              <a:t>而用</a:t>
            </a:r>
            <a:r>
              <a:rPr lang="en-US" altLang="zh-CN" dirty="0">
                <a:latin typeface="Cascadia Code SemiLight" panose="020B0609020000020004" pitchFamily="49" charset="0"/>
                <a:cs typeface="Cascadia Code SemiLight" panose="020B0609020000020004" pitchFamily="49" charset="0"/>
              </a:rPr>
              <a:t>px</a:t>
            </a:r>
            <a:r>
              <a:rPr lang="zh-CN" altLang="en-US" dirty="0">
                <a:latin typeface="Cascadia Code SemiLight" panose="020B0609020000020004" pitchFamily="49" charset="0"/>
                <a:cs typeface="Cascadia Code SemiLight" panose="020B0609020000020004" pitchFamily="49" charset="0"/>
              </a:rPr>
              <a:t>代表它的指针，前面的</a:t>
            </a:r>
            <a:r>
              <a:rPr lang="en-US" altLang="zh-CN" dirty="0">
                <a:latin typeface="Cascadia Code SemiLight" panose="020B0609020000020004" pitchFamily="49" charset="0"/>
                <a:cs typeface="Cascadia Code SemiLight" panose="020B0609020000020004" pitchFamily="49" charset="0"/>
              </a:rPr>
              <a:t>p</a:t>
            </a:r>
            <a:r>
              <a:rPr lang="zh-CN" altLang="en-US" dirty="0">
                <a:latin typeface="Cascadia Code SemiLight" panose="020B0609020000020004" pitchFamily="49" charset="0"/>
                <a:cs typeface="Cascadia Code SemiLight" panose="020B0609020000020004" pitchFamily="49" charset="0"/>
              </a:rPr>
              <a:t>即</a:t>
            </a:r>
            <a:r>
              <a:rPr lang="en-US" altLang="zh-CN" dirty="0">
                <a:latin typeface="Cascadia Code SemiLight" panose="020B0609020000020004" pitchFamily="49" charset="0"/>
                <a:cs typeface="Cascadia Code SemiLight" panose="020B0609020000020004" pitchFamily="49" charset="0"/>
              </a:rPr>
              <a:t>”pointer”</a:t>
            </a:r>
          </a:p>
          <a:p>
            <a:endParaRPr lang="en-US" altLang="zh-CN" dirty="0">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也可以写：</a:t>
            </a:r>
            <a:endParaRPr lang="en-US" altLang="zh-CN" dirty="0">
              <a:latin typeface="Cascadia Code SemiLight" panose="020B0609020000020004" pitchFamily="49" charset="0"/>
              <a:cs typeface="Cascadia Code SemiLight" panose="020B0609020000020004" pitchFamily="49" charset="0"/>
            </a:endParaRPr>
          </a:p>
          <a:p>
            <a:r>
              <a:rPr lang="en-US" altLang="zh-CN" dirty="0">
                <a:latin typeface="Cascadia Code SemiLight" panose="020B0609020000020004" pitchFamily="49" charset="0"/>
                <a:cs typeface="Cascadia Code SemiLight" panose="020B0609020000020004" pitchFamily="49" charset="0"/>
              </a:rPr>
              <a:t>int* px; </a:t>
            </a:r>
          </a:p>
          <a:p>
            <a:r>
              <a:rPr lang="zh-CN" altLang="en-US" dirty="0">
                <a:latin typeface="Cascadia Code SemiLight" panose="020B0609020000020004" pitchFamily="49" charset="0"/>
                <a:cs typeface="Cascadia Code SemiLight" panose="020B0609020000020004" pitchFamily="49" charset="0"/>
              </a:rPr>
              <a:t>此处更强调定义的这个变量是指针，上面的更强调定义的指针是</a:t>
            </a:r>
            <a:r>
              <a:rPr lang="en-US" altLang="zh-CN" dirty="0">
                <a:latin typeface="Cascadia Code SemiLight" panose="020B0609020000020004" pitchFamily="49" charset="0"/>
                <a:cs typeface="Cascadia Code SemiLight" panose="020B0609020000020004" pitchFamily="49" charset="0"/>
              </a:rPr>
              <a:t>int</a:t>
            </a:r>
            <a:r>
              <a:rPr lang="zh-CN" altLang="en-US" dirty="0">
                <a:latin typeface="Cascadia Code SemiLight" panose="020B0609020000020004" pitchFamily="49" charset="0"/>
                <a:cs typeface="Cascadia Code SemiLight" panose="020B0609020000020004" pitchFamily="49" charset="0"/>
              </a:rPr>
              <a:t>型的，两者无本质差别</a:t>
            </a:r>
            <a:endParaRPr lang="en-US" altLang="zh-CN" dirty="0">
              <a:latin typeface="Cascadia Code SemiLight" panose="020B0609020000020004" pitchFamily="49" charset="0"/>
              <a:cs typeface="Cascadia Code SemiLight" panose="020B0609020000020004" pitchFamily="49" charset="0"/>
            </a:endParaRPr>
          </a:p>
          <a:p>
            <a:endParaRPr lang="en-US" altLang="zh-CN" dirty="0">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可以和非指针变量一起定义，如：</a:t>
            </a:r>
            <a:endParaRPr lang="en-US" altLang="zh-CN" dirty="0">
              <a:latin typeface="Cascadia Code SemiLight" panose="020B0609020000020004" pitchFamily="49" charset="0"/>
              <a:cs typeface="Cascadia Code SemiLight" panose="020B0609020000020004" pitchFamily="49" charset="0"/>
            </a:endParaRPr>
          </a:p>
          <a:p>
            <a:r>
              <a:rPr lang="en-US" altLang="zh-CN" dirty="0">
                <a:latin typeface="Cascadia Code SemiLight" panose="020B0609020000020004" pitchFamily="49" charset="0"/>
                <a:cs typeface="Cascadia Code SemiLight" panose="020B0609020000020004" pitchFamily="49" charset="0"/>
              </a:rPr>
              <a:t>int x, *px </a:t>
            </a:r>
            <a:r>
              <a:rPr lang="en-US" altLang="zh-CN" dirty="0">
                <a:highlight>
                  <a:srgbClr val="FFFF00"/>
                </a:highlight>
                <a:latin typeface="Cascadia Code SemiLight" panose="020B0609020000020004" pitchFamily="49" charset="0"/>
                <a:cs typeface="Cascadia Code SemiLight" panose="020B0609020000020004" pitchFamily="49" charset="0"/>
              </a:rPr>
              <a:t>= &amp;x</a:t>
            </a:r>
            <a:r>
              <a:rPr lang="en-US" altLang="zh-CN" dirty="0">
                <a:latin typeface="Cascadia Code SemiLight" panose="020B0609020000020004" pitchFamily="49" charset="0"/>
                <a:cs typeface="Cascadia Code SemiLight" panose="020B0609020000020004" pitchFamily="49" charset="0"/>
              </a:rPr>
              <a:t>;</a:t>
            </a:r>
          </a:p>
        </p:txBody>
      </p:sp>
    </p:spTree>
    <p:extLst>
      <p:ext uri="{BB962C8B-B14F-4D97-AF65-F5344CB8AC3E}">
        <p14:creationId xmlns:p14="http://schemas.microsoft.com/office/powerpoint/2010/main" val="34183105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521207" y="448056"/>
            <a:ext cx="10552533" cy="640080"/>
          </a:xfrm>
        </p:spPr>
        <p:txBody>
          <a:bodyPr rtlCol="0">
            <a:noAutofit/>
          </a:bodyPr>
          <a:lstStyle/>
          <a:p>
            <a:pPr rtl="0"/>
            <a:r>
              <a:rPr lang="en-US" altLang="zh-CN" dirty="0">
                <a:cs typeface="Segoe UI Light" panose="020B0502040204020203" pitchFamily="34" charset="0"/>
              </a:rPr>
              <a:t>Chapter 6  </a:t>
            </a:r>
            <a:r>
              <a:rPr lang="zh-CN" altLang="en-US" dirty="0">
                <a:cs typeface="Segoe UI Light" panose="020B0502040204020203" pitchFamily="34" charset="0"/>
              </a:rPr>
              <a:t>指针</a:t>
            </a:r>
          </a:p>
        </p:txBody>
      </p:sp>
      <p:sp>
        <p:nvSpPr>
          <p:cNvPr id="2" name="文本框 1">
            <a:extLst>
              <a:ext uri="{FF2B5EF4-FFF2-40B4-BE49-F238E27FC236}">
                <a16:creationId xmlns:a16="http://schemas.microsoft.com/office/drawing/2014/main" id="{278E70F4-2A89-46EF-8FA4-B65F4871C040}"/>
              </a:ext>
            </a:extLst>
          </p:cNvPr>
          <p:cNvSpPr txBox="1"/>
          <p:nvPr/>
        </p:nvSpPr>
        <p:spPr>
          <a:xfrm>
            <a:off x="611578" y="1413164"/>
            <a:ext cx="3621975" cy="369332"/>
          </a:xfrm>
          <a:prstGeom prst="rect">
            <a:avLst/>
          </a:prstGeom>
          <a:noFill/>
        </p:spPr>
        <p:txBody>
          <a:bodyPr wrap="square" rtlCol="0">
            <a:spAutoFit/>
          </a:bodyPr>
          <a:lstStyle/>
          <a:p>
            <a:r>
              <a:rPr lang="en-US" altLang="zh-CN" dirty="0"/>
              <a:t>6.1  </a:t>
            </a:r>
            <a:r>
              <a:rPr lang="zh-CN" altLang="en-US" dirty="0"/>
              <a:t>指针定义、内存</a:t>
            </a:r>
          </a:p>
        </p:txBody>
      </p:sp>
      <p:sp>
        <p:nvSpPr>
          <p:cNvPr id="6" name="文本框 5">
            <a:extLst>
              <a:ext uri="{FF2B5EF4-FFF2-40B4-BE49-F238E27FC236}">
                <a16:creationId xmlns:a16="http://schemas.microsoft.com/office/drawing/2014/main" id="{B119C729-DD1B-4646-8CC0-5E4643253833}"/>
              </a:ext>
            </a:extLst>
          </p:cNvPr>
          <p:cNvSpPr txBox="1"/>
          <p:nvPr/>
        </p:nvSpPr>
        <p:spPr>
          <a:xfrm>
            <a:off x="611578" y="1885991"/>
            <a:ext cx="10681856" cy="646331"/>
          </a:xfrm>
          <a:prstGeom prst="rect">
            <a:avLst/>
          </a:prstGeom>
          <a:noFill/>
        </p:spPr>
        <p:txBody>
          <a:bodyPr wrap="square" rtlCol="0">
            <a:spAutoFit/>
          </a:bodyPr>
          <a:lstStyle/>
          <a:p>
            <a:r>
              <a:rPr lang="zh-CN" altLang="en-US" dirty="0">
                <a:latin typeface="Cascadia Code SemiLight" panose="020B0609020000020004" pitchFamily="49" charset="0"/>
                <a:cs typeface="Cascadia Code SemiLight" panose="020B0609020000020004" pitchFamily="49" charset="0"/>
              </a:rPr>
              <a:t>内存在计算机中的是整齐排列的，常见的表示最小内存的单位为</a:t>
            </a:r>
            <a:r>
              <a:rPr lang="en-US" altLang="zh-CN" dirty="0">
                <a:latin typeface="Cascadia Code SemiLight" panose="020B0609020000020004" pitchFamily="49" charset="0"/>
                <a:cs typeface="Cascadia Code SemiLight" panose="020B0609020000020004" pitchFamily="49" charset="0"/>
              </a:rPr>
              <a:t>1byte</a:t>
            </a:r>
            <a:r>
              <a:rPr lang="zh-CN" altLang="en-US" dirty="0">
                <a:latin typeface="Cascadia Code SemiLight" panose="020B0609020000020004" pitchFamily="49" charset="0"/>
                <a:cs typeface="Cascadia Code SemiLight" panose="020B0609020000020004" pitchFamily="49" charset="0"/>
              </a:rPr>
              <a:t>，如果将</a:t>
            </a:r>
            <a:r>
              <a:rPr lang="en-US" altLang="zh-CN" dirty="0">
                <a:latin typeface="Cascadia Code SemiLight" panose="020B0609020000020004" pitchFamily="49" charset="0"/>
                <a:cs typeface="Cascadia Code SemiLight" panose="020B0609020000020004" pitchFamily="49" charset="0"/>
              </a:rPr>
              <a:t>1byte</a:t>
            </a:r>
            <a:r>
              <a:rPr lang="zh-CN" altLang="en-US" dirty="0">
                <a:latin typeface="Cascadia Code SemiLight" panose="020B0609020000020004" pitchFamily="49" charset="0"/>
                <a:cs typeface="Cascadia Code SemiLight" panose="020B0609020000020004" pitchFamily="49" charset="0"/>
              </a:rPr>
              <a:t>用一个长方形表示，那么内存可以用一列由 同一大小长方形组成的 特别长的 序列表示</a:t>
            </a:r>
            <a:endParaRPr lang="en-US" altLang="zh-CN" dirty="0">
              <a:latin typeface="Cascadia Code SemiLight" panose="020B0609020000020004" pitchFamily="49" charset="0"/>
              <a:cs typeface="Cascadia Code SemiLight" panose="020B0609020000020004" pitchFamily="49" charset="0"/>
            </a:endParaRPr>
          </a:p>
        </p:txBody>
      </p:sp>
      <p:sp>
        <p:nvSpPr>
          <p:cNvPr id="3" name="矩形 2">
            <a:extLst>
              <a:ext uri="{FF2B5EF4-FFF2-40B4-BE49-F238E27FC236}">
                <a16:creationId xmlns:a16="http://schemas.microsoft.com/office/drawing/2014/main" id="{1F94F529-4E5D-4918-A84D-5DC8A3AED86D}"/>
              </a:ext>
            </a:extLst>
          </p:cNvPr>
          <p:cNvSpPr/>
          <p:nvPr/>
        </p:nvSpPr>
        <p:spPr>
          <a:xfrm>
            <a:off x="967840" y="3087584"/>
            <a:ext cx="1068779"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0x10</a:t>
            </a:r>
            <a:endParaRPr lang="zh-CN" altLang="en-US" dirty="0"/>
          </a:p>
        </p:txBody>
      </p:sp>
      <p:sp>
        <p:nvSpPr>
          <p:cNvPr id="10" name="矩形 9">
            <a:extLst>
              <a:ext uri="{FF2B5EF4-FFF2-40B4-BE49-F238E27FC236}">
                <a16:creationId xmlns:a16="http://schemas.microsoft.com/office/drawing/2014/main" id="{180B2EAF-0F7B-43CE-B1F9-1D01ED43E5F4}"/>
              </a:ext>
            </a:extLst>
          </p:cNvPr>
          <p:cNvSpPr/>
          <p:nvPr/>
        </p:nvSpPr>
        <p:spPr>
          <a:xfrm>
            <a:off x="967840" y="3456916"/>
            <a:ext cx="1068779"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0x11</a:t>
            </a:r>
            <a:endParaRPr lang="zh-CN" altLang="en-US" dirty="0"/>
          </a:p>
        </p:txBody>
      </p:sp>
      <p:sp>
        <p:nvSpPr>
          <p:cNvPr id="11" name="矩形 10">
            <a:extLst>
              <a:ext uri="{FF2B5EF4-FFF2-40B4-BE49-F238E27FC236}">
                <a16:creationId xmlns:a16="http://schemas.microsoft.com/office/drawing/2014/main" id="{74EF788E-DAE4-4904-B464-18C94F6FFE9D}"/>
              </a:ext>
            </a:extLst>
          </p:cNvPr>
          <p:cNvSpPr/>
          <p:nvPr/>
        </p:nvSpPr>
        <p:spPr>
          <a:xfrm>
            <a:off x="967840" y="3826248"/>
            <a:ext cx="1068779"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0x12</a:t>
            </a:r>
            <a:endParaRPr lang="zh-CN" altLang="en-US" dirty="0"/>
          </a:p>
        </p:txBody>
      </p:sp>
      <p:sp>
        <p:nvSpPr>
          <p:cNvPr id="12" name="矩形 11">
            <a:extLst>
              <a:ext uri="{FF2B5EF4-FFF2-40B4-BE49-F238E27FC236}">
                <a16:creationId xmlns:a16="http://schemas.microsoft.com/office/drawing/2014/main" id="{321576CB-F453-4E29-BFB7-B9F4515EBD65}"/>
              </a:ext>
            </a:extLst>
          </p:cNvPr>
          <p:cNvSpPr/>
          <p:nvPr/>
        </p:nvSpPr>
        <p:spPr>
          <a:xfrm>
            <a:off x="967840" y="4195580"/>
            <a:ext cx="1068779"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0x13</a:t>
            </a:r>
            <a:endParaRPr lang="zh-CN" altLang="en-US" dirty="0"/>
          </a:p>
        </p:txBody>
      </p:sp>
      <p:sp>
        <p:nvSpPr>
          <p:cNvPr id="13" name="矩形 12">
            <a:extLst>
              <a:ext uri="{FF2B5EF4-FFF2-40B4-BE49-F238E27FC236}">
                <a16:creationId xmlns:a16="http://schemas.microsoft.com/office/drawing/2014/main" id="{95D614B6-D4E8-4660-BF6B-B2A2B9EC6884}"/>
              </a:ext>
            </a:extLst>
          </p:cNvPr>
          <p:cNvSpPr/>
          <p:nvPr/>
        </p:nvSpPr>
        <p:spPr>
          <a:xfrm>
            <a:off x="967840" y="4564912"/>
            <a:ext cx="1068779"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0x14</a:t>
            </a:r>
            <a:endParaRPr lang="zh-CN" altLang="en-US" dirty="0"/>
          </a:p>
        </p:txBody>
      </p:sp>
      <p:sp>
        <p:nvSpPr>
          <p:cNvPr id="14" name="矩形 13">
            <a:extLst>
              <a:ext uri="{FF2B5EF4-FFF2-40B4-BE49-F238E27FC236}">
                <a16:creationId xmlns:a16="http://schemas.microsoft.com/office/drawing/2014/main" id="{AF7BDD00-DF3D-4630-9D0A-6B749293C950}"/>
              </a:ext>
            </a:extLst>
          </p:cNvPr>
          <p:cNvSpPr/>
          <p:nvPr/>
        </p:nvSpPr>
        <p:spPr>
          <a:xfrm>
            <a:off x="967840" y="4934244"/>
            <a:ext cx="1068779"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0x15</a:t>
            </a:r>
            <a:endParaRPr lang="zh-CN" altLang="en-US" dirty="0"/>
          </a:p>
        </p:txBody>
      </p:sp>
      <p:sp>
        <p:nvSpPr>
          <p:cNvPr id="15" name="矩形 14">
            <a:extLst>
              <a:ext uri="{FF2B5EF4-FFF2-40B4-BE49-F238E27FC236}">
                <a16:creationId xmlns:a16="http://schemas.microsoft.com/office/drawing/2014/main" id="{8EF3759A-E863-4B04-A550-EDA6766EA08F}"/>
              </a:ext>
            </a:extLst>
          </p:cNvPr>
          <p:cNvSpPr/>
          <p:nvPr/>
        </p:nvSpPr>
        <p:spPr>
          <a:xfrm>
            <a:off x="967840" y="5303576"/>
            <a:ext cx="1068779"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0x16</a:t>
            </a:r>
            <a:endParaRPr lang="zh-CN" altLang="en-US" dirty="0"/>
          </a:p>
        </p:txBody>
      </p:sp>
      <p:sp>
        <p:nvSpPr>
          <p:cNvPr id="16" name="矩形 15">
            <a:extLst>
              <a:ext uri="{FF2B5EF4-FFF2-40B4-BE49-F238E27FC236}">
                <a16:creationId xmlns:a16="http://schemas.microsoft.com/office/drawing/2014/main" id="{B2047F5A-BF8B-40E8-9FC8-C6198690DF9A}"/>
              </a:ext>
            </a:extLst>
          </p:cNvPr>
          <p:cNvSpPr/>
          <p:nvPr/>
        </p:nvSpPr>
        <p:spPr>
          <a:xfrm>
            <a:off x="967840" y="5672908"/>
            <a:ext cx="1068779"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0x17</a:t>
            </a:r>
            <a:endParaRPr lang="zh-CN" altLang="en-US" dirty="0"/>
          </a:p>
        </p:txBody>
      </p:sp>
      <p:sp>
        <p:nvSpPr>
          <p:cNvPr id="5" name="文本框 4">
            <a:extLst>
              <a:ext uri="{FF2B5EF4-FFF2-40B4-BE49-F238E27FC236}">
                <a16:creationId xmlns:a16="http://schemas.microsoft.com/office/drawing/2014/main" id="{932C5782-4B54-477C-83EC-EFF78F5ACF7D}"/>
              </a:ext>
            </a:extLst>
          </p:cNvPr>
          <p:cNvSpPr txBox="1"/>
          <p:nvPr/>
        </p:nvSpPr>
        <p:spPr>
          <a:xfrm>
            <a:off x="1324100" y="2718252"/>
            <a:ext cx="771896" cy="369332"/>
          </a:xfrm>
          <a:prstGeom prst="rect">
            <a:avLst/>
          </a:prstGeom>
          <a:noFill/>
        </p:spPr>
        <p:txBody>
          <a:bodyPr wrap="square" rtlCol="0">
            <a:spAutoFit/>
          </a:bodyPr>
          <a:lstStyle/>
          <a:p>
            <a:r>
              <a:rPr lang="en-US" altLang="zh-CN" dirty="0"/>
              <a:t>…</a:t>
            </a:r>
            <a:endParaRPr lang="zh-CN" altLang="en-US" dirty="0"/>
          </a:p>
        </p:txBody>
      </p:sp>
      <p:sp>
        <p:nvSpPr>
          <p:cNvPr id="17" name="文本框 16">
            <a:extLst>
              <a:ext uri="{FF2B5EF4-FFF2-40B4-BE49-F238E27FC236}">
                <a16:creationId xmlns:a16="http://schemas.microsoft.com/office/drawing/2014/main" id="{BD3ABC4E-B081-42DE-A9D4-F4FA837C2168}"/>
              </a:ext>
            </a:extLst>
          </p:cNvPr>
          <p:cNvSpPr txBox="1"/>
          <p:nvPr/>
        </p:nvSpPr>
        <p:spPr>
          <a:xfrm>
            <a:off x="1324100" y="5958236"/>
            <a:ext cx="771896" cy="369332"/>
          </a:xfrm>
          <a:prstGeom prst="rect">
            <a:avLst/>
          </a:prstGeom>
          <a:noFill/>
        </p:spPr>
        <p:txBody>
          <a:bodyPr wrap="square" rtlCol="0">
            <a:spAutoFit/>
          </a:bodyPr>
          <a:lstStyle/>
          <a:p>
            <a:r>
              <a:rPr lang="en-US" altLang="zh-CN" dirty="0"/>
              <a:t>…</a:t>
            </a:r>
            <a:endParaRPr lang="zh-CN" altLang="en-US" dirty="0"/>
          </a:p>
        </p:txBody>
      </p:sp>
      <p:sp>
        <p:nvSpPr>
          <p:cNvPr id="18" name="文本框 17">
            <a:extLst>
              <a:ext uri="{FF2B5EF4-FFF2-40B4-BE49-F238E27FC236}">
                <a16:creationId xmlns:a16="http://schemas.microsoft.com/office/drawing/2014/main" id="{E020F8FA-75A7-4334-9B44-7A9CEE8EECA8}"/>
              </a:ext>
            </a:extLst>
          </p:cNvPr>
          <p:cNvSpPr txBox="1"/>
          <p:nvPr/>
        </p:nvSpPr>
        <p:spPr>
          <a:xfrm>
            <a:off x="3043051" y="2809953"/>
            <a:ext cx="6415645" cy="646331"/>
          </a:xfrm>
          <a:prstGeom prst="rect">
            <a:avLst/>
          </a:prstGeom>
          <a:noFill/>
        </p:spPr>
        <p:txBody>
          <a:bodyPr wrap="square" rtlCol="0">
            <a:spAutoFit/>
          </a:bodyPr>
          <a:lstStyle/>
          <a:p>
            <a:r>
              <a:rPr lang="zh-CN" altLang="en-US" dirty="0">
                <a:latin typeface="Cascadia Code SemiLight" panose="020B0609020000020004" pitchFamily="49" charset="0"/>
                <a:cs typeface="Cascadia Code SemiLight" panose="020B0609020000020004" pitchFamily="49" charset="0"/>
              </a:rPr>
              <a:t>每个</a:t>
            </a:r>
            <a:r>
              <a:rPr lang="en-US" altLang="zh-CN" dirty="0">
                <a:latin typeface="Cascadia Code SemiLight" panose="020B0609020000020004" pitchFamily="49" charset="0"/>
                <a:cs typeface="Cascadia Code SemiLight" panose="020B0609020000020004" pitchFamily="49" charset="0"/>
              </a:rPr>
              <a:t>byte</a:t>
            </a:r>
            <a:r>
              <a:rPr lang="zh-CN" altLang="en-US" dirty="0">
                <a:latin typeface="Cascadia Code SemiLight" panose="020B0609020000020004" pitchFamily="49" charset="0"/>
                <a:cs typeface="Cascadia Code SemiLight" panose="020B0609020000020004" pitchFamily="49" charset="0"/>
              </a:rPr>
              <a:t>都有一个编号，使用</a:t>
            </a:r>
            <a:r>
              <a:rPr lang="en-US" altLang="zh-CN" dirty="0">
                <a:latin typeface="Cascadia Code SemiLight" panose="020B0609020000020004" pitchFamily="49" charset="0"/>
                <a:cs typeface="Cascadia Code SemiLight" panose="020B0609020000020004" pitchFamily="49" charset="0"/>
              </a:rPr>
              <a:t>16</a:t>
            </a:r>
            <a:r>
              <a:rPr lang="zh-CN" altLang="en-US" dirty="0">
                <a:latin typeface="Cascadia Code SemiLight" panose="020B0609020000020004" pitchFamily="49" charset="0"/>
                <a:cs typeface="Cascadia Code SemiLight" panose="020B0609020000020004" pitchFamily="49" charset="0"/>
              </a:rPr>
              <a:t>进制数表示（</a:t>
            </a:r>
            <a:r>
              <a:rPr lang="en-US" altLang="zh-CN" dirty="0">
                <a:latin typeface="Cascadia Code SemiLight" panose="020B0609020000020004" pitchFamily="49" charset="0"/>
                <a:cs typeface="Cascadia Code SemiLight" panose="020B0609020000020004" pitchFamily="49" charset="0"/>
              </a:rPr>
              <a:t>0x</a:t>
            </a:r>
            <a:r>
              <a:rPr lang="zh-CN" altLang="en-US" dirty="0">
                <a:latin typeface="Cascadia Code SemiLight" panose="020B0609020000020004" pitchFamily="49" charset="0"/>
                <a:cs typeface="Cascadia Code SemiLight" panose="020B0609020000020004" pitchFamily="49" charset="0"/>
              </a:rPr>
              <a:t>表示十六进制数），</a:t>
            </a:r>
            <a:r>
              <a:rPr lang="en-US" altLang="zh-CN" dirty="0">
                <a:latin typeface="Cascadia Code SemiLight" panose="020B0609020000020004" pitchFamily="49" charset="0"/>
                <a:cs typeface="Cascadia Code SemiLight" panose="020B0609020000020004" pitchFamily="49" charset="0"/>
              </a:rPr>
              <a:t>1byte = 8bit</a:t>
            </a:r>
            <a:r>
              <a:rPr lang="zh-CN" altLang="en-US" dirty="0">
                <a:latin typeface="Cascadia Code SemiLight" panose="020B0609020000020004" pitchFamily="49" charset="0"/>
                <a:cs typeface="Cascadia Code SemiLight" panose="020B0609020000020004" pitchFamily="49" charset="0"/>
              </a:rPr>
              <a:t>。</a:t>
            </a:r>
            <a:endParaRPr lang="en-US" altLang="zh-CN" dirty="0">
              <a:latin typeface="Cascadia Code SemiLight" panose="020B0609020000020004" pitchFamily="49" charset="0"/>
              <a:cs typeface="Cascadia Code SemiLight" panose="020B0609020000020004" pitchFamily="49" charset="0"/>
            </a:endParaRPr>
          </a:p>
        </p:txBody>
      </p:sp>
      <p:cxnSp>
        <p:nvCxnSpPr>
          <p:cNvPr id="19" name="直接箭头连接符 18">
            <a:extLst>
              <a:ext uri="{FF2B5EF4-FFF2-40B4-BE49-F238E27FC236}">
                <a16:creationId xmlns:a16="http://schemas.microsoft.com/office/drawing/2014/main" id="{BA389B4C-22CC-4475-B295-1921C46825BA}"/>
              </a:ext>
            </a:extLst>
          </p:cNvPr>
          <p:cNvCxnSpPr>
            <a:endCxn id="13" idx="3"/>
          </p:cNvCxnSpPr>
          <p:nvPr/>
        </p:nvCxnSpPr>
        <p:spPr>
          <a:xfrm flipH="1">
            <a:off x="2036619" y="4631377"/>
            <a:ext cx="760020" cy="1182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20E68B02-77A0-4B05-BD2A-0BD1D1F9863E}"/>
              </a:ext>
            </a:extLst>
          </p:cNvPr>
          <p:cNvSpPr/>
          <p:nvPr/>
        </p:nvSpPr>
        <p:spPr>
          <a:xfrm>
            <a:off x="2796639" y="4446711"/>
            <a:ext cx="1068779"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px</a:t>
            </a:r>
            <a:endParaRPr lang="zh-CN" altLang="en-US" dirty="0"/>
          </a:p>
        </p:txBody>
      </p:sp>
    </p:spTree>
    <p:extLst>
      <p:ext uri="{BB962C8B-B14F-4D97-AF65-F5344CB8AC3E}">
        <p14:creationId xmlns:p14="http://schemas.microsoft.com/office/powerpoint/2010/main" val="20304576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521207" y="448056"/>
            <a:ext cx="10552533" cy="640080"/>
          </a:xfrm>
        </p:spPr>
        <p:txBody>
          <a:bodyPr rtlCol="0">
            <a:noAutofit/>
          </a:bodyPr>
          <a:lstStyle/>
          <a:p>
            <a:pPr rtl="0"/>
            <a:r>
              <a:rPr lang="en-US" altLang="zh-CN" dirty="0">
                <a:cs typeface="Segoe UI Light" panose="020B0502040204020203" pitchFamily="34" charset="0"/>
              </a:rPr>
              <a:t>Chapter 6  </a:t>
            </a:r>
            <a:r>
              <a:rPr lang="zh-CN" altLang="en-US" dirty="0">
                <a:cs typeface="Segoe UI Light" panose="020B0502040204020203" pitchFamily="34" charset="0"/>
              </a:rPr>
              <a:t>指针</a:t>
            </a:r>
          </a:p>
        </p:txBody>
      </p:sp>
      <p:sp>
        <p:nvSpPr>
          <p:cNvPr id="2" name="文本框 1">
            <a:extLst>
              <a:ext uri="{FF2B5EF4-FFF2-40B4-BE49-F238E27FC236}">
                <a16:creationId xmlns:a16="http://schemas.microsoft.com/office/drawing/2014/main" id="{278E70F4-2A89-46EF-8FA4-B65F4871C040}"/>
              </a:ext>
            </a:extLst>
          </p:cNvPr>
          <p:cNvSpPr txBox="1"/>
          <p:nvPr/>
        </p:nvSpPr>
        <p:spPr>
          <a:xfrm>
            <a:off x="611578" y="1413164"/>
            <a:ext cx="3621975" cy="369332"/>
          </a:xfrm>
          <a:prstGeom prst="rect">
            <a:avLst/>
          </a:prstGeom>
          <a:noFill/>
        </p:spPr>
        <p:txBody>
          <a:bodyPr wrap="square" rtlCol="0">
            <a:spAutoFit/>
          </a:bodyPr>
          <a:lstStyle/>
          <a:p>
            <a:r>
              <a:rPr lang="en-US" altLang="zh-CN" dirty="0"/>
              <a:t>6.2  </a:t>
            </a:r>
            <a:r>
              <a:rPr lang="zh-CN" altLang="en-US" dirty="0"/>
              <a:t>指针的使用和运算</a:t>
            </a:r>
          </a:p>
        </p:txBody>
      </p:sp>
      <p:sp>
        <p:nvSpPr>
          <p:cNvPr id="6" name="文本框 5">
            <a:extLst>
              <a:ext uri="{FF2B5EF4-FFF2-40B4-BE49-F238E27FC236}">
                <a16:creationId xmlns:a16="http://schemas.microsoft.com/office/drawing/2014/main" id="{B119C729-DD1B-4646-8CC0-5E4643253833}"/>
              </a:ext>
            </a:extLst>
          </p:cNvPr>
          <p:cNvSpPr txBox="1"/>
          <p:nvPr/>
        </p:nvSpPr>
        <p:spPr>
          <a:xfrm>
            <a:off x="611578" y="1885991"/>
            <a:ext cx="10681856" cy="4524315"/>
          </a:xfrm>
          <a:prstGeom prst="rect">
            <a:avLst/>
          </a:prstGeom>
          <a:noFill/>
        </p:spPr>
        <p:txBody>
          <a:bodyPr wrap="square" rtlCol="0">
            <a:spAutoFit/>
          </a:bodyPr>
          <a:lstStyle/>
          <a:p>
            <a:r>
              <a:rPr lang="zh-CN" altLang="en-US" dirty="0">
                <a:highlight>
                  <a:srgbClr val="FFFF00"/>
                </a:highlight>
                <a:latin typeface="Cascadia Code SemiLight" panose="020B0609020000020004" pitchFamily="49" charset="0"/>
                <a:cs typeface="Cascadia Code SemiLight" panose="020B0609020000020004" pitchFamily="49" charset="0"/>
              </a:rPr>
              <a:t>取地址运算符 </a:t>
            </a:r>
            <a:r>
              <a:rPr lang="en-US" altLang="zh-CN" dirty="0">
                <a:highlight>
                  <a:srgbClr val="FFFF00"/>
                </a:highlight>
                <a:latin typeface="Cascadia Code SemiLight" panose="020B0609020000020004" pitchFamily="49" charset="0"/>
                <a:cs typeface="Cascadia Code SemiLight" panose="020B0609020000020004" pitchFamily="49" charset="0"/>
              </a:rPr>
              <a:t>&amp;</a:t>
            </a:r>
          </a:p>
          <a:p>
            <a:r>
              <a:rPr lang="en-US" altLang="zh-CN" dirty="0">
                <a:latin typeface="Cascadia Code SemiLight" panose="020B0609020000020004" pitchFamily="49" charset="0"/>
                <a:cs typeface="Cascadia Code SemiLight" panose="020B0609020000020004" pitchFamily="49" charset="0"/>
              </a:rPr>
              <a:t>int x, *px </a:t>
            </a:r>
            <a:r>
              <a:rPr lang="en-US" altLang="zh-CN" dirty="0">
                <a:highlight>
                  <a:srgbClr val="FFFF00"/>
                </a:highlight>
                <a:latin typeface="Cascadia Code SemiLight" panose="020B0609020000020004" pitchFamily="49" charset="0"/>
                <a:cs typeface="Cascadia Code SemiLight" panose="020B0609020000020004" pitchFamily="49" charset="0"/>
              </a:rPr>
              <a:t>= &amp;x</a:t>
            </a:r>
            <a:r>
              <a:rPr lang="en-US" altLang="zh-CN" dirty="0">
                <a:latin typeface="Cascadia Code SemiLight" panose="020B0609020000020004" pitchFamily="49" charset="0"/>
                <a:cs typeface="Cascadia Code SemiLight" panose="020B0609020000020004" pitchFamily="49" charset="0"/>
              </a:rPr>
              <a:t>;</a:t>
            </a:r>
          </a:p>
          <a:p>
            <a:r>
              <a:rPr lang="en-US" altLang="zh-CN" dirty="0" err="1">
                <a:latin typeface="Cascadia Code SemiLight" panose="020B0609020000020004" pitchFamily="49" charset="0"/>
                <a:cs typeface="Cascadia Code SemiLight" panose="020B0609020000020004" pitchFamily="49" charset="0"/>
              </a:rPr>
              <a:t>scanf</a:t>
            </a:r>
            <a:r>
              <a:rPr lang="en-US" altLang="zh-CN" dirty="0">
                <a:latin typeface="Cascadia Code SemiLight" panose="020B0609020000020004" pitchFamily="49" charset="0"/>
                <a:cs typeface="Cascadia Code SemiLight" panose="020B0609020000020004" pitchFamily="49" charset="0"/>
              </a:rPr>
              <a:t>(“%d”, &amp;x); // </a:t>
            </a:r>
            <a:r>
              <a:rPr lang="zh-CN" altLang="en-US" dirty="0">
                <a:latin typeface="Cascadia Code SemiLight" panose="020B0609020000020004" pitchFamily="49" charset="0"/>
                <a:cs typeface="Cascadia Code SemiLight" panose="020B0609020000020004" pitchFamily="49" charset="0"/>
              </a:rPr>
              <a:t>或</a:t>
            </a:r>
            <a:r>
              <a:rPr lang="en-US" altLang="zh-CN" dirty="0" err="1">
                <a:latin typeface="Cascadia Code SemiLight" panose="020B0609020000020004" pitchFamily="49" charset="0"/>
                <a:cs typeface="Cascadia Code SemiLight" panose="020B0609020000020004" pitchFamily="49" charset="0"/>
              </a:rPr>
              <a:t>scanf</a:t>
            </a:r>
            <a:r>
              <a:rPr lang="en-US" altLang="zh-CN" dirty="0">
                <a:latin typeface="Cascadia Code SemiLight" panose="020B0609020000020004" pitchFamily="49" charset="0"/>
                <a:cs typeface="Cascadia Code SemiLight" panose="020B0609020000020004" pitchFamily="49" charset="0"/>
              </a:rPr>
              <a:t>(“%d”, px);</a:t>
            </a:r>
          </a:p>
          <a:p>
            <a:endParaRPr lang="en-US" altLang="zh-CN" dirty="0">
              <a:latin typeface="Cascadia Code SemiLight" panose="020B0609020000020004" pitchFamily="49" charset="0"/>
              <a:cs typeface="Cascadia Code SemiLight" panose="020B0609020000020004" pitchFamily="49" charset="0"/>
            </a:endParaRPr>
          </a:p>
          <a:p>
            <a:r>
              <a:rPr lang="zh-CN" altLang="en-US" dirty="0">
                <a:highlight>
                  <a:srgbClr val="FFFF00"/>
                </a:highlight>
                <a:latin typeface="Cascadia Code SemiLight" panose="020B0609020000020004" pitchFamily="49" charset="0"/>
                <a:cs typeface="Cascadia Code SemiLight" panose="020B0609020000020004" pitchFamily="49" charset="0"/>
              </a:rPr>
              <a:t>取内容运算符 </a:t>
            </a:r>
            <a:r>
              <a:rPr lang="en-US" altLang="zh-CN" dirty="0">
                <a:highlight>
                  <a:srgbClr val="FFFF00"/>
                </a:highlight>
                <a:latin typeface="Cascadia Code SemiLight" panose="020B0609020000020004" pitchFamily="49" charset="0"/>
                <a:cs typeface="Cascadia Code SemiLight" panose="020B0609020000020004" pitchFamily="49" charset="0"/>
              </a:rPr>
              <a:t>*</a:t>
            </a:r>
          </a:p>
          <a:p>
            <a:r>
              <a:rPr lang="en-US" altLang="zh-CN" dirty="0" err="1">
                <a:latin typeface="Cascadia Code SemiLight" panose="020B0609020000020004" pitchFamily="49" charset="0"/>
                <a:cs typeface="Cascadia Code SemiLight" panose="020B0609020000020004" pitchFamily="49" charset="0"/>
              </a:rPr>
              <a:t>printf</a:t>
            </a:r>
            <a:r>
              <a:rPr lang="en-US" altLang="zh-CN" dirty="0">
                <a:latin typeface="Cascadia Code SemiLight" panose="020B0609020000020004" pitchFamily="49" charset="0"/>
                <a:cs typeface="Cascadia Code SemiLight" panose="020B0609020000020004" pitchFamily="49" charset="0"/>
              </a:rPr>
              <a:t>(“%d”, *px);</a:t>
            </a:r>
          </a:p>
          <a:p>
            <a:r>
              <a:rPr lang="en-US" altLang="zh-CN" dirty="0">
                <a:latin typeface="Cascadia Code SemiLight" panose="020B0609020000020004" pitchFamily="49" charset="0"/>
                <a:cs typeface="Cascadia Code SemiLight" panose="020B0609020000020004" pitchFamily="49" charset="0"/>
              </a:rPr>
              <a:t>// </a:t>
            </a:r>
            <a:r>
              <a:rPr lang="zh-CN" altLang="en-US" dirty="0">
                <a:latin typeface="Cascadia Code SemiLight" panose="020B0609020000020004" pitchFamily="49" charset="0"/>
                <a:cs typeface="Cascadia Code SemiLight" panose="020B0609020000020004" pitchFamily="49" charset="0"/>
              </a:rPr>
              <a:t>特别地，在定义指针时，</a:t>
            </a:r>
            <a:r>
              <a:rPr lang="en-US" altLang="zh-CN" dirty="0">
                <a:latin typeface="Cascadia Code SemiLight" panose="020B0609020000020004" pitchFamily="49" charset="0"/>
                <a:cs typeface="Cascadia Code SemiLight" panose="020B0609020000020004" pitchFamily="49" charset="0"/>
              </a:rPr>
              <a:t>*</a:t>
            </a:r>
            <a:r>
              <a:rPr lang="zh-CN" altLang="en-US" dirty="0">
                <a:latin typeface="Cascadia Code SemiLight" panose="020B0609020000020004" pitchFamily="49" charset="0"/>
                <a:cs typeface="Cascadia Code SemiLight" panose="020B0609020000020004" pitchFamily="49" charset="0"/>
              </a:rPr>
              <a:t>表示定义的变量是个指针，而不是取内容作用</a:t>
            </a:r>
            <a:endParaRPr lang="en-US" altLang="zh-CN" dirty="0">
              <a:latin typeface="Cascadia Code SemiLight" panose="020B0609020000020004" pitchFamily="49" charset="0"/>
              <a:cs typeface="Cascadia Code SemiLight" panose="020B0609020000020004" pitchFamily="49" charset="0"/>
            </a:endParaRPr>
          </a:p>
          <a:p>
            <a:endParaRPr lang="en-US" altLang="zh-CN" dirty="0">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现在，你可以通过指针对变量进行操作：</a:t>
            </a:r>
            <a:endParaRPr lang="en-US" altLang="zh-CN" dirty="0">
              <a:latin typeface="Cascadia Code SemiLight" panose="020B0609020000020004" pitchFamily="49" charset="0"/>
              <a:cs typeface="Cascadia Code SemiLight" panose="020B0609020000020004" pitchFamily="49" charset="0"/>
            </a:endParaRPr>
          </a:p>
          <a:p>
            <a:r>
              <a:rPr lang="en-US" altLang="zh-CN" dirty="0">
                <a:latin typeface="Cascadia Code SemiLight" panose="020B0609020000020004" pitchFamily="49" charset="0"/>
                <a:cs typeface="Cascadia Code SemiLight" panose="020B0609020000020004" pitchFamily="49" charset="0"/>
              </a:rPr>
              <a:t>int x = 0, *px = &amp;x;</a:t>
            </a:r>
          </a:p>
          <a:p>
            <a:r>
              <a:rPr lang="en-US" altLang="zh-CN" dirty="0">
                <a:latin typeface="Cascadia Code SemiLight" panose="020B0609020000020004" pitchFamily="49" charset="0"/>
                <a:cs typeface="Cascadia Code SemiLight" panose="020B0609020000020004" pitchFamily="49" charset="0"/>
              </a:rPr>
              <a:t>*px = 5;</a:t>
            </a:r>
          </a:p>
          <a:p>
            <a:r>
              <a:rPr lang="en-US" altLang="zh-CN" dirty="0" err="1">
                <a:latin typeface="Cascadia Code SemiLight" panose="020B0609020000020004" pitchFamily="49" charset="0"/>
                <a:cs typeface="Cascadia Code SemiLight" panose="020B0609020000020004" pitchFamily="49" charset="0"/>
              </a:rPr>
              <a:t>printf</a:t>
            </a:r>
            <a:r>
              <a:rPr lang="en-US" altLang="zh-CN" dirty="0">
                <a:latin typeface="Cascadia Code SemiLight" panose="020B0609020000020004" pitchFamily="49" charset="0"/>
                <a:cs typeface="Cascadia Code SemiLight" panose="020B0609020000020004" pitchFamily="49" charset="0"/>
              </a:rPr>
              <a:t>(“%d”, x); // </a:t>
            </a:r>
            <a:r>
              <a:rPr lang="zh-CN" altLang="en-US" dirty="0">
                <a:latin typeface="Cascadia Code SemiLight" panose="020B0609020000020004" pitchFamily="49" charset="0"/>
                <a:cs typeface="Cascadia Code SemiLight" panose="020B0609020000020004" pitchFamily="49" charset="0"/>
              </a:rPr>
              <a:t>输出为</a:t>
            </a:r>
            <a:r>
              <a:rPr lang="en-US" altLang="zh-CN" dirty="0">
                <a:latin typeface="Cascadia Code SemiLight" panose="020B0609020000020004" pitchFamily="49" charset="0"/>
                <a:cs typeface="Cascadia Code SemiLight" panose="020B0609020000020004" pitchFamily="49" charset="0"/>
              </a:rPr>
              <a:t>5</a:t>
            </a:r>
            <a:r>
              <a:rPr lang="zh-CN" altLang="en-US" dirty="0">
                <a:latin typeface="Cascadia Code SemiLight" panose="020B0609020000020004" pitchFamily="49" charset="0"/>
                <a:cs typeface="Cascadia Code SemiLight" panose="020B0609020000020004" pitchFamily="49" charset="0"/>
              </a:rPr>
              <a:t>而不是</a:t>
            </a:r>
            <a:r>
              <a:rPr lang="en-US" altLang="zh-CN" dirty="0">
                <a:latin typeface="Cascadia Code SemiLight" panose="020B0609020000020004" pitchFamily="49" charset="0"/>
                <a:cs typeface="Cascadia Code SemiLight" panose="020B0609020000020004" pitchFamily="49" charset="0"/>
              </a:rPr>
              <a:t>0</a:t>
            </a:r>
          </a:p>
          <a:p>
            <a:endParaRPr lang="en-US" altLang="zh-CN" dirty="0">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注意：</a:t>
            </a:r>
            <a:endParaRPr lang="en-US" altLang="zh-CN" dirty="0">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如果直接定义指针并且直接通过指针赋值，如</a:t>
            </a:r>
            <a:r>
              <a:rPr lang="en-US" altLang="zh-CN" dirty="0">
                <a:latin typeface="Cascadia Code SemiLight" panose="020B0609020000020004" pitchFamily="49" charset="0"/>
                <a:cs typeface="Cascadia Code SemiLight" panose="020B0609020000020004" pitchFamily="49" charset="0"/>
              </a:rPr>
              <a:t>int *p; *p = 5;</a:t>
            </a:r>
            <a:r>
              <a:rPr lang="zh-CN" altLang="en-US" dirty="0">
                <a:latin typeface="Cascadia Code SemiLight" panose="020B0609020000020004" pitchFamily="49" charset="0"/>
                <a:cs typeface="Cascadia Code SemiLight" panose="020B0609020000020004" pitchFamily="49" charset="0"/>
              </a:rPr>
              <a:t> 那么</a:t>
            </a:r>
            <a:r>
              <a:rPr lang="en-US" altLang="zh-CN" dirty="0">
                <a:latin typeface="Cascadia Code SemiLight" panose="020B0609020000020004" pitchFamily="49" charset="0"/>
                <a:cs typeface="Cascadia Code SemiLight" panose="020B0609020000020004" pitchFamily="49" charset="0"/>
              </a:rPr>
              <a:t>p</a:t>
            </a:r>
            <a:r>
              <a:rPr lang="zh-CN" altLang="en-US" dirty="0">
                <a:latin typeface="Cascadia Code SemiLight" panose="020B0609020000020004" pitchFamily="49" charset="0"/>
                <a:cs typeface="Cascadia Code SemiLight" panose="020B0609020000020004" pitchFamily="49" charset="0"/>
              </a:rPr>
              <a:t>就是个野指针，它指向的数据</a:t>
            </a:r>
            <a:r>
              <a:rPr lang="en-US" altLang="zh-CN" dirty="0">
                <a:latin typeface="Cascadia Code SemiLight" panose="020B0609020000020004" pitchFamily="49" charset="0"/>
                <a:cs typeface="Cascadia Code SemiLight" panose="020B0609020000020004" pitchFamily="49" charset="0"/>
              </a:rPr>
              <a:t>5</a:t>
            </a:r>
            <a:r>
              <a:rPr lang="zh-CN" altLang="en-US" dirty="0">
                <a:latin typeface="Cascadia Code SemiLight" panose="020B0609020000020004" pitchFamily="49" charset="0"/>
                <a:cs typeface="Cascadia Code SemiLight" panose="020B0609020000020004" pitchFamily="49" charset="0"/>
              </a:rPr>
              <a:t>并不知道会被存到何处，因此避免这样写。</a:t>
            </a:r>
            <a:r>
              <a:rPr lang="en-US" altLang="zh-CN" dirty="0">
                <a:latin typeface="Cascadia Code SemiLight" panose="020B0609020000020004" pitchFamily="49" charset="0"/>
                <a:cs typeface="Cascadia Code SemiLight" panose="020B0609020000020004" pitchFamily="49" charset="0"/>
              </a:rPr>
              <a:t> </a:t>
            </a:r>
          </a:p>
        </p:txBody>
      </p:sp>
    </p:spTree>
    <p:extLst>
      <p:ext uri="{BB962C8B-B14F-4D97-AF65-F5344CB8AC3E}">
        <p14:creationId xmlns:p14="http://schemas.microsoft.com/office/powerpoint/2010/main" val="4416075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521207" y="448056"/>
            <a:ext cx="10552533" cy="640080"/>
          </a:xfrm>
        </p:spPr>
        <p:txBody>
          <a:bodyPr rtlCol="0">
            <a:noAutofit/>
          </a:bodyPr>
          <a:lstStyle/>
          <a:p>
            <a:pPr rtl="0"/>
            <a:r>
              <a:rPr lang="en-US" altLang="zh-CN" dirty="0">
                <a:cs typeface="Segoe UI Light" panose="020B0502040204020203" pitchFamily="34" charset="0"/>
              </a:rPr>
              <a:t>Chapter 6  </a:t>
            </a:r>
            <a:r>
              <a:rPr lang="zh-CN" altLang="en-US" dirty="0">
                <a:cs typeface="Segoe UI Light" panose="020B0502040204020203" pitchFamily="34" charset="0"/>
              </a:rPr>
              <a:t>指针</a:t>
            </a:r>
          </a:p>
        </p:txBody>
      </p:sp>
      <p:sp>
        <p:nvSpPr>
          <p:cNvPr id="2" name="文本框 1">
            <a:extLst>
              <a:ext uri="{FF2B5EF4-FFF2-40B4-BE49-F238E27FC236}">
                <a16:creationId xmlns:a16="http://schemas.microsoft.com/office/drawing/2014/main" id="{278E70F4-2A89-46EF-8FA4-B65F4871C040}"/>
              </a:ext>
            </a:extLst>
          </p:cNvPr>
          <p:cNvSpPr txBox="1"/>
          <p:nvPr/>
        </p:nvSpPr>
        <p:spPr>
          <a:xfrm>
            <a:off x="611578" y="1413164"/>
            <a:ext cx="3621975" cy="369332"/>
          </a:xfrm>
          <a:prstGeom prst="rect">
            <a:avLst/>
          </a:prstGeom>
          <a:noFill/>
        </p:spPr>
        <p:txBody>
          <a:bodyPr wrap="square" rtlCol="0">
            <a:spAutoFit/>
          </a:bodyPr>
          <a:lstStyle/>
          <a:p>
            <a:r>
              <a:rPr lang="en-US" altLang="zh-CN" dirty="0"/>
              <a:t>6.2  </a:t>
            </a:r>
            <a:r>
              <a:rPr lang="zh-CN" altLang="en-US" dirty="0"/>
              <a:t>指针的使用和运算</a:t>
            </a:r>
          </a:p>
        </p:txBody>
      </p:sp>
      <p:sp>
        <p:nvSpPr>
          <p:cNvPr id="6" name="文本框 5">
            <a:extLst>
              <a:ext uri="{FF2B5EF4-FFF2-40B4-BE49-F238E27FC236}">
                <a16:creationId xmlns:a16="http://schemas.microsoft.com/office/drawing/2014/main" id="{B119C729-DD1B-4646-8CC0-5E4643253833}"/>
              </a:ext>
            </a:extLst>
          </p:cNvPr>
          <p:cNvSpPr txBox="1"/>
          <p:nvPr/>
        </p:nvSpPr>
        <p:spPr>
          <a:xfrm>
            <a:off x="611578" y="1885991"/>
            <a:ext cx="10681856" cy="369332"/>
          </a:xfrm>
          <a:prstGeom prst="rect">
            <a:avLst/>
          </a:prstGeom>
          <a:noFill/>
        </p:spPr>
        <p:txBody>
          <a:bodyPr wrap="square" rtlCol="0">
            <a:spAutoFit/>
          </a:bodyPr>
          <a:lstStyle/>
          <a:p>
            <a:r>
              <a:rPr lang="zh-CN" altLang="en-US" dirty="0">
                <a:latin typeface="Cascadia Code SemiLight" panose="020B0609020000020004" pitchFamily="49" charset="0"/>
                <a:cs typeface="Cascadia Code SemiLight" panose="020B0609020000020004" pitchFamily="49" charset="0"/>
              </a:rPr>
              <a:t>指针加减与自增自减 </a:t>
            </a:r>
            <a:r>
              <a:rPr lang="en-US" altLang="zh-CN" dirty="0">
                <a:latin typeface="Cascadia Code SemiLight" panose="020B0609020000020004" pitchFamily="49" charset="0"/>
                <a:cs typeface="Cascadia Code SemiLight" panose="020B0609020000020004" pitchFamily="49" charset="0"/>
              </a:rPr>
              <a:t>++/--</a:t>
            </a:r>
          </a:p>
        </p:txBody>
      </p:sp>
      <p:pic>
        <p:nvPicPr>
          <p:cNvPr id="4" name="图片 3">
            <a:extLst>
              <a:ext uri="{FF2B5EF4-FFF2-40B4-BE49-F238E27FC236}">
                <a16:creationId xmlns:a16="http://schemas.microsoft.com/office/drawing/2014/main" id="{8109AE8C-B706-4C9C-94E6-26BEFF15F9CF}"/>
              </a:ext>
            </a:extLst>
          </p:cNvPr>
          <p:cNvPicPr>
            <a:picLocks noChangeAspect="1"/>
          </p:cNvPicPr>
          <p:nvPr/>
        </p:nvPicPr>
        <p:blipFill>
          <a:blip r:embed="rId3"/>
          <a:stretch>
            <a:fillRect/>
          </a:stretch>
        </p:blipFill>
        <p:spPr>
          <a:xfrm>
            <a:off x="4000371" y="922210"/>
            <a:ext cx="7916156" cy="5255429"/>
          </a:xfrm>
          <a:prstGeom prst="rect">
            <a:avLst/>
          </a:prstGeom>
        </p:spPr>
      </p:pic>
    </p:spTree>
    <p:extLst>
      <p:ext uri="{BB962C8B-B14F-4D97-AF65-F5344CB8AC3E}">
        <p14:creationId xmlns:p14="http://schemas.microsoft.com/office/powerpoint/2010/main" val="17878903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521207" y="448056"/>
            <a:ext cx="10552533" cy="640080"/>
          </a:xfrm>
        </p:spPr>
        <p:txBody>
          <a:bodyPr rtlCol="0">
            <a:noAutofit/>
          </a:bodyPr>
          <a:lstStyle/>
          <a:p>
            <a:pPr rtl="0"/>
            <a:r>
              <a:rPr lang="en-US" altLang="zh-CN" dirty="0">
                <a:cs typeface="Segoe UI Light" panose="020B0502040204020203" pitchFamily="34" charset="0"/>
              </a:rPr>
              <a:t>Chapter 6  </a:t>
            </a:r>
            <a:r>
              <a:rPr lang="zh-CN" altLang="en-US" dirty="0">
                <a:cs typeface="Segoe UI Light" panose="020B0502040204020203" pitchFamily="34" charset="0"/>
              </a:rPr>
              <a:t>指针</a:t>
            </a:r>
          </a:p>
        </p:txBody>
      </p:sp>
      <p:sp>
        <p:nvSpPr>
          <p:cNvPr id="2" name="文本框 1">
            <a:extLst>
              <a:ext uri="{FF2B5EF4-FFF2-40B4-BE49-F238E27FC236}">
                <a16:creationId xmlns:a16="http://schemas.microsoft.com/office/drawing/2014/main" id="{278E70F4-2A89-46EF-8FA4-B65F4871C040}"/>
              </a:ext>
            </a:extLst>
          </p:cNvPr>
          <p:cNvSpPr txBox="1"/>
          <p:nvPr/>
        </p:nvSpPr>
        <p:spPr>
          <a:xfrm>
            <a:off x="611578" y="1413164"/>
            <a:ext cx="3621975" cy="369332"/>
          </a:xfrm>
          <a:prstGeom prst="rect">
            <a:avLst/>
          </a:prstGeom>
          <a:noFill/>
        </p:spPr>
        <p:txBody>
          <a:bodyPr wrap="square" rtlCol="0">
            <a:spAutoFit/>
          </a:bodyPr>
          <a:lstStyle/>
          <a:p>
            <a:r>
              <a:rPr lang="en-US" altLang="zh-CN" dirty="0"/>
              <a:t>6.2  </a:t>
            </a:r>
            <a:r>
              <a:rPr lang="zh-CN" altLang="en-US" dirty="0"/>
              <a:t>指针的使用和运算</a:t>
            </a:r>
          </a:p>
        </p:txBody>
      </p:sp>
      <p:sp>
        <p:nvSpPr>
          <p:cNvPr id="6" name="文本框 5">
            <a:extLst>
              <a:ext uri="{FF2B5EF4-FFF2-40B4-BE49-F238E27FC236}">
                <a16:creationId xmlns:a16="http://schemas.microsoft.com/office/drawing/2014/main" id="{B119C729-DD1B-4646-8CC0-5E4643253833}"/>
              </a:ext>
            </a:extLst>
          </p:cNvPr>
          <p:cNvSpPr txBox="1"/>
          <p:nvPr/>
        </p:nvSpPr>
        <p:spPr>
          <a:xfrm>
            <a:off x="611578" y="1885991"/>
            <a:ext cx="10681856" cy="369332"/>
          </a:xfrm>
          <a:prstGeom prst="rect">
            <a:avLst/>
          </a:prstGeom>
          <a:noFill/>
        </p:spPr>
        <p:txBody>
          <a:bodyPr wrap="square" rtlCol="0">
            <a:spAutoFit/>
          </a:bodyPr>
          <a:lstStyle/>
          <a:p>
            <a:r>
              <a:rPr lang="zh-CN" altLang="en-US" dirty="0">
                <a:latin typeface="Cascadia Code SemiLight" panose="020B0609020000020004" pitchFamily="49" charset="0"/>
                <a:cs typeface="Cascadia Code SemiLight" panose="020B0609020000020004" pitchFamily="49" charset="0"/>
              </a:rPr>
              <a:t>指针加减与自增自减 </a:t>
            </a:r>
            <a:r>
              <a:rPr lang="en-US" altLang="zh-CN" dirty="0">
                <a:latin typeface="Cascadia Code SemiLight" panose="020B0609020000020004" pitchFamily="49" charset="0"/>
                <a:cs typeface="Cascadia Code SemiLight" panose="020B0609020000020004" pitchFamily="49" charset="0"/>
              </a:rPr>
              <a:t>++/--</a:t>
            </a:r>
          </a:p>
        </p:txBody>
      </p:sp>
      <p:pic>
        <p:nvPicPr>
          <p:cNvPr id="5" name="图片 4">
            <a:extLst>
              <a:ext uri="{FF2B5EF4-FFF2-40B4-BE49-F238E27FC236}">
                <a16:creationId xmlns:a16="http://schemas.microsoft.com/office/drawing/2014/main" id="{DEEEDCC2-06F7-4D05-9F0C-15D01BE25ED8}"/>
              </a:ext>
            </a:extLst>
          </p:cNvPr>
          <p:cNvPicPr>
            <a:picLocks noChangeAspect="1"/>
          </p:cNvPicPr>
          <p:nvPr/>
        </p:nvPicPr>
        <p:blipFill>
          <a:blip r:embed="rId3"/>
          <a:stretch>
            <a:fillRect/>
          </a:stretch>
        </p:blipFill>
        <p:spPr>
          <a:xfrm>
            <a:off x="0" y="1831195"/>
            <a:ext cx="12192000" cy="4898711"/>
          </a:xfrm>
          <a:prstGeom prst="rect">
            <a:avLst/>
          </a:prstGeom>
        </p:spPr>
      </p:pic>
    </p:spTree>
    <p:extLst>
      <p:ext uri="{BB962C8B-B14F-4D97-AF65-F5344CB8AC3E}">
        <p14:creationId xmlns:p14="http://schemas.microsoft.com/office/powerpoint/2010/main" val="38660175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521207" y="448056"/>
            <a:ext cx="10552533" cy="640080"/>
          </a:xfrm>
        </p:spPr>
        <p:txBody>
          <a:bodyPr rtlCol="0">
            <a:noAutofit/>
          </a:bodyPr>
          <a:lstStyle/>
          <a:p>
            <a:pPr rtl="0"/>
            <a:r>
              <a:rPr lang="en-US" altLang="zh-CN" dirty="0">
                <a:cs typeface="Segoe UI Light" panose="020B0502040204020203" pitchFamily="34" charset="0"/>
              </a:rPr>
              <a:t>Chapter 6  </a:t>
            </a:r>
            <a:r>
              <a:rPr lang="zh-CN" altLang="en-US" dirty="0">
                <a:cs typeface="Segoe UI Light" panose="020B0502040204020203" pitchFamily="34" charset="0"/>
              </a:rPr>
              <a:t>指针</a:t>
            </a:r>
          </a:p>
        </p:txBody>
      </p:sp>
      <p:sp>
        <p:nvSpPr>
          <p:cNvPr id="2" name="文本框 1">
            <a:extLst>
              <a:ext uri="{FF2B5EF4-FFF2-40B4-BE49-F238E27FC236}">
                <a16:creationId xmlns:a16="http://schemas.microsoft.com/office/drawing/2014/main" id="{278E70F4-2A89-46EF-8FA4-B65F4871C040}"/>
              </a:ext>
            </a:extLst>
          </p:cNvPr>
          <p:cNvSpPr txBox="1"/>
          <p:nvPr/>
        </p:nvSpPr>
        <p:spPr>
          <a:xfrm>
            <a:off x="611578" y="1413164"/>
            <a:ext cx="3621975" cy="369332"/>
          </a:xfrm>
          <a:prstGeom prst="rect">
            <a:avLst/>
          </a:prstGeom>
          <a:noFill/>
        </p:spPr>
        <p:txBody>
          <a:bodyPr wrap="square" rtlCol="0">
            <a:spAutoFit/>
          </a:bodyPr>
          <a:lstStyle/>
          <a:p>
            <a:r>
              <a:rPr lang="en-US" altLang="zh-CN" dirty="0"/>
              <a:t>6.2  </a:t>
            </a:r>
            <a:r>
              <a:rPr lang="zh-CN" altLang="en-US" dirty="0"/>
              <a:t>指针的使用和运算</a:t>
            </a:r>
          </a:p>
        </p:txBody>
      </p:sp>
      <p:pic>
        <p:nvPicPr>
          <p:cNvPr id="4" name="图片 3">
            <a:extLst>
              <a:ext uri="{FF2B5EF4-FFF2-40B4-BE49-F238E27FC236}">
                <a16:creationId xmlns:a16="http://schemas.microsoft.com/office/drawing/2014/main" id="{A4F45ACC-A842-4100-8A02-39DE50BBBF44}"/>
              </a:ext>
            </a:extLst>
          </p:cNvPr>
          <p:cNvPicPr>
            <a:picLocks noChangeAspect="1"/>
          </p:cNvPicPr>
          <p:nvPr/>
        </p:nvPicPr>
        <p:blipFill>
          <a:blip r:embed="rId3"/>
          <a:stretch>
            <a:fillRect/>
          </a:stretch>
        </p:blipFill>
        <p:spPr>
          <a:xfrm>
            <a:off x="1708067" y="1782496"/>
            <a:ext cx="8775865" cy="4910878"/>
          </a:xfrm>
          <a:prstGeom prst="rect">
            <a:avLst/>
          </a:prstGeom>
        </p:spPr>
      </p:pic>
    </p:spTree>
    <p:extLst>
      <p:ext uri="{BB962C8B-B14F-4D97-AF65-F5344CB8AC3E}">
        <p14:creationId xmlns:p14="http://schemas.microsoft.com/office/powerpoint/2010/main" val="14728784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521207" y="448056"/>
            <a:ext cx="10552533" cy="640080"/>
          </a:xfrm>
        </p:spPr>
        <p:txBody>
          <a:bodyPr rtlCol="0">
            <a:noAutofit/>
          </a:bodyPr>
          <a:lstStyle/>
          <a:p>
            <a:pPr rtl="0"/>
            <a:r>
              <a:rPr lang="en-US" altLang="zh-CN" dirty="0">
                <a:cs typeface="Segoe UI Light" panose="020B0502040204020203" pitchFamily="34" charset="0"/>
              </a:rPr>
              <a:t>Chapter 6  </a:t>
            </a:r>
            <a:r>
              <a:rPr lang="zh-CN" altLang="en-US" dirty="0">
                <a:cs typeface="Segoe UI Light" panose="020B0502040204020203" pitchFamily="34" charset="0"/>
              </a:rPr>
              <a:t>指针</a:t>
            </a:r>
          </a:p>
        </p:txBody>
      </p:sp>
      <p:sp>
        <p:nvSpPr>
          <p:cNvPr id="2" name="文本框 1">
            <a:extLst>
              <a:ext uri="{FF2B5EF4-FFF2-40B4-BE49-F238E27FC236}">
                <a16:creationId xmlns:a16="http://schemas.microsoft.com/office/drawing/2014/main" id="{278E70F4-2A89-46EF-8FA4-B65F4871C040}"/>
              </a:ext>
            </a:extLst>
          </p:cNvPr>
          <p:cNvSpPr txBox="1"/>
          <p:nvPr/>
        </p:nvSpPr>
        <p:spPr>
          <a:xfrm>
            <a:off x="611578" y="1413164"/>
            <a:ext cx="3621975" cy="369332"/>
          </a:xfrm>
          <a:prstGeom prst="rect">
            <a:avLst/>
          </a:prstGeom>
          <a:noFill/>
        </p:spPr>
        <p:txBody>
          <a:bodyPr wrap="square" rtlCol="0">
            <a:spAutoFit/>
          </a:bodyPr>
          <a:lstStyle/>
          <a:p>
            <a:r>
              <a:rPr lang="en-US" altLang="zh-CN" dirty="0"/>
              <a:t>6.3  </a:t>
            </a:r>
            <a:r>
              <a:rPr lang="zh-CN" altLang="en-US" dirty="0"/>
              <a:t>动态分配内存</a:t>
            </a:r>
          </a:p>
        </p:txBody>
      </p:sp>
      <p:sp>
        <p:nvSpPr>
          <p:cNvPr id="5" name="文本框 4">
            <a:extLst>
              <a:ext uri="{FF2B5EF4-FFF2-40B4-BE49-F238E27FC236}">
                <a16:creationId xmlns:a16="http://schemas.microsoft.com/office/drawing/2014/main" id="{159C3D41-1305-417D-9DE2-107823DDF5A2}"/>
              </a:ext>
            </a:extLst>
          </p:cNvPr>
          <p:cNvSpPr txBox="1"/>
          <p:nvPr/>
        </p:nvSpPr>
        <p:spPr>
          <a:xfrm>
            <a:off x="611578" y="1885991"/>
            <a:ext cx="10681856" cy="4524315"/>
          </a:xfrm>
          <a:prstGeom prst="rect">
            <a:avLst/>
          </a:prstGeom>
          <a:noFill/>
        </p:spPr>
        <p:txBody>
          <a:bodyPr wrap="square" rtlCol="0">
            <a:spAutoFit/>
          </a:bodyPr>
          <a:lstStyle/>
          <a:p>
            <a:r>
              <a:rPr lang="zh-CN" altLang="en-US" dirty="0">
                <a:highlight>
                  <a:srgbClr val="FFFF00"/>
                </a:highlight>
                <a:latin typeface="Cascadia Code SemiLight" panose="020B0609020000020004" pitchFamily="49" charset="0"/>
                <a:cs typeface="Cascadia Code SemiLight" panose="020B0609020000020004" pitchFamily="49" charset="0"/>
              </a:rPr>
              <a:t>（易错点）</a:t>
            </a:r>
            <a:endParaRPr lang="en-US" altLang="zh-CN" dirty="0">
              <a:highlight>
                <a:srgbClr val="FFFF00"/>
              </a:highlight>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解决 不确定各个时刻应该分配多少内存的问题 或 直接将指针当作变量使用时 需要做的事</a:t>
            </a:r>
            <a:endParaRPr lang="en-US" altLang="zh-CN" dirty="0">
              <a:latin typeface="Cascadia Code SemiLight" panose="020B0609020000020004" pitchFamily="49" charset="0"/>
              <a:cs typeface="Cascadia Code SemiLight" panose="020B0609020000020004" pitchFamily="49" charset="0"/>
            </a:endParaRPr>
          </a:p>
          <a:p>
            <a:endParaRPr lang="en-US" altLang="zh-CN" dirty="0">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要求头文件：</a:t>
            </a:r>
            <a:endParaRPr lang="en-US" altLang="zh-CN" dirty="0">
              <a:latin typeface="Cascadia Code SemiLight" panose="020B0609020000020004" pitchFamily="49" charset="0"/>
              <a:cs typeface="Cascadia Code SemiLight" panose="020B0609020000020004" pitchFamily="49" charset="0"/>
            </a:endParaRPr>
          </a:p>
          <a:p>
            <a:r>
              <a:rPr lang="en-US" altLang="zh-CN" dirty="0">
                <a:latin typeface="Cascadia Code SemiLight" panose="020B0609020000020004" pitchFamily="49" charset="0"/>
                <a:cs typeface="Cascadia Code SemiLight" panose="020B0609020000020004" pitchFamily="49" charset="0"/>
              </a:rPr>
              <a:t>#include &lt;</a:t>
            </a:r>
            <a:r>
              <a:rPr lang="en-US" altLang="zh-CN" dirty="0" err="1">
                <a:latin typeface="Cascadia Code SemiLight" panose="020B0609020000020004" pitchFamily="49" charset="0"/>
                <a:cs typeface="Cascadia Code SemiLight" panose="020B0609020000020004" pitchFamily="49" charset="0"/>
              </a:rPr>
              <a:t>stdlib.h</a:t>
            </a:r>
            <a:r>
              <a:rPr lang="en-US" altLang="zh-CN" dirty="0">
                <a:latin typeface="Cascadia Code SemiLight" panose="020B0609020000020004" pitchFamily="49" charset="0"/>
                <a:cs typeface="Cascadia Code SemiLight" panose="020B0609020000020004" pitchFamily="49" charset="0"/>
              </a:rPr>
              <a:t>&gt;</a:t>
            </a:r>
          </a:p>
          <a:p>
            <a:r>
              <a:rPr lang="en-US" altLang="zh-CN" dirty="0">
                <a:latin typeface="Cascadia Code SemiLight" panose="020B0609020000020004" pitchFamily="49" charset="0"/>
                <a:cs typeface="Cascadia Code SemiLight" panose="020B0609020000020004" pitchFamily="49" charset="0"/>
              </a:rPr>
              <a:t>#include &lt;</a:t>
            </a:r>
            <a:r>
              <a:rPr lang="en-US" altLang="zh-CN" dirty="0" err="1">
                <a:latin typeface="Cascadia Code SemiLight" panose="020B0609020000020004" pitchFamily="49" charset="0"/>
                <a:cs typeface="Cascadia Code SemiLight" panose="020B0609020000020004" pitchFamily="49" charset="0"/>
              </a:rPr>
              <a:t>alloc.h</a:t>
            </a:r>
            <a:r>
              <a:rPr lang="en-US" altLang="zh-CN" dirty="0">
                <a:latin typeface="Cascadia Code SemiLight" panose="020B0609020000020004" pitchFamily="49" charset="0"/>
                <a:cs typeface="Cascadia Code SemiLight" panose="020B0609020000020004" pitchFamily="49" charset="0"/>
              </a:rPr>
              <a:t>&gt;</a:t>
            </a:r>
          </a:p>
          <a:p>
            <a:endParaRPr lang="en-US" altLang="zh-CN" dirty="0">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相关函数：</a:t>
            </a:r>
            <a:endParaRPr lang="en-US" altLang="zh-CN" dirty="0">
              <a:latin typeface="Cascadia Code SemiLight" panose="020B0609020000020004" pitchFamily="49" charset="0"/>
              <a:cs typeface="Cascadia Code SemiLight" panose="020B0609020000020004" pitchFamily="49" charset="0"/>
            </a:endParaRPr>
          </a:p>
          <a:p>
            <a:r>
              <a:rPr lang="en-US" altLang="zh-CN" dirty="0">
                <a:latin typeface="Cascadia Code SemiLight" panose="020B0609020000020004" pitchFamily="49" charset="0"/>
                <a:cs typeface="Cascadia Code SemiLight" panose="020B0609020000020004" pitchFamily="49" charset="0"/>
              </a:rPr>
              <a:t>void *malloc (unsigned size); // </a:t>
            </a:r>
            <a:r>
              <a:rPr lang="zh-CN" altLang="en-US" dirty="0">
                <a:latin typeface="Cascadia Code SemiLight" panose="020B0609020000020004" pitchFamily="49" charset="0"/>
                <a:cs typeface="Cascadia Code SemiLight" panose="020B0609020000020004" pitchFamily="49" charset="0"/>
              </a:rPr>
              <a:t>为指针分配内存并返回相应地址给指针</a:t>
            </a:r>
            <a:endParaRPr lang="en-US" altLang="zh-CN" dirty="0">
              <a:latin typeface="Cascadia Code SemiLight" panose="020B0609020000020004" pitchFamily="49" charset="0"/>
              <a:cs typeface="Cascadia Code SemiLight" panose="020B0609020000020004" pitchFamily="49" charset="0"/>
            </a:endParaRPr>
          </a:p>
          <a:p>
            <a:r>
              <a:rPr lang="en-US" altLang="zh-CN" dirty="0">
                <a:latin typeface="Cascadia Code SemiLight" panose="020B0609020000020004" pitchFamily="49" charset="0"/>
                <a:cs typeface="Cascadia Code SemiLight" panose="020B0609020000020004" pitchFamily="49" charset="0"/>
              </a:rPr>
              <a:t>void free (void *</a:t>
            </a:r>
            <a:r>
              <a:rPr lang="en-US" altLang="zh-CN" dirty="0" err="1">
                <a:latin typeface="Cascadia Code SemiLight" panose="020B0609020000020004" pitchFamily="49" charset="0"/>
                <a:cs typeface="Cascadia Code SemiLight" panose="020B0609020000020004" pitchFamily="49" charset="0"/>
              </a:rPr>
              <a:t>ptr</a:t>
            </a:r>
            <a:r>
              <a:rPr lang="en-US" altLang="zh-CN" dirty="0">
                <a:latin typeface="Cascadia Code SemiLight" panose="020B0609020000020004" pitchFamily="49" charset="0"/>
                <a:cs typeface="Cascadia Code SemiLight" panose="020B0609020000020004" pitchFamily="49" charset="0"/>
              </a:rPr>
              <a:t>) // </a:t>
            </a:r>
            <a:r>
              <a:rPr lang="zh-CN" altLang="en-US" dirty="0">
                <a:latin typeface="Cascadia Code SemiLight" panose="020B0609020000020004" pitchFamily="49" charset="0"/>
                <a:cs typeface="Cascadia Code SemiLight" panose="020B0609020000020004" pitchFamily="49" charset="0"/>
              </a:rPr>
              <a:t>将动态分配了内存的指针释放，</a:t>
            </a:r>
            <a:r>
              <a:rPr lang="zh-CN" altLang="en-US" dirty="0">
                <a:highlight>
                  <a:srgbClr val="FFFF00"/>
                </a:highlight>
                <a:latin typeface="Cascadia Code SemiLight" panose="020B0609020000020004" pitchFamily="49" charset="0"/>
                <a:cs typeface="Cascadia Code SemiLight" panose="020B0609020000020004" pitchFamily="49" charset="0"/>
              </a:rPr>
              <a:t>如果不手动释放，程序不会自动给你释放（易错点）</a:t>
            </a:r>
            <a:endParaRPr lang="en-US" altLang="zh-CN" dirty="0">
              <a:highlight>
                <a:srgbClr val="FFFF00"/>
              </a:highlight>
              <a:latin typeface="Cascadia Code SemiLight" panose="020B0609020000020004" pitchFamily="49" charset="0"/>
              <a:cs typeface="Cascadia Code SemiLight" panose="020B0609020000020004" pitchFamily="49" charset="0"/>
            </a:endParaRPr>
          </a:p>
          <a:p>
            <a:endParaRPr lang="en-US" altLang="zh-CN" dirty="0">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使用示例</a:t>
            </a:r>
            <a:r>
              <a:rPr lang="zh-CN" altLang="en-US" dirty="0">
                <a:latin typeface="Cascadia Code SemiLight" panose="020B0609020000020004" pitchFamily="49" charset="0"/>
                <a:cs typeface="Cascadia Code SemiLight" panose="020B0609020000020004" pitchFamily="49" charset="0"/>
                <a:sym typeface="Wingdings" panose="05000000000000000000" pitchFamily="2" charset="2"/>
              </a:rPr>
              <a:t>：</a:t>
            </a:r>
            <a:r>
              <a:rPr lang="zh-CN" altLang="en-US" dirty="0">
                <a:highlight>
                  <a:srgbClr val="FFFF00"/>
                </a:highlight>
                <a:latin typeface="Cascadia Code SemiLight" panose="020B0609020000020004" pitchFamily="49" charset="0"/>
                <a:cs typeface="Cascadia Code SemiLight" panose="020B0609020000020004" pitchFamily="49" charset="0"/>
                <a:sym typeface="Wingdings" panose="05000000000000000000" pitchFamily="2" charset="2"/>
              </a:rPr>
              <a:t>（不安全）</a:t>
            </a:r>
            <a:endParaRPr lang="en-US" altLang="zh-CN" dirty="0">
              <a:highlight>
                <a:srgbClr val="FFFF00"/>
              </a:highlight>
              <a:latin typeface="Cascadia Code SemiLight" panose="020B0609020000020004" pitchFamily="49" charset="0"/>
              <a:cs typeface="Cascadia Code SemiLight" panose="020B0609020000020004" pitchFamily="49" charset="0"/>
            </a:endParaRPr>
          </a:p>
          <a:p>
            <a:r>
              <a:rPr lang="en-US" altLang="zh-CN" dirty="0">
                <a:latin typeface="Cascadia Code SemiLight" panose="020B0609020000020004" pitchFamily="49" charset="0"/>
                <a:cs typeface="Cascadia Code SemiLight" panose="020B0609020000020004" pitchFamily="49" charset="0"/>
              </a:rPr>
              <a:t>int *px;</a:t>
            </a:r>
          </a:p>
          <a:p>
            <a:r>
              <a:rPr lang="en-US" altLang="zh-CN" dirty="0">
                <a:latin typeface="Cascadia Code SemiLight" panose="020B0609020000020004" pitchFamily="49" charset="0"/>
                <a:cs typeface="Cascadia Code SemiLight" panose="020B0609020000020004" pitchFamily="49" charset="0"/>
              </a:rPr>
              <a:t>px = (int *)malloc(</a:t>
            </a:r>
            <a:r>
              <a:rPr lang="en-US" altLang="zh-CN" dirty="0" err="1">
                <a:latin typeface="Cascadia Code SemiLight" panose="020B0609020000020004" pitchFamily="49" charset="0"/>
                <a:cs typeface="Cascadia Code SemiLight" panose="020B0609020000020004" pitchFamily="49" charset="0"/>
              </a:rPr>
              <a:t>sizeof</a:t>
            </a:r>
            <a:r>
              <a:rPr lang="en-US" altLang="zh-CN" dirty="0">
                <a:latin typeface="Cascadia Code SemiLight" panose="020B0609020000020004" pitchFamily="49" charset="0"/>
                <a:cs typeface="Cascadia Code SemiLight" panose="020B0609020000020004" pitchFamily="49" charset="0"/>
              </a:rPr>
              <a:t>(int));</a:t>
            </a:r>
          </a:p>
          <a:p>
            <a:r>
              <a:rPr lang="en-US" altLang="zh-CN" dirty="0">
                <a:latin typeface="Cascadia Code SemiLight" panose="020B0609020000020004" pitchFamily="49" charset="0"/>
                <a:cs typeface="Cascadia Code SemiLight" panose="020B0609020000020004" pitchFamily="49" charset="0"/>
              </a:rPr>
              <a:t>free(px);</a:t>
            </a:r>
          </a:p>
        </p:txBody>
      </p:sp>
    </p:spTree>
    <p:extLst>
      <p:ext uri="{BB962C8B-B14F-4D97-AF65-F5344CB8AC3E}">
        <p14:creationId xmlns:p14="http://schemas.microsoft.com/office/powerpoint/2010/main" val="25558634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521207" y="448056"/>
            <a:ext cx="10552533" cy="640080"/>
          </a:xfrm>
        </p:spPr>
        <p:txBody>
          <a:bodyPr rtlCol="0">
            <a:noAutofit/>
          </a:bodyPr>
          <a:lstStyle/>
          <a:p>
            <a:pPr rtl="0"/>
            <a:r>
              <a:rPr lang="en-US" altLang="zh-CN" dirty="0">
                <a:cs typeface="Segoe UI Light" panose="020B0502040204020203" pitchFamily="34" charset="0"/>
              </a:rPr>
              <a:t>Chapter 6  </a:t>
            </a:r>
            <a:r>
              <a:rPr lang="zh-CN" altLang="en-US" dirty="0">
                <a:cs typeface="Segoe UI Light" panose="020B0502040204020203" pitchFamily="34" charset="0"/>
              </a:rPr>
              <a:t>指针</a:t>
            </a:r>
          </a:p>
        </p:txBody>
      </p:sp>
      <p:sp>
        <p:nvSpPr>
          <p:cNvPr id="2" name="文本框 1">
            <a:extLst>
              <a:ext uri="{FF2B5EF4-FFF2-40B4-BE49-F238E27FC236}">
                <a16:creationId xmlns:a16="http://schemas.microsoft.com/office/drawing/2014/main" id="{278E70F4-2A89-46EF-8FA4-B65F4871C040}"/>
              </a:ext>
            </a:extLst>
          </p:cNvPr>
          <p:cNvSpPr txBox="1"/>
          <p:nvPr/>
        </p:nvSpPr>
        <p:spPr>
          <a:xfrm>
            <a:off x="611578" y="1413164"/>
            <a:ext cx="3621975" cy="369332"/>
          </a:xfrm>
          <a:prstGeom prst="rect">
            <a:avLst/>
          </a:prstGeom>
          <a:noFill/>
        </p:spPr>
        <p:txBody>
          <a:bodyPr wrap="square" rtlCol="0">
            <a:spAutoFit/>
          </a:bodyPr>
          <a:lstStyle/>
          <a:p>
            <a:r>
              <a:rPr lang="en-US" altLang="zh-CN" dirty="0"/>
              <a:t>6.3  </a:t>
            </a:r>
            <a:r>
              <a:rPr lang="zh-CN" altLang="en-US" dirty="0"/>
              <a:t>动态分配内存</a:t>
            </a:r>
          </a:p>
        </p:txBody>
      </p:sp>
      <p:sp>
        <p:nvSpPr>
          <p:cNvPr id="5" name="文本框 4">
            <a:extLst>
              <a:ext uri="{FF2B5EF4-FFF2-40B4-BE49-F238E27FC236}">
                <a16:creationId xmlns:a16="http://schemas.microsoft.com/office/drawing/2014/main" id="{159C3D41-1305-417D-9DE2-107823DDF5A2}"/>
              </a:ext>
            </a:extLst>
          </p:cNvPr>
          <p:cNvSpPr txBox="1"/>
          <p:nvPr/>
        </p:nvSpPr>
        <p:spPr>
          <a:xfrm>
            <a:off x="611578" y="1885991"/>
            <a:ext cx="10681856" cy="2862322"/>
          </a:xfrm>
          <a:prstGeom prst="rect">
            <a:avLst/>
          </a:prstGeom>
          <a:noFill/>
        </p:spPr>
        <p:txBody>
          <a:bodyPr wrap="square" rtlCol="0">
            <a:spAutoFit/>
          </a:bodyPr>
          <a:lstStyle/>
          <a:p>
            <a:r>
              <a:rPr lang="zh-CN" altLang="en-US" dirty="0">
                <a:highlight>
                  <a:srgbClr val="FFFF00"/>
                </a:highlight>
                <a:latin typeface="Cascadia Code SemiLight" panose="020B0609020000020004" pitchFamily="49" charset="0"/>
                <a:cs typeface="Cascadia Code SemiLight" panose="020B0609020000020004" pitchFamily="49" charset="0"/>
              </a:rPr>
              <a:t>更安全地动态分配内存</a:t>
            </a:r>
            <a:endParaRPr lang="en-US" altLang="zh-CN" dirty="0">
              <a:highlight>
                <a:srgbClr val="FFFF00"/>
              </a:highlight>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形式：</a:t>
            </a:r>
            <a:endParaRPr lang="en-US" altLang="zh-CN" dirty="0">
              <a:latin typeface="Cascadia Code SemiLight" panose="020B0609020000020004" pitchFamily="49" charset="0"/>
              <a:cs typeface="Cascadia Code SemiLight" panose="020B0609020000020004" pitchFamily="49" charset="0"/>
            </a:endParaRPr>
          </a:p>
          <a:p>
            <a:r>
              <a:rPr lang="en-US" altLang="zh-CN" dirty="0">
                <a:latin typeface="Cascadia Code SemiLight" panose="020B0609020000020004" pitchFamily="49" charset="0"/>
                <a:cs typeface="Cascadia Code SemiLight" panose="020B0609020000020004" pitchFamily="49" charset="0"/>
              </a:rPr>
              <a:t>if (</a:t>
            </a:r>
            <a:r>
              <a:rPr lang="zh-CN" altLang="en-US" dirty="0">
                <a:latin typeface="Cascadia Code SemiLight" panose="020B0609020000020004" pitchFamily="49" charset="0"/>
                <a:cs typeface="Cascadia Code SemiLight" panose="020B0609020000020004" pitchFamily="49" charset="0"/>
              </a:rPr>
              <a:t>指针名 </a:t>
            </a:r>
            <a:r>
              <a:rPr lang="en-US" altLang="zh-CN" dirty="0">
                <a:latin typeface="Cascadia Code SemiLight" panose="020B0609020000020004" pitchFamily="49" charset="0"/>
                <a:cs typeface="Cascadia Code SemiLight" panose="020B0609020000020004" pitchFamily="49" charset="0"/>
              </a:rPr>
              <a:t>= (</a:t>
            </a:r>
            <a:r>
              <a:rPr lang="zh-CN" altLang="en-US" dirty="0">
                <a:latin typeface="Cascadia Code SemiLight" panose="020B0609020000020004" pitchFamily="49" charset="0"/>
                <a:cs typeface="Cascadia Code SemiLight" panose="020B0609020000020004" pitchFamily="49" charset="0"/>
              </a:rPr>
              <a:t>类型 </a:t>
            </a:r>
            <a:r>
              <a:rPr lang="en-US" altLang="zh-CN" dirty="0">
                <a:latin typeface="Cascadia Code SemiLight" panose="020B0609020000020004" pitchFamily="49" charset="0"/>
                <a:cs typeface="Cascadia Code SemiLight" panose="020B0609020000020004" pitchFamily="49" charset="0"/>
              </a:rPr>
              <a:t>*)malloc(</a:t>
            </a:r>
            <a:r>
              <a:rPr lang="zh-CN" altLang="en-US" dirty="0">
                <a:latin typeface="Cascadia Code SemiLight" panose="020B0609020000020004" pitchFamily="49" charset="0"/>
                <a:cs typeface="Cascadia Code SemiLight" panose="020B0609020000020004" pitchFamily="49" charset="0"/>
              </a:rPr>
              <a:t>空间大小</a:t>
            </a:r>
            <a:r>
              <a:rPr lang="en-US" altLang="zh-CN" dirty="0">
                <a:latin typeface="Cascadia Code SemiLight" panose="020B0609020000020004" pitchFamily="49" charset="0"/>
                <a:cs typeface="Cascadia Code SemiLight" panose="020B0609020000020004" pitchFamily="49" charset="0"/>
              </a:rPr>
              <a:t>) == NULL) {</a:t>
            </a:r>
            <a:r>
              <a:rPr lang="zh-CN" altLang="en-US" dirty="0">
                <a:latin typeface="Cascadia Code SemiLight" panose="020B0609020000020004" pitchFamily="49" charset="0"/>
                <a:cs typeface="Cascadia Code SemiLight" panose="020B0609020000020004" pitchFamily="49" charset="0"/>
              </a:rPr>
              <a:t>出错处理操作</a:t>
            </a:r>
            <a:r>
              <a:rPr lang="en-US" altLang="zh-CN" dirty="0">
                <a:latin typeface="Cascadia Code SemiLight" panose="020B0609020000020004" pitchFamily="49" charset="0"/>
                <a:cs typeface="Cascadia Code SemiLight" panose="020B0609020000020004" pitchFamily="49" charset="0"/>
              </a:rPr>
              <a:t>}</a:t>
            </a:r>
          </a:p>
          <a:p>
            <a:endParaRPr lang="en-US" altLang="zh-CN" dirty="0">
              <a:latin typeface="Cascadia Code SemiLight" panose="020B0609020000020004" pitchFamily="49" charset="0"/>
              <a:cs typeface="Cascadia Code SemiLight" panose="020B0609020000020004" pitchFamily="49" charset="0"/>
            </a:endParaRPr>
          </a:p>
          <a:p>
            <a:pPr marL="342900" indent="-342900">
              <a:buAutoNum type="arabicPeriod"/>
            </a:pPr>
            <a:r>
              <a:rPr lang="zh-CN" altLang="en-US" dirty="0">
                <a:latin typeface="Cascadia Code SemiLight" panose="020B0609020000020004" pitchFamily="49" charset="0"/>
                <a:cs typeface="Cascadia Code SemiLight" panose="020B0609020000020004" pitchFamily="49" charset="0"/>
              </a:rPr>
              <a:t>首先对目标指针使用</a:t>
            </a:r>
            <a:r>
              <a:rPr lang="en-US" altLang="zh-CN" dirty="0">
                <a:latin typeface="Cascadia Code SemiLight" panose="020B0609020000020004" pitchFamily="49" charset="0"/>
                <a:cs typeface="Cascadia Code SemiLight" panose="020B0609020000020004" pitchFamily="49" charset="0"/>
              </a:rPr>
              <a:t>malloc</a:t>
            </a:r>
            <a:r>
              <a:rPr lang="zh-CN" altLang="en-US" dirty="0">
                <a:latin typeface="Cascadia Code SemiLight" panose="020B0609020000020004" pitchFamily="49" charset="0"/>
                <a:cs typeface="Cascadia Code SemiLight" panose="020B0609020000020004" pitchFamily="49" charset="0"/>
              </a:rPr>
              <a:t>函数，将</a:t>
            </a:r>
            <a:r>
              <a:rPr lang="en-US" altLang="zh-CN" dirty="0">
                <a:latin typeface="Cascadia Code SemiLight" panose="020B0609020000020004" pitchFamily="49" charset="0"/>
                <a:cs typeface="Cascadia Code SemiLight" panose="020B0609020000020004" pitchFamily="49" charset="0"/>
              </a:rPr>
              <a:t>malloc</a:t>
            </a:r>
            <a:r>
              <a:rPr lang="zh-CN" altLang="en-US" dirty="0">
                <a:latin typeface="Cascadia Code SemiLight" panose="020B0609020000020004" pitchFamily="49" charset="0"/>
                <a:cs typeface="Cascadia Code SemiLight" panose="020B0609020000020004" pitchFamily="49" charset="0"/>
              </a:rPr>
              <a:t>函数返回的指针转化为目标指针对应的类型</a:t>
            </a:r>
            <a:endParaRPr lang="en-US" altLang="zh-CN" dirty="0">
              <a:latin typeface="Cascadia Code SemiLight" panose="020B0609020000020004" pitchFamily="49" charset="0"/>
              <a:cs typeface="Cascadia Code SemiLight" panose="020B0609020000020004" pitchFamily="49" charset="0"/>
            </a:endParaRPr>
          </a:p>
          <a:p>
            <a:pPr marL="342900" indent="-342900">
              <a:buAutoNum type="arabicPeriod"/>
            </a:pPr>
            <a:r>
              <a:rPr lang="zh-CN" altLang="en-US" dirty="0">
                <a:latin typeface="Cascadia Code SemiLight" panose="020B0609020000020004" pitchFamily="49" charset="0"/>
                <a:cs typeface="Cascadia Code SemiLight" panose="020B0609020000020004" pitchFamily="49" charset="0"/>
              </a:rPr>
              <a:t>然后对指针名进行判断，如果为空则代表失败，需要进行相关处理</a:t>
            </a:r>
            <a:endParaRPr lang="en-US" altLang="zh-CN" dirty="0">
              <a:latin typeface="Cascadia Code SemiLight" panose="020B0609020000020004" pitchFamily="49" charset="0"/>
              <a:cs typeface="Cascadia Code SemiLight" panose="020B0609020000020004" pitchFamily="49" charset="0"/>
            </a:endParaRPr>
          </a:p>
          <a:p>
            <a:pPr marL="342900" indent="-342900">
              <a:buAutoNum type="arabicPeriod"/>
            </a:pPr>
            <a:r>
              <a:rPr lang="zh-CN" altLang="en-US" dirty="0">
                <a:latin typeface="Cascadia Code SemiLight" panose="020B0609020000020004" pitchFamily="49" charset="0"/>
                <a:cs typeface="Cascadia Code SemiLight" panose="020B0609020000020004" pitchFamily="49" charset="0"/>
              </a:rPr>
              <a:t>如果为真，</a:t>
            </a:r>
            <a:r>
              <a:rPr lang="en-US" altLang="zh-CN" dirty="0">
                <a:latin typeface="Cascadia Code SemiLight" panose="020B0609020000020004" pitchFamily="49" charset="0"/>
                <a:cs typeface="Cascadia Code SemiLight" panose="020B0609020000020004" pitchFamily="49" charset="0"/>
              </a:rPr>
              <a:t>malloc</a:t>
            </a:r>
            <a:r>
              <a:rPr lang="zh-CN" altLang="en-US" dirty="0">
                <a:latin typeface="Cascadia Code SemiLight" panose="020B0609020000020004" pitchFamily="49" charset="0"/>
                <a:cs typeface="Cascadia Code SemiLight" panose="020B0609020000020004" pitchFamily="49" charset="0"/>
              </a:rPr>
              <a:t>操作已经成功，接下来的代码可以编写使用该指针的相关内容</a:t>
            </a:r>
            <a:endParaRPr lang="en-US" altLang="zh-CN" dirty="0">
              <a:latin typeface="Cascadia Code SemiLight" panose="020B0609020000020004" pitchFamily="49" charset="0"/>
              <a:cs typeface="Cascadia Code SemiLight" panose="020B0609020000020004" pitchFamily="49" charset="0"/>
            </a:endParaRPr>
          </a:p>
          <a:p>
            <a:endParaRPr lang="en-US" altLang="zh-CN" dirty="0">
              <a:latin typeface="Cascadia Code SemiLight" panose="020B0609020000020004" pitchFamily="49" charset="0"/>
              <a:cs typeface="Cascadia Code SemiLight" panose="020B0609020000020004" pitchFamily="49" charset="0"/>
            </a:endParaRPr>
          </a:p>
          <a:p>
            <a:r>
              <a:rPr lang="en-US" altLang="zh-CN" i="1" dirty="0">
                <a:latin typeface="Cascadia Code SemiLight" panose="020B0609020000020004" pitchFamily="49" charset="0"/>
                <a:cs typeface="Cascadia Code SemiLight" panose="020B0609020000020004" pitchFamily="49" charset="0"/>
              </a:rPr>
              <a:t>free</a:t>
            </a:r>
            <a:r>
              <a:rPr lang="zh-CN" altLang="en-US" i="1" dirty="0">
                <a:latin typeface="Cascadia Code SemiLight" panose="020B0609020000020004" pitchFamily="49" charset="0"/>
                <a:cs typeface="Cascadia Code SemiLight" panose="020B0609020000020004" pitchFamily="49" charset="0"/>
              </a:rPr>
              <a:t>函数可以适用于所有指针吗？</a:t>
            </a:r>
            <a:endParaRPr lang="en-US" altLang="zh-CN" i="1" dirty="0">
              <a:latin typeface="Cascadia Code SemiLight" panose="020B0609020000020004" pitchFamily="49" charset="0"/>
              <a:cs typeface="Cascadia Code SemiLight" panose="020B0609020000020004" pitchFamily="49" charset="0"/>
            </a:endParaRPr>
          </a:p>
          <a:p>
            <a:pPr marL="342900" indent="-342900">
              <a:buAutoNum type="arabicPeriod"/>
            </a:pPr>
            <a:endParaRPr lang="en-US" altLang="zh-CN" dirty="0">
              <a:latin typeface="Cascadia Code SemiLight" panose="020B0609020000020004" pitchFamily="49" charset="0"/>
              <a:cs typeface="Cascadia Code SemiLight" panose="020B0609020000020004" pitchFamily="49" charset="0"/>
            </a:endParaRPr>
          </a:p>
        </p:txBody>
      </p:sp>
    </p:spTree>
    <p:extLst>
      <p:ext uri="{BB962C8B-B14F-4D97-AF65-F5344CB8AC3E}">
        <p14:creationId xmlns:p14="http://schemas.microsoft.com/office/powerpoint/2010/main" val="14732594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521207" y="448056"/>
            <a:ext cx="10552533" cy="640080"/>
          </a:xfrm>
        </p:spPr>
        <p:txBody>
          <a:bodyPr rtlCol="0">
            <a:noAutofit/>
          </a:bodyPr>
          <a:lstStyle/>
          <a:p>
            <a:pPr rtl="0"/>
            <a:r>
              <a:rPr lang="en-US" altLang="zh-CN" dirty="0">
                <a:cs typeface="Segoe UI Light" panose="020B0502040204020203" pitchFamily="34" charset="0"/>
              </a:rPr>
              <a:t>Chapter 6  </a:t>
            </a:r>
            <a:r>
              <a:rPr lang="zh-CN" altLang="en-US" dirty="0">
                <a:cs typeface="Segoe UI Light" panose="020B0502040204020203" pitchFamily="34" charset="0"/>
              </a:rPr>
              <a:t>指针</a:t>
            </a:r>
          </a:p>
        </p:txBody>
      </p:sp>
      <p:sp>
        <p:nvSpPr>
          <p:cNvPr id="2" name="文本框 1">
            <a:extLst>
              <a:ext uri="{FF2B5EF4-FFF2-40B4-BE49-F238E27FC236}">
                <a16:creationId xmlns:a16="http://schemas.microsoft.com/office/drawing/2014/main" id="{278E70F4-2A89-46EF-8FA4-B65F4871C040}"/>
              </a:ext>
            </a:extLst>
          </p:cNvPr>
          <p:cNvSpPr txBox="1"/>
          <p:nvPr/>
        </p:nvSpPr>
        <p:spPr>
          <a:xfrm>
            <a:off x="611578" y="1413164"/>
            <a:ext cx="3621975" cy="369332"/>
          </a:xfrm>
          <a:prstGeom prst="rect">
            <a:avLst/>
          </a:prstGeom>
          <a:noFill/>
        </p:spPr>
        <p:txBody>
          <a:bodyPr wrap="square" rtlCol="0">
            <a:spAutoFit/>
          </a:bodyPr>
          <a:lstStyle/>
          <a:p>
            <a:r>
              <a:rPr lang="en-US" altLang="zh-CN" dirty="0"/>
              <a:t>6.3  </a:t>
            </a:r>
            <a:r>
              <a:rPr lang="zh-CN" altLang="en-US" dirty="0"/>
              <a:t>动态分配内存</a:t>
            </a:r>
          </a:p>
        </p:txBody>
      </p:sp>
      <p:pic>
        <p:nvPicPr>
          <p:cNvPr id="4" name="图片 3">
            <a:extLst>
              <a:ext uri="{FF2B5EF4-FFF2-40B4-BE49-F238E27FC236}">
                <a16:creationId xmlns:a16="http://schemas.microsoft.com/office/drawing/2014/main" id="{1C46A383-9E22-4EC8-99E1-D75516C77ABC}"/>
              </a:ext>
            </a:extLst>
          </p:cNvPr>
          <p:cNvPicPr>
            <a:picLocks noChangeAspect="1"/>
          </p:cNvPicPr>
          <p:nvPr/>
        </p:nvPicPr>
        <p:blipFill>
          <a:blip r:embed="rId3"/>
          <a:stretch>
            <a:fillRect/>
          </a:stretch>
        </p:blipFill>
        <p:spPr>
          <a:xfrm>
            <a:off x="5366798" y="0"/>
            <a:ext cx="6873551" cy="6858000"/>
          </a:xfrm>
          <a:prstGeom prst="rect">
            <a:avLst/>
          </a:prstGeom>
        </p:spPr>
      </p:pic>
    </p:spTree>
    <p:extLst>
      <p:ext uri="{BB962C8B-B14F-4D97-AF65-F5344CB8AC3E}">
        <p14:creationId xmlns:p14="http://schemas.microsoft.com/office/powerpoint/2010/main" val="5855448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521207" y="448056"/>
            <a:ext cx="10552533" cy="640080"/>
          </a:xfrm>
        </p:spPr>
        <p:txBody>
          <a:bodyPr rtlCol="0">
            <a:noAutofit/>
          </a:bodyPr>
          <a:lstStyle/>
          <a:p>
            <a:pPr rtl="0"/>
            <a:r>
              <a:rPr lang="en-US" altLang="zh-CN" dirty="0">
                <a:cs typeface="Segoe UI Light" panose="020B0502040204020203" pitchFamily="34" charset="0"/>
              </a:rPr>
              <a:t>Chapter 6  </a:t>
            </a:r>
            <a:r>
              <a:rPr lang="zh-CN" altLang="en-US" dirty="0">
                <a:cs typeface="Segoe UI Light" panose="020B0502040204020203" pitchFamily="34" charset="0"/>
              </a:rPr>
              <a:t>指针</a:t>
            </a:r>
          </a:p>
        </p:txBody>
      </p:sp>
      <p:sp>
        <p:nvSpPr>
          <p:cNvPr id="2" name="文本框 1">
            <a:extLst>
              <a:ext uri="{FF2B5EF4-FFF2-40B4-BE49-F238E27FC236}">
                <a16:creationId xmlns:a16="http://schemas.microsoft.com/office/drawing/2014/main" id="{278E70F4-2A89-46EF-8FA4-B65F4871C040}"/>
              </a:ext>
            </a:extLst>
          </p:cNvPr>
          <p:cNvSpPr txBox="1"/>
          <p:nvPr/>
        </p:nvSpPr>
        <p:spPr>
          <a:xfrm>
            <a:off x="611578" y="1413164"/>
            <a:ext cx="3621975" cy="369332"/>
          </a:xfrm>
          <a:prstGeom prst="rect">
            <a:avLst/>
          </a:prstGeom>
          <a:noFill/>
        </p:spPr>
        <p:txBody>
          <a:bodyPr wrap="square" rtlCol="0">
            <a:spAutoFit/>
          </a:bodyPr>
          <a:lstStyle/>
          <a:p>
            <a:r>
              <a:rPr lang="en-US" altLang="zh-CN" dirty="0"/>
              <a:t>6.4  </a:t>
            </a:r>
            <a:r>
              <a:rPr lang="zh-CN" altLang="en-US" dirty="0"/>
              <a:t>指针与数组</a:t>
            </a:r>
          </a:p>
        </p:txBody>
      </p:sp>
      <p:pic>
        <p:nvPicPr>
          <p:cNvPr id="4" name="图片 3">
            <a:extLst>
              <a:ext uri="{FF2B5EF4-FFF2-40B4-BE49-F238E27FC236}">
                <a16:creationId xmlns:a16="http://schemas.microsoft.com/office/drawing/2014/main" id="{7D9DA57B-72BE-4260-9BC4-2D0E23B27D5F}"/>
              </a:ext>
            </a:extLst>
          </p:cNvPr>
          <p:cNvPicPr>
            <a:picLocks noChangeAspect="1"/>
          </p:cNvPicPr>
          <p:nvPr/>
        </p:nvPicPr>
        <p:blipFill>
          <a:blip r:embed="rId3"/>
          <a:stretch>
            <a:fillRect/>
          </a:stretch>
        </p:blipFill>
        <p:spPr>
          <a:xfrm>
            <a:off x="2395530" y="1215167"/>
            <a:ext cx="8143820" cy="5423140"/>
          </a:xfrm>
          <a:prstGeom prst="rect">
            <a:avLst/>
          </a:prstGeom>
        </p:spPr>
      </p:pic>
    </p:spTree>
    <p:extLst>
      <p:ext uri="{BB962C8B-B14F-4D97-AF65-F5344CB8AC3E}">
        <p14:creationId xmlns:p14="http://schemas.microsoft.com/office/powerpoint/2010/main" val="8514204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521207" y="448056"/>
            <a:ext cx="10552533" cy="640080"/>
          </a:xfrm>
        </p:spPr>
        <p:txBody>
          <a:bodyPr rtlCol="0">
            <a:noAutofit/>
          </a:bodyPr>
          <a:lstStyle/>
          <a:p>
            <a:pPr rtl="0"/>
            <a:r>
              <a:rPr lang="en-US" altLang="zh-CN" dirty="0">
                <a:cs typeface="Segoe UI Light" panose="020B0502040204020203" pitchFamily="34" charset="0"/>
              </a:rPr>
              <a:t>Chapter 6  </a:t>
            </a:r>
            <a:r>
              <a:rPr lang="zh-CN" altLang="en-US" dirty="0">
                <a:cs typeface="Segoe UI Light" panose="020B0502040204020203" pitchFamily="34" charset="0"/>
              </a:rPr>
              <a:t>指针</a:t>
            </a:r>
          </a:p>
        </p:txBody>
      </p:sp>
      <p:sp>
        <p:nvSpPr>
          <p:cNvPr id="2" name="文本框 1">
            <a:extLst>
              <a:ext uri="{FF2B5EF4-FFF2-40B4-BE49-F238E27FC236}">
                <a16:creationId xmlns:a16="http://schemas.microsoft.com/office/drawing/2014/main" id="{278E70F4-2A89-46EF-8FA4-B65F4871C040}"/>
              </a:ext>
            </a:extLst>
          </p:cNvPr>
          <p:cNvSpPr txBox="1"/>
          <p:nvPr/>
        </p:nvSpPr>
        <p:spPr>
          <a:xfrm>
            <a:off x="611578" y="1413164"/>
            <a:ext cx="3621975" cy="369332"/>
          </a:xfrm>
          <a:prstGeom prst="rect">
            <a:avLst/>
          </a:prstGeom>
          <a:noFill/>
        </p:spPr>
        <p:txBody>
          <a:bodyPr wrap="square" rtlCol="0">
            <a:spAutoFit/>
          </a:bodyPr>
          <a:lstStyle/>
          <a:p>
            <a:r>
              <a:rPr lang="en-US" altLang="zh-CN" dirty="0"/>
              <a:t>6.4  </a:t>
            </a:r>
            <a:r>
              <a:rPr lang="zh-CN" altLang="en-US" dirty="0"/>
              <a:t>指针与数组</a:t>
            </a:r>
          </a:p>
        </p:txBody>
      </p:sp>
      <p:pic>
        <p:nvPicPr>
          <p:cNvPr id="5" name="图片 4">
            <a:extLst>
              <a:ext uri="{FF2B5EF4-FFF2-40B4-BE49-F238E27FC236}">
                <a16:creationId xmlns:a16="http://schemas.microsoft.com/office/drawing/2014/main" id="{6C17B4D8-8391-4D95-A52D-41631BF39DC7}"/>
              </a:ext>
            </a:extLst>
          </p:cNvPr>
          <p:cNvPicPr>
            <a:picLocks noChangeAspect="1"/>
          </p:cNvPicPr>
          <p:nvPr/>
        </p:nvPicPr>
        <p:blipFill>
          <a:blip r:embed="rId3"/>
          <a:stretch>
            <a:fillRect/>
          </a:stretch>
        </p:blipFill>
        <p:spPr>
          <a:xfrm>
            <a:off x="2652112" y="1597830"/>
            <a:ext cx="6290722" cy="2368850"/>
          </a:xfrm>
          <a:prstGeom prst="rect">
            <a:avLst/>
          </a:prstGeom>
        </p:spPr>
      </p:pic>
      <p:pic>
        <p:nvPicPr>
          <p:cNvPr id="7" name="图片 6">
            <a:extLst>
              <a:ext uri="{FF2B5EF4-FFF2-40B4-BE49-F238E27FC236}">
                <a16:creationId xmlns:a16="http://schemas.microsoft.com/office/drawing/2014/main" id="{2988B775-08B2-4E2E-B6DB-8A5A80E43DC1}"/>
              </a:ext>
            </a:extLst>
          </p:cNvPr>
          <p:cNvPicPr>
            <a:picLocks noChangeAspect="1"/>
          </p:cNvPicPr>
          <p:nvPr/>
        </p:nvPicPr>
        <p:blipFill>
          <a:blip r:embed="rId4"/>
          <a:stretch>
            <a:fillRect/>
          </a:stretch>
        </p:blipFill>
        <p:spPr>
          <a:xfrm>
            <a:off x="2652112" y="3966680"/>
            <a:ext cx="6257370" cy="2555093"/>
          </a:xfrm>
          <a:prstGeom prst="rect">
            <a:avLst/>
          </a:prstGeom>
        </p:spPr>
      </p:pic>
    </p:spTree>
    <p:extLst>
      <p:ext uri="{BB962C8B-B14F-4D97-AF65-F5344CB8AC3E}">
        <p14:creationId xmlns:p14="http://schemas.microsoft.com/office/powerpoint/2010/main" val="5021209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521207" y="448056"/>
            <a:ext cx="10552533" cy="640080"/>
          </a:xfrm>
        </p:spPr>
        <p:txBody>
          <a:bodyPr rtlCol="0">
            <a:noAutofit/>
          </a:bodyPr>
          <a:lstStyle/>
          <a:p>
            <a:pPr rtl="0"/>
            <a:r>
              <a:rPr lang="en-US" altLang="zh-CN" dirty="0">
                <a:cs typeface="Segoe UI Light" panose="020B0502040204020203" pitchFamily="34" charset="0"/>
              </a:rPr>
              <a:t>Chapter 6  </a:t>
            </a:r>
            <a:r>
              <a:rPr lang="zh-CN" altLang="en-US" dirty="0">
                <a:cs typeface="Segoe UI Light" panose="020B0502040204020203" pitchFamily="34" charset="0"/>
              </a:rPr>
              <a:t>指针</a:t>
            </a:r>
          </a:p>
        </p:txBody>
      </p:sp>
      <p:sp>
        <p:nvSpPr>
          <p:cNvPr id="2" name="文本框 1">
            <a:extLst>
              <a:ext uri="{FF2B5EF4-FFF2-40B4-BE49-F238E27FC236}">
                <a16:creationId xmlns:a16="http://schemas.microsoft.com/office/drawing/2014/main" id="{278E70F4-2A89-46EF-8FA4-B65F4871C040}"/>
              </a:ext>
            </a:extLst>
          </p:cNvPr>
          <p:cNvSpPr txBox="1"/>
          <p:nvPr/>
        </p:nvSpPr>
        <p:spPr>
          <a:xfrm>
            <a:off x="611578" y="1413164"/>
            <a:ext cx="3621975" cy="369332"/>
          </a:xfrm>
          <a:prstGeom prst="rect">
            <a:avLst/>
          </a:prstGeom>
          <a:noFill/>
        </p:spPr>
        <p:txBody>
          <a:bodyPr wrap="square" rtlCol="0">
            <a:spAutoFit/>
          </a:bodyPr>
          <a:lstStyle/>
          <a:p>
            <a:r>
              <a:rPr lang="en-US" altLang="zh-CN" dirty="0"/>
              <a:t>6.4  </a:t>
            </a:r>
            <a:r>
              <a:rPr lang="zh-CN" altLang="en-US" dirty="0"/>
              <a:t>指针与数组</a:t>
            </a:r>
          </a:p>
        </p:txBody>
      </p:sp>
      <p:pic>
        <p:nvPicPr>
          <p:cNvPr id="5" name="图片 4">
            <a:extLst>
              <a:ext uri="{FF2B5EF4-FFF2-40B4-BE49-F238E27FC236}">
                <a16:creationId xmlns:a16="http://schemas.microsoft.com/office/drawing/2014/main" id="{2AC21050-4693-4D33-9B78-E5EC339EABAE}"/>
              </a:ext>
            </a:extLst>
          </p:cNvPr>
          <p:cNvPicPr>
            <a:picLocks noChangeAspect="1"/>
          </p:cNvPicPr>
          <p:nvPr/>
        </p:nvPicPr>
        <p:blipFill>
          <a:blip r:embed="rId3"/>
          <a:stretch>
            <a:fillRect/>
          </a:stretch>
        </p:blipFill>
        <p:spPr>
          <a:xfrm>
            <a:off x="213491" y="1914832"/>
            <a:ext cx="11765017" cy="914528"/>
          </a:xfrm>
          <a:prstGeom prst="rect">
            <a:avLst/>
          </a:prstGeom>
        </p:spPr>
      </p:pic>
      <p:sp>
        <p:nvSpPr>
          <p:cNvPr id="6" name="矩形 5">
            <a:extLst>
              <a:ext uri="{FF2B5EF4-FFF2-40B4-BE49-F238E27FC236}">
                <a16:creationId xmlns:a16="http://schemas.microsoft.com/office/drawing/2014/main" id="{73E68438-42AB-491B-8A72-0B835D989EFB}"/>
              </a:ext>
            </a:extLst>
          </p:cNvPr>
          <p:cNvSpPr/>
          <p:nvPr/>
        </p:nvSpPr>
        <p:spPr>
          <a:xfrm>
            <a:off x="4536374" y="3077353"/>
            <a:ext cx="2256312" cy="4156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a[0]</a:t>
            </a:r>
            <a:endParaRPr lang="zh-CN" altLang="en-US" dirty="0"/>
          </a:p>
        </p:txBody>
      </p:sp>
      <p:sp>
        <p:nvSpPr>
          <p:cNvPr id="9" name="矩形 8">
            <a:extLst>
              <a:ext uri="{FF2B5EF4-FFF2-40B4-BE49-F238E27FC236}">
                <a16:creationId xmlns:a16="http://schemas.microsoft.com/office/drawing/2014/main" id="{F284F252-D485-4883-8B22-976FF39A1C58}"/>
              </a:ext>
            </a:extLst>
          </p:cNvPr>
          <p:cNvSpPr/>
          <p:nvPr/>
        </p:nvSpPr>
        <p:spPr>
          <a:xfrm>
            <a:off x="4536374" y="3492989"/>
            <a:ext cx="2256312" cy="4156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a[1]</a:t>
            </a:r>
            <a:endParaRPr lang="zh-CN" altLang="en-US" dirty="0"/>
          </a:p>
        </p:txBody>
      </p:sp>
      <p:sp>
        <p:nvSpPr>
          <p:cNvPr id="10" name="矩形 9">
            <a:extLst>
              <a:ext uri="{FF2B5EF4-FFF2-40B4-BE49-F238E27FC236}">
                <a16:creationId xmlns:a16="http://schemas.microsoft.com/office/drawing/2014/main" id="{E6868B65-3969-4C9F-B251-E4B4FA8E7C27}"/>
              </a:ext>
            </a:extLst>
          </p:cNvPr>
          <p:cNvSpPr/>
          <p:nvPr/>
        </p:nvSpPr>
        <p:spPr>
          <a:xfrm>
            <a:off x="4536374" y="3896750"/>
            <a:ext cx="2256312" cy="4156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a[2]</a:t>
            </a:r>
            <a:endParaRPr lang="zh-CN" altLang="en-US" dirty="0"/>
          </a:p>
        </p:txBody>
      </p:sp>
      <p:sp>
        <p:nvSpPr>
          <p:cNvPr id="11" name="矩形 10">
            <a:extLst>
              <a:ext uri="{FF2B5EF4-FFF2-40B4-BE49-F238E27FC236}">
                <a16:creationId xmlns:a16="http://schemas.microsoft.com/office/drawing/2014/main" id="{100D897B-0040-44FC-B7C2-ED7357D15772}"/>
              </a:ext>
            </a:extLst>
          </p:cNvPr>
          <p:cNvSpPr/>
          <p:nvPr/>
        </p:nvSpPr>
        <p:spPr>
          <a:xfrm>
            <a:off x="4536374" y="4312386"/>
            <a:ext cx="2256312" cy="4156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a[3]</a:t>
            </a:r>
            <a:endParaRPr lang="zh-CN" altLang="en-US" dirty="0"/>
          </a:p>
        </p:txBody>
      </p:sp>
      <p:cxnSp>
        <p:nvCxnSpPr>
          <p:cNvPr id="12" name="直接箭头连接符 11">
            <a:extLst>
              <a:ext uri="{FF2B5EF4-FFF2-40B4-BE49-F238E27FC236}">
                <a16:creationId xmlns:a16="http://schemas.microsoft.com/office/drawing/2014/main" id="{713CDEEA-A5D0-4B21-814A-3122BF0D8DF7}"/>
              </a:ext>
            </a:extLst>
          </p:cNvPr>
          <p:cNvCxnSpPr>
            <a:endCxn id="6" idx="1"/>
          </p:cNvCxnSpPr>
          <p:nvPr/>
        </p:nvCxnSpPr>
        <p:spPr>
          <a:xfrm>
            <a:off x="3823854" y="3273295"/>
            <a:ext cx="712520" cy="118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28078783-4DCC-4B7B-AC8F-E2BE53CC5CA1}"/>
              </a:ext>
            </a:extLst>
          </p:cNvPr>
          <p:cNvSpPr txBox="1"/>
          <p:nvPr/>
        </p:nvSpPr>
        <p:spPr>
          <a:xfrm>
            <a:off x="787399" y="2904184"/>
            <a:ext cx="3036455" cy="830997"/>
          </a:xfrm>
          <a:prstGeom prst="rect">
            <a:avLst/>
          </a:prstGeom>
          <a:noFill/>
        </p:spPr>
        <p:txBody>
          <a:bodyPr wrap="square" rtlCol="0">
            <a:spAutoFit/>
          </a:bodyPr>
          <a:lstStyle/>
          <a:p>
            <a:pPr algn="r"/>
            <a:r>
              <a:rPr lang="zh-CN" altLang="en-US" sz="1600" dirty="0"/>
              <a:t>一维指针</a:t>
            </a:r>
            <a:r>
              <a:rPr lang="en-US" altLang="zh-CN" sz="1600" dirty="0"/>
              <a:t>int *p1;</a:t>
            </a:r>
          </a:p>
          <a:p>
            <a:pPr algn="r"/>
            <a:r>
              <a:rPr lang="zh-CN" altLang="en-US" sz="1600" dirty="0"/>
              <a:t>等效于</a:t>
            </a:r>
            <a:r>
              <a:rPr lang="en-US" altLang="zh-CN" sz="1600" dirty="0"/>
              <a:t>p[4]={a[0][0], a[0][1], </a:t>
            </a:r>
          </a:p>
          <a:p>
            <a:pPr algn="r"/>
            <a:r>
              <a:rPr lang="en-US" altLang="zh-CN" sz="1600" dirty="0"/>
              <a:t>a[0][2], a[0][3]};</a:t>
            </a:r>
            <a:endParaRPr lang="zh-CN" altLang="en-US" sz="1600" dirty="0"/>
          </a:p>
        </p:txBody>
      </p:sp>
      <p:sp>
        <p:nvSpPr>
          <p:cNvPr id="15" name="右大括号 14">
            <a:extLst>
              <a:ext uri="{FF2B5EF4-FFF2-40B4-BE49-F238E27FC236}">
                <a16:creationId xmlns:a16="http://schemas.microsoft.com/office/drawing/2014/main" id="{C2948B45-B637-4CC6-97E8-6DE86DF57C69}"/>
              </a:ext>
            </a:extLst>
          </p:cNvPr>
          <p:cNvSpPr/>
          <p:nvPr/>
        </p:nvSpPr>
        <p:spPr>
          <a:xfrm>
            <a:off x="6804561" y="3083290"/>
            <a:ext cx="391885" cy="1650669"/>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7" name="直接箭头连接符 16">
            <a:extLst>
              <a:ext uri="{FF2B5EF4-FFF2-40B4-BE49-F238E27FC236}">
                <a16:creationId xmlns:a16="http://schemas.microsoft.com/office/drawing/2014/main" id="{9F379141-8A4D-4017-8BED-2860ACA160A0}"/>
              </a:ext>
            </a:extLst>
          </p:cNvPr>
          <p:cNvCxnSpPr>
            <a:endCxn id="15" idx="1"/>
          </p:cNvCxnSpPr>
          <p:nvPr/>
        </p:nvCxnSpPr>
        <p:spPr>
          <a:xfrm flipH="1">
            <a:off x="7196446" y="3415907"/>
            <a:ext cx="860961" cy="4927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8F4BF446-E2CE-46A9-8241-019D21A09B29}"/>
              </a:ext>
            </a:extLst>
          </p:cNvPr>
          <p:cNvSpPr txBox="1"/>
          <p:nvPr/>
        </p:nvSpPr>
        <p:spPr>
          <a:xfrm>
            <a:off x="8057407" y="3013501"/>
            <a:ext cx="3594529" cy="830997"/>
          </a:xfrm>
          <a:prstGeom prst="rect">
            <a:avLst/>
          </a:prstGeom>
          <a:noFill/>
        </p:spPr>
        <p:txBody>
          <a:bodyPr wrap="square" rtlCol="0">
            <a:spAutoFit/>
          </a:bodyPr>
          <a:lstStyle/>
          <a:p>
            <a:r>
              <a:rPr lang="zh-CN" altLang="en-US" sz="1600" dirty="0"/>
              <a:t>指针数组</a:t>
            </a:r>
            <a:r>
              <a:rPr lang="en-US" altLang="zh-CN" sz="1600" dirty="0"/>
              <a:t>int *p3[4];</a:t>
            </a:r>
          </a:p>
          <a:p>
            <a:r>
              <a:rPr lang="en-US" altLang="zh-CN" sz="1600" dirty="0"/>
              <a:t>p3[4]={</a:t>
            </a:r>
            <a:r>
              <a:rPr lang="zh-CN" altLang="en-US" sz="1600" dirty="0"/>
              <a:t>数组</a:t>
            </a:r>
            <a:r>
              <a:rPr lang="en-US" altLang="zh-CN" sz="1600" dirty="0"/>
              <a:t>1</a:t>
            </a:r>
            <a:r>
              <a:rPr lang="zh-CN" altLang="en-US" sz="1600" dirty="0"/>
              <a:t>地址</a:t>
            </a:r>
            <a:r>
              <a:rPr lang="en-US" altLang="zh-CN" sz="1600" dirty="0"/>
              <a:t>, </a:t>
            </a:r>
            <a:r>
              <a:rPr lang="zh-CN" altLang="en-US" sz="1600" dirty="0"/>
              <a:t>数组</a:t>
            </a:r>
            <a:r>
              <a:rPr lang="en-US" altLang="zh-CN" sz="1600" dirty="0"/>
              <a:t>2</a:t>
            </a:r>
            <a:r>
              <a:rPr lang="zh-CN" altLang="en-US" sz="1600" dirty="0"/>
              <a:t>地址</a:t>
            </a:r>
            <a:r>
              <a:rPr lang="en-US" altLang="zh-CN" sz="1600" dirty="0"/>
              <a:t>, </a:t>
            </a:r>
          </a:p>
          <a:p>
            <a:r>
              <a:rPr lang="en-US" altLang="zh-CN" sz="1600" dirty="0"/>
              <a:t>          </a:t>
            </a:r>
            <a:r>
              <a:rPr lang="zh-CN" altLang="en-US" sz="1600" dirty="0"/>
              <a:t>数组</a:t>
            </a:r>
            <a:r>
              <a:rPr lang="en-US" altLang="zh-CN" sz="1600" dirty="0"/>
              <a:t>3</a:t>
            </a:r>
            <a:r>
              <a:rPr lang="zh-CN" altLang="en-US" sz="1600" dirty="0"/>
              <a:t>地址</a:t>
            </a:r>
            <a:r>
              <a:rPr lang="en-US" altLang="zh-CN" sz="1600" dirty="0"/>
              <a:t>, </a:t>
            </a:r>
            <a:r>
              <a:rPr lang="zh-CN" altLang="en-US" sz="1600" dirty="0"/>
              <a:t>数组</a:t>
            </a:r>
            <a:r>
              <a:rPr lang="en-US" altLang="zh-CN" sz="1600" dirty="0"/>
              <a:t>4</a:t>
            </a:r>
            <a:r>
              <a:rPr lang="zh-CN" altLang="en-US" sz="1600" dirty="0"/>
              <a:t>地址</a:t>
            </a:r>
            <a:r>
              <a:rPr lang="en-US" altLang="zh-CN" sz="1600" dirty="0"/>
              <a:t>};</a:t>
            </a:r>
            <a:endParaRPr lang="zh-CN" altLang="en-US" sz="1600" dirty="0"/>
          </a:p>
        </p:txBody>
      </p:sp>
      <p:cxnSp>
        <p:nvCxnSpPr>
          <p:cNvPr id="21" name="直接箭头连接符 20">
            <a:extLst>
              <a:ext uri="{FF2B5EF4-FFF2-40B4-BE49-F238E27FC236}">
                <a16:creationId xmlns:a16="http://schemas.microsoft.com/office/drawing/2014/main" id="{BA8487DA-BC5C-4E22-9FDA-EBED6F9DF111}"/>
              </a:ext>
            </a:extLst>
          </p:cNvPr>
          <p:cNvCxnSpPr/>
          <p:nvPr/>
        </p:nvCxnSpPr>
        <p:spPr>
          <a:xfrm flipH="1" flipV="1">
            <a:off x="8378041" y="3598276"/>
            <a:ext cx="344384" cy="9931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1E81B512-E2C6-4AA0-8490-39F77FC04997}"/>
              </a:ext>
            </a:extLst>
          </p:cNvPr>
          <p:cNvSpPr txBox="1"/>
          <p:nvPr/>
        </p:nvSpPr>
        <p:spPr>
          <a:xfrm>
            <a:off x="8247412" y="4644895"/>
            <a:ext cx="3176650" cy="830997"/>
          </a:xfrm>
          <a:prstGeom prst="rect">
            <a:avLst/>
          </a:prstGeom>
          <a:noFill/>
        </p:spPr>
        <p:txBody>
          <a:bodyPr wrap="square" rtlCol="0">
            <a:spAutoFit/>
          </a:bodyPr>
          <a:lstStyle/>
          <a:p>
            <a:r>
              <a:rPr lang="zh-CN" altLang="en-US" sz="1600" dirty="0"/>
              <a:t>二级指针</a:t>
            </a:r>
            <a:r>
              <a:rPr lang="en-US" altLang="zh-CN" sz="1600" dirty="0"/>
              <a:t>int **pp;</a:t>
            </a:r>
          </a:p>
          <a:p>
            <a:r>
              <a:rPr lang="en-US" altLang="zh-CN" sz="1600" dirty="0"/>
              <a:t>pp = p; // </a:t>
            </a:r>
            <a:r>
              <a:rPr lang="zh-CN" altLang="en-US" sz="1600" dirty="0"/>
              <a:t>指针数组也是数组，标识符仍可以被当作是一个指针</a:t>
            </a:r>
          </a:p>
        </p:txBody>
      </p:sp>
      <p:cxnSp>
        <p:nvCxnSpPr>
          <p:cNvPr id="25" name="直接箭头连接符 24">
            <a:extLst>
              <a:ext uri="{FF2B5EF4-FFF2-40B4-BE49-F238E27FC236}">
                <a16:creationId xmlns:a16="http://schemas.microsoft.com/office/drawing/2014/main" id="{7CEAFB85-26E0-4E62-B78C-CFC144DD2AA0}"/>
              </a:ext>
            </a:extLst>
          </p:cNvPr>
          <p:cNvCxnSpPr>
            <a:cxnSpLocks/>
            <a:endCxn id="4" idx="1"/>
          </p:cNvCxnSpPr>
          <p:nvPr/>
        </p:nvCxnSpPr>
        <p:spPr>
          <a:xfrm flipV="1">
            <a:off x="3360715" y="3902687"/>
            <a:ext cx="730334" cy="831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文本框 26">
            <a:extLst>
              <a:ext uri="{FF2B5EF4-FFF2-40B4-BE49-F238E27FC236}">
                <a16:creationId xmlns:a16="http://schemas.microsoft.com/office/drawing/2014/main" id="{2F3ECA5E-8D3B-421C-A4BA-53E15228EA28}"/>
              </a:ext>
            </a:extLst>
          </p:cNvPr>
          <p:cNvSpPr txBox="1"/>
          <p:nvPr/>
        </p:nvSpPr>
        <p:spPr>
          <a:xfrm>
            <a:off x="611578" y="3844498"/>
            <a:ext cx="2737262" cy="338554"/>
          </a:xfrm>
          <a:prstGeom prst="rect">
            <a:avLst/>
          </a:prstGeom>
          <a:noFill/>
        </p:spPr>
        <p:txBody>
          <a:bodyPr wrap="square" rtlCol="0">
            <a:spAutoFit/>
          </a:bodyPr>
          <a:lstStyle/>
          <a:p>
            <a:pPr algn="r"/>
            <a:r>
              <a:rPr lang="zh-CN" altLang="en-US" sz="1600" dirty="0"/>
              <a:t>数组指针</a:t>
            </a:r>
            <a:r>
              <a:rPr lang="en-US" altLang="zh-CN" sz="1600" dirty="0"/>
              <a:t>int (*p2)[5];</a:t>
            </a:r>
          </a:p>
        </p:txBody>
      </p:sp>
      <p:sp>
        <p:nvSpPr>
          <p:cNvPr id="39" name="文本框 38">
            <a:extLst>
              <a:ext uri="{FF2B5EF4-FFF2-40B4-BE49-F238E27FC236}">
                <a16:creationId xmlns:a16="http://schemas.microsoft.com/office/drawing/2014/main" id="{09A3895B-FE19-4E63-8D5E-C7413FB1FD28}"/>
              </a:ext>
            </a:extLst>
          </p:cNvPr>
          <p:cNvSpPr txBox="1"/>
          <p:nvPr/>
        </p:nvSpPr>
        <p:spPr>
          <a:xfrm>
            <a:off x="4536374" y="4805810"/>
            <a:ext cx="2185060" cy="646331"/>
          </a:xfrm>
          <a:prstGeom prst="rect">
            <a:avLst/>
          </a:prstGeom>
          <a:noFill/>
        </p:spPr>
        <p:txBody>
          <a:bodyPr wrap="square" rtlCol="0">
            <a:spAutoFit/>
          </a:bodyPr>
          <a:lstStyle/>
          <a:p>
            <a:pPr algn="ctr"/>
            <a:r>
              <a:rPr lang="zh-CN" altLang="en-US" dirty="0"/>
              <a:t>一个二维数组</a:t>
            </a:r>
            <a:br>
              <a:rPr lang="en-US" altLang="zh-CN" dirty="0"/>
            </a:br>
            <a:r>
              <a:rPr lang="en-US" altLang="zh-CN" dirty="0"/>
              <a:t>a[4][5]</a:t>
            </a:r>
            <a:endParaRPr lang="zh-CN" altLang="en-US" dirty="0"/>
          </a:p>
        </p:txBody>
      </p:sp>
      <p:sp>
        <p:nvSpPr>
          <p:cNvPr id="4" name="左大括号 3">
            <a:extLst>
              <a:ext uri="{FF2B5EF4-FFF2-40B4-BE49-F238E27FC236}">
                <a16:creationId xmlns:a16="http://schemas.microsoft.com/office/drawing/2014/main" id="{276E48BC-4519-4804-BE5C-72A8ED8AD03B}"/>
              </a:ext>
            </a:extLst>
          </p:cNvPr>
          <p:cNvSpPr/>
          <p:nvPr/>
        </p:nvSpPr>
        <p:spPr>
          <a:xfrm>
            <a:off x="4091049" y="3077352"/>
            <a:ext cx="397824" cy="165066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8185648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521207" y="448056"/>
            <a:ext cx="10552533" cy="640080"/>
          </a:xfrm>
        </p:spPr>
        <p:txBody>
          <a:bodyPr rtlCol="0">
            <a:noAutofit/>
          </a:bodyPr>
          <a:lstStyle/>
          <a:p>
            <a:pPr rtl="0"/>
            <a:r>
              <a:rPr lang="en-US" altLang="zh-CN" dirty="0">
                <a:cs typeface="Segoe UI Light" panose="020B0502040204020203" pitchFamily="34" charset="0"/>
              </a:rPr>
              <a:t>Chapter 6  </a:t>
            </a:r>
            <a:r>
              <a:rPr lang="zh-CN" altLang="en-US" dirty="0">
                <a:cs typeface="Segoe UI Light" panose="020B0502040204020203" pitchFamily="34" charset="0"/>
              </a:rPr>
              <a:t>指针</a:t>
            </a:r>
          </a:p>
        </p:txBody>
      </p:sp>
      <p:sp>
        <p:nvSpPr>
          <p:cNvPr id="2" name="文本框 1">
            <a:extLst>
              <a:ext uri="{FF2B5EF4-FFF2-40B4-BE49-F238E27FC236}">
                <a16:creationId xmlns:a16="http://schemas.microsoft.com/office/drawing/2014/main" id="{278E70F4-2A89-46EF-8FA4-B65F4871C040}"/>
              </a:ext>
            </a:extLst>
          </p:cNvPr>
          <p:cNvSpPr txBox="1"/>
          <p:nvPr/>
        </p:nvSpPr>
        <p:spPr>
          <a:xfrm>
            <a:off x="611578" y="1413164"/>
            <a:ext cx="3621975" cy="369332"/>
          </a:xfrm>
          <a:prstGeom prst="rect">
            <a:avLst/>
          </a:prstGeom>
          <a:noFill/>
        </p:spPr>
        <p:txBody>
          <a:bodyPr wrap="square" rtlCol="0">
            <a:spAutoFit/>
          </a:bodyPr>
          <a:lstStyle/>
          <a:p>
            <a:r>
              <a:rPr lang="en-US" altLang="zh-CN" dirty="0"/>
              <a:t>6.4  </a:t>
            </a:r>
            <a:r>
              <a:rPr lang="zh-CN" altLang="en-US" dirty="0"/>
              <a:t>指针与数组</a:t>
            </a:r>
          </a:p>
        </p:txBody>
      </p:sp>
      <p:pic>
        <p:nvPicPr>
          <p:cNvPr id="4" name="图片 3">
            <a:extLst>
              <a:ext uri="{FF2B5EF4-FFF2-40B4-BE49-F238E27FC236}">
                <a16:creationId xmlns:a16="http://schemas.microsoft.com/office/drawing/2014/main" id="{E84E672A-DCDC-43A9-B742-3FE9BE050C56}"/>
              </a:ext>
            </a:extLst>
          </p:cNvPr>
          <p:cNvPicPr>
            <a:picLocks noChangeAspect="1"/>
          </p:cNvPicPr>
          <p:nvPr/>
        </p:nvPicPr>
        <p:blipFill>
          <a:blip r:embed="rId3"/>
          <a:stretch>
            <a:fillRect/>
          </a:stretch>
        </p:blipFill>
        <p:spPr>
          <a:xfrm>
            <a:off x="1127185" y="2699412"/>
            <a:ext cx="9937629" cy="3895669"/>
          </a:xfrm>
          <a:prstGeom prst="rect">
            <a:avLst/>
          </a:prstGeom>
        </p:spPr>
      </p:pic>
      <p:sp>
        <p:nvSpPr>
          <p:cNvPr id="9" name="文本框 8">
            <a:extLst>
              <a:ext uri="{FF2B5EF4-FFF2-40B4-BE49-F238E27FC236}">
                <a16:creationId xmlns:a16="http://schemas.microsoft.com/office/drawing/2014/main" id="{D25E103B-14B8-4CA5-8A07-A1E30A8A6A68}"/>
              </a:ext>
            </a:extLst>
          </p:cNvPr>
          <p:cNvSpPr txBox="1"/>
          <p:nvPr/>
        </p:nvSpPr>
        <p:spPr>
          <a:xfrm>
            <a:off x="611578" y="1885991"/>
            <a:ext cx="10681856" cy="646331"/>
          </a:xfrm>
          <a:prstGeom prst="rect">
            <a:avLst/>
          </a:prstGeom>
          <a:noFill/>
        </p:spPr>
        <p:txBody>
          <a:bodyPr wrap="square" rtlCol="0">
            <a:spAutoFit/>
          </a:bodyPr>
          <a:lstStyle/>
          <a:p>
            <a:r>
              <a:rPr lang="zh-CN" altLang="en-US" dirty="0">
                <a:latin typeface="Cascadia Code SemiLight" panose="020B0609020000020004" pitchFamily="49" charset="0"/>
                <a:cs typeface="Cascadia Code SemiLight" panose="020B0609020000020004" pitchFamily="49" charset="0"/>
              </a:rPr>
              <a:t>指针数组，数组指针，多级指针在访问数组元素时，书写方式均一致，记住一种的形式即可</a:t>
            </a:r>
            <a:endParaRPr lang="en-US" altLang="zh-CN" dirty="0">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但在考虑三者的运作逻辑时，需要进行区分（一般也不会这么考）</a:t>
            </a:r>
          </a:p>
        </p:txBody>
      </p:sp>
      <p:pic>
        <p:nvPicPr>
          <p:cNvPr id="10" name="图片 9">
            <a:extLst>
              <a:ext uri="{FF2B5EF4-FFF2-40B4-BE49-F238E27FC236}">
                <a16:creationId xmlns:a16="http://schemas.microsoft.com/office/drawing/2014/main" id="{30B7BCC6-7524-4AA1-9658-0DEBA5A2744E}"/>
              </a:ext>
            </a:extLst>
          </p:cNvPr>
          <p:cNvPicPr>
            <a:picLocks noChangeAspect="1"/>
          </p:cNvPicPr>
          <p:nvPr/>
        </p:nvPicPr>
        <p:blipFill>
          <a:blip r:embed="rId4"/>
          <a:stretch>
            <a:fillRect/>
          </a:stretch>
        </p:blipFill>
        <p:spPr>
          <a:xfrm>
            <a:off x="8790652" y="5366740"/>
            <a:ext cx="2915057" cy="828791"/>
          </a:xfrm>
          <a:prstGeom prst="rect">
            <a:avLst/>
          </a:prstGeom>
        </p:spPr>
      </p:pic>
    </p:spTree>
    <p:extLst>
      <p:ext uri="{BB962C8B-B14F-4D97-AF65-F5344CB8AC3E}">
        <p14:creationId xmlns:p14="http://schemas.microsoft.com/office/powerpoint/2010/main" val="19939663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521207" y="448056"/>
            <a:ext cx="10552533" cy="640080"/>
          </a:xfrm>
        </p:spPr>
        <p:txBody>
          <a:bodyPr rtlCol="0">
            <a:noAutofit/>
          </a:bodyPr>
          <a:lstStyle/>
          <a:p>
            <a:pPr rtl="0"/>
            <a:r>
              <a:rPr lang="en-US" altLang="zh-CN" dirty="0">
                <a:cs typeface="Segoe UI Light" panose="020B0502040204020203" pitchFamily="34" charset="0"/>
              </a:rPr>
              <a:t>Chapter 6  </a:t>
            </a:r>
            <a:r>
              <a:rPr lang="zh-CN" altLang="en-US" dirty="0">
                <a:cs typeface="Segoe UI Light" panose="020B0502040204020203" pitchFamily="34" charset="0"/>
              </a:rPr>
              <a:t>指针</a:t>
            </a:r>
          </a:p>
        </p:txBody>
      </p:sp>
      <p:sp>
        <p:nvSpPr>
          <p:cNvPr id="2" name="文本框 1">
            <a:extLst>
              <a:ext uri="{FF2B5EF4-FFF2-40B4-BE49-F238E27FC236}">
                <a16:creationId xmlns:a16="http://schemas.microsoft.com/office/drawing/2014/main" id="{278E70F4-2A89-46EF-8FA4-B65F4871C040}"/>
              </a:ext>
            </a:extLst>
          </p:cNvPr>
          <p:cNvSpPr txBox="1"/>
          <p:nvPr/>
        </p:nvSpPr>
        <p:spPr>
          <a:xfrm>
            <a:off x="611578" y="1413164"/>
            <a:ext cx="3621975" cy="369332"/>
          </a:xfrm>
          <a:prstGeom prst="rect">
            <a:avLst/>
          </a:prstGeom>
          <a:noFill/>
        </p:spPr>
        <p:txBody>
          <a:bodyPr wrap="square" rtlCol="0">
            <a:spAutoFit/>
          </a:bodyPr>
          <a:lstStyle/>
          <a:p>
            <a:r>
              <a:rPr lang="en-US" altLang="zh-CN" dirty="0"/>
              <a:t>6.5  </a:t>
            </a:r>
            <a:r>
              <a:rPr lang="zh-CN" altLang="en-US" dirty="0"/>
              <a:t>数组在函数间的传递</a:t>
            </a:r>
          </a:p>
        </p:txBody>
      </p:sp>
      <p:pic>
        <p:nvPicPr>
          <p:cNvPr id="5" name="图片 4">
            <a:extLst>
              <a:ext uri="{FF2B5EF4-FFF2-40B4-BE49-F238E27FC236}">
                <a16:creationId xmlns:a16="http://schemas.microsoft.com/office/drawing/2014/main" id="{83909170-35C3-4B0D-9E79-3230CF6E9FA7}"/>
              </a:ext>
            </a:extLst>
          </p:cNvPr>
          <p:cNvPicPr>
            <a:picLocks noChangeAspect="1"/>
          </p:cNvPicPr>
          <p:nvPr/>
        </p:nvPicPr>
        <p:blipFill>
          <a:blip r:embed="rId3"/>
          <a:stretch>
            <a:fillRect/>
          </a:stretch>
        </p:blipFill>
        <p:spPr>
          <a:xfrm>
            <a:off x="732546" y="2107524"/>
            <a:ext cx="10726908" cy="3505465"/>
          </a:xfrm>
          <a:prstGeom prst="rect">
            <a:avLst/>
          </a:prstGeom>
        </p:spPr>
      </p:pic>
    </p:spTree>
    <p:extLst>
      <p:ext uri="{BB962C8B-B14F-4D97-AF65-F5344CB8AC3E}">
        <p14:creationId xmlns:p14="http://schemas.microsoft.com/office/powerpoint/2010/main" val="6933484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rtlCol="0">
            <a:noAutofit/>
          </a:bodyPr>
          <a:lstStyle/>
          <a:p>
            <a:pPr rtl="0"/>
            <a:r>
              <a:rPr lang="zh-CN" altLang="en-US" dirty="0">
                <a:cs typeface="Segoe UI Light" panose="020B0502040204020203" pitchFamily="34" charset="0"/>
              </a:rPr>
              <a:t>第三部分</a:t>
            </a:r>
          </a:p>
        </p:txBody>
      </p:sp>
      <p:sp>
        <p:nvSpPr>
          <p:cNvPr id="38" name="内容占位符 17"/>
          <p:cNvSpPr txBox="1">
            <a:spLocks/>
          </p:cNvSpPr>
          <p:nvPr/>
        </p:nvSpPr>
        <p:spPr>
          <a:xfrm>
            <a:off x="541610" y="1524708"/>
            <a:ext cx="9902738" cy="3871518"/>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rtl="0">
              <a:lnSpc>
                <a:spcPct val="250000"/>
              </a:lnSpc>
              <a:spcAft>
                <a:spcPts val="600"/>
              </a:spcAft>
              <a:buNone/>
              <a:defRPr/>
            </a:pPr>
            <a:r>
              <a:rPr lang="en-US" altLang="zh-CN" sz="2000" dirty="0">
                <a:latin typeface="Microsoft YaHei UI" panose="020B0503020204020204" pitchFamily="34" charset="-122"/>
                <a:ea typeface="Microsoft YaHei UI" panose="020B0503020204020204" pitchFamily="34" charset="-122"/>
                <a:cs typeface="Segoe UI" panose="020B0502040204020203" pitchFamily="34" charset="0"/>
              </a:rPr>
              <a:t>Chapter 7 </a:t>
            </a:r>
            <a:r>
              <a:rPr lang="zh-CN" altLang="en-US" sz="2000" dirty="0">
                <a:latin typeface="Microsoft YaHei UI" panose="020B0503020204020204" pitchFamily="34" charset="-122"/>
                <a:ea typeface="Microsoft YaHei UI" panose="020B0503020204020204" pitchFamily="34" charset="-122"/>
                <a:cs typeface="Segoe UI" panose="020B0502040204020203" pitchFamily="34" charset="0"/>
              </a:rPr>
              <a:t>字符串</a:t>
            </a:r>
            <a:endParaRPr lang="en-US" altLang="zh-CN" sz="2000" dirty="0">
              <a:latin typeface="Microsoft YaHei UI" panose="020B0503020204020204" pitchFamily="34" charset="-122"/>
              <a:ea typeface="Microsoft YaHei UI" panose="020B0503020204020204" pitchFamily="34" charset="-122"/>
              <a:cs typeface="Segoe UI" panose="020B0502040204020203" pitchFamily="34" charset="0"/>
            </a:endParaRPr>
          </a:p>
          <a:p>
            <a:pPr marL="0" lvl="0" indent="0" rtl="0">
              <a:lnSpc>
                <a:spcPct val="250000"/>
              </a:lnSpc>
              <a:spcAft>
                <a:spcPts val="600"/>
              </a:spcAft>
              <a:buNone/>
              <a:defRPr/>
            </a:pPr>
            <a:r>
              <a:rPr lang="en-US" altLang="zh-CN" sz="2000" dirty="0">
                <a:latin typeface="Microsoft YaHei UI" panose="020B0503020204020204" pitchFamily="34" charset="-122"/>
                <a:ea typeface="Microsoft YaHei UI" panose="020B0503020204020204" pitchFamily="34" charset="-122"/>
                <a:cs typeface="Segoe UI" panose="020B0502040204020203" pitchFamily="34" charset="0"/>
              </a:rPr>
              <a:t>Chapter 8 </a:t>
            </a:r>
            <a:r>
              <a:rPr lang="zh-CN" altLang="en-US" sz="2000" dirty="0">
                <a:latin typeface="Microsoft YaHei UI" panose="020B0503020204020204" pitchFamily="34" charset="-122"/>
                <a:ea typeface="Microsoft YaHei UI" panose="020B0503020204020204" pitchFamily="34" charset="-122"/>
                <a:cs typeface="Segoe UI" panose="020B0502040204020203" pitchFamily="34" charset="0"/>
              </a:rPr>
              <a:t>结构体、联合体</a:t>
            </a:r>
            <a:endParaRPr lang="en-US" altLang="zh-CN" sz="2000" dirty="0">
              <a:latin typeface="Microsoft YaHei UI" panose="020B0503020204020204" pitchFamily="34" charset="-122"/>
              <a:ea typeface="Microsoft YaHei UI" panose="020B0503020204020204" pitchFamily="34" charset="-122"/>
              <a:cs typeface="Segoe UI" panose="020B0502040204020203" pitchFamily="34" charset="0"/>
            </a:endParaRPr>
          </a:p>
          <a:p>
            <a:pPr marL="0" lvl="0" indent="0" rtl="0">
              <a:lnSpc>
                <a:spcPct val="250000"/>
              </a:lnSpc>
              <a:spcAft>
                <a:spcPts val="600"/>
              </a:spcAft>
              <a:buNone/>
              <a:defRPr/>
            </a:pPr>
            <a:r>
              <a:rPr lang="en-US" altLang="zh-CN" sz="2000" dirty="0">
                <a:latin typeface="Microsoft YaHei UI" panose="020B0503020204020204" pitchFamily="34" charset="-122"/>
                <a:ea typeface="Microsoft YaHei UI" panose="020B0503020204020204" pitchFamily="34" charset="-122"/>
                <a:cs typeface="Segoe UI" panose="020B0502040204020203" pitchFamily="34" charset="0"/>
              </a:rPr>
              <a:t>Chapter 10 </a:t>
            </a:r>
            <a:r>
              <a:rPr lang="zh-CN" altLang="en-US" sz="2000" dirty="0">
                <a:latin typeface="Microsoft YaHei UI" panose="020B0503020204020204" pitchFamily="34" charset="-122"/>
                <a:ea typeface="Microsoft YaHei UI" panose="020B0503020204020204" pitchFamily="34" charset="-122"/>
                <a:cs typeface="Segoe UI" panose="020B0502040204020203" pitchFamily="34" charset="0"/>
              </a:rPr>
              <a:t>编译预处理</a:t>
            </a:r>
            <a:endParaRPr lang="en-US" altLang="zh-CN" sz="2000" dirty="0">
              <a:latin typeface="Microsoft YaHei UI" panose="020B0503020204020204" pitchFamily="34" charset="-122"/>
              <a:ea typeface="Microsoft YaHei UI" panose="020B0503020204020204" pitchFamily="34" charset="-122"/>
              <a:cs typeface="Segoe UI" panose="020B0502040204020203" pitchFamily="34" charset="0"/>
            </a:endParaRPr>
          </a:p>
        </p:txBody>
      </p:sp>
      <p:sp>
        <p:nvSpPr>
          <p:cNvPr id="7" name="文本框 6">
            <a:extLst>
              <a:ext uri="{FF2B5EF4-FFF2-40B4-BE49-F238E27FC236}">
                <a16:creationId xmlns:a16="http://schemas.microsoft.com/office/drawing/2014/main" id="{2DD82681-9138-4AC1-BBB1-A123C3BAB5CB}"/>
              </a:ext>
            </a:extLst>
          </p:cNvPr>
          <p:cNvSpPr txBox="1"/>
          <p:nvPr/>
        </p:nvSpPr>
        <p:spPr>
          <a:xfrm>
            <a:off x="2791690" y="1864588"/>
            <a:ext cx="6974773" cy="369332"/>
          </a:xfrm>
          <a:prstGeom prst="rect">
            <a:avLst/>
          </a:prstGeom>
          <a:noFill/>
        </p:spPr>
        <p:txBody>
          <a:bodyPr wrap="square" rtlCol="0">
            <a:spAutoFit/>
          </a:bodyPr>
          <a:lstStyle/>
          <a:p>
            <a:r>
              <a:rPr lang="en-US" altLang="zh-CN" dirty="0"/>
              <a:t>-&gt;</a:t>
            </a:r>
            <a:r>
              <a:rPr lang="zh-CN" altLang="en-US" dirty="0">
                <a:highlight>
                  <a:srgbClr val="FFFF00"/>
                </a:highlight>
              </a:rPr>
              <a:t>字符变量，字符串；字符串相关函数库及应用</a:t>
            </a:r>
          </a:p>
        </p:txBody>
      </p:sp>
      <p:sp>
        <p:nvSpPr>
          <p:cNvPr id="5" name="文本框 4">
            <a:extLst>
              <a:ext uri="{FF2B5EF4-FFF2-40B4-BE49-F238E27FC236}">
                <a16:creationId xmlns:a16="http://schemas.microsoft.com/office/drawing/2014/main" id="{AC8BF1E3-6E83-4D82-86B8-3E7D00EC529E}"/>
              </a:ext>
            </a:extLst>
          </p:cNvPr>
          <p:cNvSpPr txBox="1"/>
          <p:nvPr/>
        </p:nvSpPr>
        <p:spPr>
          <a:xfrm>
            <a:off x="3910939" y="2842158"/>
            <a:ext cx="6974773" cy="369332"/>
          </a:xfrm>
          <a:prstGeom prst="rect">
            <a:avLst/>
          </a:prstGeom>
          <a:noFill/>
        </p:spPr>
        <p:txBody>
          <a:bodyPr wrap="square" rtlCol="0">
            <a:spAutoFit/>
          </a:bodyPr>
          <a:lstStyle/>
          <a:p>
            <a:r>
              <a:rPr lang="en-US" altLang="zh-CN" dirty="0"/>
              <a:t>-&gt;</a:t>
            </a:r>
            <a:r>
              <a:rPr lang="zh-CN" altLang="en-US" dirty="0">
                <a:highlight>
                  <a:srgbClr val="FFFF00"/>
                </a:highlight>
              </a:rPr>
              <a:t>数据处理的利器</a:t>
            </a:r>
          </a:p>
        </p:txBody>
      </p:sp>
      <p:sp>
        <p:nvSpPr>
          <p:cNvPr id="9" name="文本框 8">
            <a:extLst>
              <a:ext uri="{FF2B5EF4-FFF2-40B4-BE49-F238E27FC236}">
                <a16:creationId xmlns:a16="http://schemas.microsoft.com/office/drawing/2014/main" id="{3C67433B-E2C3-400C-9497-3978B4C7A3BF}"/>
              </a:ext>
            </a:extLst>
          </p:cNvPr>
          <p:cNvSpPr txBox="1"/>
          <p:nvPr/>
        </p:nvSpPr>
        <p:spPr>
          <a:xfrm>
            <a:off x="3469575" y="3819728"/>
            <a:ext cx="6974773" cy="369332"/>
          </a:xfrm>
          <a:prstGeom prst="rect">
            <a:avLst/>
          </a:prstGeom>
          <a:noFill/>
        </p:spPr>
        <p:txBody>
          <a:bodyPr wrap="square" rtlCol="0">
            <a:spAutoFit/>
          </a:bodyPr>
          <a:lstStyle/>
          <a:p>
            <a:r>
              <a:rPr lang="en-US" altLang="zh-CN" dirty="0"/>
              <a:t>-&gt;</a:t>
            </a:r>
            <a:r>
              <a:rPr lang="en-US" altLang="zh-CN" dirty="0">
                <a:highlight>
                  <a:srgbClr val="FFFF00"/>
                </a:highlight>
              </a:rPr>
              <a:t>define  include</a:t>
            </a:r>
            <a:endParaRPr lang="zh-CN" altLang="en-US" dirty="0">
              <a:highlight>
                <a:srgbClr val="FFFF00"/>
              </a:highlight>
            </a:endParaRPr>
          </a:p>
        </p:txBody>
      </p:sp>
    </p:spTree>
    <p:extLst>
      <p:ext uri="{BB962C8B-B14F-4D97-AF65-F5344CB8AC3E}">
        <p14:creationId xmlns:p14="http://schemas.microsoft.com/office/powerpoint/2010/main" val="21387539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521207" y="448056"/>
            <a:ext cx="10552533" cy="640080"/>
          </a:xfrm>
        </p:spPr>
        <p:txBody>
          <a:bodyPr rtlCol="0">
            <a:noAutofit/>
          </a:bodyPr>
          <a:lstStyle/>
          <a:p>
            <a:pPr rtl="0"/>
            <a:r>
              <a:rPr lang="en-US" altLang="zh-CN" dirty="0">
                <a:cs typeface="Segoe UI Light" panose="020B0502040204020203" pitchFamily="34" charset="0"/>
              </a:rPr>
              <a:t>Chapter 7  </a:t>
            </a:r>
            <a:r>
              <a:rPr lang="zh-CN" altLang="en-US" dirty="0">
                <a:cs typeface="Segoe UI Light" panose="020B0502040204020203" pitchFamily="34" charset="0"/>
              </a:rPr>
              <a:t>字符串</a:t>
            </a:r>
          </a:p>
        </p:txBody>
      </p:sp>
      <p:sp>
        <p:nvSpPr>
          <p:cNvPr id="2" name="文本框 1">
            <a:extLst>
              <a:ext uri="{FF2B5EF4-FFF2-40B4-BE49-F238E27FC236}">
                <a16:creationId xmlns:a16="http://schemas.microsoft.com/office/drawing/2014/main" id="{278E70F4-2A89-46EF-8FA4-B65F4871C040}"/>
              </a:ext>
            </a:extLst>
          </p:cNvPr>
          <p:cNvSpPr txBox="1"/>
          <p:nvPr/>
        </p:nvSpPr>
        <p:spPr>
          <a:xfrm>
            <a:off x="611578" y="1413164"/>
            <a:ext cx="3621975" cy="369332"/>
          </a:xfrm>
          <a:prstGeom prst="rect">
            <a:avLst/>
          </a:prstGeom>
          <a:noFill/>
        </p:spPr>
        <p:txBody>
          <a:bodyPr wrap="square" rtlCol="0">
            <a:spAutoFit/>
          </a:bodyPr>
          <a:lstStyle/>
          <a:p>
            <a:r>
              <a:rPr lang="en-US" altLang="zh-CN" dirty="0"/>
              <a:t>7.1  </a:t>
            </a:r>
            <a:r>
              <a:rPr lang="zh-CN" altLang="en-US" dirty="0"/>
              <a:t>字符数据类型</a:t>
            </a:r>
          </a:p>
        </p:txBody>
      </p:sp>
      <p:pic>
        <p:nvPicPr>
          <p:cNvPr id="7" name="图片 6">
            <a:extLst>
              <a:ext uri="{FF2B5EF4-FFF2-40B4-BE49-F238E27FC236}">
                <a16:creationId xmlns:a16="http://schemas.microsoft.com/office/drawing/2014/main" id="{584B062B-3C48-4A70-9E05-B7C105F82725}"/>
              </a:ext>
            </a:extLst>
          </p:cNvPr>
          <p:cNvPicPr>
            <a:picLocks noChangeAspect="1"/>
          </p:cNvPicPr>
          <p:nvPr/>
        </p:nvPicPr>
        <p:blipFill rotWithShape="1">
          <a:blip r:embed="rId3"/>
          <a:srcRect t="23031" r="174" b="5281"/>
          <a:stretch/>
        </p:blipFill>
        <p:spPr>
          <a:xfrm>
            <a:off x="5536242" y="52575"/>
            <a:ext cx="6655758" cy="6752849"/>
          </a:xfrm>
          <a:prstGeom prst="rect">
            <a:avLst/>
          </a:prstGeom>
        </p:spPr>
      </p:pic>
      <p:pic>
        <p:nvPicPr>
          <p:cNvPr id="5" name="图片 4">
            <a:extLst>
              <a:ext uri="{FF2B5EF4-FFF2-40B4-BE49-F238E27FC236}">
                <a16:creationId xmlns:a16="http://schemas.microsoft.com/office/drawing/2014/main" id="{8BBD654D-1C00-476C-AB9F-D4530D7AF76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097" y="1943265"/>
            <a:ext cx="5481145" cy="1720273"/>
          </a:xfrm>
          <a:prstGeom prst="rect">
            <a:avLst/>
          </a:prstGeom>
        </p:spPr>
      </p:pic>
      <p:sp>
        <p:nvSpPr>
          <p:cNvPr id="6" name="文本框 5">
            <a:extLst>
              <a:ext uri="{FF2B5EF4-FFF2-40B4-BE49-F238E27FC236}">
                <a16:creationId xmlns:a16="http://schemas.microsoft.com/office/drawing/2014/main" id="{D6971382-FB43-47D3-8513-442AA238CCEA}"/>
              </a:ext>
            </a:extLst>
          </p:cNvPr>
          <p:cNvSpPr txBox="1"/>
          <p:nvPr/>
        </p:nvSpPr>
        <p:spPr>
          <a:xfrm>
            <a:off x="521207" y="4114800"/>
            <a:ext cx="4573307" cy="923330"/>
          </a:xfrm>
          <a:prstGeom prst="rect">
            <a:avLst/>
          </a:prstGeom>
          <a:noFill/>
        </p:spPr>
        <p:txBody>
          <a:bodyPr wrap="square" rtlCol="0">
            <a:spAutoFit/>
          </a:bodyPr>
          <a:lstStyle/>
          <a:p>
            <a:r>
              <a:rPr lang="zh-CN" altLang="en-US" dirty="0">
                <a:latin typeface="Cascadia Code SemiLight" panose="020B0609020000020004" pitchFamily="49" charset="0"/>
                <a:cs typeface="Cascadia Code SemiLight" panose="020B0609020000020004" pitchFamily="49" charset="0"/>
              </a:rPr>
              <a:t>值得注意的是，</a:t>
            </a:r>
            <a:r>
              <a:rPr lang="en-US" altLang="zh-CN" dirty="0">
                <a:latin typeface="Cascadia Code SemiLight" panose="020B0609020000020004" pitchFamily="49" charset="0"/>
                <a:cs typeface="Cascadia Code SemiLight" panose="020B0609020000020004" pitchFamily="49" charset="0"/>
              </a:rPr>
              <a:t>A~Z</a:t>
            </a:r>
            <a:r>
              <a:rPr lang="zh-CN" altLang="en-US" dirty="0">
                <a:latin typeface="Cascadia Code SemiLight" panose="020B0609020000020004" pitchFamily="49" charset="0"/>
                <a:cs typeface="Cascadia Code SemiLight" panose="020B0609020000020004" pitchFamily="49" charset="0"/>
              </a:rPr>
              <a:t>和</a:t>
            </a:r>
            <a:r>
              <a:rPr lang="en-US" altLang="zh-CN" dirty="0" err="1">
                <a:latin typeface="Cascadia Code SemiLight" panose="020B0609020000020004" pitchFamily="49" charset="0"/>
                <a:cs typeface="Cascadia Code SemiLight" panose="020B0609020000020004" pitchFamily="49" charset="0"/>
              </a:rPr>
              <a:t>a~z</a:t>
            </a:r>
            <a:r>
              <a:rPr lang="zh-CN" altLang="en-US" dirty="0">
                <a:latin typeface="Cascadia Code SemiLight" panose="020B0609020000020004" pitchFamily="49" charset="0"/>
                <a:cs typeface="Cascadia Code SemiLight" panose="020B0609020000020004" pitchFamily="49" charset="0"/>
              </a:rPr>
              <a:t>在</a:t>
            </a:r>
            <a:r>
              <a:rPr lang="en-US" altLang="zh-CN" dirty="0">
                <a:latin typeface="Cascadia Code SemiLight" panose="020B0609020000020004" pitchFamily="49" charset="0"/>
                <a:cs typeface="Cascadia Code SemiLight" panose="020B0609020000020004" pitchFamily="49" charset="0"/>
              </a:rPr>
              <a:t>ASCII</a:t>
            </a:r>
            <a:r>
              <a:rPr lang="zh-CN" altLang="en-US" dirty="0">
                <a:latin typeface="Cascadia Code SemiLight" panose="020B0609020000020004" pitchFamily="49" charset="0"/>
                <a:cs typeface="Cascadia Code SemiLight" panose="020B0609020000020004" pitchFamily="49" charset="0"/>
              </a:rPr>
              <a:t>表中并不是连续的，中间有</a:t>
            </a:r>
            <a:r>
              <a:rPr lang="en-US" altLang="zh-CN" dirty="0">
                <a:latin typeface="Cascadia Code SemiLight" panose="020B0609020000020004" pitchFamily="49" charset="0"/>
                <a:cs typeface="Cascadia Code SemiLight" panose="020B0609020000020004" pitchFamily="49" charset="0"/>
              </a:rPr>
              <a:t>6</a:t>
            </a:r>
            <a:r>
              <a:rPr lang="zh-CN" altLang="en-US" dirty="0">
                <a:latin typeface="Cascadia Code SemiLight" panose="020B0609020000020004" pitchFamily="49" charset="0"/>
                <a:cs typeface="Cascadia Code SemiLight" panose="020B0609020000020004" pitchFamily="49" charset="0"/>
              </a:rPr>
              <a:t>个其他字符，因此</a:t>
            </a:r>
            <a:endParaRPr lang="en-US" altLang="zh-CN" dirty="0">
              <a:latin typeface="Cascadia Code SemiLight" panose="020B0609020000020004" pitchFamily="49" charset="0"/>
              <a:cs typeface="Cascadia Code SemiLight" panose="020B0609020000020004" pitchFamily="49" charset="0"/>
            </a:endParaRPr>
          </a:p>
          <a:p>
            <a:r>
              <a:rPr lang="en-US" altLang="zh-CN" dirty="0">
                <a:latin typeface="Cascadia Code SemiLight" panose="020B0609020000020004" pitchFamily="49" charset="0"/>
                <a:cs typeface="Cascadia Code SemiLight" panose="020B0609020000020004" pitchFamily="49" charset="0"/>
              </a:rPr>
              <a:t>‘A’ == ‘a’ - 32</a:t>
            </a:r>
            <a:endParaRPr lang="zh-CN" altLang="en-US" dirty="0">
              <a:latin typeface="Cascadia Code SemiLight" panose="020B0609020000020004" pitchFamily="49" charset="0"/>
              <a:cs typeface="Cascadia Code SemiLight" panose="020B0609020000020004" pitchFamily="49" charset="0"/>
            </a:endParaRPr>
          </a:p>
        </p:txBody>
      </p:sp>
    </p:spTree>
    <p:extLst>
      <p:ext uri="{BB962C8B-B14F-4D97-AF65-F5344CB8AC3E}">
        <p14:creationId xmlns:p14="http://schemas.microsoft.com/office/powerpoint/2010/main" val="21344061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521207" y="448056"/>
            <a:ext cx="10552533" cy="640080"/>
          </a:xfrm>
        </p:spPr>
        <p:txBody>
          <a:bodyPr rtlCol="0">
            <a:noAutofit/>
          </a:bodyPr>
          <a:lstStyle/>
          <a:p>
            <a:pPr rtl="0"/>
            <a:r>
              <a:rPr lang="en-US" altLang="zh-CN" dirty="0">
                <a:cs typeface="Segoe UI Light" panose="020B0502040204020203" pitchFamily="34" charset="0"/>
              </a:rPr>
              <a:t>Chapter 7  </a:t>
            </a:r>
            <a:r>
              <a:rPr lang="zh-CN" altLang="en-US" dirty="0">
                <a:cs typeface="Segoe UI Light" panose="020B0502040204020203" pitchFamily="34" charset="0"/>
              </a:rPr>
              <a:t>字符串</a:t>
            </a:r>
          </a:p>
        </p:txBody>
      </p:sp>
      <p:sp>
        <p:nvSpPr>
          <p:cNvPr id="9" name="文本框 8">
            <a:extLst>
              <a:ext uri="{FF2B5EF4-FFF2-40B4-BE49-F238E27FC236}">
                <a16:creationId xmlns:a16="http://schemas.microsoft.com/office/drawing/2014/main" id="{0F960643-FB7C-4BB0-BDC2-80779B5786D4}"/>
              </a:ext>
            </a:extLst>
          </p:cNvPr>
          <p:cNvSpPr txBox="1"/>
          <p:nvPr/>
        </p:nvSpPr>
        <p:spPr>
          <a:xfrm>
            <a:off x="611578" y="1885991"/>
            <a:ext cx="10681856" cy="646331"/>
          </a:xfrm>
          <a:prstGeom prst="rect">
            <a:avLst/>
          </a:prstGeom>
          <a:noFill/>
        </p:spPr>
        <p:txBody>
          <a:bodyPr wrap="square" rtlCol="0">
            <a:spAutoFit/>
          </a:bodyPr>
          <a:lstStyle/>
          <a:p>
            <a:r>
              <a:rPr lang="zh-CN" altLang="en-US" dirty="0">
                <a:latin typeface="Cascadia Code SemiLight" panose="020B0609020000020004" pitchFamily="49" charset="0"/>
                <a:cs typeface="Cascadia Code SemiLight" panose="020B0609020000020004" pitchFamily="49" charset="0"/>
              </a:rPr>
              <a:t>字符串本质为</a:t>
            </a:r>
            <a:r>
              <a:rPr lang="en-US" altLang="zh-CN" dirty="0">
                <a:latin typeface="Cascadia Code SemiLight" panose="020B0609020000020004" pitchFamily="49" charset="0"/>
                <a:cs typeface="Cascadia Code SemiLight" panose="020B0609020000020004" pitchFamily="49" charset="0"/>
              </a:rPr>
              <a:t>char []</a:t>
            </a:r>
            <a:r>
              <a:rPr lang="zh-CN" altLang="en-US" dirty="0">
                <a:latin typeface="Cascadia Code SemiLight" panose="020B0609020000020004" pitchFamily="49" charset="0"/>
                <a:cs typeface="Cascadia Code SemiLight" panose="020B0609020000020004" pitchFamily="49" charset="0"/>
              </a:rPr>
              <a:t>类型</a:t>
            </a:r>
            <a:r>
              <a:rPr lang="en-US" altLang="zh-CN" dirty="0">
                <a:latin typeface="Cascadia Code SemiLight" panose="020B0609020000020004" pitchFamily="49" charset="0"/>
                <a:cs typeface="Cascadia Code SemiLight" panose="020B0609020000020004" pitchFamily="49" charset="0"/>
              </a:rPr>
              <a:t>(</a:t>
            </a:r>
            <a:r>
              <a:rPr lang="zh-CN" altLang="en-US" dirty="0">
                <a:latin typeface="Cascadia Code SemiLight" panose="020B0609020000020004" pitchFamily="49" charset="0"/>
                <a:cs typeface="Cascadia Code SemiLight" panose="020B0609020000020004" pitchFamily="49" charset="0"/>
              </a:rPr>
              <a:t>或者是</a:t>
            </a:r>
            <a:r>
              <a:rPr lang="en-US" altLang="zh-CN" dirty="0">
                <a:latin typeface="Cascadia Code SemiLight" panose="020B0609020000020004" pitchFamily="49" charset="0"/>
                <a:cs typeface="Cascadia Code SemiLight" panose="020B0609020000020004" pitchFamily="49" charset="0"/>
              </a:rPr>
              <a:t>char *)</a:t>
            </a:r>
            <a:r>
              <a:rPr lang="zh-CN" altLang="en-US" dirty="0">
                <a:latin typeface="Cascadia Code SemiLight" panose="020B0609020000020004" pitchFamily="49" charset="0"/>
                <a:cs typeface="Cascadia Code SemiLight" panose="020B0609020000020004" pitchFamily="49" charset="0"/>
              </a:rPr>
              <a:t>，即</a:t>
            </a:r>
            <a:r>
              <a:rPr lang="en-US" altLang="zh-CN" dirty="0">
                <a:latin typeface="Cascadia Code SemiLight" panose="020B0609020000020004" pitchFamily="49" charset="0"/>
                <a:cs typeface="Cascadia Code SemiLight" panose="020B0609020000020004" pitchFamily="49" charset="0"/>
              </a:rPr>
              <a:t>char</a:t>
            </a:r>
            <a:r>
              <a:rPr lang="zh-CN" altLang="en-US" dirty="0">
                <a:latin typeface="Cascadia Code SemiLight" panose="020B0609020000020004" pitchFamily="49" charset="0"/>
                <a:cs typeface="Cascadia Code SemiLight" panose="020B0609020000020004" pitchFamily="49" charset="0"/>
              </a:rPr>
              <a:t>类型的数组，特殊之处在于，通常会有字符</a:t>
            </a:r>
            <a:r>
              <a:rPr lang="en-US" altLang="zh-CN" dirty="0">
                <a:latin typeface="Cascadia Code SemiLight" panose="020B0609020000020004" pitchFamily="49" charset="0"/>
                <a:cs typeface="Cascadia Code SemiLight" panose="020B0609020000020004" pitchFamily="49" charset="0"/>
              </a:rPr>
              <a:t>’\0’</a:t>
            </a:r>
            <a:r>
              <a:rPr lang="zh-CN" altLang="en-US" dirty="0">
                <a:latin typeface="Cascadia Code SemiLight" panose="020B0609020000020004" pitchFamily="49" charset="0"/>
                <a:cs typeface="Cascadia Code SemiLight" panose="020B0609020000020004" pitchFamily="49" charset="0"/>
              </a:rPr>
              <a:t>表示字符串末尾。考虑一个字符串</a:t>
            </a:r>
            <a:r>
              <a:rPr lang="en-US" altLang="zh-CN" dirty="0">
                <a:latin typeface="Cascadia Code SemiLight" panose="020B0609020000020004" pitchFamily="49" charset="0"/>
                <a:cs typeface="Cascadia Code SemiLight" panose="020B0609020000020004" pitchFamily="49" charset="0"/>
              </a:rPr>
              <a:t>”hello”</a:t>
            </a:r>
            <a:r>
              <a:rPr lang="zh-CN" altLang="en-US" dirty="0">
                <a:latin typeface="Cascadia Code SemiLight" panose="020B0609020000020004" pitchFamily="49" charset="0"/>
                <a:cs typeface="Cascadia Code SemiLight" panose="020B0609020000020004" pitchFamily="49" charset="0"/>
              </a:rPr>
              <a:t>，它在内存中的存储形式如下：</a:t>
            </a:r>
          </a:p>
        </p:txBody>
      </p:sp>
      <p:pic>
        <p:nvPicPr>
          <p:cNvPr id="4" name="图片 3">
            <a:extLst>
              <a:ext uri="{FF2B5EF4-FFF2-40B4-BE49-F238E27FC236}">
                <a16:creationId xmlns:a16="http://schemas.microsoft.com/office/drawing/2014/main" id="{756F5371-2917-414B-AD18-78B8F740DF78}"/>
              </a:ext>
            </a:extLst>
          </p:cNvPr>
          <p:cNvPicPr>
            <a:picLocks noChangeAspect="1"/>
          </p:cNvPicPr>
          <p:nvPr/>
        </p:nvPicPr>
        <p:blipFill rotWithShape="1">
          <a:blip r:embed="rId3">
            <a:extLst>
              <a:ext uri="{28A0092B-C50C-407E-A947-70E740481C1C}">
                <a14:useLocalDpi xmlns:a14="http://schemas.microsoft.com/office/drawing/2010/main" val="0"/>
              </a:ext>
            </a:extLst>
          </a:blip>
          <a:srcRect t="37575" b="16576"/>
          <a:stretch/>
        </p:blipFill>
        <p:spPr>
          <a:xfrm>
            <a:off x="611578" y="2635817"/>
            <a:ext cx="7400925" cy="646332"/>
          </a:xfrm>
          <a:prstGeom prst="rect">
            <a:avLst/>
          </a:prstGeom>
        </p:spPr>
      </p:pic>
      <p:sp>
        <p:nvSpPr>
          <p:cNvPr id="10" name="文本框 9">
            <a:extLst>
              <a:ext uri="{FF2B5EF4-FFF2-40B4-BE49-F238E27FC236}">
                <a16:creationId xmlns:a16="http://schemas.microsoft.com/office/drawing/2014/main" id="{93D48969-BC52-4779-AD3D-8D32ED6AE836}"/>
              </a:ext>
            </a:extLst>
          </p:cNvPr>
          <p:cNvSpPr txBox="1"/>
          <p:nvPr/>
        </p:nvSpPr>
        <p:spPr>
          <a:xfrm>
            <a:off x="611578" y="3575852"/>
            <a:ext cx="10681856" cy="2862322"/>
          </a:xfrm>
          <a:prstGeom prst="rect">
            <a:avLst/>
          </a:prstGeom>
          <a:noFill/>
        </p:spPr>
        <p:txBody>
          <a:bodyPr wrap="square" rtlCol="0">
            <a:spAutoFit/>
          </a:bodyPr>
          <a:lstStyle/>
          <a:p>
            <a:r>
              <a:rPr lang="zh-CN" altLang="en-US" dirty="0">
                <a:latin typeface="Cascadia Code SemiLight" panose="020B0609020000020004" pitchFamily="49" charset="0"/>
                <a:cs typeface="Cascadia Code SemiLight" panose="020B0609020000020004" pitchFamily="49" charset="0"/>
              </a:rPr>
              <a:t>在处理字符串的过程中，总以第一个检测到的</a:t>
            </a:r>
            <a:r>
              <a:rPr lang="en-US" altLang="zh-CN" dirty="0">
                <a:latin typeface="Cascadia Code SemiLight" panose="020B0609020000020004" pitchFamily="49" charset="0"/>
                <a:cs typeface="Cascadia Code SemiLight" panose="020B0609020000020004" pitchFamily="49" charset="0"/>
              </a:rPr>
              <a:t>’\0’</a:t>
            </a:r>
            <a:r>
              <a:rPr lang="zh-CN" altLang="en-US" dirty="0">
                <a:latin typeface="Cascadia Code SemiLight" panose="020B0609020000020004" pitchFamily="49" charset="0"/>
                <a:cs typeface="Cascadia Code SemiLight" panose="020B0609020000020004" pitchFamily="49" charset="0"/>
              </a:rPr>
              <a:t>字符作为字符串的结尾，即如果一个字符串定义如下</a:t>
            </a:r>
            <a:endParaRPr lang="en-US" altLang="zh-CN" dirty="0">
              <a:latin typeface="Cascadia Code SemiLight" panose="020B0609020000020004" pitchFamily="49" charset="0"/>
              <a:cs typeface="Cascadia Code SemiLight" panose="020B0609020000020004" pitchFamily="49" charset="0"/>
            </a:endParaRPr>
          </a:p>
          <a:p>
            <a:r>
              <a:rPr lang="en-US" altLang="zh-CN" dirty="0">
                <a:latin typeface="Cascadia Code SemiLight" panose="020B0609020000020004" pitchFamily="49" charset="0"/>
                <a:cs typeface="Cascadia Code SemiLight" panose="020B0609020000020004" pitchFamily="49" charset="0"/>
              </a:rPr>
              <a:t>char str[10] = “</a:t>
            </a:r>
            <a:r>
              <a:rPr lang="en-US" altLang="zh-CN" dirty="0" err="1">
                <a:latin typeface="Cascadia Code SemiLight" panose="020B0609020000020004" pitchFamily="49" charset="0"/>
                <a:cs typeface="Cascadia Code SemiLight" panose="020B0609020000020004" pitchFamily="49" charset="0"/>
              </a:rPr>
              <a:t>hel</a:t>
            </a:r>
            <a:r>
              <a:rPr lang="en-US" altLang="zh-CN" dirty="0">
                <a:highlight>
                  <a:srgbClr val="FFFF00"/>
                </a:highlight>
                <a:latin typeface="Cascadia Code SemiLight" panose="020B0609020000020004" pitchFamily="49" charset="0"/>
                <a:cs typeface="Cascadia Code SemiLight" panose="020B0609020000020004" pitchFamily="49" charset="0"/>
              </a:rPr>
              <a:t>\0</a:t>
            </a:r>
            <a:r>
              <a:rPr lang="en-US" altLang="zh-CN" dirty="0">
                <a:latin typeface="Cascadia Code SemiLight" panose="020B0609020000020004" pitchFamily="49" charset="0"/>
                <a:cs typeface="Cascadia Code SemiLight" panose="020B0609020000020004" pitchFamily="49" charset="0"/>
              </a:rPr>
              <a:t>lo</a:t>
            </a:r>
            <a:r>
              <a:rPr lang="en-US" altLang="zh-CN" dirty="0">
                <a:highlight>
                  <a:srgbClr val="FFFF00"/>
                </a:highlight>
                <a:latin typeface="Cascadia Code SemiLight" panose="020B0609020000020004" pitchFamily="49" charset="0"/>
                <a:cs typeface="Cascadia Code SemiLight" panose="020B0609020000020004" pitchFamily="49" charset="0"/>
              </a:rPr>
              <a:t>\0</a:t>
            </a:r>
            <a:r>
              <a:rPr lang="en-US" altLang="zh-CN" dirty="0">
                <a:latin typeface="Cascadia Code SemiLight" panose="020B0609020000020004" pitchFamily="49" charset="0"/>
                <a:cs typeface="Cascadia Code SemiLight" panose="020B0609020000020004" pitchFamily="49" charset="0"/>
              </a:rPr>
              <a:t>”</a:t>
            </a:r>
            <a:r>
              <a:rPr lang="zh-CN" altLang="en-US" dirty="0">
                <a:latin typeface="Cascadia Code SemiLight" panose="020B0609020000020004" pitchFamily="49" charset="0"/>
                <a:cs typeface="Cascadia Code SemiLight" panose="020B0609020000020004" pitchFamily="49" charset="0"/>
              </a:rPr>
              <a:t>，通过</a:t>
            </a:r>
            <a:r>
              <a:rPr lang="en-US" altLang="zh-CN" dirty="0" err="1">
                <a:latin typeface="Cascadia Code SemiLight" panose="020B0609020000020004" pitchFamily="49" charset="0"/>
                <a:cs typeface="Cascadia Code SemiLight" panose="020B0609020000020004" pitchFamily="49" charset="0"/>
              </a:rPr>
              <a:t>printf</a:t>
            </a:r>
            <a:r>
              <a:rPr lang="en-US" altLang="zh-CN" dirty="0">
                <a:latin typeface="Cascadia Code SemiLight" panose="020B0609020000020004" pitchFamily="49" charset="0"/>
                <a:cs typeface="Cascadia Code SemiLight" panose="020B0609020000020004" pitchFamily="49" charset="0"/>
              </a:rPr>
              <a:t>(“%</a:t>
            </a:r>
            <a:r>
              <a:rPr lang="en-US" altLang="zh-CN" dirty="0" err="1">
                <a:latin typeface="Cascadia Code SemiLight" panose="020B0609020000020004" pitchFamily="49" charset="0"/>
                <a:cs typeface="Cascadia Code SemiLight" panose="020B0609020000020004" pitchFamily="49" charset="0"/>
              </a:rPr>
              <a:t>s”,str</a:t>
            </a:r>
            <a:r>
              <a:rPr lang="en-US" altLang="zh-CN" dirty="0">
                <a:latin typeface="Cascadia Code SemiLight" panose="020B0609020000020004" pitchFamily="49" charset="0"/>
                <a:cs typeface="Cascadia Code SemiLight" panose="020B0609020000020004" pitchFamily="49" charset="0"/>
              </a:rPr>
              <a:t>);</a:t>
            </a:r>
            <a:r>
              <a:rPr lang="zh-CN" altLang="en-US" dirty="0">
                <a:latin typeface="Cascadia Code SemiLight" panose="020B0609020000020004" pitchFamily="49" charset="0"/>
                <a:cs typeface="Cascadia Code SemiLight" panose="020B0609020000020004" pitchFamily="49" charset="0"/>
              </a:rPr>
              <a:t>输出结果为</a:t>
            </a:r>
            <a:endParaRPr lang="en-US" altLang="zh-CN" dirty="0">
              <a:latin typeface="Cascadia Code SemiLight" panose="020B0609020000020004" pitchFamily="49" charset="0"/>
              <a:cs typeface="Cascadia Code SemiLight" panose="020B0609020000020004" pitchFamily="49" charset="0"/>
            </a:endParaRPr>
          </a:p>
          <a:p>
            <a:pPr algn="ctr"/>
            <a:r>
              <a:rPr lang="en-US" altLang="zh-CN" u="sng" dirty="0" err="1">
                <a:latin typeface="Cascadia Code SemiLight" panose="020B0609020000020004" pitchFamily="49" charset="0"/>
                <a:cs typeface="Cascadia Code SemiLight" panose="020B0609020000020004" pitchFamily="49" charset="0"/>
              </a:rPr>
              <a:t>hel</a:t>
            </a:r>
            <a:endParaRPr lang="en-US" altLang="zh-CN" u="sng" dirty="0">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也可以用</a:t>
            </a:r>
            <a:r>
              <a:rPr lang="en-US" altLang="zh-CN" dirty="0" err="1">
                <a:latin typeface="Cascadia Code SemiLight" panose="020B0609020000020004" pitchFamily="49" charset="0"/>
                <a:cs typeface="Cascadia Code SemiLight" panose="020B0609020000020004" pitchFamily="49" charset="0"/>
              </a:rPr>
              <a:t>scanf</a:t>
            </a:r>
            <a:r>
              <a:rPr lang="en-US" altLang="zh-CN" dirty="0">
                <a:latin typeface="Cascadia Code SemiLight" panose="020B0609020000020004" pitchFamily="49" charset="0"/>
                <a:cs typeface="Cascadia Code SemiLight" panose="020B0609020000020004" pitchFamily="49" charset="0"/>
              </a:rPr>
              <a:t>(“%s”, str);</a:t>
            </a:r>
            <a:r>
              <a:rPr lang="zh-CN" altLang="en-US" dirty="0">
                <a:latin typeface="Cascadia Code SemiLight" panose="020B0609020000020004" pitchFamily="49" charset="0"/>
                <a:cs typeface="Cascadia Code SemiLight" panose="020B0609020000020004" pitchFamily="49" charset="0"/>
              </a:rPr>
              <a:t>接受输入并将输入的字符串赋值给</a:t>
            </a:r>
            <a:r>
              <a:rPr lang="en-US" altLang="zh-CN" dirty="0">
                <a:latin typeface="Cascadia Code SemiLight" panose="020B0609020000020004" pitchFamily="49" charset="0"/>
                <a:cs typeface="Cascadia Code SemiLight" panose="020B0609020000020004" pitchFamily="49" charset="0"/>
              </a:rPr>
              <a:t>str</a:t>
            </a:r>
          </a:p>
          <a:p>
            <a:r>
              <a:rPr lang="zh-CN" altLang="en-US" dirty="0">
                <a:solidFill>
                  <a:srgbClr val="FF0000"/>
                </a:solidFill>
                <a:latin typeface="Cascadia Code SemiLight" panose="020B0609020000020004" pitchFamily="49" charset="0"/>
                <a:cs typeface="Cascadia Code SemiLight" panose="020B0609020000020004" pitchFamily="49" charset="0"/>
              </a:rPr>
              <a:t>注意：①当</a:t>
            </a:r>
            <a:r>
              <a:rPr lang="en-US" altLang="zh-CN" dirty="0">
                <a:solidFill>
                  <a:srgbClr val="FF0000"/>
                </a:solidFill>
                <a:latin typeface="Cascadia Code SemiLight" panose="020B0609020000020004" pitchFamily="49" charset="0"/>
                <a:cs typeface="Cascadia Code SemiLight" panose="020B0609020000020004" pitchFamily="49" charset="0"/>
              </a:rPr>
              <a:t>str</a:t>
            </a:r>
            <a:r>
              <a:rPr lang="zh-CN" altLang="en-US" dirty="0">
                <a:solidFill>
                  <a:srgbClr val="FF0000"/>
                </a:solidFill>
                <a:latin typeface="Cascadia Code SemiLight" panose="020B0609020000020004" pitchFamily="49" charset="0"/>
                <a:cs typeface="Cascadia Code SemiLight" panose="020B0609020000020004" pitchFamily="49" charset="0"/>
              </a:rPr>
              <a:t>为</a:t>
            </a:r>
            <a:r>
              <a:rPr lang="en-US" altLang="zh-CN" dirty="0">
                <a:solidFill>
                  <a:srgbClr val="FF0000"/>
                </a:solidFill>
                <a:latin typeface="Cascadia Code SemiLight" panose="020B0609020000020004" pitchFamily="49" charset="0"/>
                <a:cs typeface="Cascadia Code SemiLight" panose="020B0609020000020004" pitchFamily="49" charset="0"/>
              </a:rPr>
              <a:t>const</a:t>
            </a:r>
            <a:r>
              <a:rPr lang="zh-CN" altLang="en-US" dirty="0">
                <a:solidFill>
                  <a:srgbClr val="FF0000"/>
                </a:solidFill>
                <a:latin typeface="Cascadia Code SemiLight" panose="020B0609020000020004" pitchFamily="49" charset="0"/>
                <a:cs typeface="Cascadia Code SemiLight" panose="020B0609020000020004" pitchFamily="49" charset="0"/>
              </a:rPr>
              <a:t>类型，编译时将报错</a:t>
            </a:r>
            <a:endParaRPr lang="en-US" altLang="zh-CN" dirty="0">
              <a:solidFill>
                <a:srgbClr val="FF0000"/>
              </a:solidFill>
              <a:latin typeface="Cascadia Code SemiLight" panose="020B0609020000020004" pitchFamily="49" charset="0"/>
              <a:cs typeface="Cascadia Code SemiLight" panose="020B0609020000020004" pitchFamily="49" charset="0"/>
            </a:endParaRPr>
          </a:p>
          <a:p>
            <a:r>
              <a:rPr lang="zh-CN" altLang="en-US" dirty="0">
                <a:solidFill>
                  <a:srgbClr val="FF0000"/>
                </a:solidFill>
                <a:latin typeface="Cascadia Code SemiLight" panose="020B0609020000020004" pitchFamily="49" charset="0"/>
                <a:cs typeface="Cascadia Code SemiLight" panose="020B0609020000020004" pitchFamily="49" charset="0"/>
              </a:rPr>
              <a:t>②使用</a:t>
            </a:r>
            <a:r>
              <a:rPr lang="en-US" altLang="zh-CN" dirty="0" err="1">
                <a:solidFill>
                  <a:srgbClr val="FF0000"/>
                </a:solidFill>
                <a:latin typeface="Cascadia Code SemiLight" panose="020B0609020000020004" pitchFamily="49" charset="0"/>
                <a:cs typeface="Cascadia Code SemiLight" panose="020B0609020000020004" pitchFamily="49" charset="0"/>
              </a:rPr>
              <a:t>scanf</a:t>
            </a:r>
            <a:r>
              <a:rPr lang="zh-CN" altLang="en-US" dirty="0">
                <a:solidFill>
                  <a:srgbClr val="FF0000"/>
                </a:solidFill>
                <a:latin typeface="Cascadia Code SemiLight" panose="020B0609020000020004" pitchFamily="49" charset="0"/>
                <a:cs typeface="Cascadia Code SemiLight" panose="020B0609020000020004" pitchFamily="49" charset="0"/>
              </a:rPr>
              <a:t>函数为</a:t>
            </a:r>
            <a:r>
              <a:rPr lang="en-US" altLang="zh-CN" dirty="0">
                <a:solidFill>
                  <a:srgbClr val="FF0000"/>
                </a:solidFill>
                <a:latin typeface="Cascadia Code SemiLight" panose="020B0609020000020004" pitchFamily="49" charset="0"/>
                <a:cs typeface="Cascadia Code SemiLight" panose="020B0609020000020004" pitchFamily="49" charset="0"/>
              </a:rPr>
              <a:t>str</a:t>
            </a:r>
            <a:r>
              <a:rPr lang="zh-CN" altLang="en-US" dirty="0">
                <a:solidFill>
                  <a:srgbClr val="FF0000"/>
                </a:solidFill>
                <a:latin typeface="Cascadia Code SemiLight" panose="020B0609020000020004" pitchFamily="49" charset="0"/>
                <a:cs typeface="Cascadia Code SemiLight" panose="020B0609020000020004" pitchFamily="49" charset="0"/>
              </a:rPr>
              <a:t>赋值时，若字符串长度超过定义长度，多余的字符会写入未分配区导致程序运行异常，更安全的做法为：</a:t>
            </a:r>
            <a:endParaRPr lang="en-US" altLang="zh-CN" dirty="0">
              <a:solidFill>
                <a:srgbClr val="FF0000"/>
              </a:solidFill>
              <a:latin typeface="Cascadia Code SemiLight" panose="020B0609020000020004" pitchFamily="49" charset="0"/>
              <a:cs typeface="Cascadia Code SemiLight" panose="020B0609020000020004" pitchFamily="49" charset="0"/>
            </a:endParaRPr>
          </a:p>
          <a:p>
            <a:pPr algn="ctr"/>
            <a:r>
              <a:rPr lang="en-US" altLang="zh-CN" dirty="0" err="1">
                <a:latin typeface="Cascadia Code SemiLight" panose="020B0609020000020004" pitchFamily="49" charset="0"/>
                <a:cs typeface="Cascadia Code SemiLight" panose="020B0609020000020004" pitchFamily="49" charset="0"/>
              </a:rPr>
              <a:t>scanf</a:t>
            </a:r>
            <a:r>
              <a:rPr lang="en-US" altLang="zh-CN" dirty="0">
                <a:latin typeface="Cascadia Code SemiLight" panose="020B0609020000020004" pitchFamily="49" charset="0"/>
                <a:cs typeface="Cascadia Code SemiLight" panose="020B0609020000020004" pitchFamily="49" charset="0"/>
              </a:rPr>
              <a:t>(“%9s”,str);</a:t>
            </a:r>
          </a:p>
          <a:p>
            <a:r>
              <a:rPr lang="en-US" altLang="zh-CN" dirty="0">
                <a:latin typeface="Cascadia Code SemiLight" panose="020B0609020000020004" pitchFamily="49" charset="0"/>
                <a:cs typeface="Cascadia Code SemiLight" panose="020B0609020000020004" pitchFamily="49" charset="0"/>
              </a:rPr>
              <a:t>“9s”</a:t>
            </a:r>
            <a:r>
              <a:rPr lang="zh-CN" altLang="en-US" dirty="0">
                <a:latin typeface="Cascadia Code SemiLight" panose="020B0609020000020004" pitchFamily="49" charset="0"/>
                <a:cs typeface="Cascadia Code SemiLight" panose="020B0609020000020004" pitchFamily="49" charset="0"/>
              </a:rPr>
              <a:t>表示最多接受输入字符串的前</a:t>
            </a:r>
            <a:r>
              <a:rPr lang="en-US" altLang="zh-CN" dirty="0">
                <a:latin typeface="Cascadia Code SemiLight" panose="020B0609020000020004" pitchFamily="49" charset="0"/>
                <a:cs typeface="Cascadia Code SemiLight" panose="020B0609020000020004" pitchFamily="49" charset="0"/>
              </a:rPr>
              <a:t>9</a:t>
            </a:r>
            <a:r>
              <a:rPr lang="zh-CN" altLang="en-US" dirty="0">
                <a:latin typeface="Cascadia Code SemiLight" panose="020B0609020000020004" pitchFamily="49" charset="0"/>
                <a:cs typeface="Cascadia Code SemiLight" panose="020B0609020000020004" pitchFamily="49" charset="0"/>
              </a:rPr>
              <a:t>个字符，剩下一个留给字符</a:t>
            </a:r>
            <a:r>
              <a:rPr lang="en-US" altLang="zh-CN" dirty="0">
                <a:latin typeface="Cascadia Code SemiLight" panose="020B0609020000020004" pitchFamily="49" charset="0"/>
                <a:cs typeface="Cascadia Code SemiLight" panose="020B0609020000020004" pitchFamily="49" charset="0"/>
              </a:rPr>
              <a:t>’\0’</a:t>
            </a:r>
          </a:p>
          <a:p>
            <a:r>
              <a:rPr lang="en-US" altLang="zh-CN" dirty="0">
                <a:highlight>
                  <a:srgbClr val="FFFF00"/>
                </a:highlight>
                <a:latin typeface="Cascadia Code SemiLight" panose="020B0609020000020004" pitchFamily="49" charset="0"/>
                <a:cs typeface="Cascadia Code SemiLight" panose="020B0609020000020004" pitchFamily="49" charset="0"/>
              </a:rPr>
              <a:t>// </a:t>
            </a:r>
            <a:r>
              <a:rPr lang="zh-CN" altLang="en-US" dirty="0">
                <a:highlight>
                  <a:srgbClr val="FFFF00"/>
                </a:highlight>
                <a:latin typeface="Cascadia Code SemiLight" panose="020B0609020000020004" pitchFamily="49" charset="0"/>
                <a:cs typeface="Cascadia Code SemiLight" panose="020B0609020000020004" pitchFamily="49" charset="0"/>
              </a:rPr>
              <a:t>在</a:t>
            </a:r>
            <a:r>
              <a:rPr lang="en-US" altLang="zh-CN" dirty="0" err="1">
                <a:highlight>
                  <a:srgbClr val="FFFF00"/>
                </a:highlight>
                <a:latin typeface="Cascadia Code SemiLight" panose="020B0609020000020004" pitchFamily="49" charset="0"/>
                <a:cs typeface="Cascadia Code SemiLight" panose="020B0609020000020004" pitchFamily="49" charset="0"/>
              </a:rPr>
              <a:t>scanf</a:t>
            </a:r>
            <a:r>
              <a:rPr lang="zh-CN" altLang="en-US" dirty="0">
                <a:highlight>
                  <a:srgbClr val="FFFF00"/>
                </a:highlight>
                <a:latin typeface="Cascadia Code SemiLight" panose="020B0609020000020004" pitchFamily="49" charset="0"/>
                <a:cs typeface="Cascadia Code SemiLight" panose="020B0609020000020004" pitchFamily="49" charset="0"/>
              </a:rPr>
              <a:t>中，对字符串只有形如</a:t>
            </a:r>
            <a:r>
              <a:rPr lang="en-US" altLang="zh-CN" dirty="0">
                <a:highlight>
                  <a:srgbClr val="FFFF00"/>
                </a:highlight>
                <a:latin typeface="Cascadia Code SemiLight" panose="020B0609020000020004" pitchFamily="49" charset="0"/>
                <a:cs typeface="Cascadia Code SemiLight" panose="020B0609020000020004" pitchFamily="49" charset="0"/>
              </a:rPr>
              <a:t>%</a:t>
            </a:r>
            <a:r>
              <a:rPr lang="en-US" altLang="zh-CN" dirty="0" err="1">
                <a:highlight>
                  <a:srgbClr val="FFFF00"/>
                </a:highlight>
                <a:latin typeface="Cascadia Code SemiLight" panose="020B0609020000020004" pitchFamily="49" charset="0"/>
                <a:cs typeface="Cascadia Code SemiLight" panose="020B0609020000020004" pitchFamily="49" charset="0"/>
              </a:rPr>
              <a:t>ms</a:t>
            </a:r>
            <a:r>
              <a:rPr lang="zh-CN" altLang="en-US" dirty="0">
                <a:highlight>
                  <a:srgbClr val="FFFF00"/>
                </a:highlight>
                <a:latin typeface="Cascadia Code SemiLight" panose="020B0609020000020004" pitchFamily="49" charset="0"/>
                <a:cs typeface="Cascadia Code SemiLight" panose="020B0609020000020004" pitchFamily="49" charset="0"/>
              </a:rPr>
              <a:t>的格式化，代表最多接受前</a:t>
            </a:r>
            <a:r>
              <a:rPr lang="en-US" altLang="zh-CN" dirty="0">
                <a:highlight>
                  <a:srgbClr val="FFFF00"/>
                </a:highlight>
                <a:latin typeface="Cascadia Code SemiLight" panose="020B0609020000020004" pitchFamily="49" charset="0"/>
                <a:cs typeface="Cascadia Code SemiLight" panose="020B0609020000020004" pitchFamily="49" charset="0"/>
              </a:rPr>
              <a:t>m</a:t>
            </a:r>
            <a:r>
              <a:rPr lang="zh-CN" altLang="en-US" dirty="0">
                <a:highlight>
                  <a:srgbClr val="FFFF00"/>
                </a:highlight>
                <a:latin typeface="Cascadia Code SemiLight" panose="020B0609020000020004" pitchFamily="49" charset="0"/>
                <a:cs typeface="Cascadia Code SemiLight" panose="020B0609020000020004" pitchFamily="49" charset="0"/>
              </a:rPr>
              <a:t>个输入的字符</a:t>
            </a:r>
          </a:p>
        </p:txBody>
      </p:sp>
      <p:sp>
        <p:nvSpPr>
          <p:cNvPr id="11" name="文本框 10">
            <a:extLst>
              <a:ext uri="{FF2B5EF4-FFF2-40B4-BE49-F238E27FC236}">
                <a16:creationId xmlns:a16="http://schemas.microsoft.com/office/drawing/2014/main" id="{92745ED6-E157-40EC-AEEA-96BF8EA5A4D6}"/>
              </a:ext>
            </a:extLst>
          </p:cNvPr>
          <p:cNvSpPr txBox="1"/>
          <p:nvPr/>
        </p:nvSpPr>
        <p:spPr>
          <a:xfrm>
            <a:off x="611578" y="1413164"/>
            <a:ext cx="3621975" cy="369332"/>
          </a:xfrm>
          <a:prstGeom prst="rect">
            <a:avLst/>
          </a:prstGeom>
          <a:noFill/>
        </p:spPr>
        <p:txBody>
          <a:bodyPr wrap="square" rtlCol="0">
            <a:spAutoFit/>
          </a:bodyPr>
          <a:lstStyle/>
          <a:p>
            <a:r>
              <a:rPr lang="en-US" altLang="zh-CN" dirty="0"/>
              <a:t>7.2  </a:t>
            </a:r>
            <a:r>
              <a:rPr lang="zh-CN" altLang="en-US" dirty="0"/>
              <a:t>字符串与指针</a:t>
            </a:r>
          </a:p>
        </p:txBody>
      </p:sp>
    </p:spTree>
    <p:extLst>
      <p:ext uri="{BB962C8B-B14F-4D97-AF65-F5344CB8AC3E}">
        <p14:creationId xmlns:p14="http://schemas.microsoft.com/office/powerpoint/2010/main" val="38209289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521207" y="448056"/>
            <a:ext cx="10552533" cy="640080"/>
          </a:xfrm>
        </p:spPr>
        <p:txBody>
          <a:bodyPr rtlCol="0">
            <a:noAutofit/>
          </a:bodyPr>
          <a:lstStyle/>
          <a:p>
            <a:pPr rtl="0"/>
            <a:r>
              <a:rPr lang="en-US" altLang="zh-CN" dirty="0">
                <a:cs typeface="Segoe UI Light" panose="020B0502040204020203" pitchFamily="34" charset="0"/>
              </a:rPr>
              <a:t>Chapter 7  </a:t>
            </a:r>
            <a:r>
              <a:rPr lang="zh-CN" altLang="en-US" dirty="0">
                <a:cs typeface="Segoe UI Light" panose="020B0502040204020203" pitchFamily="34" charset="0"/>
              </a:rPr>
              <a:t>字符串</a:t>
            </a:r>
          </a:p>
        </p:txBody>
      </p:sp>
      <p:sp>
        <p:nvSpPr>
          <p:cNvPr id="2" name="文本框 1">
            <a:extLst>
              <a:ext uri="{FF2B5EF4-FFF2-40B4-BE49-F238E27FC236}">
                <a16:creationId xmlns:a16="http://schemas.microsoft.com/office/drawing/2014/main" id="{278E70F4-2A89-46EF-8FA4-B65F4871C040}"/>
              </a:ext>
            </a:extLst>
          </p:cNvPr>
          <p:cNvSpPr txBox="1"/>
          <p:nvPr/>
        </p:nvSpPr>
        <p:spPr>
          <a:xfrm>
            <a:off x="611578" y="1413164"/>
            <a:ext cx="3621975" cy="369332"/>
          </a:xfrm>
          <a:prstGeom prst="rect">
            <a:avLst/>
          </a:prstGeom>
          <a:noFill/>
        </p:spPr>
        <p:txBody>
          <a:bodyPr wrap="square" rtlCol="0">
            <a:spAutoFit/>
          </a:bodyPr>
          <a:lstStyle/>
          <a:p>
            <a:r>
              <a:rPr lang="en-US" altLang="zh-CN" dirty="0"/>
              <a:t>7.2  </a:t>
            </a:r>
            <a:r>
              <a:rPr lang="zh-CN" altLang="en-US" dirty="0"/>
              <a:t>字符串与指针</a:t>
            </a:r>
          </a:p>
        </p:txBody>
      </p:sp>
      <p:sp>
        <p:nvSpPr>
          <p:cNvPr id="7" name="文本框 6">
            <a:extLst>
              <a:ext uri="{FF2B5EF4-FFF2-40B4-BE49-F238E27FC236}">
                <a16:creationId xmlns:a16="http://schemas.microsoft.com/office/drawing/2014/main" id="{89D75C00-B52E-42DC-AA70-D17C54BA38EF}"/>
              </a:ext>
            </a:extLst>
          </p:cNvPr>
          <p:cNvSpPr txBox="1"/>
          <p:nvPr/>
        </p:nvSpPr>
        <p:spPr>
          <a:xfrm>
            <a:off x="611578" y="1885991"/>
            <a:ext cx="10681856" cy="3693319"/>
          </a:xfrm>
          <a:prstGeom prst="rect">
            <a:avLst/>
          </a:prstGeom>
          <a:noFill/>
        </p:spPr>
        <p:txBody>
          <a:bodyPr wrap="square" rtlCol="0">
            <a:spAutoFit/>
          </a:bodyPr>
          <a:lstStyle/>
          <a:p>
            <a:r>
              <a:rPr lang="zh-CN" altLang="en-US" dirty="0">
                <a:latin typeface="Cascadia Code SemiLight" panose="020B0609020000020004" pitchFamily="49" charset="0"/>
                <a:cs typeface="Cascadia Code SemiLight" panose="020B0609020000020004" pitchFamily="49" charset="0"/>
              </a:rPr>
              <a:t>字符串本质为</a:t>
            </a:r>
            <a:r>
              <a:rPr lang="en-US" altLang="zh-CN" dirty="0">
                <a:latin typeface="Cascadia Code SemiLight" panose="020B0609020000020004" pitchFamily="49" charset="0"/>
                <a:cs typeface="Cascadia Code SemiLight" panose="020B0609020000020004" pitchFamily="49" charset="0"/>
              </a:rPr>
              <a:t>char []</a:t>
            </a:r>
            <a:r>
              <a:rPr lang="zh-CN" altLang="en-US" dirty="0">
                <a:latin typeface="Cascadia Code SemiLight" panose="020B0609020000020004" pitchFamily="49" charset="0"/>
                <a:cs typeface="Cascadia Code SemiLight" panose="020B0609020000020004" pitchFamily="49" charset="0"/>
              </a:rPr>
              <a:t>类型</a:t>
            </a:r>
            <a:r>
              <a:rPr lang="en-US" altLang="zh-CN" dirty="0">
                <a:latin typeface="Cascadia Code SemiLight" panose="020B0609020000020004" pitchFamily="49" charset="0"/>
                <a:cs typeface="Cascadia Code SemiLight" panose="020B0609020000020004" pitchFamily="49" charset="0"/>
              </a:rPr>
              <a:t>(</a:t>
            </a:r>
            <a:r>
              <a:rPr lang="zh-CN" altLang="en-US" dirty="0">
                <a:latin typeface="Cascadia Code SemiLight" panose="020B0609020000020004" pitchFamily="49" charset="0"/>
                <a:cs typeface="Cascadia Code SemiLight" panose="020B0609020000020004" pitchFamily="49" charset="0"/>
              </a:rPr>
              <a:t>或者是</a:t>
            </a:r>
            <a:r>
              <a:rPr lang="en-US" altLang="zh-CN" dirty="0">
                <a:latin typeface="Cascadia Code SemiLight" panose="020B0609020000020004" pitchFamily="49" charset="0"/>
                <a:cs typeface="Cascadia Code SemiLight" panose="020B0609020000020004" pitchFamily="49" charset="0"/>
              </a:rPr>
              <a:t>char *)</a:t>
            </a:r>
            <a:r>
              <a:rPr lang="zh-CN" altLang="en-US" dirty="0">
                <a:latin typeface="Cascadia Code SemiLight" panose="020B0609020000020004" pitchFamily="49" charset="0"/>
                <a:cs typeface="Cascadia Code SemiLight" panose="020B0609020000020004" pitchFamily="49" charset="0"/>
              </a:rPr>
              <a:t>，在处理字符串与指针的问题时通常可以等价为其他数据类型的数组与相应指针的关系</a:t>
            </a:r>
            <a:endParaRPr lang="en-US" altLang="zh-CN" dirty="0">
              <a:latin typeface="Cascadia Code SemiLight" panose="020B0609020000020004" pitchFamily="49" charset="0"/>
              <a:cs typeface="Cascadia Code SemiLight" panose="020B0609020000020004" pitchFamily="49" charset="0"/>
            </a:endParaRPr>
          </a:p>
          <a:p>
            <a:endParaRPr lang="en-US" altLang="zh-CN" dirty="0">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考虑一个二维字符数组</a:t>
            </a:r>
            <a:r>
              <a:rPr lang="en-US" altLang="zh-CN" dirty="0">
                <a:latin typeface="Cascadia Code SemiLight" panose="020B0609020000020004" pitchFamily="49" charset="0"/>
                <a:cs typeface="Cascadia Code SemiLight" panose="020B0609020000020004" pitchFamily="49" charset="0"/>
              </a:rPr>
              <a:t>char str[3][5]</a:t>
            </a:r>
            <a:r>
              <a:rPr lang="zh-CN" altLang="en-US" dirty="0">
                <a:latin typeface="Cascadia Code SemiLight" panose="020B0609020000020004" pitchFamily="49" charset="0"/>
                <a:cs typeface="Cascadia Code SemiLight" panose="020B0609020000020004" pitchFamily="49" charset="0"/>
              </a:rPr>
              <a:t>，</a:t>
            </a:r>
            <a:r>
              <a:rPr lang="en-US" altLang="zh-CN" dirty="0">
                <a:latin typeface="Cascadia Code SemiLight" panose="020B0609020000020004" pitchFamily="49" charset="0"/>
                <a:cs typeface="Cascadia Code SemiLight" panose="020B0609020000020004" pitchFamily="49" charset="0"/>
              </a:rPr>
              <a:t>str[0]</a:t>
            </a:r>
            <a:r>
              <a:rPr lang="zh-CN" altLang="en-US" dirty="0">
                <a:latin typeface="Cascadia Code SemiLight" panose="020B0609020000020004" pitchFamily="49" charset="0"/>
                <a:cs typeface="Cascadia Code SemiLight" panose="020B0609020000020004" pitchFamily="49" charset="0"/>
              </a:rPr>
              <a:t>，</a:t>
            </a:r>
            <a:r>
              <a:rPr lang="en-US" altLang="zh-CN" dirty="0">
                <a:latin typeface="Cascadia Code SemiLight" panose="020B0609020000020004" pitchFamily="49" charset="0"/>
                <a:cs typeface="Cascadia Code SemiLight" panose="020B0609020000020004" pitchFamily="49" charset="0"/>
              </a:rPr>
              <a:t>str[1]</a:t>
            </a:r>
            <a:r>
              <a:rPr lang="zh-CN" altLang="en-US" dirty="0">
                <a:latin typeface="Cascadia Code SemiLight" panose="020B0609020000020004" pitchFamily="49" charset="0"/>
                <a:cs typeface="Cascadia Code SemiLight" panose="020B0609020000020004" pitchFamily="49" charset="0"/>
              </a:rPr>
              <a:t>，</a:t>
            </a:r>
            <a:r>
              <a:rPr lang="en-US" altLang="zh-CN" dirty="0">
                <a:latin typeface="Cascadia Code SemiLight" panose="020B0609020000020004" pitchFamily="49" charset="0"/>
                <a:cs typeface="Cascadia Code SemiLight" panose="020B0609020000020004" pitchFamily="49" charset="0"/>
              </a:rPr>
              <a:t>str[2]</a:t>
            </a:r>
            <a:r>
              <a:rPr lang="zh-CN" altLang="en-US" dirty="0">
                <a:latin typeface="Cascadia Code SemiLight" panose="020B0609020000020004" pitchFamily="49" charset="0"/>
                <a:cs typeface="Cascadia Code SemiLight" panose="020B0609020000020004" pitchFamily="49" charset="0"/>
              </a:rPr>
              <a:t>分别是该二维字符数组中每一行的字符串，每一行字符串均以字符</a:t>
            </a:r>
            <a:r>
              <a:rPr lang="en-US" altLang="zh-CN" dirty="0">
                <a:latin typeface="Cascadia Code SemiLight" panose="020B0609020000020004" pitchFamily="49" charset="0"/>
                <a:cs typeface="Cascadia Code SemiLight" panose="020B0609020000020004" pitchFamily="49" charset="0"/>
              </a:rPr>
              <a:t>’\0’</a:t>
            </a:r>
            <a:r>
              <a:rPr lang="zh-CN" altLang="en-US" dirty="0">
                <a:latin typeface="Cascadia Code SemiLight" panose="020B0609020000020004" pitchFamily="49" charset="0"/>
                <a:cs typeface="Cascadia Code SemiLight" panose="020B0609020000020004" pitchFamily="49" charset="0"/>
              </a:rPr>
              <a:t>结尾</a:t>
            </a:r>
            <a:endParaRPr lang="en-US" altLang="zh-CN" dirty="0">
              <a:latin typeface="Cascadia Code SemiLight" panose="020B0609020000020004" pitchFamily="49" charset="0"/>
              <a:cs typeface="Cascadia Code SemiLight" panose="020B0609020000020004" pitchFamily="49" charset="0"/>
            </a:endParaRPr>
          </a:p>
          <a:p>
            <a:endParaRPr lang="en-US" altLang="zh-CN" dirty="0">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你可以通过</a:t>
            </a:r>
            <a:endParaRPr lang="en-US" altLang="zh-CN" dirty="0">
              <a:latin typeface="Cascadia Code SemiLight" panose="020B0609020000020004" pitchFamily="49" charset="0"/>
              <a:cs typeface="Cascadia Code SemiLight" panose="020B0609020000020004" pitchFamily="49" charset="0"/>
            </a:endParaRPr>
          </a:p>
          <a:p>
            <a:pPr algn="ctr"/>
            <a:r>
              <a:rPr lang="en-US" altLang="zh-CN" dirty="0" err="1">
                <a:latin typeface="Cascadia Code SemiLight" panose="020B0609020000020004" pitchFamily="49" charset="0"/>
                <a:cs typeface="Cascadia Code SemiLight" panose="020B0609020000020004" pitchFamily="49" charset="0"/>
              </a:rPr>
              <a:t>scanf</a:t>
            </a:r>
            <a:r>
              <a:rPr lang="en-US" altLang="zh-CN" dirty="0">
                <a:latin typeface="Cascadia Code SemiLight" panose="020B0609020000020004" pitchFamily="49" charset="0"/>
                <a:cs typeface="Cascadia Code SemiLight" panose="020B0609020000020004" pitchFamily="49" charset="0"/>
              </a:rPr>
              <a:t>(“%</a:t>
            </a:r>
            <a:r>
              <a:rPr lang="en-US" altLang="zh-CN" dirty="0" err="1">
                <a:latin typeface="Cascadia Code SemiLight" panose="020B0609020000020004" pitchFamily="49" charset="0"/>
                <a:cs typeface="Cascadia Code SemiLight" panose="020B0609020000020004" pitchFamily="49" charset="0"/>
              </a:rPr>
              <a:t>s%s%s</a:t>
            </a:r>
            <a:r>
              <a:rPr lang="en-US" altLang="zh-CN" dirty="0">
                <a:latin typeface="Cascadia Code SemiLight" panose="020B0609020000020004" pitchFamily="49" charset="0"/>
                <a:cs typeface="Cascadia Code SemiLight" panose="020B0609020000020004" pitchFamily="49" charset="0"/>
              </a:rPr>
              <a:t>”, str[0], str[1], str[2]);</a:t>
            </a:r>
          </a:p>
          <a:p>
            <a:r>
              <a:rPr lang="zh-CN" altLang="en-US" dirty="0">
                <a:latin typeface="Cascadia Code SemiLight" panose="020B0609020000020004" pitchFamily="49" charset="0"/>
                <a:cs typeface="Cascadia Code SemiLight" panose="020B0609020000020004" pitchFamily="49" charset="0"/>
              </a:rPr>
              <a:t>来完成对该二位字符数数组的初始化，如输入为</a:t>
            </a:r>
            <a:endParaRPr lang="en-US" altLang="zh-CN" dirty="0">
              <a:latin typeface="Cascadia Code SemiLight" panose="020B0609020000020004" pitchFamily="49" charset="0"/>
              <a:cs typeface="Cascadia Code SemiLight" panose="020B0609020000020004" pitchFamily="49" charset="0"/>
            </a:endParaRPr>
          </a:p>
          <a:p>
            <a:pPr algn="ctr"/>
            <a:r>
              <a:rPr lang="en-US" altLang="zh-CN" dirty="0">
                <a:latin typeface="Cascadia Code SemiLight" panose="020B0609020000020004" pitchFamily="49" charset="0"/>
                <a:cs typeface="Cascadia Code SemiLight" panose="020B0609020000020004" pitchFamily="49" charset="0"/>
              </a:rPr>
              <a:t>How are you?</a:t>
            </a:r>
          </a:p>
          <a:p>
            <a:r>
              <a:rPr lang="zh-CN" altLang="en-US" dirty="0">
                <a:latin typeface="Cascadia Code SemiLight" panose="020B0609020000020004" pitchFamily="49" charset="0"/>
                <a:cs typeface="Cascadia Code SemiLight" panose="020B0609020000020004" pitchFamily="49" charset="0"/>
              </a:rPr>
              <a:t>则赋值过程相当于（因为</a:t>
            </a:r>
            <a:r>
              <a:rPr lang="en-US" altLang="zh-CN" dirty="0" err="1">
                <a:latin typeface="Cascadia Code SemiLight" panose="020B0609020000020004" pitchFamily="49" charset="0"/>
                <a:cs typeface="Cascadia Code SemiLight" panose="020B0609020000020004" pitchFamily="49" charset="0"/>
              </a:rPr>
              <a:t>scanf</a:t>
            </a:r>
            <a:r>
              <a:rPr lang="zh-CN" altLang="en-US" dirty="0">
                <a:latin typeface="Cascadia Code SemiLight" panose="020B0609020000020004" pitchFamily="49" charset="0"/>
                <a:cs typeface="Cascadia Code SemiLight" panose="020B0609020000020004" pitchFamily="49" charset="0"/>
              </a:rPr>
              <a:t>会以空格作为断点）</a:t>
            </a:r>
            <a:endParaRPr lang="en-US" altLang="zh-CN" dirty="0">
              <a:latin typeface="Cascadia Code SemiLight" panose="020B0609020000020004" pitchFamily="49" charset="0"/>
              <a:cs typeface="Cascadia Code SemiLight" panose="020B0609020000020004" pitchFamily="49" charset="0"/>
            </a:endParaRPr>
          </a:p>
          <a:p>
            <a:pPr algn="ctr"/>
            <a:r>
              <a:rPr lang="en-US" altLang="zh-CN" dirty="0">
                <a:latin typeface="Cascadia Code SemiLight" panose="020B0609020000020004" pitchFamily="49" charset="0"/>
                <a:cs typeface="Cascadia Code SemiLight" panose="020B0609020000020004" pitchFamily="49" charset="0"/>
              </a:rPr>
              <a:t>char str[3][5] = {“How”, “are”, “you?”};</a:t>
            </a:r>
          </a:p>
          <a:p>
            <a:r>
              <a:rPr lang="zh-CN" altLang="en-US" dirty="0">
                <a:latin typeface="Cascadia Code SemiLight" panose="020B0609020000020004" pitchFamily="49" charset="0"/>
                <a:cs typeface="Cascadia Code SemiLight" panose="020B0609020000020004" pitchFamily="49" charset="0"/>
              </a:rPr>
              <a:t>右图为内存中的存储形式</a:t>
            </a:r>
            <a:endParaRPr lang="en-US" altLang="zh-CN" dirty="0">
              <a:latin typeface="Cascadia Code SemiLight" panose="020B0609020000020004" pitchFamily="49" charset="0"/>
              <a:cs typeface="Cascadia Code SemiLight" panose="020B0609020000020004" pitchFamily="49" charset="0"/>
            </a:endParaRPr>
          </a:p>
        </p:txBody>
      </p:sp>
      <p:pic>
        <p:nvPicPr>
          <p:cNvPr id="5" name="图片 4">
            <a:extLst>
              <a:ext uri="{FF2B5EF4-FFF2-40B4-BE49-F238E27FC236}">
                <a16:creationId xmlns:a16="http://schemas.microsoft.com/office/drawing/2014/main" id="{27B255B3-F5F2-499D-9F9E-811C3BA41FB7}"/>
              </a:ext>
            </a:extLst>
          </p:cNvPr>
          <p:cNvPicPr>
            <a:picLocks noChangeAspect="1"/>
          </p:cNvPicPr>
          <p:nvPr/>
        </p:nvPicPr>
        <p:blipFill rotWithShape="1">
          <a:blip r:embed="rId3">
            <a:extLst>
              <a:ext uri="{28A0092B-C50C-407E-A947-70E740481C1C}">
                <a14:useLocalDpi xmlns:a14="http://schemas.microsoft.com/office/drawing/2010/main" val="0"/>
              </a:ext>
            </a:extLst>
          </a:blip>
          <a:srcRect l="26512" t="28226" r="16859" b="47619"/>
          <a:stretch/>
        </p:blipFill>
        <p:spPr>
          <a:xfrm>
            <a:off x="6846125" y="5302311"/>
            <a:ext cx="5077987" cy="1466624"/>
          </a:xfrm>
          <a:prstGeom prst="rect">
            <a:avLst/>
          </a:prstGeom>
        </p:spPr>
      </p:pic>
    </p:spTree>
    <p:extLst>
      <p:ext uri="{BB962C8B-B14F-4D97-AF65-F5344CB8AC3E}">
        <p14:creationId xmlns:p14="http://schemas.microsoft.com/office/powerpoint/2010/main" val="35320075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521207" y="448056"/>
            <a:ext cx="10552533" cy="640080"/>
          </a:xfrm>
        </p:spPr>
        <p:txBody>
          <a:bodyPr rtlCol="0">
            <a:noAutofit/>
          </a:bodyPr>
          <a:lstStyle/>
          <a:p>
            <a:pPr rtl="0"/>
            <a:r>
              <a:rPr lang="en-US" altLang="zh-CN" dirty="0">
                <a:cs typeface="Segoe UI Light" panose="020B0502040204020203" pitchFamily="34" charset="0"/>
              </a:rPr>
              <a:t>Chapter 7  </a:t>
            </a:r>
            <a:r>
              <a:rPr lang="zh-CN" altLang="en-US" dirty="0">
                <a:cs typeface="Segoe UI Light" panose="020B0502040204020203" pitchFamily="34" charset="0"/>
              </a:rPr>
              <a:t>字符串</a:t>
            </a:r>
          </a:p>
        </p:txBody>
      </p:sp>
      <p:sp>
        <p:nvSpPr>
          <p:cNvPr id="2" name="文本框 1">
            <a:extLst>
              <a:ext uri="{FF2B5EF4-FFF2-40B4-BE49-F238E27FC236}">
                <a16:creationId xmlns:a16="http://schemas.microsoft.com/office/drawing/2014/main" id="{278E70F4-2A89-46EF-8FA4-B65F4871C040}"/>
              </a:ext>
            </a:extLst>
          </p:cNvPr>
          <p:cNvSpPr txBox="1"/>
          <p:nvPr/>
        </p:nvSpPr>
        <p:spPr>
          <a:xfrm>
            <a:off x="611578" y="1413164"/>
            <a:ext cx="3621975" cy="369332"/>
          </a:xfrm>
          <a:prstGeom prst="rect">
            <a:avLst/>
          </a:prstGeom>
          <a:noFill/>
        </p:spPr>
        <p:txBody>
          <a:bodyPr wrap="square" rtlCol="0">
            <a:spAutoFit/>
          </a:bodyPr>
          <a:lstStyle/>
          <a:p>
            <a:r>
              <a:rPr lang="en-US" altLang="zh-CN" dirty="0"/>
              <a:t>7.2  </a:t>
            </a:r>
            <a:r>
              <a:rPr lang="zh-CN" altLang="en-US" dirty="0"/>
              <a:t>字符串与指针</a:t>
            </a:r>
          </a:p>
        </p:txBody>
      </p:sp>
      <p:sp>
        <p:nvSpPr>
          <p:cNvPr id="7" name="文本框 6">
            <a:extLst>
              <a:ext uri="{FF2B5EF4-FFF2-40B4-BE49-F238E27FC236}">
                <a16:creationId xmlns:a16="http://schemas.microsoft.com/office/drawing/2014/main" id="{89D75C00-B52E-42DC-AA70-D17C54BA38EF}"/>
              </a:ext>
            </a:extLst>
          </p:cNvPr>
          <p:cNvSpPr txBox="1"/>
          <p:nvPr/>
        </p:nvSpPr>
        <p:spPr>
          <a:xfrm>
            <a:off x="611578" y="1885991"/>
            <a:ext cx="10681856" cy="3139321"/>
          </a:xfrm>
          <a:prstGeom prst="rect">
            <a:avLst/>
          </a:prstGeom>
          <a:noFill/>
        </p:spPr>
        <p:txBody>
          <a:bodyPr wrap="square" rtlCol="0">
            <a:spAutoFit/>
          </a:bodyPr>
          <a:lstStyle/>
          <a:p>
            <a:r>
              <a:rPr lang="zh-CN" altLang="en-US" dirty="0">
                <a:latin typeface="Cascadia Code SemiLight" panose="020B0609020000020004" pitchFamily="49" charset="0"/>
                <a:cs typeface="Cascadia Code SemiLight" panose="020B0609020000020004" pitchFamily="49" charset="0"/>
              </a:rPr>
              <a:t>考虑定义一个字符串变量</a:t>
            </a:r>
            <a:endParaRPr lang="en-US" altLang="zh-CN" dirty="0">
              <a:latin typeface="Cascadia Code SemiLight" panose="020B0609020000020004" pitchFamily="49" charset="0"/>
              <a:cs typeface="Cascadia Code SemiLight" panose="020B0609020000020004" pitchFamily="49" charset="0"/>
            </a:endParaRPr>
          </a:p>
          <a:p>
            <a:pPr algn="ctr"/>
            <a:r>
              <a:rPr lang="en-US" altLang="zh-CN" dirty="0">
                <a:latin typeface="Cascadia Code SemiLight" panose="020B0609020000020004" pitchFamily="49" charset="0"/>
                <a:cs typeface="Cascadia Code SemiLight" panose="020B0609020000020004" pitchFamily="49" charset="0"/>
              </a:rPr>
              <a:t>char name[20];</a:t>
            </a:r>
          </a:p>
          <a:p>
            <a:r>
              <a:rPr lang="zh-CN" altLang="en-US" dirty="0">
                <a:latin typeface="Cascadia Code SemiLight" panose="020B0609020000020004" pitchFamily="49" charset="0"/>
                <a:cs typeface="Cascadia Code SemiLight" panose="020B0609020000020004" pitchFamily="49" charset="0"/>
              </a:rPr>
              <a:t>若有以下初始化语句，这是错误的，因为</a:t>
            </a:r>
            <a:r>
              <a:rPr lang="en-US" altLang="zh-CN" dirty="0">
                <a:highlight>
                  <a:srgbClr val="FFFF00"/>
                </a:highlight>
                <a:latin typeface="Cascadia Code SemiLight" panose="020B0609020000020004" pitchFamily="49" charset="0"/>
                <a:cs typeface="Cascadia Code SemiLight" panose="020B0609020000020004" pitchFamily="49" charset="0"/>
              </a:rPr>
              <a:t>name</a:t>
            </a:r>
            <a:r>
              <a:rPr lang="zh-CN" altLang="en-US" dirty="0">
                <a:highlight>
                  <a:srgbClr val="FFFF00"/>
                </a:highlight>
                <a:latin typeface="Cascadia Code SemiLight" panose="020B0609020000020004" pitchFamily="49" charset="0"/>
                <a:cs typeface="Cascadia Code SemiLight" panose="020B0609020000020004" pitchFamily="49" charset="0"/>
              </a:rPr>
              <a:t>是地址常量</a:t>
            </a:r>
            <a:r>
              <a:rPr lang="zh-CN" altLang="en-US" dirty="0">
                <a:latin typeface="Cascadia Code SemiLight" panose="020B0609020000020004" pitchFamily="49" charset="0"/>
                <a:cs typeface="Cascadia Code SemiLight" panose="020B0609020000020004" pitchFamily="49" charset="0"/>
              </a:rPr>
              <a:t>，好比</a:t>
            </a:r>
            <a:r>
              <a:rPr lang="en-US" altLang="zh-CN" dirty="0">
                <a:latin typeface="Cascadia Code SemiLight" panose="020B0609020000020004" pitchFamily="49" charset="0"/>
                <a:cs typeface="Cascadia Code SemiLight" panose="020B0609020000020004" pitchFamily="49" charset="0"/>
              </a:rPr>
              <a:t>int a[3]</a:t>
            </a:r>
            <a:r>
              <a:rPr lang="zh-CN" altLang="en-US" dirty="0">
                <a:latin typeface="Cascadia Code SemiLight" panose="020B0609020000020004" pitchFamily="49" charset="0"/>
                <a:cs typeface="Cascadia Code SemiLight" panose="020B0609020000020004" pitchFamily="49" charset="0"/>
              </a:rPr>
              <a:t>，不能直接通过</a:t>
            </a:r>
            <a:r>
              <a:rPr lang="en-US" altLang="zh-CN" dirty="0">
                <a:latin typeface="Cascadia Code SemiLight" panose="020B0609020000020004" pitchFamily="49" charset="0"/>
                <a:cs typeface="Cascadia Code SemiLight" panose="020B0609020000020004" pitchFamily="49" charset="0"/>
              </a:rPr>
              <a:t>a=1</a:t>
            </a:r>
            <a:r>
              <a:rPr lang="zh-CN" altLang="en-US" dirty="0">
                <a:latin typeface="Cascadia Code SemiLight" panose="020B0609020000020004" pitchFamily="49" charset="0"/>
                <a:cs typeface="Cascadia Code SemiLight" panose="020B0609020000020004" pitchFamily="49" charset="0"/>
              </a:rPr>
              <a:t>来赋值</a:t>
            </a:r>
            <a:endParaRPr lang="en-US" altLang="zh-CN" dirty="0">
              <a:latin typeface="Cascadia Code SemiLight" panose="020B0609020000020004" pitchFamily="49" charset="0"/>
              <a:cs typeface="Cascadia Code SemiLight" panose="020B0609020000020004" pitchFamily="49" charset="0"/>
            </a:endParaRPr>
          </a:p>
          <a:p>
            <a:pPr algn="ctr"/>
            <a:r>
              <a:rPr lang="en-US" altLang="zh-CN" dirty="0">
                <a:latin typeface="Cascadia Code SemiLight" panose="020B0609020000020004" pitchFamily="49" charset="0"/>
                <a:cs typeface="Cascadia Code SemiLight" panose="020B0609020000020004" pitchFamily="49" charset="0"/>
              </a:rPr>
              <a:t>name = “C Program”;</a:t>
            </a:r>
          </a:p>
          <a:p>
            <a:endParaRPr lang="en-US" altLang="zh-CN" dirty="0">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字符数据类型本质是存储一个</a:t>
            </a:r>
            <a:r>
              <a:rPr lang="en-US" altLang="zh-CN" dirty="0">
                <a:latin typeface="Cascadia Code SemiLight" panose="020B0609020000020004" pitchFamily="49" charset="0"/>
                <a:cs typeface="Cascadia Code SemiLight" panose="020B0609020000020004" pitchFamily="49" charset="0"/>
              </a:rPr>
              <a:t>1</a:t>
            </a:r>
            <a:r>
              <a:rPr lang="zh-CN" altLang="en-US" dirty="0">
                <a:latin typeface="Cascadia Code SemiLight" panose="020B0609020000020004" pitchFamily="49" charset="0"/>
                <a:cs typeface="Cascadia Code SemiLight" panose="020B0609020000020004" pitchFamily="49" charset="0"/>
              </a:rPr>
              <a:t>字节的整数，程序解释该变量时通过该整数值对应到</a:t>
            </a:r>
            <a:r>
              <a:rPr lang="en-US" altLang="zh-CN" dirty="0">
                <a:latin typeface="Cascadia Code SemiLight" panose="020B0609020000020004" pitchFamily="49" charset="0"/>
                <a:cs typeface="Cascadia Code SemiLight" panose="020B0609020000020004" pitchFamily="49" charset="0"/>
              </a:rPr>
              <a:t>ASCII</a:t>
            </a:r>
            <a:r>
              <a:rPr lang="zh-CN" altLang="en-US" dirty="0">
                <a:latin typeface="Cascadia Code SemiLight" panose="020B0609020000020004" pitchFamily="49" charset="0"/>
                <a:cs typeface="Cascadia Code SemiLight" panose="020B0609020000020004" pitchFamily="49" charset="0"/>
              </a:rPr>
              <a:t>码表上的特定字符，因此可以直接进行大小比较运算如</a:t>
            </a:r>
            <a:endParaRPr lang="en-US" altLang="zh-CN" dirty="0">
              <a:latin typeface="Cascadia Code SemiLight" panose="020B0609020000020004" pitchFamily="49" charset="0"/>
              <a:cs typeface="Cascadia Code SemiLight" panose="020B0609020000020004" pitchFamily="49" charset="0"/>
            </a:endParaRPr>
          </a:p>
          <a:p>
            <a:pPr algn="ctr"/>
            <a:r>
              <a:rPr lang="en-US" altLang="zh-CN" dirty="0">
                <a:latin typeface="Cascadia Code SemiLight" panose="020B0609020000020004" pitchFamily="49" charset="0"/>
                <a:cs typeface="Cascadia Code SemiLight" panose="020B0609020000020004" pitchFamily="49" charset="0"/>
              </a:rPr>
              <a:t>str[</a:t>
            </a:r>
            <a:r>
              <a:rPr lang="en-US" altLang="zh-CN" dirty="0" err="1">
                <a:latin typeface="Cascadia Code SemiLight" panose="020B0609020000020004" pitchFamily="49" charset="0"/>
                <a:cs typeface="Cascadia Code SemiLight" panose="020B0609020000020004" pitchFamily="49" charset="0"/>
              </a:rPr>
              <a:t>i</a:t>
            </a:r>
            <a:r>
              <a:rPr lang="en-US" altLang="zh-CN" dirty="0">
                <a:latin typeface="Cascadia Code SemiLight" panose="020B0609020000020004" pitchFamily="49" charset="0"/>
                <a:cs typeface="Cascadia Code SemiLight" panose="020B0609020000020004" pitchFamily="49" charset="0"/>
              </a:rPr>
              <a:t>] &gt;= 'a' &amp;&amp; str[</a:t>
            </a:r>
            <a:r>
              <a:rPr lang="en-US" altLang="zh-CN" dirty="0" err="1">
                <a:latin typeface="Cascadia Code SemiLight" panose="020B0609020000020004" pitchFamily="49" charset="0"/>
                <a:cs typeface="Cascadia Code SemiLight" panose="020B0609020000020004" pitchFamily="49" charset="0"/>
              </a:rPr>
              <a:t>i</a:t>
            </a:r>
            <a:r>
              <a:rPr lang="en-US" altLang="zh-CN" dirty="0">
                <a:latin typeface="Cascadia Code SemiLight" panose="020B0609020000020004" pitchFamily="49" charset="0"/>
                <a:cs typeface="Cascadia Code SemiLight" panose="020B0609020000020004" pitchFamily="49" charset="0"/>
              </a:rPr>
              <a:t>] &lt;= 'z’</a:t>
            </a:r>
          </a:p>
          <a:p>
            <a:r>
              <a:rPr lang="zh-CN" altLang="en-US" dirty="0">
                <a:latin typeface="Cascadia Code SemiLight" panose="020B0609020000020004" pitchFamily="49" charset="0"/>
                <a:cs typeface="Cascadia Code SemiLight" panose="020B0609020000020004" pitchFamily="49" charset="0"/>
              </a:rPr>
              <a:t>表示判断字符串</a:t>
            </a:r>
            <a:r>
              <a:rPr lang="en-US" altLang="zh-CN" dirty="0">
                <a:latin typeface="Cascadia Code SemiLight" panose="020B0609020000020004" pitchFamily="49" charset="0"/>
                <a:cs typeface="Cascadia Code SemiLight" panose="020B0609020000020004" pitchFamily="49" charset="0"/>
              </a:rPr>
              <a:t>str</a:t>
            </a:r>
            <a:r>
              <a:rPr lang="zh-CN" altLang="en-US" dirty="0">
                <a:latin typeface="Cascadia Code SemiLight" panose="020B0609020000020004" pitchFamily="49" charset="0"/>
                <a:cs typeface="Cascadia Code SemiLight" panose="020B0609020000020004" pitchFamily="49" charset="0"/>
              </a:rPr>
              <a:t>中第</a:t>
            </a:r>
            <a:r>
              <a:rPr lang="en-US" altLang="zh-CN" dirty="0">
                <a:latin typeface="Cascadia Code SemiLight" panose="020B0609020000020004" pitchFamily="49" charset="0"/>
                <a:cs typeface="Cascadia Code SemiLight" panose="020B0609020000020004" pitchFamily="49" charset="0"/>
              </a:rPr>
              <a:t>i+1</a:t>
            </a:r>
            <a:r>
              <a:rPr lang="zh-CN" altLang="en-US" dirty="0">
                <a:latin typeface="Cascadia Code SemiLight" panose="020B0609020000020004" pitchFamily="49" charset="0"/>
                <a:cs typeface="Cascadia Code SemiLight" panose="020B0609020000020004" pitchFamily="49" charset="0"/>
              </a:rPr>
              <a:t>个字符是否为小写字母</a:t>
            </a:r>
            <a:endParaRPr lang="en-US" altLang="zh-CN" dirty="0">
              <a:latin typeface="Cascadia Code SemiLight" panose="020B0609020000020004" pitchFamily="49" charset="0"/>
              <a:cs typeface="Cascadia Code SemiLight" panose="020B0609020000020004" pitchFamily="49" charset="0"/>
            </a:endParaRPr>
          </a:p>
          <a:p>
            <a:endParaRPr lang="en-US" altLang="zh-CN" dirty="0">
              <a:latin typeface="Cascadia Code SemiLight" panose="020B0609020000020004" pitchFamily="49" charset="0"/>
              <a:cs typeface="Cascadia Code SemiLight" panose="020B0609020000020004" pitchFamily="49" charset="0"/>
            </a:endParaRPr>
          </a:p>
          <a:p>
            <a:r>
              <a:rPr lang="zh-CN" altLang="en-US" dirty="0">
                <a:highlight>
                  <a:srgbClr val="FFFF00"/>
                </a:highlight>
                <a:latin typeface="Cascadia Code SemiLight" panose="020B0609020000020004" pitchFamily="49" charset="0"/>
                <a:cs typeface="Cascadia Code SemiLight" panose="020B0609020000020004" pitchFamily="49" charset="0"/>
              </a:rPr>
              <a:t>注意：在自行构造的函数内手动处理字符串，需要注意处理末尾应当有字符</a:t>
            </a:r>
            <a:r>
              <a:rPr lang="en-US" altLang="zh-CN" dirty="0">
                <a:highlight>
                  <a:srgbClr val="FFFF00"/>
                </a:highlight>
                <a:latin typeface="Cascadia Code SemiLight" panose="020B0609020000020004" pitchFamily="49" charset="0"/>
                <a:cs typeface="Cascadia Code SemiLight" panose="020B0609020000020004" pitchFamily="49" charset="0"/>
              </a:rPr>
              <a:t>’\0’</a:t>
            </a:r>
            <a:r>
              <a:rPr lang="zh-CN" altLang="en-US" dirty="0">
                <a:highlight>
                  <a:srgbClr val="FFFF00"/>
                </a:highlight>
                <a:latin typeface="Cascadia Code SemiLight" panose="020B0609020000020004" pitchFamily="49" charset="0"/>
                <a:cs typeface="Cascadia Code SemiLight" panose="020B0609020000020004" pitchFamily="49" charset="0"/>
              </a:rPr>
              <a:t>，否则会输出乱码</a:t>
            </a:r>
            <a:endParaRPr lang="en-US" altLang="zh-CN" dirty="0">
              <a:highlight>
                <a:srgbClr val="FFFF00"/>
              </a:highlight>
              <a:latin typeface="Cascadia Code SemiLight" panose="020B0609020000020004" pitchFamily="49" charset="0"/>
              <a:cs typeface="Cascadia Code SemiLight" panose="020B0609020000020004" pitchFamily="49" charset="0"/>
            </a:endParaRPr>
          </a:p>
        </p:txBody>
      </p:sp>
    </p:spTree>
    <p:extLst>
      <p:ext uri="{BB962C8B-B14F-4D97-AF65-F5344CB8AC3E}">
        <p14:creationId xmlns:p14="http://schemas.microsoft.com/office/powerpoint/2010/main" val="34698530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521207" y="448056"/>
            <a:ext cx="10552533" cy="640080"/>
          </a:xfrm>
        </p:spPr>
        <p:txBody>
          <a:bodyPr rtlCol="0">
            <a:noAutofit/>
          </a:bodyPr>
          <a:lstStyle/>
          <a:p>
            <a:pPr rtl="0"/>
            <a:r>
              <a:rPr lang="en-US" altLang="zh-CN" dirty="0">
                <a:cs typeface="Segoe UI Light" panose="020B0502040204020203" pitchFamily="34" charset="0"/>
              </a:rPr>
              <a:t>Chapter 7  </a:t>
            </a:r>
            <a:r>
              <a:rPr lang="zh-CN" altLang="en-US" dirty="0">
                <a:cs typeface="Segoe UI Light" panose="020B0502040204020203" pitchFamily="34" charset="0"/>
              </a:rPr>
              <a:t>字符串</a:t>
            </a:r>
          </a:p>
        </p:txBody>
      </p:sp>
      <p:sp>
        <p:nvSpPr>
          <p:cNvPr id="2" name="文本框 1">
            <a:extLst>
              <a:ext uri="{FF2B5EF4-FFF2-40B4-BE49-F238E27FC236}">
                <a16:creationId xmlns:a16="http://schemas.microsoft.com/office/drawing/2014/main" id="{278E70F4-2A89-46EF-8FA4-B65F4871C040}"/>
              </a:ext>
            </a:extLst>
          </p:cNvPr>
          <p:cNvSpPr txBox="1"/>
          <p:nvPr/>
        </p:nvSpPr>
        <p:spPr>
          <a:xfrm>
            <a:off x="611578" y="1413164"/>
            <a:ext cx="4372205" cy="369332"/>
          </a:xfrm>
          <a:prstGeom prst="rect">
            <a:avLst/>
          </a:prstGeom>
          <a:noFill/>
        </p:spPr>
        <p:txBody>
          <a:bodyPr wrap="square" rtlCol="0">
            <a:spAutoFit/>
          </a:bodyPr>
          <a:lstStyle/>
          <a:p>
            <a:r>
              <a:rPr lang="en-US" altLang="zh-CN" dirty="0"/>
              <a:t>7.3  </a:t>
            </a:r>
            <a:r>
              <a:rPr lang="zh-CN" altLang="en-US" dirty="0"/>
              <a:t>字符串相关库函数及使用</a:t>
            </a:r>
            <a:r>
              <a:rPr lang="en-US" altLang="zh-CN" dirty="0"/>
              <a:t>&lt;</a:t>
            </a:r>
            <a:r>
              <a:rPr lang="en-US" altLang="zh-CN" dirty="0" err="1"/>
              <a:t>string.h</a:t>
            </a:r>
            <a:r>
              <a:rPr lang="en-US" altLang="zh-CN" dirty="0"/>
              <a:t>&gt;</a:t>
            </a:r>
            <a:endParaRPr lang="zh-CN" altLang="en-US" dirty="0"/>
          </a:p>
        </p:txBody>
      </p:sp>
      <p:sp>
        <p:nvSpPr>
          <p:cNvPr id="7" name="文本框 6">
            <a:extLst>
              <a:ext uri="{FF2B5EF4-FFF2-40B4-BE49-F238E27FC236}">
                <a16:creationId xmlns:a16="http://schemas.microsoft.com/office/drawing/2014/main" id="{89D75C00-B52E-42DC-AA70-D17C54BA38EF}"/>
              </a:ext>
            </a:extLst>
          </p:cNvPr>
          <p:cNvSpPr txBox="1"/>
          <p:nvPr/>
        </p:nvSpPr>
        <p:spPr>
          <a:xfrm>
            <a:off x="611578" y="1885991"/>
            <a:ext cx="10681856" cy="3139321"/>
          </a:xfrm>
          <a:prstGeom prst="rect">
            <a:avLst/>
          </a:prstGeom>
          <a:noFill/>
        </p:spPr>
        <p:txBody>
          <a:bodyPr wrap="square" rtlCol="0">
            <a:spAutoFit/>
          </a:bodyPr>
          <a:lstStyle/>
          <a:p>
            <a:r>
              <a:rPr lang="zh-CN" altLang="en-US" b="1" dirty="0">
                <a:latin typeface="Cascadia Code SemiLight" panose="020B0609020000020004" pitchFamily="49" charset="0"/>
                <a:cs typeface="Cascadia Code SemiLight" panose="020B0609020000020004" pitchFamily="49" charset="0"/>
              </a:rPr>
              <a:t>字符串输入函数</a:t>
            </a:r>
            <a:endParaRPr lang="en-US" altLang="zh-CN" b="1" dirty="0">
              <a:latin typeface="Cascadia Code SemiLight" panose="020B0609020000020004" pitchFamily="49" charset="0"/>
              <a:cs typeface="Cascadia Code SemiLight" panose="020B0609020000020004" pitchFamily="49" charset="0"/>
            </a:endParaRPr>
          </a:p>
          <a:p>
            <a:pPr algn="ctr"/>
            <a:r>
              <a:rPr lang="en-US" altLang="zh-CN" dirty="0">
                <a:latin typeface="Cascadia Code SemiLight" panose="020B0609020000020004" pitchFamily="49" charset="0"/>
                <a:cs typeface="Cascadia Code SemiLight" panose="020B0609020000020004" pitchFamily="49" charset="0"/>
              </a:rPr>
              <a:t>char *gets(char *s);</a:t>
            </a:r>
          </a:p>
          <a:p>
            <a:r>
              <a:rPr lang="zh-CN" altLang="en-US" dirty="0">
                <a:latin typeface="Cascadia Code SemiLight" panose="020B0609020000020004" pitchFamily="49" charset="0"/>
                <a:cs typeface="Cascadia Code SemiLight" panose="020B0609020000020004" pitchFamily="49" charset="0"/>
              </a:rPr>
              <a:t>与</a:t>
            </a:r>
            <a:r>
              <a:rPr lang="en-US" altLang="zh-CN" dirty="0" err="1">
                <a:latin typeface="Cascadia Code SemiLight" panose="020B0609020000020004" pitchFamily="49" charset="0"/>
                <a:cs typeface="Cascadia Code SemiLight" panose="020B0609020000020004" pitchFamily="49" charset="0"/>
              </a:rPr>
              <a:t>scanf</a:t>
            </a:r>
            <a:r>
              <a:rPr lang="zh-CN" altLang="en-US" dirty="0">
                <a:latin typeface="Cascadia Code SemiLight" panose="020B0609020000020004" pitchFamily="49" charset="0"/>
                <a:cs typeface="Cascadia Code SemiLight" panose="020B0609020000020004" pitchFamily="49" charset="0"/>
              </a:rPr>
              <a:t>不同在，</a:t>
            </a:r>
            <a:r>
              <a:rPr lang="en-US" altLang="zh-CN" dirty="0">
                <a:latin typeface="Cascadia Code SemiLight" panose="020B0609020000020004" pitchFamily="49" charset="0"/>
                <a:cs typeface="Cascadia Code SemiLight" panose="020B0609020000020004" pitchFamily="49" charset="0"/>
              </a:rPr>
              <a:t>gets</a:t>
            </a:r>
            <a:r>
              <a:rPr lang="zh-CN" altLang="en-US" dirty="0">
                <a:latin typeface="Cascadia Code SemiLight" panose="020B0609020000020004" pitchFamily="49" charset="0"/>
                <a:cs typeface="Cascadia Code SemiLight" panose="020B0609020000020004" pitchFamily="49" charset="0"/>
              </a:rPr>
              <a:t>接受空格，但只能赋值给一个字符串</a:t>
            </a:r>
            <a:endParaRPr lang="en-US" altLang="zh-CN" dirty="0">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使用示例：</a:t>
            </a:r>
            <a:endParaRPr lang="en-US" altLang="zh-CN" dirty="0">
              <a:latin typeface="Cascadia Code SemiLight" panose="020B0609020000020004" pitchFamily="49" charset="0"/>
              <a:cs typeface="Cascadia Code SemiLight" panose="020B0609020000020004" pitchFamily="49" charset="0"/>
            </a:endParaRPr>
          </a:p>
          <a:p>
            <a:r>
              <a:rPr lang="en-US" altLang="zh-CN" dirty="0">
                <a:latin typeface="Cascadia Code SemiLight" panose="020B0609020000020004" pitchFamily="49" charset="0"/>
                <a:cs typeface="Cascadia Code SemiLight" panose="020B0609020000020004" pitchFamily="49" charset="0"/>
              </a:rPr>
              <a:t>char string[80];</a:t>
            </a:r>
          </a:p>
          <a:p>
            <a:r>
              <a:rPr lang="en-US" altLang="zh-CN" dirty="0">
                <a:latin typeface="Cascadia Code SemiLight" panose="020B0609020000020004" pitchFamily="49" charset="0"/>
                <a:cs typeface="Cascadia Code SemiLight" panose="020B0609020000020004" pitchFamily="49" charset="0"/>
              </a:rPr>
              <a:t>gets(string);</a:t>
            </a:r>
          </a:p>
          <a:p>
            <a:endParaRPr lang="en-US" altLang="zh-CN" dirty="0">
              <a:latin typeface="Cascadia Code SemiLight" panose="020B0609020000020004" pitchFamily="49" charset="0"/>
              <a:cs typeface="Cascadia Code SemiLight" panose="020B0609020000020004" pitchFamily="49" charset="0"/>
            </a:endParaRPr>
          </a:p>
          <a:p>
            <a:r>
              <a:rPr lang="zh-CN" altLang="en-US" b="1" dirty="0">
                <a:latin typeface="Cascadia Code SemiLight" panose="020B0609020000020004" pitchFamily="49" charset="0"/>
                <a:cs typeface="Cascadia Code SemiLight" panose="020B0609020000020004" pitchFamily="49" charset="0"/>
              </a:rPr>
              <a:t>字符串输出函数</a:t>
            </a:r>
            <a:endParaRPr lang="en-US" altLang="zh-CN" b="1" dirty="0">
              <a:latin typeface="Cascadia Code SemiLight" panose="020B0609020000020004" pitchFamily="49" charset="0"/>
              <a:cs typeface="Cascadia Code SemiLight" panose="020B0609020000020004" pitchFamily="49" charset="0"/>
            </a:endParaRPr>
          </a:p>
          <a:p>
            <a:pPr algn="ctr"/>
            <a:r>
              <a:rPr lang="en-US" altLang="zh-CN" dirty="0">
                <a:latin typeface="Cascadia Code SemiLight" panose="020B0609020000020004" pitchFamily="49" charset="0"/>
                <a:cs typeface="Cascadia Code SemiLight" panose="020B0609020000020004" pitchFamily="49" charset="0"/>
              </a:rPr>
              <a:t>int puts(const char *s);</a:t>
            </a:r>
          </a:p>
          <a:p>
            <a:r>
              <a:rPr lang="zh-CN" altLang="en-US" dirty="0">
                <a:latin typeface="Cascadia Code SemiLight" panose="020B0609020000020004" pitchFamily="49" charset="0"/>
                <a:cs typeface="Cascadia Code SemiLight" panose="020B0609020000020004" pitchFamily="49" charset="0"/>
              </a:rPr>
              <a:t>与</a:t>
            </a:r>
            <a:r>
              <a:rPr lang="en-US" altLang="zh-CN" dirty="0" err="1">
                <a:latin typeface="Cascadia Code SemiLight" panose="020B0609020000020004" pitchFamily="49" charset="0"/>
                <a:cs typeface="Cascadia Code SemiLight" panose="020B0609020000020004" pitchFamily="49" charset="0"/>
              </a:rPr>
              <a:t>printf</a:t>
            </a:r>
            <a:r>
              <a:rPr lang="zh-CN" altLang="en-US" dirty="0">
                <a:latin typeface="Cascadia Code SemiLight" panose="020B0609020000020004" pitchFamily="49" charset="0"/>
                <a:cs typeface="Cascadia Code SemiLight" panose="020B0609020000020004" pitchFamily="49" charset="0"/>
              </a:rPr>
              <a:t>不同只在</a:t>
            </a:r>
            <a:r>
              <a:rPr lang="en-US" altLang="zh-CN" dirty="0">
                <a:latin typeface="Cascadia Code SemiLight" panose="020B0609020000020004" pitchFamily="49" charset="0"/>
                <a:cs typeface="Cascadia Code SemiLight" panose="020B0609020000020004" pitchFamily="49" charset="0"/>
              </a:rPr>
              <a:t>puts</a:t>
            </a:r>
            <a:r>
              <a:rPr lang="zh-CN" altLang="en-US" dirty="0">
                <a:latin typeface="Cascadia Code SemiLight" panose="020B0609020000020004" pitchFamily="49" charset="0"/>
                <a:cs typeface="Cascadia Code SemiLight" panose="020B0609020000020004" pitchFamily="49" charset="0"/>
              </a:rPr>
              <a:t>函数会自动换行</a:t>
            </a:r>
            <a:endParaRPr lang="en-US" altLang="zh-CN" dirty="0">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使用示例略。</a:t>
            </a:r>
            <a:endParaRPr lang="en-US" altLang="zh-CN" dirty="0">
              <a:latin typeface="Cascadia Code SemiLight" panose="020B0609020000020004" pitchFamily="49" charset="0"/>
              <a:cs typeface="Cascadia Code SemiLight" panose="020B0609020000020004" pitchFamily="49" charset="0"/>
            </a:endParaRPr>
          </a:p>
        </p:txBody>
      </p:sp>
    </p:spTree>
    <p:extLst>
      <p:ext uri="{BB962C8B-B14F-4D97-AF65-F5344CB8AC3E}">
        <p14:creationId xmlns:p14="http://schemas.microsoft.com/office/powerpoint/2010/main" val="27937678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521207" y="448056"/>
            <a:ext cx="10552533" cy="640080"/>
          </a:xfrm>
        </p:spPr>
        <p:txBody>
          <a:bodyPr rtlCol="0">
            <a:noAutofit/>
          </a:bodyPr>
          <a:lstStyle/>
          <a:p>
            <a:pPr rtl="0"/>
            <a:r>
              <a:rPr lang="en-US" altLang="zh-CN" dirty="0">
                <a:cs typeface="Segoe UI Light" panose="020B0502040204020203" pitchFamily="34" charset="0"/>
              </a:rPr>
              <a:t>Chapter 7  </a:t>
            </a:r>
            <a:r>
              <a:rPr lang="zh-CN" altLang="en-US" dirty="0">
                <a:cs typeface="Segoe UI Light" panose="020B0502040204020203" pitchFamily="34" charset="0"/>
              </a:rPr>
              <a:t>字符串</a:t>
            </a:r>
          </a:p>
        </p:txBody>
      </p:sp>
      <p:sp>
        <p:nvSpPr>
          <p:cNvPr id="7" name="文本框 6">
            <a:extLst>
              <a:ext uri="{FF2B5EF4-FFF2-40B4-BE49-F238E27FC236}">
                <a16:creationId xmlns:a16="http://schemas.microsoft.com/office/drawing/2014/main" id="{89D75C00-B52E-42DC-AA70-D17C54BA38EF}"/>
              </a:ext>
            </a:extLst>
          </p:cNvPr>
          <p:cNvSpPr txBox="1"/>
          <p:nvPr/>
        </p:nvSpPr>
        <p:spPr>
          <a:xfrm>
            <a:off x="611578" y="1885991"/>
            <a:ext cx="10681856" cy="1477328"/>
          </a:xfrm>
          <a:prstGeom prst="rect">
            <a:avLst/>
          </a:prstGeom>
          <a:noFill/>
        </p:spPr>
        <p:txBody>
          <a:bodyPr wrap="square" rtlCol="0">
            <a:spAutoFit/>
          </a:bodyPr>
          <a:lstStyle/>
          <a:p>
            <a:r>
              <a:rPr lang="zh-CN" altLang="en-US" b="1" dirty="0">
                <a:latin typeface="Cascadia Code SemiLight" panose="020B0609020000020004" pitchFamily="49" charset="0"/>
                <a:cs typeface="Cascadia Code SemiLight" panose="020B0609020000020004" pitchFamily="49" charset="0"/>
              </a:rPr>
              <a:t>字符串转换函数</a:t>
            </a:r>
            <a:endParaRPr lang="en-US" altLang="zh-CN" b="1" dirty="0">
              <a:latin typeface="Cascadia Code SemiLight" panose="020B0609020000020004" pitchFamily="49" charset="0"/>
              <a:cs typeface="Cascadia Code SemiLight" panose="020B0609020000020004" pitchFamily="49" charset="0"/>
            </a:endParaRPr>
          </a:p>
          <a:p>
            <a:r>
              <a:rPr lang="en-US" altLang="zh-CN" dirty="0">
                <a:latin typeface="Cascadia Code SemiLight" panose="020B0609020000020004" pitchFamily="49" charset="0"/>
                <a:cs typeface="Cascadia Code SemiLight" panose="020B0609020000020004" pitchFamily="49" charset="0"/>
              </a:rPr>
              <a:t>int </a:t>
            </a:r>
            <a:r>
              <a:rPr lang="en-US" altLang="zh-CN" dirty="0" err="1">
                <a:latin typeface="Cascadia Code SemiLight" panose="020B0609020000020004" pitchFamily="49" charset="0"/>
                <a:cs typeface="Cascadia Code SemiLight" panose="020B0609020000020004" pitchFamily="49" charset="0"/>
              </a:rPr>
              <a:t>atoi</a:t>
            </a:r>
            <a:r>
              <a:rPr lang="en-US" altLang="zh-CN" dirty="0">
                <a:latin typeface="Cascadia Code SemiLight" panose="020B0609020000020004" pitchFamily="49" charset="0"/>
                <a:cs typeface="Cascadia Code SemiLight" panose="020B0609020000020004" pitchFamily="49" charset="0"/>
              </a:rPr>
              <a:t>(const char *</a:t>
            </a:r>
            <a:r>
              <a:rPr lang="en-US" altLang="zh-CN" dirty="0" err="1">
                <a:latin typeface="Cascadia Code SemiLight" panose="020B0609020000020004" pitchFamily="49" charset="0"/>
                <a:cs typeface="Cascadia Code SemiLight" panose="020B0609020000020004" pitchFamily="49" charset="0"/>
              </a:rPr>
              <a:t>nPtr</a:t>
            </a:r>
            <a:r>
              <a:rPr lang="en-US" altLang="zh-CN" dirty="0">
                <a:latin typeface="Cascadia Code SemiLight" panose="020B0609020000020004" pitchFamily="49" charset="0"/>
                <a:cs typeface="Cascadia Code SemiLight" panose="020B0609020000020004" pitchFamily="49" charset="0"/>
              </a:rPr>
              <a:t>); // </a:t>
            </a:r>
            <a:r>
              <a:rPr lang="zh-CN" altLang="en-US" dirty="0">
                <a:latin typeface="Cascadia Code SemiLight" panose="020B0609020000020004" pitchFamily="49" charset="0"/>
                <a:cs typeface="Cascadia Code SemiLight" panose="020B0609020000020004" pitchFamily="49" charset="0"/>
              </a:rPr>
              <a:t>将字符串转化为整数 </a:t>
            </a:r>
            <a:endParaRPr lang="en-US" altLang="zh-CN" dirty="0">
              <a:latin typeface="Cascadia Code SemiLight" panose="020B0609020000020004" pitchFamily="49" charset="0"/>
              <a:cs typeface="Cascadia Code SemiLight" panose="020B0609020000020004" pitchFamily="49" charset="0"/>
            </a:endParaRPr>
          </a:p>
          <a:p>
            <a:r>
              <a:rPr lang="en-US" altLang="zh-CN" dirty="0">
                <a:latin typeface="Cascadia Code SemiLight" panose="020B0609020000020004" pitchFamily="49" charset="0"/>
                <a:cs typeface="Cascadia Code SemiLight" panose="020B0609020000020004" pitchFamily="49" charset="0"/>
              </a:rPr>
              <a:t>long </a:t>
            </a:r>
            <a:r>
              <a:rPr lang="en-US" altLang="zh-CN" dirty="0" err="1">
                <a:latin typeface="Cascadia Code SemiLight" panose="020B0609020000020004" pitchFamily="49" charset="0"/>
                <a:cs typeface="Cascadia Code SemiLight" panose="020B0609020000020004" pitchFamily="49" charset="0"/>
              </a:rPr>
              <a:t>atol</a:t>
            </a:r>
            <a:r>
              <a:rPr lang="en-US" altLang="zh-CN" dirty="0">
                <a:latin typeface="Cascadia Code SemiLight" panose="020B0609020000020004" pitchFamily="49" charset="0"/>
                <a:cs typeface="Cascadia Code SemiLight" panose="020B0609020000020004" pitchFamily="49" charset="0"/>
              </a:rPr>
              <a:t>(const char *</a:t>
            </a:r>
            <a:r>
              <a:rPr lang="en-US" altLang="zh-CN" dirty="0" err="1">
                <a:latin typeface="Cascadia Code SemiLight" panose="020B0609020000020004" pitchFamily="49" charset="0"/>
                <a:cs typeface="Cascadia Code SemiLight" panose="020B0609020000020004" pitchFamily="49" charset="0"/>
              </a:rPr>
              <a:t>nPtr</a:t>
            </a:r>
            <a:r>
              <a:rPr lang="en-US" altLang="zh-CN" dirty="0">
                <a:latin typeface="Cascadia Code SemiLight" panose="020B0609020000020004" pitchFamily="49" charset="0"/>
                <a:cs typeface="Cascadia Code SemiLight" panose="020B0609020000020004" pitchFamily="49" charset="0"/>
              </a:rPr>
              <a:t>); // </a:t>
            </a:r>
            <a:r>
              <a:rPr lang="zh-CN" altLang="en-US" dirty="0">
                <a:latin typeface="Cascadia Code SemiLight" panose="020B0609020000020004" pitchFamily="49" charset="0"/>
                <a:cs typeface="Cascadia Code SemiLight" panose="020B0609020000020004" pitchFamily="49" charset="0"/>
              </a:rPr>
              <a:t>将字符串转化为长整数 </a:t>
            </a:r>
            <a:endParaRPr lang="en-US" altLang="zh-CN" dirty="0">
              <a:latin typeface="Cascadia Code SemiLight" panose="020B0609020000020004" pitchFamily="49" charset="0"/>
              <a:cs typeface="Cascadia Code SemiLight" panose="020B0609020000020004" pitchFamily="49" charset="0"/>
            </a:endParaRPr>
          </a:p>
          <a:p>
            <a:r>
              <a:rPr lang="en-US" altLang="zh-CN" dirty="0">
                <a:latin typeface="Cascadia Code SemiLight" panose="020B0609020000020004" pitchFamily="49" charset="0"/>
                <a:cs typeface="Cascadia Code SemiLight" panose="020B0609020000020004" pitchFamily="49" charset="0"/>
              </a:rPr>
              <a:t>double </a:t>
            </a:r>
            <a:r>
              <a:rPr lang="en-US" altLang="zh-CN" dirty="0" err="1">
                <a:latin typeface="Cascadia Code SemiLight" panose="020B0609020000020004" pitchFamily="49" charset="0"/>
                <a:cs typeface="Cascadia Code SemiLight" panose="020B0609020000020004" pitchFamily="49" charset="0"/>
              </a:rPr>
              <a:t>atof</a:t>
            </a:r>
            <a:r>
              <a:rPr lang="en-US" altLang="zh-CN" dirty="0">
                <a:latin typeface="Cascadia Code SemiLight" panose="020B0609020000020004" pitchFamily="49" charset="0"/>
                <a:cs typeface="Cascadia Code SemiLight" panose="020B0609020000020004" pitchFamily="49" charset="0"/>
              </a:rPr>
              <a:t>(const char *</a:t>
            </a:r>
            <a:r>
              <a:rPr lang="en-US" altLang="zh-CN" dirty="0" err="1">
                <a:latin typeface="Cascadia Code SemiLight" panose="020B0609020000020004" pitchFamily="49" charset="0"/>
                <a:cs typeface="Cascadia Code SemiLight" panose="020B0609020000020004" pitchFamily="49" charset="0"/>
              </a:rPr>
              <a:t>nPtr</a:t>
            </a:r>
            <a:r>
              <a:rPr lang="en-US" altLang="zh-CN" dirty="0">
                <a:latin typeface="Cascadia Code SemiLight" panose="020B0609020000020004" pitchFamily="49" charset="0"/>
                <a:cs typeface="Cascadia Code SemiLight" panose="020B0609020000020004" pitchFamily="49" charset="0"/>
              </a:rPr>
              <a:t>); // </a:t>
            </a:r>
            <a:r>
              <a:rPr lang="zh-CN" altLang="en-US" dirty="0">
                <a:latin typeface="Cascadia Code SemiLight" panose="020B0609020000020004" pitchFamily="49" charset="0"/>
                <a:cs typeface="Cascadia Code SemiLight" panose="020B0609020000020004" pitchFamily="49" charset="0"/>
              </a:rPr>
              <a:t>将字符串转化为浮点数</a:t>
            </a:r>
            <a:endParaRPr lang="en-US" altLang="zh-CN" dirty="0">
              <a:latin typeface="Cascadia Code SemiLight" panose="020B0609020000020004" pitchFamily="49" charset="0"/>
              <a:cs typeface="Cascadia Code SemiLight" panose="020B0609020000020004" pitchFamily="49" charset="0"/>
            </a:endParaRPr>
          </a:p>
          <a:p>
            <a:r>
              <a:rPr lang="en-US" altLang="zh-CN" dirty="0">
                <a:latin typeface="Cascadia Code SemiLight" panose="020B0609020000020004" pitchFamily="49" charset="0"/>
                <a:cs typeface="Cascadia Code SemiLight" panose="020B0609020000020004" pitchFamily="49" charset="0"/>
              </a:rPr>
              <a:t>void </a:t>
            </a:r>
            <a:r>
              <a:rPr lang="en-US" altLang="zh-CN" dirty="0" err="1">
                <a:latin typeface="Cascadia Code SemiLight" panose="020B0609020000020004" pitchFamily="49" charset="0"/>
                <a:cs typeface="Cascadia Code SemiLight" panose="020B0609020000020004" pitchFamily="49" charset="0"/>
              </a:rPr>
              <a:t>itoa</a:t>
            </a:r>
            <a:r>
              <a:rPr lang="en-US" altLang="zh-CN" dirty="0">
                <a:latin typeface="Cascadia Code SemiLight" panose="020B0609020000020004" pitchFamily="49" charset="0"/>
                <a:cs typeface="Cascadia Code SemiLight" panose="020B0609020000020004" pitchFamily="49" charset="0"/>
              </a:rPr>
              <a:t>(int n, char s[], int radix);</a:t>
            </a:r>
            <a:r>
              <a:rPr lang="zh-CN" altLang="en-US" dirty="0">
                <a:latin typeface="Cascadia Code SemiLight" panose="020B0609020000020004" pitchFamily="49" charset="0"/>
                <a:cs typeface="Cascadia Code SemiLight" panose="020B0609020000020004" pitchFamily="49" charset="0"/>
              </a:rPr>
              <a:t> </a:t>
            </a:r>
            <a:r>
              <a:rPr lang="en-US" altLang="zh-CN" dirty="0">
                <a:latin typeface="Cascadia Code SemiLight" panose="020B0609020000020004" pitchFamily="49" charset="0"/>
                <a:cs typeface="Cascadia Code SemiLight" panose="020B0609020000020004" pitchFamily="49" charset="0"/>
              </a:rPr>
              <a:t>// </a:t>
            </a:r>
            <a:r>
              <a:rPr lang="zh-CN" altLang="en-US" dirty="0">
                <a:latin typeface="Cascadia Code SemiLight" panose="020B0609020000020004" pitchFamily="49" charset="0"/>
                <a:cs typeface="Cascadia Code SemiLight" panose="020B0609020000020004" pitchFamily="49" charset="0"/>
              </a:rPr>
              <a:t>将整数</a:t>
            </a:r>
            <a:r>
              <a:rPr lang="en-US" altLang="zh-CN" dirty="0">
                <a:latin typeface="Cascadia Code SemiLight" panose="020B0609020000020004" pitchFamily="49" charset="0"/>
                <a:cs typeface="Cascadia Code SemiLight" panose="020B0609020000020004" pitchFamily="49" charset="0"/>
              </a:rPr>
              <a:t>n</a:t>
            </a:r>
            <a:r>
              <a:rPr lang="zh-CN" altLang="en-US" dirty="0">
                <a:latin typeface="Cascadia Code SemiLight" panose="020B0609020000020004" pitchFamily="49" charset="0"/>
                <a:cs typeface="Cascadia Code SemiLight" panose="020B0609020000020004" pitchFamily="49" charset="0"/>
              </a:rPr>
              <a:t>转化为字符串</a:t>
            </a:r>
            <a:endParaRPr lang="en-US" altLang="zh-CN" dirty="0">
              <a:latin typeface="Cascadia Code SemiLight" panose="020B0609020000020004" pitchFamily="49" charset="0"/>
              <a:cs typeface="Cascadia Code SemiLight" panose="020B0609020000020004" pitchFamily="49" charset="0"/>
            </a:endParaRPr>
          </a:p>
        </p:txBody>
      </p:sp>
      <p:sp>
        <p:nvSpPr>
          <p:cNvPr id="5" name="文本框 4">
            <a:extLst>
              <a:ext uri="{FF2B5EF4-FFF2-40B4-BE49-F238E27FC236}">
                <a16:creationId xmlns:a16="http://schemas.microsoft.com/office/drawing/2014/main" id="{88ABA98C-CA39-40C1-B398-04CEFBDC2AD2}"/>
              </a:ext>
            </a:extLst>
          </p:cNvPr>
          <p:cNvSpPr txBox="1"/>
          <p:nvPr/>
        </p:nvSpPr>
        <p:spPr>
          <a:xfrm>
            <a:off x="611578" y="1413164"/>
            <a:ext cx="4372205" cy="369332"/>
          </a:xfrm>
          <a:prstGeom prst="rect">
            <a:avLst/>
          </a:prstGeom>
          <a:noFill/>
        </p:spPr>
        <p:txBody>
          <a:bodyPr wrap="square" rtlCol="0">
            <a:spAutoFit/>
          </a:bodyPr>
          <a:lstStyle/>
          <a:p>
            <a:r>
              <a:rPr lang="en-US" altLang="zh-CN" dirty="0"/>
              <a:t>7.3  </a:t>
            </a:r>
            <a:r>
              <a:rPr lang="zh-CN" altLang="en-US" dirty="0"/>
              <a:t>字符串相关库函数及使用</a:t>
            </a:r>
            <a:r>
              <a:rPr lang="en-US" altLang="zh-CN" dirty="0"/>
              <a:t>&lt;</a:t>
            </a:r>
            <a:r>
              <a:rPr lang="en-US" altLang="zh-CN" dirty="0" err="1"/>
              <a:t>string.h</a:t>
            </a:r>
            <a:r>
              <a:rPr lang="en-US" altLang="zh-CN" dirty="0"/>
              <a:t>&gt;</a:t>
            </a:r>
            <a:endParaRPr lang="zh-CN" altLang="en-US" dirty="0"/>
          </a:p>
        </p:txBody>
      </p:sp>
    </p:spTree>
    <p:extLst>
      <p:ext uri="{BB962C8B-B14F-4D97-AF65-F5344CB8AC3E}">
        <p14:creationId xmlns:p14="http://schemas.microsoft.com/office/powerpoint/2010/main" val="3174157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521207" y="448056"/>
            <a:ext cx="10552533" cy="640080"/>
          </a:xfrm>
        </p:spPr>
        <p:txBody>
          <a:bodyPr rtlCol="0">
            <a:noAutofit/>
          </a:bodyPr>
          <a:lstStyle/>
          <a:p>
            <a:pPr rtl="0"/>
            <a:r>
              <a:rPr lang="en-US" altLang="zh-CN" dirty="0">
                <a:cs typeface="Segoe UI Light" panose="020B0502040204020203" pitchFamily="34" charset="0"/>
              </a:rPr>
              <a:t>Chapter 7  </a:t>
            </a:r>
            <a:r>
              <a:rPr lang="zh-CN" altLang="en-US" dirty="0">
                <a:cs typeface="Segoe UI Light" panose="020B0502040204020203" pitchFamily="34" charset="0"/>
              </a:rPr>
              <a:t>字符串</a:t>
            </a:r>
          </a:p>
        </p:txBody>
      </p:sp>
      <p:sp>
        <p:nvSpPr>
          <p:cNvPr id="7" name="文本框 6">
            <a:extLst>
              <a:ext uri="{FF2B5EF4-FFF2-40B4-BE49-F238E27FC236}">
                <a16:creationId xmlns:a16="http://schemas.microsoft.com/office/drawing/2014/main" id="{89D75C00-B52E-42DC-AA70-D17C54BA38EF}"/>
              </a:ext>
            </a:extLst>
          </p:cNvPr>
          <p:cNvSpPr txBox="1"/>
          <p:nvPr/>
        </p:nvSpPr>
        <p:spPr>
          <a:xfrm>
            <a:off x="611578" y="1885991"/>
            <a:ext cx="10681856" cy="2308324"/>
          </a:xfrm>
          <a:prstGeom prst="rect">
            <a:avLst/>
          </a:prstGeom>
          <a:noFill/>
        </p:spPr>
        <p:txBody>
          <a:bodyPr wrap="square" rtlCol="0">
            <a:spAutoFit/>
          </a:bodyPr>
          <a:lstStyle/>
          <a:p>
            <a:r>
              <a:rPr lang="zh-CN" altLang="en-US" b="1" dirty="0">
                <a:latin typeface="Cascadia Code SemiLight" panose="020B0609020000020004" pitchFamily="49" charset="0"/>
                <a:cs typeface="Cascadia Code SemiLight" panose="020B0609020000020004" pitchFamily="49" charset="0"/>
              </a:rPr>
              <a:t>字符串复制函数</a:t>
            </a:r>
            <a:endParaRPr lang="en-US" altLang="zh-CN" b="1" dirty="0">
              <a:latin typeface="Cascadia Code SemiLight" panose="020B0609020000020004" pitchFamily="49" charset="0"/>
              <a:cs typeface="Cascadia Code SemiLight" panose="020B0609020000020004" pitchFamily="49" charset="0"/>
            </a:endParaRPr>
          </a:p>
          <a:p>
            <a:pPr algn="ctr"/>
            <a:r>
              <a:rPr lang="en-US" altLang="zh-CN" dirty="0">
                <a:latin typeface="Cascadia Code SemiLight" panose="020B0609020000020004" pitchFamily="49" charset="0"/>
                <a:cs typeface="Cascadia Code SemiLight" panose="020B0609020000020004" pitchFamily="49" charset="0"/>
              </a:rPr>
              <a:t>char *</a:t>
            </a:r>
            <a:r>
              <a:rPr lang="en-US" altLang="zh-CN" dirty="0" err="1">
                <a:latin typeface="Cascadia Code SemiLight" panose="020B0609020000020004" pitchFamily="49" charset="0"/>
                <a:cs typeface="Cascadia Code SemiLight" panose="020B0609020000020004" pitchFamily="49" charset="0"/>
              </a:rPr>
              <a:t>strcpy</a:t>
            </a:r>
            <a:r>
              <a:rPr lang="en-US" altLang="zh-CN" dirty="0">
                <a:latin typeface="Cascadia Code SemiLight" panose="020B0609020000020004" pitchFamily="49" charset="0"/>
                <a:cs typeface="Cascadia Code SemiLight" panose="020B0609020000020004" pitchFamily="49" charset="0"/>
              </a:rPr>
              <a:t>(char *</a:t>
            </a:r>
            <a:r>
              <a:rPr lang="en-US" altLang="zh-CN" dirty="0" err="1">
                <a:latin typeface="Cascadia Code SemiLight" panose="020B0609020000020004" pitchFamily="49" charset="0"/>
                <a:cs typeface="Cascadia Code SemiLight" panose="020B0609020000020004" pitchFamily="49" charset="0"/>
              </a:rPr>
              <a:t>dest</a:t>
            </a:r>
            <a:r>
              <a:rPr lang="en-US" altLang="zh-CN" dirty="0">
                <a:latin typeface="Cascadia Code SemiLight" panose="020B0609020000020004" pitchFamily="49" charset="0"/>
                <a:cs typeface="Cascadia Code SemiLight" panose="020B0609020000020004" pitchFamily="49" charset="0"/>
              </a:rPr>
              <a:t>, const char *</a:t>
            </a:r>
            <a:r>
              <a:rPr lang="en-US" altLang="zh-CN" dirty="0" err="1">
                <a:latin typeface="Cascadia Code SemiLight" panose="020B0609020000020004" pitchFamily="49" charset="0"/>
                <a:cs typeface="Cascadia Code SemiLight" panose="020B0609020000020004" pitchFamily="49" charset="0"/>
              </a:rPr>
              <a:t>src</a:t>
            </a:r>
            <a:r>
              <a:rPr lang="en-US" altLang="zh-CN" dirty="0">
                <a:latin typeface="Cascadia Code SemiLight" panose="020B0609020000020004" pitchFamily="49" charset="0"/>
                <a:cs typeface="Cascadia Code SemiLight" panose="020B0609020000020004" pitchFamily="49" charset="0"/>
              </a:rPr>
              <a:t>);</a:t>
            </a:r>
          </a:p>
          <a:p>
            <a:r>
              <a:rPr lang="zh-CN" altLang="en-US" dirty="0">
                <a:latin typeface="Cascadia Code SemiLight" panose="020B0609020000020004" pitchFamily="49" charset="0"/>
                <a:cs typeface="Cascadia Code SemiLight" panose="020B0609020000020004" pitchFamily="49" charset="0"/>
              </a:rPr>
              <a:t>将</a:t>
            </a:r>
            <a:r>
              <a:rPr lang="en-US" altLang="zh-CN" dirty="0" err="1">
                <a:latin typeface="Cascadia Code SemiLight" panose="020B0609020000020004" pitchFamily="49" charset="0"/>
                <a:cs typeface="Cascadia Code SemiLight" panose="020B0609020000020004" pitchFamily="49" charset="0"/>
              </a:rPr>
              <a:t>src</a:t>
            </a:r>
            <a:r>
              <a:rPr lang="zh-CN" altLang="en-US" dirty="0">
                <a:latin typeface="Cascadia Code SemiLight" panose="020B0609020000020004" pitchFamily="49" charset="0"/>
                <a:cs typeface="Cascadia Code SemiLight" panose="020B0609020000020004" pitchFamily="49" charset="0"/>
              </a:rPr>
              <a:t>字符串赋值给</a:t>
            </a:r>
            <a:r>
              <a:rPr lang="en-US" altLang="zh-CN" dirty="0" err="1">
                <a:latin typeface="Cascadia Code SemiLight" panose="020B0609020000020004" pitchFamily="49" charset="0"/>
                <a:cs typeface="Cascadia Code SemiLight" panose="020B0609020000020004" pitchFamily="49" charset="0"/>
              </a:rPr>
              <a:t>dest</a:t>
            </a:r>
            <a:r>
              <a:rPr lang="zh-CN" altLang="en-US" dirty="0">
                <a:latin typeface="Cascadia Code SemiLight" panose="020B0609020000020004" pitchFamily="49" charset="0"/>
                <a:cs typeface="Cascadia Code SemiLight" panose="020B0609020000020004" pitchFamily="49" charset="0"/>
              </a:rPr>
              <a:t>字符串</a:t>
            </a:r>
            <a:endParaRPr lang="en-US" altLang="zh-CN" dirty="0">
              <a:latin typeface="Cascadia Code SemiLight" panose="020B0609020000020004" pitchFamily="49" charset="0"/>
              <a:cs typeface="Cascadia Code SemiLight" panose="020B0609020000020004" pitchFamily="49" charset="0"/>
            </a:endParaRPr>
          </a:p>
          <a:p>
            <a:r>
              <a:rPr lang="zh-CN" altLang="en-US" dirty="0">
                <a:highlight>
                  <a:srgbClr val="FFFF00"/>
                </a:highlight>
                <a:latin typeface="Cascadia Code SemiLight" panose="020B0609020000020004" pitchFamily="49" charset="0"/>
                <a:cs typeface="Cascadia Code SemiLight" panose="020B0609020000020004" pitchFamily="49" charset="0"/>
              </a:rPr>
              <a:t>注意：</a:t>
            </a:r>
            <a:r>
              <a:rPr lang="en-US" altLang="zh-CN" dirty="0" err="1">
                <a:highlight>
                  <a:srgbClr val="FFFF00"/>
                </a:highlight>
                <a:latin typeface="Cascadia Code SemiLight" panose="020B0609020000020004" pitchFamily="49" charset="0"/>
                <a:cs typeface="Cascadia Code SemiLight" panose="020B0609020000020004" pitchFamily="49" charset="0"/>
              </a:rPr>
              <a:t>dest</a:t>
            </a:r>
            <a:r>
              <a:rPr lang="zh-CN" altLang="en-US" dirty="0">
                <a:highlight>
                  <a:srgbClr val="FFFF00"/>
                </a:highlight>
                <a:latin typeface="Cascadia Code SemiLight" panose="020B0609020000020004" pitchFamily="49" charset="0"/>
                <a:cs typeface="Cascadia Code SemiLight" panose="020B0609020000020004" pitchFamily="49" charset="0"/>
              </a:rPr>
              <a:t>的可用长度应当充足，否则会污染到别的内存区</a:t>
            </a:r>
            <a:endParaRPr lang="en-US" altLang="zh-CN" dirty="0">
              <a:highlight>
                <a:srgbClr val="FFFF00"/>
              </a:highlight>
              <a:latin typeface="Cascadia Code SemiLight" panose="020B0609020000020004" pitchFamily="49" charset="0"/>
              <a:cs typeface="Cascadia Code SemiLight" panose="020B0609020000020004" pitchFamily="49" charset="0"/>
            </a:endParaRPr>
          </a:p>
          <a:p>
            <a:endParaRPr lang="en-US" altLang="zh-CN" dirty="0">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使用示例：</a:t>
            </a:r>
            <a:endParaRPr lang="en-US" altLang="zh-CN" dirty="0">
              <a:latin typeface="Cascadia Code SemiLight" panose="020B0609020000020004" pitchFamily="49" charset="0"/>
              <a:cs typeface="Cascadia Code SemiLight" panose="020B0609020000020004" pitchFamily="49" charset="0"/>
            </a:endParaRPr>
          </a:p>
          <a:p>
            <a:r>
              <a:rPr lang="en-US" altLang="zh-CN" dirty="0">
                <a:latin typeface="Cascadia Code SemiLight" panose="020B0609020000020004" pitchFamily="49" charset="0"/>
                <a:cs typeface="Cascadia Code SemiLight" panose="020B0609020000020004" pitchFamily="49" charset="0"/>
              </a:rPr>
              <a:t>char str[2][10] = {“Hello”, “</a:t>
            </a:r>
            <a:r>
              <a:rPr lang="en-US" altLang="zh-CN" dirty="0" err="1">
                <a:latin typeface="Cascadia Code SemiLight" panose="020B0609020000020004" pitchFamily="49" charset="0"/>
                <a:cs typeface="Cascadia Code SemiLight" panose="020B0609020000020004" pitchFamily="49" charset="0"/>
              </a:rPr>
              <a:t>olleH</a:t>
            </a:r>
            <a:r>
              <a:rPr lang="en-US" altLang="zh-CN" dirty="0">
                <a:latin typeface="Cascadia Code SemiLight" panose="020B0609020000020004" pitchFamily="49" charset="0"/>
                <a:cs typeface="Cascadia Code SemiLight" panose="020B0609020000020004" pitchFamily="49" charset="0"/>
              </a:rPr>
              <a:t>”};</a:t>
            </a:r>
          </a:p>
          <a:p>
            <a:r>
              <a:rPr lang="en-US" altLang="zh-CN" dirty="0" err="1">
                <a:latin typeface="Cascadia Code SemiLight" panose="020B0609020000020004" pitchFamily="49" charset="0"/>
                <a:cs typeface="Cascadia Code SemiLight" panose="020B0609020000020004" pitchFamily="49" charset="0"/>
              </a:rPr>
              <a:t>strcpy</a:t>
            </a:r>
            <a:r>
              <a:rPr lang="en-US" altLang="zh-CN" dirty="0">
                <a:latin typeface="Cascadia Code SemiLight" panose="020B0609020000020004" pitchFamily="49" charset="0"/>
                <a:cs typeface="Cascadia Code SemiLight" panose="020B0609020000020004" pitchFamily="49" charset="0"/>
              </a:rPr>
              <a:t>(str[0], str[1]);</a:t>
            </a:r>
          </a:p>
        </p:txBody>
      </p:sp>
      <p:sp>
        <p:nvSpPr>
          <p:cNvPr id="5" name="文本框 4">
            <a:extLst>
              <a:ext uri="{FF2B5EF4-FFF2-40B4-BE49-F238E27FC236}">
                <a16:creationId xmlns:a16="http://schemas.microsoft.com/office/drawing/2014/main" id="{88ABA98C-CA39-40C1-B398-04CEFBDC2AD2}"/>
              </a:ext>
            </a:extLst>
          </p:cNvPr>
          <p:cNvSpPr txBox="1"/>
          <p:nvPr/>
        </p:nvSpPr>
        <p:spPr>
          <a:xfrm>
            <a:off x="611578" y="1413164"/>
            <a:ext cx="4372205" cy="369332"/>
          </a:xfrm>
          <a:prstGeom prst="rect">
            <a:avLst/>
          </a:prstGeom>
          <a:noFill/>
        </p:spPr>
        <p:txBody>
          <a:bodyPr wrap="square" rtlCol="0">
            <a:spAutoFit/>
          </a:bodyPr>
          <a:lstStyle/>
          <a:p>
            <a:r>
              <a:rPr lang="en-US" altLang="zh-CN" dirty="0"/>
              <a:t>7.3  </a:t>
            </a:r>
            <a:r>
              <a:rPr lang="zh-CN" altLang="en-US" dirty="0"/>
              <a:t>字符串相关库函数及使用</a:t>
            </a:r>
            <a:r>
              <a:rPr lang="en-US" altLang="zh-CN" dirty="0"/>
              <a:t>&lt;</a:t>
            </a:r>
            <a:r>
              <a:rPr lang="en-US" altLang="zh-CN" dirty="0" err="1"/>
              <a:t>string.h</a:t>
            </a:r>
            <a:r>
              <a:rPr lang="en-US" altLang="zh-CN" dirty="0"/>
              <a:t>&gt;</a:t>
            </a:r>
            <a:endParaRPr lang="zh-CN" altLang="en-US" dirty="0"/>
          </a:p>
        </p:txBody>
      </p:sp>
      <p:pic>
        <p:nvPicPr>
          <p:cNvPr id="3" name="图片 2">
            <a:extLst>
              <a:ext uri="{FF2B5EF4-FFF2-40B4-BE49-F238E27FC236}">
                <a16:creationId xmlns:a16="http://schemas.microsoft.com/office/drawing/2014/main" id="{C26D2E7E-2851-49EA-B6D3-3CAB6C8B24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04886" y="2443695"/>
            <a:ext cx="3440752" cy="3966249"/>
          </a:xfrm>
          <a:prstGeom prst="rect">
            <a:avLst/>
          </a:prstGeom>
        </p:spPr>
      </p:pic>
      <p:sp>
        <p:nvSpPr>
          <p:cNvPr id="4" name="文本框 3">
            <a:extLst>
              <a:ext uri="{FF2B5EF4-FFF2-40B4-BE49-F238E27FC236}">
                <a16:creationId xmlns:a16="http://schemas.microsoft.com/office/drawing/2014/main" id="{BB7FF44A-8C1E-4311-8018-CE81FFDE846A}"/>
              </a:ext>
            </a:extLst>
          </p:cNvPr>
          <p:cNvSpPr txBox="1"/>
          <p:nvPr/>
        </p:nvSpPr>
        <p:spPr>
          <a:xfrm>
            <a:off x="612586" y="5732903"/>
            <a:ext cx="5184887" cy="646331"/>
          </a:xfrm>
          <a:prstGeom prst="rect">
            <a:avLst/>
          </a:prstGeom>
          <a:noFill/>
        </p:spPr>
        <p:txBody>
          <a:bodyPr wrap="square" rtlCol="0">
            <a:spAutoFit/>
          </a:bodyPr>
          <a:lstStyle/>
          <a:p>
            <a:r>
              <a:rPr lang="zh-CN" altLang="en-US" dirty="0">
                <a:solidFill>
                  <a:srgbClr val="FF0000"/>
                </a:solidFill>
              </a:rPr>
              <a:t>包括以下所有函数，均可以使用已学内容还原出相应函数的功能</a:t>
            </a:r>
          </a:p>
        </p:txBody>
      </p:sp>
    </p:spTree>
    <p:extLst>
      <p:ext uri="{BB962C8B-B14F-4D97-AF65-F5344CB8AC3E}">
        <p14:creationId xmlns:p14="http://schemas.microsoft.com/office/powerpoint/2010/main" val="4988230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521207" y="448056"/>
            <a:ext cx="10552533" cy="640080"/>
          </a:xfrm>
        </p:spPr>
        <p:txBody>
          <a:bodyPr rtlCol="0">
            <a:noAutofit/>
          </a:bodyPr>
          <a:lstStyle/>
          <a:p>
            <a:pPr rtl="0"/>
            <a:r>
              <a:rPr lang="en-US" altLang="zh-CN" dirty="0">
                <a:cs typeface="Segoe UI Light" panose="020B0502040204020203" pitchFamily="34" charset="0"/>
              </a:rPr>
              <a:t>Chapter 7  </a:t>
            </a:r>
            <a:r>
              <a:rPr lang="zh-CN" altLang="en-US" dirty="0">
                <a:cs typeface="Segoe UI Light" panose="020B0502040204020203" pitchFamily="34" charset="0"/>
              </a:rPr>
              <a:t>字符串</a:t>
            </a:r>
          </a:p>
        </p:txBody>
      </p:sp>
      <p:sp>
        <p:nvSpPr>
          <p:cNvPr id="7" name="文本框 6">
            <a:extLst>
              <a:ext uri="{FF2B5EF4-FFF2-40B4-BE49-F238E27FC236}">
                <a16:creationId xmlns:a16="http://schemas.microsoft.com/office/drawing/2014/main" id="{89D75C00-B52E-42DC-AA70-D17C54BA38EF}"/>
              </a:ext>
            </a:extLst>
          </p:cNvPr>
          <p:cNvSpPr txBox="1"/>
          <p:nvPr/>
        </p:nvSpPr>
        <p:spPr>
          <a:xfrm>
            <a:off x="611578" y="1885991"/>
            <a:ext cx="10681856" cy="2862322"/>
          </a:xfrm>
          <a:prstGeom prst="rect">
            <a:avLst/>
          </a:prstGeom>
          <a:noFill/>
        </p:spPr>
        <p:txBody>
          <a:bodyPr wrap="square" rtlCol="0">
            <a:spAutoFit/>
          </a:bodyPr>
          <a:lstStyle/>
          <a:p>
            <a:r>
              <a:rPr lang="zh-CN" altLang="en-US" b="1" dirty="0">
                <a:latin typeface="Cascadia Code SemiLight" panose="020B0609020000020004" pitchFamily="49" charset="0"/>
                <a:cs typeface="Cascadia Code SemiLight" panose="020B0609020000020004" pitchFamily="49" charset="0"/>
              </a:rPr>
              <a:t>字符串连接函数</a:t>
            </a:r>
            <a:endParaRPr lang="en-US" altLang="zh-CN" b="1" dirty="0">
              <a:latin typeface="Cascadia Code SemiLight" panose="020B0609020000020004" pitchFamily="49" charset="0"/>
              <a:cs typeface="Cascadia Code SemiLight" panose="020B0609020000020004" pitchFamily="49" charset="0"/>
            </a:endParaRPr>
          </a:p>
          <a:p>
            <a:pPr algn="ctr"/>
            <a:r>
              <a:rPr lang="en-US" altLang="zh-CN" dirty="0">
                <a:latin typeface="Cascadia Code SemiLight" panose="020B0609020000020004" pitchFamily="49" charset="0"/>
                <a:cs typeface="Cascadia Code SemiLight" panose="020B0609020000020004" pitchFamily="49" charset="0"/>
              </a:rPr>
              <a:t>char *</a:t>
            </a:r>
            <a:r>
              <a:rPr lang="en-US" altLang="zh-CN" dirty="0" err="1">
                <a:latin typeface="Cascadia Code SemiLight" panose="020B0609020000020004" pitchFamily="49" charset="0"/>
                <a:cs typeface="Cascadia Code SemiLight" panose="020B0609020000020004" pitchFamily="49" charset="0"/>
              </a:rPr>
              <a:t>strcat</a:t>
            </a:r>
            <a:r>
              <a:rPr lang="en-US" altLang="zh-CN" dirty="0">
                <a:latin typeface="Cascadia Code SemiLight" panose="020B0609020000020004" pitchFamily="49" charset="0"/>
                <a:cs typeface="Cascadia Code SemiLight" panose="020B0609020000020004" pitchFamily="49" charset="0"/>
              </a:rPr>
              <a:t>(char *</a:t>
            </a:r>
            <a:r>
              <a:rPr lang="en-US" altLang="zh-CN" dirty="0" err="1">
                <a:latin typeface="Cascadia Code SemiLight" panose="020B0609020000020004" pitchFamily="49" charset="0"/>
                <a:cs typeface="Cascadia Code SemiLight" panose="020B0609020000020004" pitchFamily="49" charset="0"/>
              </a:rPr>
              <a:t>dest</a:t>
            </a:r>
            <a:r>
              <a:rPr lang="en-US" altLang="zh-CN" dirty="0">
                <a:latin typeface="Cascadia Code SemiLight" panose="020B0609020000020004" pitchFamily="49" charset="0"/>
                <a:cs typeface="Cascadia Code SemiLight" panose="020B0609020000020004" pitchFamily="49" charset="0"/>
              </a:rPr>
              <a:t>, const char *</a:t>
            </a:r>
            <a:r>
              <a:rPr lang="en-US" altLang="zh-CN" dirty="0" err="1">
                <a:latin typeface="Cascadia Code SemiLight" panose="020B0609020000020004" pitchFamily="49" charset="0"/>
                <a:cs typeface="Cascadia Code SemiLight" panose="020B0609020000020004" pitchFamily="49" charset="0"/>
              </a:rPr>
              <a:t>scr</a:t>
            </a:r>
            <a:r>
              <a:rPr lang="en-US" altLang="zh-CN" dirty="0">
                <a:latin typeface="Cascadia Code SemiLight" panose="020B0609020000020004" pitchFamily="49" charset="0"/>
                <a:cs typeface="Cascadia Code SemiLight" panose="020B0609020000020004" pitchFamily="49" charset="0"/>
              </a:rPr>
              <a:t>);</a:t>
            </a:r>
          </a:p>
          <a:p>
            <a:r>
              <a:rPr lang="zh-CN" altLang="en-US" dirty="0">
                <a:latin typeface="Cascadia Code SemiLight" panose="020B0609020000020004" pitchFamily="49" charset="0"/>
                <a:cs typeface="Cascadia Code SemiLight" panose="020B0609020000020004" pitchFamily="49" charset="0"/>
              </a:rPr>
              <a:t>将</a:t>
            </a:r>
            <a:r>
              <a:rPr lang="en-US" altLang="zh-CN" dirty="0" err="1">
                <a:latin typeface="Cascadia Code SemiLight" panose="020B0609020000020004" pitchFamily="49" charset="0"/>
                <a:cs typeface="Cascadia Code SemiLight" panose="020B0609020000020004" pitchFamily="49" charset="0"/>
              </a:rPr>
              <a:t>scr</a:t>
            </a:r>
            <a:r>
              <a:rPr lang="zh-CN" altLang="en-US" dirty="0">
                <a:latin typeface="Cascadia Code SemiLight" panose="020B0609020000020004" pitchFamily="49" charset="0"/>
                <a:cs typeface="Cascadia Code SemiLight" panose="020B0609020000020004" pitchFamily="49" charset="0"/>
              </a:rPr>
              <a:t>字符串连接到</a:t>
            </a:r>
            <a:r>
              <a:rPr lang="en-US" altLang="zh-CN" dirty="0" err="1">
                <a:latin typeface="Cascadia Code SemiLight" panose="020B0609020000020004" pitchFamily="49" charset="0"/>
                <a:cs typeface="Cascadia Code SemiLight" panose="020B0609020000020004" pitchFamily="49" charset="0"/>
              </a:rPr>
              <a:t>dest</a:t>
            </a:r>
            <a:r>
              <a:rPr lang="zh-CN" altLang="en-US" dirty="0">
                <a:latin typeface="Cascadia Code SemiLight" panose="020B0609020000020004" pitchFamily="49" charset="0"/>
                <a:cs typeface="Cascadia Code SemiLight" panose="020B0609020000020004" pitchFamily="49" charset="0"/>
              </a:rPr>
              <a:t>后面</a:t>
            </a:r>
            <a:endParaRPr lang="en-US" altLang="zh-CN" dirty="0">
              <a:latin typeface="Cascadia Code SemiLight" panose="020B0609020000020004" pitchFamily="49" charset="0"/>
              <a:cs typeface="Cascadia Code SemiLight" panose="020B0609020000020004" pitchFamily="49" charset="0"/>
            </a:endParaRPr>
          </a:p>
          <a:p>
            <a:r>
              <a:rPr lang="zh-CN" altLang="en-US" dirty="0">
                <a:highlight>
                  <a:srgbClr val="FFFF00"/>
                </a:highlight>
                <a:latin typeface="Cascadia Code SemiLight" panose="020B0609020000020004" pitchFamily="49" charset="0"/>
                <a:cs typeface="Cascadia Code SemiLight" panose="020B0609020000020004" pitchFamily="49" charset="0"/>
              </a:rPr>
              <a:t>注意：</a:t>
            </a:r>
            <a:r>
              <a:rPr lang="en-US" altLang="zh-CN" dirty="0" err="1">
                <a:highlight>
                  <a:srgbClr val="FFFF00"/>
                </a:highlight>
                <a:latin typeface="Cascadia Code SemiLight" panose="020B0609020000020004" pitchFamily="49" charset="0"/>
                <a:cs typeface="Cascadia Code SemiLight" panose="020B0609020000020004" pitchFamily="49" charset="0"/>
              </a:rPr>
              <a:t>dest</a:t>
            </a:r>
            <a:r>
              <a:rPr lang="zh-CN" altLang="en-US" dirty="0">
                <a:highlight>
                  <a:srgbClr val="FFFF00"/>
                </a:highlight>
                <a:latin typeface="Cascadia Code SemiLight" panose="020B0609020000020004" pitchFamily="49" charset="0"/>
                <a:cs typeface="Cascadia Code SemiLight" panose="020B0609020000020004" pitchFamily="49" charset="0"/>
              </a:rPr>
              <a:t>的可用长度应当充足，否则会污染到别的内存区。</a:t>
            </a:r>
            <a:r>
              <a:rPr lang="en-US" altLang="zh-CN" dirty="0" err="1">
                <a:highlight>
                  <a:srgbClr val="FFFF00"/>
                </a:highlight>
                <a:latin typeface="Cascadia Code SemiLight" panose="020B0609020000020004" pitchFamily="49" charset="0"/>
                <a:cs typeface="Cascadia Code SemiLight" panose="020B0609020000020004" pitchFamily="49" charset="0"/>
              </a:rPr>
              <a:t>dest</a:t>
            </a:r>
            <a:r>
              <a:rPr lang="zh-CN" altLang="en-US" dirty="0">
                <a:highlight>
                  <a:srgbClr val="FFFF00"/>
                </a:highlight>
                <a:latin typeface="Cascadia Code SemiLight" panose="020B0609020000020004" pitchFamily="49" charset="0"/>
                <a:cs typeface="Cascadia Code SemiLight" panose="020B0609020000020004" pitchFamily="49" charset="0"/>
              </a:rPr>
              <a:t>必须是字符数组变量，而</a:t>
            </a:r>
            <a:r>
              <a:rPr lang="en-US" altLang="zh-CN" dirty="0" err="1">
                <a:highlight>
                  <a:srgbClr val="FFFF00"/>
                </a:highlight>
                <a:latin typeface="Cascadia Code SemiLight" panose="020B0609020000020004" pitchFamily="49" charset="0"/>
                <a:cs typeface="Cascadia Code SemiLight" panose="020B0609020000020004" pitchFamily="49" charset="0"/>
              </a:rPr>
              <a:t>scr</a:t>
            </a:r>
            <a:r>
              <a:rPr lang="zh-CN" altLang="en-US" dirty="0">
                <a:highlight>
                  <a:srgbClr val="FFFF00"/>
                </a:highlight>
                <a:latin typeface="Cascadia Code SemiLight" panose="020B0609020000020004" pitchFamily="49" charset="0"/>
                <a:cs typeface="Cascadia Code SemiLight" panose="020B0609020000020004" pitchFamily="49" charset="0"/>
              </a:rPr>
              <a:t>可以是任意字符串</a:t>
            </a:r>
            <a:endParaRPr lang="en-US" altLang="zh-CN" dirty="0">
              <a:highlight>
                <a:srgbClr val="FFFF00"/>
              </a:highlight>
              <a:latin typeface="Cascadia Code SemiLight" panose="020B0609020000020004" pitchFamily="49" charset="0"/>
              <a:cs typeface="Cascadia Code SemiLight" panose="020B0609020000020004" pitchFamily="49" charset="0"/>
            </a:endParaRPr>
          </a:p>
          <a:p>
            <a:endParaRPr lang="en-US" altLang="zh-CN" dirty="0">
              <a:highlight>
                <a:srgbClr val="FFFF00"/>
              </a:highlight>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使用示例：</a:t>
            </a:r>
            <a:endParaRPr lang="en-US" altLang="zh-CN" dirty="0">
              <a:latin typeface="Cascadia Code SemiLight" panose="020B0609020000020004" pitchFamily="49" charset="0"/>
              <a:cs typeface="Cascadia Code SemiLight" panose="020B0609020000020004" pitchFamily="49" charset="0"/>
            </a:endParaRPr>
          </a:p>
          <a:p>
            <a:r>
              <a:rPr lang="en-US" altLang="zh-CN" dirty="0">
                <a:latin typeface="Cascadia Code SemiLight" panose="020B0609020000020004" pitchFamily="49" charset="0"/>
                <a:cs typeface="Cascadia Code SemiLight" panose="020B0609020000020004" pitchFamily="49" charset="0"/>
              </a:rPr>
              <a:t>char s1[80] = “good morning, ”;</a:t>
            </a:r>
          </a:p>
          <a:p>
            <a:r>
              <a:rPr lang="en-US" altLang="zh-CN" dirty="0">
                <a:latin typeface="Cascadia Code SemiLight" panose="020B0609020000020004" pitchFamily="49" charset="0"/>
                <a:cs typeface="Cascadia Code SemiLight" panose="020B0609020000020004" pitchFamily="49" charset="0"/>
              </a:rPr>
              <a:t>char s2[] = “everyone!”;</a:t>
            </a:r>
          </a:p>
          <a:p>
            <a:r>
              <a:rPr lang="en-US" altLang="zh-CN" dirty="0" err="1">
                <a:latin typeface="Cascadia Code SemiLight" panose="020B0609020000020004" pitchFamily="49" charset="0"/>
                <a:cs typeface="Cascadia Code SemiLight" panose="020B0609020000020004" pitchFamily="49" charset="0"/>
              </a:rPr>
              <a:t>strcat</a:t>
            </a:r>
            <a:r>
              <a:rPr lang="en-US" altLang="zh-CN" dirty="0">
                <a:latin typeface="Cascadia Code SemiLight" panose="020B0609020000020004" pitchFamily="49" charset="0"/>
                <a:cs typeface="Cascadia Code SemiLight" panose="020B0609020000020004" pitchFamily="49" charset="0"/>
              </a:rPr>
              <a:t>(s1, s2);</a:t>
            </a:r>
          </a:p>
        </p:txBody>
      </p:sp>
      <p:sp>
        <p:nvSpPr>
          <p:cNvPr id="5" name="文本框 4">
            <a:extLst>
              <a:ext uri="{FF2B5EF4-FFF2-40B4-BE49-F238E27FC236}">
                <a16:creationId xmlns:a16="http://schemas.microsoft.com/office/drawing/2014/main" id="{88ABA98C-CA39-40C1-B398-04CEFBDC2AD2}"/>
              </a:ext>
            </a:extLst>
          </p:cNvPr>
          <p:cNvSpPr txBox="1"/>
          <p:nvPr/>
        </p:nvSpPr>
        <p:spPr>
          <a:xfrm>
            <a:off x="611578" y="1413164"/>
            <a:ext cx="4372205" cy="369332"/>
          </a:xfrm>
          <a:prstGeom prst="rect">
            <a:avLst/>
          </a:prstGeom>
          <a:noFill/>
        </p:spPr>
        <p:txBody>
          <a:bodyPr wrap="square" rtlCol="0">
            <a:spAutoFit/>
          </a:bodyPr>
          <a:lstStyle/>
          <a:p>
            <a:r>
              <a:rPr lang="en-US" altLang="zh-CN" dirty="0"/>
              <a:t>7.3  </a:t>
            </a:r>
            <a:r>
              <a:rPr lang="zh-CN" altLang="en-US" dirty="0"/>
              <a:t>字符串相关库函数及使用</a:t>
            </a:r>
            <a:r>
              <a:rPr lang="en-US" altLang="zh-CN" dirty="0"/>
              <a:t>&lt;</a:t>
            </a:r>
            <a:r>
              <a:rPr lang="en-US" altLang="zh-CN" dirty="0" err="1"/>
              <a:t>string.h</a:t>
            </a:r>
            <a:r>
              <a:rPr lang="en-US" altLang="zh-CN" dirty="0"/>
              <a:t>&gt;</a:t>
            </a:r>
            <a:endParaRPr lang="zh-CN" altLang="en-US" dirty="0"/>
          </a:p>
        </p:txBody>
      </p:sp>
    </p:spTree>
    <p:extLst>
      <p:ext uri="{BB962C8B-B14F-4D97-AF65-F5344CB8AC3E}">
        <p14:creationId xmlns:p14="http://schemas.microsoft.com/office/powerpoint/2010/main" val="2972268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521207" y="448056"/>
            <a:ext cx="10552533" cy="640080"/>
          </a:xfrm>
        </p:spPr>
        <p:txBody>
          <a:bodyPr rtlCol="0">
            <a:noAutofit/>
          </a:bodyPr>
          <a:lstStyle/>
          <a:p>
            <a:pPr rtl="0"/>
            <a:r>
              <a:rPr lang="en-US" altLang="zh-CN" dirty="0">
                <a:cs typeface="Segoe UI Light" panose="020B0502040204020203" pitchFamily="34" charset="0"/>
              </a:rPr>
              <a:t>Chapter 7  </a:t>
            </a:r>
            <a:r>
              <a:rPr lang="zh-CN" altLang="en-US" dirty="0">
                <a:cs typeface="Segoe UI Light" panose="020B0502040204020203" pitchFamily="34" charset="0"/>
              </a:rPr>
              <a:t>字符串</a:t>
            </a:r>
          </a:p>
        </p:txBody>
      </p:sp>
      <p:sp>
        <p:nvSpPr>
          <p:cNvPr id="7" name="文本框 6">
            <a:extLst>
              <a:ext uri="{FF2B5EF4-FFF2-40B4-BE49-F238E27FC236}">
                <a16:creationId xmlns:a16="http://schemas.microsoft.com/office/drawing/2014/main" id="{89D75C00-B52E-42DC-AA70-D17C54BA38EF}"/>
              </a:ext>
            </a:extLst>
          </p:cNvPr>
          <p:cNvSpPr txBox="1"/>
          <p:nvPr/>
        </p:nvSpPr>
        <p:spPr>
          <a:xfrm>
            <a:off x="611578" y="1885991"/>
            <a:ext cx="10681856" cy="923330"/>
          </a:xfrm>
          <a:prstGeom prst="rect">
            <a:avLst/>
          </a:prstGeom>
          <a:noFill/>
        </p:spPr>
        <p:txBody>
          <a:bodyPr wrap="square" rtlCol="0">
            <a:spAutoFit/>
          </a:bodyPr>
          <a:lstStyle/>
          <a:p>
            <a:r>
              <a:rPr lang="zh-CN" altLang="en-US" b="1" dirty="0">
                <a:latin typeface="Cascadia Code SemiLight" panose="020B0609020000020004" pitchFamily="49" charset="0"/>
                <a:cs typeface="Cascadia Code SemiLight" panose="020B0609020000020004" pitchFamily="49" charset="0"/>
              </a:rPr>
              <a:t>字符串比较函数</a:t>
            </a:r>
            <a:endParaRPr lang="en-US" altLang="zh-CN" b="1" dirty="0">
              <a:latin typeface="Cascadia Code SemiLight" panose="020B0609020000020004" pitchFamily="49" charset="0"/>
              <a:cs typeface="Cascadia Code SemiLight" panose="020B0609020000020004" pitchFamily="49" charset="0"/>
            </a:endParaRPr>
          </a:p>
          <a:p>
            <a:pPr algn="ctr"/>
            <a:r>
              <a:rPr lang="en-US" altLang="zh-CN" dirty="0">
                <a:latin typeface="Cascadia Code SemiLight" panose="020B0609020000020004" pitchFamily="49" charset="0"/>
                <a:cs typeface="Cascadia Code SemiLight" panose="020B0609020000020004" pitchFamily="49" charset="0"/>
              </a:rPr>
              <a:t>int </a:t>
            </a:r>
            <a:r>
              <a:rPr lang="en-US" altLang="zh-CN" dirty="0" err="1">
                <a:latin typeface="Cascadia Code SemiLight" panose="020B0609020000020004" pitchFamily="49" charset="0"/>
                <a:cs typeface="Cascadia Code SemiLight" panose="020B0609020000020004" pitchFamily="49" charset="0"/>
              </a:rPr>
              <a:t>strcmp</a:t>
            </a:r>
            <a:r>
              <a:rPr lang="en-US" altLang="zh-CN" dirty="0">
                <a:latin typeface="Cascadia Code SemiLight" panose="020B0609020000020004" pitchFamily="49" charset="0"/>
                <a:cs typeface="Cascadia Code SemiLight" panose="020B0609020000020004" pitchFamily="49" charset="0"/>
              </a:rPr>
              <a:t>(const char *s1, const char *s2);</a:t>
            </a:r>
          </a:p>
          <a:p>
            <a:endParaRPr lang="en-US" altLang="zh-CN" dirty="0">
              <a:latin typeface="Cascadia Code SemiLight" panose="020B0609020000020004" pitchFamily="49" charset="0"/>
              <a:cs typeface="Cascadia Code SemiLight" panose="020B0609020000020004" pitchFamily="49" charset="0"/>
            </a:endParaRPr>
          </a:p>
        </p:txBody>
      </p:sp>
      <p:sp>
        <p:nvSpPr>
          <p:cNvPr id="5" name="文本框 4">
            <a:extLst>
              <a:ext uri="{FF2B5EF4-FFF2-40B4-BE49-F238E27FC236}">
                <a16:creationId xmlns:a16="http://schemas.microsoft.com/office/drawing/2014/main" id="{88ABA98C-CA39-40C1-B398-04CEFBDC2AD2}"/>
              </a:ext>
            </a:extLst>
          </p:cNvPr>
          <p:cNvSpPr txBox="1"/>
          <p:nvPr/>
        </p:nvSpPr>
        <p:spPr>
          <a:xfrm>
            <a:off x="611578" y="1413164"/>
            <a:ext cx="4372205" cy="369332"/>
          </a:xfrm>
          <a:prstGeom prst="rect">
            <a:avLst/>
          </a:prstGeom>
          <a:noFill/>
        </p:spPr>
        <p:txBody>
          <a:bodyPr wrap="square" rtlCol="0">
            <a:spAutoFit/>
          </a:bodyPr>
          <a:lstStyle/>
          <a:p>
            <a:r>
              <a:rPr lang="en-US" altLang="zh-CN" dirty="0"/>
              <a:t>7.3  </a:t>
            </a:r>
            <a:r>
              <a:rPr lang="zh-CN" altLang="en-US" dirty="0"/>
              <a:t>字符串相关库函数及使用</a:t>
            </a:r>
            <a:r>
              <a:rPr lang="en-US" altLang="zh-CN" dirty="0"/>
              <a:t>&lt;</a:t>
            </a:r>
            <a:r>
              <a:rPr lang="en-US" altLang="zh-CN" dirty="0" err="1"/>
              <a:t>string.h</a:t>
            </a:r>
            <a:r>
              <a:rPr lang="en-US" altLang="zh-CN" dirty="0"/>
              <a:t>&gt;</a:t>
            </a:r>
            <a:endParaRPr lang="zh-CN" altLang="en-US" dirty="0"/>
          </a:p>
        </p:txBody>
      </p:sp>
      <p:pic>
        <p:nvPicPr>
          <p:cNvPr id="3" name="图片 2">
            <a:extLst>
              <a:ext uri="{FF2B5EF4-FFF2-40B4-BE49-F238E27FC236}">
                <a16:creationId xmlns:a16="http://schemas.microsoft.com/office/drawing/2014/main" id="{5ABFCFF7-608C-4315-BF76-A28C6AF2EB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49668" y="2664137"/>
            <a:ext cx="7805675" cy="1886077"/>
          </a:xfrm>
          <a:prstGeom prst="rect">
            <a:avLst/>
          </a:prstGeom>
        </p:spPr>
      </p:pic>
    </p:spTree>
    <p:extLst>
      <p:ext uri="{BB962C8B-B14F-4D97-AF65-F5344CB8AC3E}">
        <p14:creationId xmlns:p14="http://schemas.microsoft.com/office/powerpoint/2010/main" val="20549804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521207" y="448056"/>
            <a:ext cx="10552533" cy="640080"/>
          </a:xfrm>
        </p:spPr>
        <p:txBody>
          <a:bodyPr rtlCol="0">
            <a:noAutofit/>
          </a:bodyPr>
          <a:lstStyle/>
          <a:p>
            <a:pPr rtl="0"/>
            <a:r>
              <a:rPr lang="en-US" altLang="zh-CN" dirty="0">
                <a:cs typeface="Segoe UI Light" panose="020B0502040204020203" pitchFamily="34" charset="0"/>
              </a:rPr>
              <a:t>Chapter 7  </a:t>
            </a:r>
            <a:r>
              <a:rPr lang="zh-CN" altLang="en-US" dirty="0">
                <a:cs typeface="Segoe UI Light" panose="020B0502040204020203" pitchFamily="34" charset="0"/>
              </a:rPr>
              <a:t>字符串</a:t>
            </a:r>
          </a:p>
        </p:txBody>
      </p:sp>
      <p:sp>
        <p:nvSpPr>
          <p:cNvPr id="7" name="文本框 6">
            <a:extLst>
              <a:ext uri="{FF2B5EF4-FFF2-40B4-BE49-F238E27FC236}">
                <a16:creationId xmlns:a16="http://schemas.microsoft.com/office/drawing/2014/main" id="{89D75C00-B52E-42DC-AA70-D17C54BA38EF}"/>
              </a:ext>
            </a:extLst>
          </p:cNvPr>
          <p:cNvSpPr txBox="1"/>
          <p:nvPr/>
        </p:nvSpPr>
        <p:spPr>
          <a:xfrm>
            <a:off x="611578" y="1885991"/>
            <a:ext cx="10681856" cy="2308324"/>
          </a:xfrm>
          <a:prstGeom prst="rect">
            <a:avLst/>
          </a:prstGeom>
          <a:noFill/>
        </p:spPr>
        <p:txBody>
          <a:bodyPr wrap="square" rtlCol="0">
            <a:spAutoFit/>
          </a:bodyPr>
          <a:lstStyle/>
          <a:p>
            <a:r>
              <a:rPr lang="zh-CN" altLang="en-US" b="1" dirty="0">
                <a:latin typeface="Cascadia Code SemiLight" panose="020B0609020000020004" pitchFamily="49" charset="0"/>
                <a:cs typeface="Cascadia Code SemiLight" panose="020B0609020000020004" pitchFamily="49" charset="0"/>
              </a:rPr>
              <a:t>字符串长度函数</a:t>
            </a:r>
            <a:endParaRPr lang="en-US" altLang="zh-CN" b="1" dirty="0">
              <a:latin typeface="Cascadia Code SemiLight" panose="020B0609020000020004" pitchFamily="49" charset="0"/>
              <a:cs typeface="Cascadia Code SemiLight" panose="020B0609020000020004" pitchFamily="49" charset="0"/>
            </a:endParaRPr>
          </a:p>
          <a:p>
            <a:pPr algn="ctr"/>
            <a:r>
              <a:rPr lang="en-US" altLang="zh-CN" dirty="0">
                <a:latin typeface="Cascadia Code SemiLight" panose="020B0609020000020004" pitchFamily="49" charset="0"/>
                <a:cs typeface="Cascadia Code SemiLight" panose="020B0609020000020004" pitchFamily="49" charset="0"/>
              </a:rPr>
              <a:t>int </a:t>
            </a:r>
            <a:r>
              <a:rPr lang="en-US" altLang="zh-CN" dirty="0" err="1">
                <a:latin typeface="Cascadia Code SemiLight" panose="020B0609020000020004" pitchFamily="49" charset="0"/>
                <a:cs typeface="Cascadia Code SemiLight" panose="020B0609020000020004" pitchFamily="49" charset="0"/>
              </a:rPr>
              <a:t>strlen</a:t>
            </a:r>
            <a:r>
              <a:rPr lang="en-US" altLang="zh-CN" dirty="0">
                <a:latin typeface="Cascadia Code SemiLight" panose="020B0609020000020004" pitchFamily="49" charset="0"/>
                <a:cs typeface="Cascadia Code SemiLight" panose="020B0609020000020004" pitchFamily="49" charset="0"/>
              </a:rPr>
              <a:t>(const char *str);</a:t>
            </a:r>
          </a:p>
          <a:p>
            <a:r>
              <a:rPr lang="zh-CN" altLang="en-US" dirty="0">
                <a:latin typeface="Cascadia Code SemiLight" panose="020B0609020000020004" pitchFamily="49" charset="0"/>
                <a:cs typeface="Cascadia Code SemiLight" panose="020B0609020000020004" pitchFamily="49" charset="0"/>
              </a:rPr>
              <a:t>给一个字符串，直接输出其长度。</a:t>
            </a:r>
            <a:endParaRPr lang="en-US" altLang="zh-CN" dirty="0">
              <a:latin typeface="Cascadia Code SemiLight" panose="020B0609020000020004" pitchFamily="49" charset="0"/>
              <a:cs typeface="Cascadia Code SemiLight" panose="020B0609020000020004" pitchFamily="49" charset="0"/>
            </a:endParaRPr>
          </a:p>
          <a:p>
            <a:endParaRPr lang="en-US" altLang="zh-CN" dirty="0">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注意：从给到字符串开始往后看，遇到第一个字符</a:t>
            </a:r>
            <a:r>
              <a:rPr lang="en-US" altLang="zh-CN" dirty="0">
                <a:latin typeface="Cascadia Code SemiLight" panose="020B0609020000020004" pitchFamily="49" charset="0"/>
                <a:cs typeface="Cascadia Code SemiLight" panose="020B0609020000020004" pitchFamily="49" charset="0"/>
              </a:rPr>
              <a:t>’\0’</a:t>
            </a:r>
            <a:r>
              <a:rPr lang="zh-CN" altLang="en-US" dirty="0">
                <a:latin typeface="Cascadia Code SemiLight" panose="020B0609020000020004" pitchFamily="49" charset="0"/>
                <a:cs typeface="Cascadia Code SemiLight" panose="020B0609020000020004" pitchFamily="49" charset="0"/>
              </a:rPr>
              <a:t>停止，如</a:t>
            </a:r>
            <a:endParaRPr lang="en-US" altLang="zh-CN" dirty="0">
              <a:latin typeface="Cascadia Code SemiLight" panose="020B0609020000020004" pitchFamily="49" charset="0"/>
              <a:cs typeface="Cascadia Code SemiLight" panose="020B0609020000020004" pitchFamily="49" charset="0"/>
            </a:endParaRPr>
          </a:p>
          <a:p>
            <a:pPr algn="ctr"/>
            <a:r>
              <a:rPr lang="en-US" altLang="zh-CN" dirty="0">
                <a:latin typeface="Cascadia Code SemiLight" panose="020B0609020000020004" pitchFamily="49" charset="0"/>
                <a:cs typeface="Cascadia Code SemiLight" panose="020B0609020000020004" pitchFamily="49" charset="0"/>
              </a:rPr>
              <a:t>char str[10] = “</a:t>
            </a:r>
            <a:r>
              <a:rPr lang="en-US" altLang="zh-CN" dirty="0" err="1">
                <a:latin typeface="Cascadia Code SemiLight" panose="020B0609020000020004" pitchFamily="49" charset="0"/>
                <a:cs typeface="Cascadia Code SemiLight" panose="020B0609020000020004" pitchFamily="49" charset="0"/>
              </a:rPr>
              <a:t>hel</a:t>
            </a:r>
            <a:r>
              <a:rPr lang="en-US" altLang="zh-CN" dirty="0">
                <a:highlight>
                  <a:srgbClr val="FFFF00"/>
                </a:highlight>
                <a:latin typeface="Cascadia Code SemiLight" panose="020B0609020000020004" pitchFamily="49" charset="0"/>
                <a:cs typeface="Cascadia Code SemiLight" panose="020B0609020000020004" pitchFamily="49" charset="0"/>
              </a:rPr>
              <a:t>\0</a:t>
            </a:r>
            <a:r>
              <a:rPr lang="en-US" altLang="zh-CN" dirty="0">
                <a:latin typeface="Cascadia Code SemiLight" panose="020B0609020000020004" pitchFamily="49" charset="0"/>
                <a:cs typeface="Cascadia Code SemiLight" panose="020B0609020000020004" pitchFamily="49" charset="0"/>
              </a:rPr>
              <a:t>lo</a:t>
            </a:r>
            <a:r>
              <a:rPr lang="en-US" altLang="zh-CN" dirty="0">
                <a:highlight>
                  <a:srgbClr val="FFFF00"/>
                </a:highlight>
                <a:latin typeface="Cascadia Code SemiLight" panose="020B0609020000020004" pitchFamily="49" charset="0"/>
                <a:cs typeface="Cascadia Code SemiLight" panose="020B0609020000020004" pitchFamily="49" charset="0"/>
              </a:rPr>
              <a:t>\0</a:t>
            </a:r>
            <a:r>
              <a:rPr lang="en-US" altLang="zh-CN" dirty="0">
                <a:latin typeface="Cascadia Code SemiLight" panose="020B0609020000020004" pitchFamily="49" charset="0"/>
                <a:cs typeface="Cascadia Code SemiLight" panose="020B0609020000020004" pitchFamily="49" charset="0"/>
              </a:rPr>
              <a:t>”</a:t>
            </a:r>
          </a:p>
          <a:p>
            <a:r>
              <a:rPr lang="zh-CN" altLang="en-US" dirty="0">
                <a:latin typeface="Cascadia Code SemiLight" panose="020B0609020000020004" pitchFamily="49" charset="0"/>
                <a:cs typeface="Cascadia Code SemiLight" panose="020B0609020000020004" pitchFamily="49" charset="0"/>
              </a:rPr>
              <a:t>则</a:t>
            </a:r>
            <a:r>
              <a:rPr lang="en-US" altLang="zh-CN" dirty="0" err="1">
                <a:latin typeface="Cascadia Code SemiLight" panose="020B0609020000020004" pitchFamily="49" charset="0"/>
                <a:cs typeface="Cascadia Code SemiLight" panose="020B0609020000020004" pitchFamily="49" charset="0"/>
              </a:rPr>
              <a:t>strlen</a:t>
            </a:r>
            <a:r>
              <a:rPr lang="en-US" altLang="zh-CN" dirty="0">
                <a:latin typeface="Cascadia Code SemiLight" panose="020B0609020000020004" pitchFamily="49" charset="0"/>
                <a:cs typeface="Cascadia Code SemiLight" panose="020B0609020000020004" pitchFamily="49" charset="0"/>
              </a:rPr>
              <a:t>(str)</a:t>
            </a:r>
            <a:r>
              <a:rPr lang="zh-CN" altLang="en-US" dirty="0">
                <a:latin typeface="Cascadia Code SemiLight" panose="020B0609020000020004" pitchFamily="49" charset="0"/>
                <a:cs typeface="Cascadia Code SemiLight" panose="020B0609020000020004" pitchFamily="49" charset="0"/>
              </a:rPr>
              <a:t>返回值应该为</a:t>
            </a:r>
            <a:r>
              <a:rPr lang="en-US" altLang="zh-CN" dirty="0">
                <a:latin typeface="Cascadia Code SemiLight" panose="020B0609020000020004" pitchFamily="49" charset="0"/>
                <a:cs typeface="Cascadia Code SemiLight" panose="020B0609020000020004" pitchFamily="49" charset="0"/>
              </a:rPr>
              <a:t>3</a:t>
            </a:r>
            <a:r>
              <a:rPr lang="zh-CN" altLang="en-US" dirty="0">
                <a:latin typeface="Cascadia Code SemiLight" panose="020B0609020000020004" pitchFamily="49" charset="0"/>
                <a:cs typeface="Cascadia Code SemiLight" panose="020B0609020000020004" pitchFamily="49" charset="0"/>
              </a:rPr>
              <a:t>（不包括</a:t>
            </a:r>
            <a:r>
              <a:rPr lang="en-US" altLang="zh-CN" dirty="0">
                <a:latin typeface="Cascadia Code SemiLight" panose="020B0609020000020004" pitchFamily="49" charset="0"/>
                <a:cs typeface="Cascadia Code SemiLight" panose="020B0609020000020004" pitchFamily="49" charset="0"/>
              </a:rPr>
              <a:t>’\0’</a:t>
            </a:r>
            <a:r>
              <a:rPr lang="zh-CN" altLang="en-US" dirty="0">
                <a:latin typeface="Cascadia Code SemiLight" panose="020B0609020000020004" pitchFamily="49" charset="0"/>
                <a:cs typeface="Cascadia Code SemiLight" panose="020B0609020000020004" pitchFamily="49" charset="0"/>
              </a:rPr>
              <a:t>）</a:t>
            </a:r>
            <a:endParaRPr lang="en-US" altLang="zh-CN" dirty="0">
              <a:latin typeface="Cascadia Code SemiLight" panose="020B0609020000020004" pitchFamily="49" charset="0"/>
              <a:cs typeface="Cascadia Code SemiLight" panose="020B0609020000020004" pitchFamily="49" charset="0"/>
            </a:endParaRPr>
          </a:p>
          <a:p>
            <a:endParaRPr lang="en-US" altLang="zh-CN" dirty="0">
              <a:latin typeface="Cascadia Code SemiLight" panose="020B0609020000020004" pitchFamily="49" charset="0"/>
              <a:cs typeface="Cascadia Code SemiLight" panose="020B0609020000020004" pitchFamily="49" charset="0"/>
            </a:endParaRPr>
          </a:p>
        </p:txBody>
      </p:sp>
      <p:sp>
        <p:nvSpPr>
          <p:cNvPr id="5" name="文本框 4">
            <a:extLst>
              <a:ext uri="{FF2B5EF4-FFF2-40B4-BE49-F238E27FC236}">
                <a16:creationId xmlns:a16="http://schemas.microsoft.com/office/drawing/2014/main" id="{88ABA98C-CA39-40C1-B398-04CEFBDC2AD2}"/>
              </a:ext>
            </a:extLst>
          </p:cNvPr>
          <p:cNvSpPr txBox="1"/>
          <p:nvPr/>
        </p:nvSpPr>
        <p:spPr>
          <a:xfrm>
            <a:off x="611578" y="1413164"/>
            <a:ext cx="4372205" cy="369332"/>
          </a:xfrm>
          <a:prstGeom prst="rect">
            <a:avLst/>
          </a:prstGeom>
          <a:noFill/>
        </p:spPr>
        <p:txBody>
          <a:bodyPr wrap="square" rtlCol="0">
            <a:spAutoFit/>
          </a:bodyPr>
          <a:lstStyle/>
          <a:p>
            <a:r>
              <a:rPr lang="en-US" altLang="zh-CN" dirty="0"/>
              <a:t>7.3  </a:t>
            </a:r>
            <a:r>
              <a:rPr lang="zh-CN" altLang="en-US" dirty="0"/>
              <a:t>字符串相关库函数及使用</a:t>
            </a:r>
            <a:r>
              <a:rPr lang="en-US" altLang="zh-CN" dirty="0"/>
              <a:t>&lt;</a:t>
            </a:r>
            <a:r>
              <a:rPr lang="en-US" altLang="zh-CN" dirty="0" err="1"/>
              <a:t>string.h</a:t>
            </a:r>
            <a:r>
              <a:rPr lang="en-US" altLang="zh-CN" dirty="0"/>
              <a:t>&gt;</a:t>
            </a:r>
            <a:endParaRPr lang="zh-CN" altLang="en-US" dirty="0"/>
          </a:p>
        </p:txBody>
      </p:sp>
      <p:sp>
        <p:nvSpPr>
          <p:cNvPr id="9" name="文本框 8">
            <a:extLst>
              <a:ext uri="{FF2B5EF4-FFF2-40B4-BE49-F238E27FC236}">
                <a16:creationId xmlns:a16="http://schemas.microsoft.com/office/drawing/2014/main" id="{327F64B7-0827-4C03-92DE-FB47CB7023BA}"/>
              </a:ext>
            </a:extLst>
          </p:cNvPr>
          <p:cNvSpPr txBox="1"/>
          <p:nvPr/>
        </p:nvSpPr>
        <p:spPr>
          <a:xfrm>
            <a:off x="611577" y="5005194"/>
            <a:ext cx="10681856" cy="1200329"/>
          </a:xfrm>
          <a:prstGeom prst="rect">
            <a:avLst/>
          </a:prstGeom>
          <a:noFill/>
        </p:spPr>
        <p:txBody>
          <a:bodyPr wrap="square" rtlCol="0">
            <a:spAutoFit/>
          </a:bodyPr>
          <a:lstStyle/>
          <a:p>
            <a:r>
              <a:rPr lang="zh-CN" altLang="en-US" dirty="0">
                <a:latin typeface="Cascadia Code SemiLight" panose="020B0609020000020004" pitchFamily="49" charset="0"/>
                <a:cs typeface="Cascadia Code SemiLight" panose="020B0609020000020004" pitchFamily="49" charset="0"/>
              </a:rPr>
              <a:t>从历年考卷来看，其他函数如</a:t>
            </a:r>
            <a:r>
              <a:rPr lang="en-US" altLang="zh-CN" dirty="0" err="1">
                <a:latin typeface="Cascadia Code SemiLight" panose="020B0609020000020004" pitchFamily="49" charset="0"/>
                <a:cs typeface="Cascadia Code SemiLight" panose="020B0609020000020004" pitchFamily="49" charset="0"/>
              </a:rPr>
              <a:t>strstr</a:t>
            </a:r>
            <a:r>
              <a:rPr lang="zh-CN" altLang="en-US" dirty="0">
                <a:latin typeface="Cascadia Code SemiLight" panose="020B0609020000020004" pitchFamily="49" charset="0"/>
                <a:cs typeface="Cascadia Code SemiLight" panose="020B0609020000020004" pitchFamily="49" charset="0"/>
              </a:rPr>
              <a:t>、</a:t>
            </a:r>
            <a:r>
              <a:rPr lang="en-US" altLang="zh-CN" dirty="0" err="1">
                <a:latin typeface="Cascadia Code SemiLight" panose="020B0609020000020004" pitchFamily="49" charset="0"/>
                <a:cs typeface="Cascadia Code SemiLight" panose="020B0609020000020004" pitchFamily="49" charset="0"/>
              </a:rPr>
              <a:t>strupr</a:t>
            </a:r>
            <a:r>
              <a:rPr lang="zh-CN" altLang="en-US" dirty="0">
                <a:latin typeface="Cascadia Code SemiLight" panose="020B0609020000020004" pitchFamily="49" charset="0"/>
                <a:cs typeface="Cascadia Code SemiLight" panose="020B0609020000020004" pitchFamily="49" charset="0"/>
              </a:rPr>
              <a:t>、</a:t>
            </a:r>
            <a:r>
              <a:rPr lang="en-US" altLang="zh-CN" dirty="0" err="1">
                <a:latin typeface="Cascadia Code SemiLight" panose="020B0609020000020004" pitchFamily="49" charset="0"/>
                <a:cs typeface="Cascadia Code SemiLight" panose="020B0609020000020004" pitchFamily="49" charset="0"/>
              </a:rPr>
              <a:t>strlwr</a:t>
            </a:r>
            <a:r>
              <a:rPr lang="zh-CN" altLang="en-US" dirty="0">
                <a:latin typeface="Cascadia Code SemiLight" panose="020B0609020000020004" pitchFamily="49" charset="0"/>
                <a:cs typeface="Cascadia Code SemiLight" panose="020B0609020000020004" pitchFamily="49" charset="0"/>
              </a:rPr>
              <a:t>和带参数的</a:t>
            </a:r>
            <a:r>
              <a:rPr lang="en-US" altLang="zh-CN" dirty="0">
                <a:latin typeface="Cascadia Code SemiLight" panose="020B0609020000020004" pitchFamily="49" charset="0"/>
                <a:cs typeface="Cascadia Code SemiLight" panose="020B0609020000020004" pitchFamily="49" charset="0"/>
              </a:rPr>
              <a:t>main</a:t>
            </a:r>
            <a:r>
              <a:rPr lang="zh-CN" altLang="en-US" dirty="0">
                <a:latin typeface="Cascadia Code SemiLight" panose="020B0609020000020004" pitchFamily="49" charset="0"/>
                <a:cs typeface="Cascadia Code SemiLight" panose="020B0609020000020004" pitchFamily="49" charset="0"/>
              </a:rPr>
              <a:t>函数不做硬性考察要求，感兴趣自行了解，可能有助于编程题书写</a:t>
            </a:r>
            <a:endParaRPr lang="en-US" altLang="zh-CN" dirty="0">
              <a:latin typeface="Cascadia Code SemiLight" panose="020B0609020000020004" pitchFamily="49" charset="0"/>
              <a:cs typeface="Cascadia Code SemiLight" panose="020B0609020000020004" pitchFamily="49" charset="0"/>
            </a:endParaRPr>
          </a:p>
          <a:p>
            <a:endParaRPr lang="en-US" altLang="zh-CN" dirty="0">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以上提到函数有许多应用，可以看书了解，以防在考试时想不出简便解法</a:t>
            </a:r>
            <a:endParaRPr lang="en-US" altLang="zh-CN" dirty="0">
              <a:latin typeface="Cascadia Code SemiLight" panose="020B0609020000020004" pitchFamily="49" charset="0"/>
              <a:cs typeface="Cascadia Code SemiLight" panose="020B0609020000020004" pitchFamily="49" charset="0"/>
            </a:endParaRPr>
          </a:p>
        </p:txBody>
      </p:sp>
    </p:spTree>
    <p:extLst>
      <p:ext uri="{BB962C8B-B14F-4D97-AF65-F5344CB8AC3E}">
        <p14:creationId xmlns:p14="http://schemas.microsoft.com/office/powerpoint/2010/main" val="18528995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521207" y="448056"/>
            <a:ext cx="10552533" cy="640080"/>
          </a:xfrm>
        </p:spPr>
        <p:txBody>
          <a:bodyPr rtlCol="0">
            <a:noAutofit/>
          </a:bodyPr>
          <a:lstStyle/>
          <a:p>
            <a:pPr rtl="0"/>
            <a:r>
              <a:rPr lang="en-US" altLang="zh-CN" dirty="0">
                <a:cs typeface="Segoe UI Light" panose="020B0502040204020203" pitchFamily="34" charset="0"/>
              </a:rPr>
              <a:t>Chapter 8  </a:t>
            </a:r>
            <a:r>
              <a:rPr lang="zh-CN" altLang="en-US" dirty="0">
                <a:cs typeface="Segoe UI Light" panose="020B0502040204020203" pitchFamily="34" charset="0"/>
              </a:rPr>
              <a:t>结构和联合</a:t>
            </a:r>
          </a:p>
        </p:txBody>
      </p:sp>
      <p:sp>
        <p:nvSpPr>
          <p:cNvPr id="5" name="文本框 4">
            <a:extLst>
              <a:ext uri="{FF2B5EF4-FFF2-40B4-BE49-F238E27FC236}">
                <a16:creationId xmlns:a16="http://schemas.microsoft.com/office/drawing/2014/main" id="{88ABA98C-CA39-40C1-B398-04CEFBDC2AD2}"/>
              </a:ext>
            </a:extLst>
          </p:cNvPr>
          <p:cNvSpPr txBox="1"/>
          <p:nvPr/>
        </p:nvSpPr>
        <p:spPr>
          <a:xfrm>
            <a:off x="611578" y="1413164"/>
            <a:ext cx="4372205" cy="369332"/>
          </a:xfrm>
          <a:prstGeom prst="rect">
            <a:avLst/>
          </a:prstGeom>
          <a:noFill/>
        </p:spPr>
        <p:txBody>
          <a:bodyPr wrap="square" rtlCol="0">
            <a:spAutoFit/>
          </a:bodyPr>
          <a:lstStyle/>
          <a:p>
            <a:r>
              <a:rPr lang="en-US" altLang="zh-CN" dirty="0"/>
              <a:t>8.1  </a:t>
            </a:r>
            <a:r>
              <a:rPr lang="zh-CN" altLang="en-US" dirty="0"/>
              <a:t>结构</a:t>
            </a:r>
          </a:p>
        </p:txBody>
      </p:sp>
      <p:sp>
        <p:nvSpPr>
          <p:cNvPr id="10" name="文本框 9">
            <a:extLst>
              <a:ext uri="{FF2B5EF4-FFF2-40B4-BE49-F238E27FC236}">
                <a16:creationId xmlns:a16="http://schemas.microsoft.com/office/drawing/2014/main" id="{9AE6C642-EA61-4260-B2C6-07DBB5BB52E2}"/>
              </a:ext>
            </a:extLst>
          </p:cNvPr>
          <p:cNvSpPr txBox="1"/>
          <p:nvPr/>
        </p:nvSpPr>
        <p:spPr>
          <a:xfrm>
            <a:off x="611578" y="1885991"/>
            <a:ext cx="10681856" cy="4524315"/>
          </a:xfrm>
          <a:prstGeom prst="rect">
            <a:avLst/>
          </a:prstGeom>
          <a:noFill/>
        </p:spPr>
        <p:txBody>
          <a:bodyPr wrap="square" rtlCol="0">
            <a:spAutoFit/>
          </a:bodyPr>
          <a:lstStyle/>
          <a:p>
            <a:r>
              <a:rPr lang="zh-CN" altLang="en-US" dirty="0">
                <a:latin typeface="Cascadia Code SemiLight" panose="020B0609020000020004" pitchFamily="49" charset="0"/>
                <a:cs typeface="Cascadia Code SemiLight" panose="020B0609020000020004" pitchFamily="49" charset="0"/>
              </a:rPr>
              <a:t>结构体形式如下：</a:t>
            </a:r>
            <a:endParaRPr lang="en-US" altLang="zh-CN" dirty="0">
              <a:latin typeface="Cascadia Code SemiLight" panose="020B0609020000020004" pitchFamily="49" charset="0"/>
              <a:cs typeface="Cascadia Code SemiLight" panose="020B0609020000020004" pitchFamily="49" charset="0"/>
            </a:endParaRPr>
          </a:p>
          <a:p>
            <a:r>
              <a:rPr lang="en-US" altLang="zh-CN" dirty="0">
                <a:latin typeface="Cascadia Code SemiLight" panose="020B0609020000020004" pitchFamily="49" charset="0"/>
                <a:cs typeface="Cascadia Code SemiLight" panose="020B0609020000020004" pitchFamily="49" charset="0"/>
              </a:rPr>
              <a:t>struct </a:t>
            </a:r>
            <a:r>
              <a:rPr lang="zh-CN" altLang="en-US" dirty="0">
                <a:latin typeface="Cascadia Code SemiLight" panose="020B0609020000020004" pitchFamily="49" charset="0"/>
                <a:cs typeface="Cascadia Code SemiLight" panose="020B0609020000020004" pitchFamily="49" charset="0"/>
              </a:rPr>
              <a:t>结构名</a:t>
            </a:r>
            <a:endParaRPr lang="en-US" altLang="zh-CN" dirty="0">
              <a:latin typeface="Cascadia Code SemiLight" panose="020B0609020000020004" pitchFamily="49" charset="0"/>
              <a:cs typeface="Cascadia Code SemiLight" panose="020B0609020000020004" pitchFamily="49" charset="0"/>
            </a:endParaRPr>
          </a:p>
          <a:p>
            <a:r>
              <a:rPr lang="en-US" altLang="zh-CN" dirty="0">
                <a:latin typeface="Cascadia Code SemiLight" panose="020B0609020000020004" pitchFamily="49" charset="0"/>
                <a:cs typeface="Cascadia Code SemiLight" panose="020B0609020000020004" pitchFamily="49" charset="0"/>
              </a:rPr>
              <a:t>{</a:t>
            </a:r>
          </a:p>
          <a:p>
            <a:r>
              <a:rPr lang="en-US" altLang="zh-CN" dirty="0">
                <a:latin typeface="Cascadia Code SemiLight" panose="020B0609020000020004" pitchFamily="49" charset="0"/>
                <a:cs typeface="Cascadia Code SemiLight" panose="020B0609020000020004" pitchFamily="49" charset="0"/>
              </a:rPr>
              <a:t>	</a:t>
            </a:r>
            <a:r>
              <a:rPr lang="zh-CN" altLang="en-US" dirty="0">
                <a:latin typeface="Cascadia Code SemiLight" panose="020B0609020000020004" pitchFamily="49" charset="0"/>
                <a:cs typeface="Cascadia Code SemiLight" panose="020B0609020000020004" pitchFamily="49" charset="0"/>
              </a:rPr>
              <a:t>数据类型  成员名</a:t>
            </a:r>
            <a:r>
              <a:rPr lang="en-US" altLang="zh-CN" dirty="0">
                <a:latin typeface="Cascadia Code SemiLight" panose="020B0609020000020004" pitchFamily="49" charset="0"/>
                <a:cs typeface="Cascadia Code SemiLight" panose="020B0609020000020004" pitchFamily="49" charset="0"/>
              </a:rPr>
              <a:t>1; </a:t>
            </a:r>
            <a:r>
              <a:rPr lang="en-US" altLang="zh-CN" dirty="0">
                <a:solidFill>
                  <a:srgbClr val="FF0000"/>
                </a:solidFill>
                <a:latin typeface="Cascadia Code SemiLight" panose="020B0609020000020004" pitchFamily="49" charset="0"/>
                <a:cs typeface="Cascadia Code SemiLight" panose="020B0609020000020004" pitchFamily="49" charset="0"/>
              </a:rPr>
              <a:t>// </a:t>
            </a:r>
            <a:r>
              <a:rPr lang="zh-CN" altLang="en-US" dirty="0">
                <a:solidFill>
                  <a:srgbClr val="FF0000"/>
                </a:solidFill>
                <a:latin typeface="Cascadia Code SemiLight" panose="020B0609020000020004" pitchFamily="49" charset="0"/>
                <a:cs typeface="Cascadia Code SemiLight" panose="020B0609020000020004" pitchFamily="49" charset="0"/>
              </a:rPr>
              <a:t>此处不能赋初值</a:t>
            </a:r>
            <a:endParaRPr lang="en-US" altLang="zh-CN" dirty="0">
              <a:solidFill>
                <a:srgbClr val="FF0000"/>
              </a:solidFill>
              <a:latin typeface="Cascadia Code SemiLight" panose="020B0609020000020004" pitchFamily="49" charset="0"/>
              <a:cs typeface="Cascadia Code SemiLight" panose="020B0609020000020004" pitchFamily="49" charset="0"/>
            </a:endParaRPr>
          </a:p>
          <a:p>
            <a:r>
              <a:rPr lang="en-US" altLang="zh-CN" dirty="0">
                <a:latin typeface="Cascadia Code SemiLight" panose="020B0609020000020004" pitchFamily="49" charset="0"/>
                <a:cs typeface="Cascadia Code SemiLight" panose="020B0609020000020004" pitchFamily="49" charset="0"/>
              </a:rPr>
              <a:t>	</a:t>
            </a:r>
            <a:r>
              <a:rPr lang="zh-CN" altLang="en-US" dirty="0">
                <a:latin typeface="Cascadia Code SemiLight" panose="020B0609020000020004" pitchFamily="49" charset="0"/>
                <a:cs typeface="Cascadia Code SemiLight" panose="020B0609020000020004" pitchFamily="49" charset="0"/>
              </a:rPr>
              <a:t>数据类型  成员名</a:t>
            </a:r>
            <a:r>
              <a:rPr lang="en-US" altLang="zh-CN" dirty="0">
                <a:latin typeface="Cascadia Code SemiLight" panose="020B0609020000020004" pitchFamily="49" charset="0"/>
                <a:cs typeface="Cascadia Code SemiLight" panose="020B0609020000020004" pitchFamily="49" charset="0"/>
              </a:rPr>
              <a:t>2;</a:t>
            </a:r>
          </a:p>
          <a:p>
            <a:r>
              <a:rPr lang="en-US" altLang="zh-CN" dirty="0">
                <a:latin typeface="Cascadia Code SemiLight" panose="020B0609020000020004" pitchFamily="49" charset="0"/>
                <a:cs typeface="Cascadia Code SemiLight" panose="020B0609020000020004" pitchFamily="49" charset="0"/>
              </a:rPr>
              <a:t>	……</a:t>
            </a:r>
          </a:p>
          <a:p>
            <a:r>
              <a:rPr lang="en-US" altLang="zh-CN" dirty="0">
                <a:latin typeface="Cascadia Code SemiLight" panose="020B0609020000020004" pitchFamily="49" charset="0"/>
                <a:cs typeface="Cascadia Code SemiLight" panose="020B0609020000020004" pitchFamily="49" charset="0"/>
              </a:rPr>
              <a:t>	</a:t>
            </a:r>
            <a:r>
              <a:rPr lang="zh-CN" altLang="en-US" dirty="0">
                <a:latin typeface="Cascadia Code SemiLight" panose="020B0609020000020004" pitchFamily="49" charset="0"/>
                <a:cs typeface="Cascadia Code SemiLight" panose="020B0609020000020004" pitchFamily="49" charset="0"/>
              </a:rPr>
              <a:t>数据类型  成员名</a:t>
            </a:r>
            <a:r>
              <a:rPr lang="en-US" altLang="zh-CN" dirty="0">
                <a:latin typeface="Cascadia Code SemiLight" panose="020B0609020000020004" pitchFamily="49" charset="0"/>
                <a:cs typeface="Cascadia Code SemiLight" panose="020B0609020000020004" pitchFamily="49" charset="0"/>
              </a:rPr>
              <a:t>n;</a:t>
            </a:r>
          </a:p>
          <a:p>
            <a:r>
              <a:rPr lang="en-US" altLang="zh-CN" dirty="0">
                <a:latin typeface="Cascadia Code SemiLight" panose="020B0609020000020004" pitchFamily="49" charset="0"/>
                <a:cs typeface="Cascadia Code SemiLight" panose="020B0609020000020004" pitchFamily="49" charset="0"/>
              </a:rPr>
              <a:t>}</a:t>
            </a:r>
            <a:r>
              <a:rPr lang="en-US" altLang="zh-CN" dirty="0">
                <a:highlight>
                  <a:srgbClr val="FFFF00"/>
                </a:highlight>
                <a:latin typeface="Cascadia Code SemiLight" panose="020B0609020000020004" pitchFamily="49" charset="0"/>
                <a:cs typeface="Cascadia Code SemiLight" panose="020B0609020000020004" pitchFamily="49" charset="0"/>
              </a:rPr>
              <a:t>; </a:t>
            </a:r>
            <a:r>
              <a:rPr lang="en-US" altLang="zh-CN" dirty="0">
                <a:latin typeface="Cascadia Code SemiLight" panose="020B0609020000020004" pitchFamily="49" charset="0"/>
                <a:cs typeface="Cascadia Code SemiLight" panose="020B0609020000020004" pitchFamily="49" charset="0"/>
              </a:rPr>
              <a:t>// </a:t>
            </a:r>
            <a:r>
              <a:rPr lang="zh-CN" altLang="en-US" dirty="0">
                <a:latin typeface="Cascadia Code SemiLight" panose="020B0609020000020004" pitchFamily="49" charset="0"/>
                <a:cs typeface="Cascadia Code SemiLight" panose="020B0609020000020004" pitchFamily="49" charset="0"/>
              </a:rPr>
              <a:t>注意分号</a:t>
            </a:r>
            <a:endParaRPr lang="en-US" altLang="zh-CN" dirty="0">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如定义了结构体如下所示，右图是该结构体在内存中的模式</a:t>
            </a:r>
            <a:endParaRPr lang="en-US" altLang="zh-CN" dirty="0">
              <a:latin typeface="Cascadia Code SemiLight" panose="020B0609020000020004" pitchFamily="49" charset="0"/>
              <a:cs typeface="Cascadia Code SemiLight" panose="020B0609020000020004" pitchFamily="49" charset="0"/>
            </a:endParaRPr>
          </a:p>
          <a:p>
            <a:r>
              <a:rPr lang="en-US" altLang="zh-CN" dirty="0">
                <a:latin typeface="Cascadia Code SemiLight" panose="020B0609020000020004" pitchFamily="49" charset="0"/>
                <a:cs typeface="Cascadia Code SemiLight" panose="020B0609020000020004" pitchFamily="49" charset="0"/>
              </a:rPr>
              <a:t>struct Employee</a:t>
            </a:r>
          </a:p>
          <a:p>
            <a:r>
              <a:rPr lang="en-US" altLang="zh-CN" dirty="0">
                <a:latin typeface="Cascadia Code SemiLight" panose="020B0609020000020004" pitchFamily="49" charset="0"/>
                <a:cs typeface="Cascadia Code SemiLight" panose="020B0609020000020004" pitchFamily="49" charset="0"/>
              </a:rPr>
              <a:t>{</a:t>
            </a:r>
          </a:p>
          <a:p>
            <a:r>
              <a:rPr lang="en-US" altLang="zh-CN" dirty="0">
                <a:latin typeface="Cascadia Code SemiLight" panose="020B0609020000020004" pitchFamily="49" charset="0"/>
                <a:cs typeface="Cascadia Code SemiLight" panose="020B0609020000020004" pitchFamily="49" charset="0"/>
              </a:rPr>
              <a:t>	char name[20]; </a:t>
            </a:r>
            <a:r>
              <a:rPr lang="en-US" altLang="zh-CN" dirty="0">
                <a:solidFill>
                  <a:srgbClr val="FF0000"/>
                </a:solidFill>
                <a:latin typeface="Cascadia Code SemiLight" panose="020B0609020000020004" pitchFamily="49" charset="0"/>
                <a:cs typeface="Cascadia Code SemiLight" panose="020B0609020000020004" pitchFamily="49" charset="0"/>
              </a:rPr>
              <a:t>// </a:t>
            </a:r>
            <a:r>
              <a:rPr lang="zh-CN" altLang="en-US" dirty="0">
                <a:solidFill>
                  <a:srgbClr val="FF0000"/>
                </a:solidFill>
                <a:latin typeface="Cascadia Code SemiLight" panose="020B0609020000020004" pitchFamily="49" charset="0"/>
                <a:cs typeface="Cascadia Code SemiLight" panose="020B0609020000020004" pitchFamily="49" charset="0"/>
              </a:rPr>
              <a:t>不能在结构体内对成员初始化</a:t>
            </a:r>
            <a:endParaRPr lang="en-US" altLang="zh-CN" dirty="0">
              <a:solidFill>
                <a:srgbClr val="FF0000"/>
              </a:solidFill>
              <a:latin typeface="Cascadia Code SemiLight" panose="020B0609020000020004" pitchFamily="49" charset="0"/>
              <a:cs typeface="Cascadia Code SemiLight" panose="020B0609020000020004" pitchFamily="49" charset="0"/>
            </a:endParaRPr>
          </a:p>
          <a:p>
            <a:r>
              <a:rPr lang="en-US" altLang="zh-CN" dirty="0">
                <a:latin typeface="Cascadia Code SemiLight" panose="020B0609020000020004" pitchFamily="49" charset="0"/>
                <a:cs typeface="Cascadia Code SemiLight" panose="020B0609020000020004" pitchFamily="49" charset="0"/>
              </a:rPr>
              <a:t>	char sex;</a:t>
            </a:r>
          </a:p>
          <a:p>
            <a:r>
              <a:rPr lang="en-US" altLang="zh-CN" dirty="0">
                <a:latin typeface="Cascadia Code SemiLight" panose="020B0609020000020004" pitchFamily="49" charset="0"/>
                <a:cs typeface="Cascadia Code SemiLight" panose="020B0609020000020004" pitchFamily="49" charset="0"/>
              </a:rPr>
              <a:t>	int old;</a:t>
            </a:r>
          </a:p>
          <a:p>
            <a:r>
              <a:rPr lang="en-US" altLang="zh-CN" dirty="0">
                <a:latin typeface="Cascadia Code SemiLight" panose="020B0609020000020004" pitchFamily="49" charset="0"/>
                <a:cs typeface="Cascadia Code SemiLight" panose="020B0609020000020004" pitchFamily="49" charset="0"/>
              </a:rPr>
              <a:t>	int wage;</a:t>
            </a:r>
          </a:p>
          <a:p>
            <a:r>
              <a:rPr lang="en-US" altLang="zh-CN" dirty="0">
                <a:latin typeface="Cascadia Code SemiLight" panose="020B0609020000020004" pitchFamily="49" charset="0"/>
                <a:cs typeface="Cascadia Code SemiLight" panose="020B0609020000020004" pitchFamily="49" charset="0"/>
              </a:rPr>
              <a:t>};</a:t>
            </a:r>
          </a:p>
        </p:txBody>
      </p:sp>
      <p:pic>
        <p:nvPicPr>
          <p:cNvPr id="4" name="图片 3">
            <a:extLst>
              <a:ext uri="{FF2B5EF4-FFF2-40B4-BE49-F238E27FC236}">
                <a16:creationId xmlns:a16="http://schemas.microsoft.com/office/drawing/2014/main" id="{F8540D3A-5DBC-43BC-BF52-D3F8E4F88C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81319" y="2626593"/>
            <a:ext cx="4422753" cy="3887208"/>
          </a:xfrm>
          <a:prstGeom prst="rect">
            <a:avLst/>
          </a:prstGeom>
        </p:spPr>
      </p:pic>
    </p:spTree>
    <p:extLst>
      <p:ext uri="{BB962C8B-B14F-4D97-AF65-F5344CB8AC3E}">
        <p14:creationId xmlns:p14="http://schemas.microsoft.com/office/powerpoint/2010/main" val="28830343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521207" y="448056"/>
            <a:ext cx="10552533" cy="640080"/>
          </a:xfrm>
        </p:spPr>
        <p:txBody>
          <a:bodyPr rtlCol="0">
            <a:noAutofit/>
          </a:bodyPr>
          <a:lstStyle/>
          <a:p>
            <a:pPr rtl="0"/>
            <a:r>
              <a:rPr lang="en-US" altLang="zh-CN" dirty="0">
                <a:cs typeface="Segoe UI Light" panose="020B0502040204020203" pitchFamily="34" charset="0"/>
              </a:rPr>
              <a:t>Chapter 8  </a:t>
            </a:r>
            <a:r>
              <a:rPr lang="zh-CN" altLang="en-US" dirty="0">
                <a:cs typeface="Segoe UI Light" panose="020B0502040204020203" pitchFamily="34" charset="0"/>
              </a:rPr>
              <a:t>结构和联合</a:t>
            </a:r>
          </a:p>
        </p:txBody>
      </p:sp>
      <p:sp>
        <p:nvSpPr>
          <p:cNvPr id="5" name="文本框 4">
            <a:extLst>
              <a:ext uri="{FF2B5EF4-FFF2-40B4-BE49-F238E27FC236}">
                <a16:creationId xmlns:a16="http://schemas.microsoft.com/office/drawing/2014/main" id="{88ABA98C-CA39-40C1-B398-04CEFBDC2AD2}"/>
              </a:ext>
            </a:extLst>
          </p:cNvPr>
          <p:cNvSpPr txBox="1"/>
          <p:nvPr/>
        </p:nvSpPr>
        <p:spPr>
          <a:xfrm>
            <a:off x="611578" y="1413164"/>
            <a:ext cx="4372205" cy="369332"/>
          </a:xfrm>
          <a:prstGeom prst="rect">
            <a:avLst/>
          </a:prstGeom>
          <a:noFill/>
        </p:spPr>
        <p:txBody>
          <a:bodyPr wrap="square" rtlCol="0">
            <a:spAutoFit/>
          </a:bodyPr>
          <a:lstStyle/>
          <a:p>
            <a:r>
              <a:rPr lang="en-US" altLang="zh-CN" dirty="0"/>
              <a:t>8.1  </a:t>
            </a:r>
            <a:r>
              <a:rPr lang="zh-CN" altLang="en-US" dirty="0"/>
              <a:t>结构</a:t>
            </a:r>
          </a:p>
        </p:txBody>
      </p:sp>
      <p:sp>
        <p:nvSpPr>
          <p:cNvPr id="10" name="文本框 9">
            <a:extLst>
              <a:ext uri="{FF2B5EF4-FFF2-40B4-BE49-F238E27FC236}">
                <a16:creationId xmlns:a16="http://schemas.microsoft.com/office/drawing/2014/main" id="{9AE6C642-EA61-4260-B2C6-07DBB5BB52E2}"/>
              </a:ext>
            </a:extLst>
          </p:cNvPr>
          <p:cNvSpPr txBox="1"/>
          <p:nvPr/>
        </p:nvSpPr>
        <p:spPr>
          <a:xfrm>
            <a:off x="611578" y="1885991"/>
            <a:ext cx="10681856" cy="4247317"/>
          </a:xfrm>
          <a:prstGeom prst="rect">
            <a:avLst/>
          </a:prstGeom>
          <a:noFill/>
        </p:spPr>
        <p:txBody>
          <a:bodyPr wrap="square" rtlCol="0">
            <a:spAutoFit/>
          </a:bodyPr>
          <a:lstStyle/>
          <a:p>
            <a:r>
              <a:rPr lang="zh-CN" altLang="en-US" dirty="0">
                <a:latin typeface="Cascadia Code SemiLight" panose="020B0609020000020004" pitchFamily="49" charset="0"/>
                <a:cs typeface="Cascadia Code SemiLight" panose="020B0609020000020004" pitchFamily="49" charset="0"/>
              </a:rPr>
              <a:t>结构变量的定义为</a:t>
            </a:r>
            <a:endParaRPr lang="en-US" altLang="zh-CN" dirty="0">
              <a:latin typeface="Cascadia Code SemiLight" panose="020B0609020000020004" pitchFamily="49" charset="0"/>
              <a:cs typeface="Cascadia Code SemiLight" panose="020B0609020000020004" pitchFamily="49" charset="0"/>
            </a:endParaRPr>
          </a:p>
          <a:p>
            <a:pPr algn="ctr"/>
            <a:r>
              <a:rPr lang="en-US" altLang="zh-CN" dirty="0">
                <a:latin typeface="Cascadia Code SemiLight" panose="020B0609020000020004" pitchFamily="49" charset="0"/>
                <a:cs typeface="Cascadia Code SemiLight" panose="020B0609020000020004" pitchFamily="49" charset="0"/>
              </a:rPr>
              <a:t>&lt;</a:t>
            </a:r>
            <a:r>
              <a:rPr lang="zh-CN" altLang="en-US" dirty="0">
                <a:latin typeface="Cascadia Code SemiLight" panose="020B0609020000020004" pitchFamily="49" charset="0"/>
                <a:cs typeface="Cascadia Code SemiLight" panose="020B0609020000020004" pitchFamily="49" charset="0"/>
              </a:rPr>
              <a:t>存储类型</a:t>
            </a:r>
            <a:r>
              <a:rPr lang="en-US" altLang="zh-CN" dirty="0">
                <a:latin typeface="Cascadia Code SemiLight" panose="020B0609020000020004" pitchFamily="49" charset="0"/>
                <a:cs typeface="Cascadia Code SemiLight" panose="020B0609020000020004" pitchFamily="49" charset="0"/>
              </a:rPr>
              <a:t>&gt; struct </a:t>
            </a:r>
            <a:r>
              <a:rPr lang="zh-CN" altLang="en-US" dirty="0">
                <a:latin typeface="Cascadia Code SemiLight" panose="020B0609020000020004" pitchFamily="49" charset="0"/>
                <a:cs typeface="Cascadia Code SemiLight" panose="020B0609020000020004" pitchFamily="49" charset="0"/>
              </a:rPr>
              <a:t>结构名 结构变量名</a:t>
            </a:r>
            <a:r>
              <a:rPr lang="en-US" altLang="zh-CN" dirty="0">
                <a:latin typeface="Cascadia Code SemiLight" panose="020B0609020000020004" pitchFamily="49" charset="0"/>
                <a:cs typeface="Cascadia Code SemiLight" panose="020B0609020000020004" pitchFamily="49" charset="0"/>
              </a:rPr>
              <a:t>;</a:t>
            </a:r>
          </a:p>
          <a:p>
            <a:r>
              <a:rPr lang="zh-CN" altLang="en-US" dirty="0">
                <a:latin typeface="Cascadia Code SemiLight" panose="020B0609020000020004" pitchFamily="49" charset="0"/>
                <a:cs typeface="Cascadia Code SemiLight" panose="020B0609020000020004" pitchFamily="49" charset="0"/>
              </a:rPr>
              <a:t>如</a:t>
            </a:r>
            <a:endParaRPr lang="en-US" altLang="zh-CN" dirty="0">
              <a:latin typeface="Cascadia Code SemiLight" panose="020B0609020000020004" pitchFamily="49" charset="0"/>
              <a:cs typeface="Cascadia Code SemiLight" panose="020B0609020000020004" pitchFamily="49" charset="0"/>
            </a:endParaRPr>
          </a:p>
          <a:p>
            <a:pPr algn="ctr"/>
            <a:r>
              <a:rPr lang="en-US" altLang="zh-CN" dirty="0">
                <a:latin typeface="Cascadia Code SemiLight" panose="020B0609020000020004" pitchFamily="49" charset="0"/>
                <a:cs typeface="Cascadia Code SemiLight" panose="020B0609020000020004" pitchFamily="49" charset="0"/>
              </a:rPr>
              <a:t>struct Employee wang;</a:t>
            </a:r>
          </a:p>
          <a:p>
            <a:r>
              <a:rPr lang="zh-CN" altLang="en-US" dirty="0">
                <a:latin typeface="Cascadia Code SemiLight" panose="020B0609020000020004" pitchFamily="49" charset="0"/>
                <a:cs typeface="Cascadia Code SemiLight" panose="020B0609020000020004" pitchFamily="49" charset="0"/>
              </a:rPr>
              <a:t>同样，结构体也可以参与</a:t>
            </a:r>
            <a:r>
              <a:rPr lang="en-US" altLang="zh-CN" dirty="0" err="1">
                <a:latin typeface="Cascadia Code SemiLight" panose="020B0609020000020004" pitchFamily="49" charset="0"/>
                <a:cs typeface="Cascadia Code SemiLight" panose="020B0609020000020004" pitchFamily="49" charset="0"/>
              </a:rPr>
              <a:t>sizeof</a:t>
            </a:r>
            <a:r>
              <a:rPr lang="zh-CN" altLang="en-US" dirty="0">
                <a:latin typeface="Cascadia Code SemiLight" panose="020B0609020000020004" pitchFamily="49" charset="0"/>
                <a:cs typeface="Cascadia Code SemiLight" panose="020B0609020000020004" pitchFamily="49" charset="0"/>
              </a:rPr>
              <a:t>运算，结果为</a:t>
            </a:r>
            <a:r>
              <a:rPr lang="en-US" altLang="zh-CN" dirty="0">
                <a:latin typeface="Cascadia Code SemiLight" panose="020B0609020000020004" pitchFamily="49" charset="0"/>
                <a:cs typeface="Cascadia Code SemiLight" panose="020B0609020000020004" pitchFamily="49" charset="0"/>
              </a:rPr>
              <a:t>struct</a:t>
            </a:r>
            <a:r>
              <a:rPr lang="zh-CN" altLang="en-US" dirty="0">
                <a:latin typeface="Cascadia Code SemiLight" panose="020B0609020000020004" pitchFamily="49" charset="0"/>
                <a:cs typeface="Cascadia Code SemiLight" panose="020B0609020000020004" pitchFamily="49" charset="0"/>
              </a:rPr>
              <a:t>内包含的所有变量的</a:t>
            </a:r>
            <a:r>
              <a:rPr lang="en-US" altLang="zh-CN" dirty="0" err="1">
                <a:latin typeface="Cascadia Code SemiLight" panose="020B0609020000020004" pitchFamily="49" charset="0"/>
                <a:cs typeface="Cascadia Code SemiLight" panose="020B0609020000020004" pitchFamily="49" charset="0"/>
              </a:rPr>
              <a:t>sizeof</a:t>
            </a:r>
            <a:r>
              <a:rPr lang="zh-CN" altLang="en-US" dirty="0">
                <a:latin typeface="Cascadia Code SemiLight" panose="020B0609020000020004" pitchFamily="49" charset="0"/>
                <a:cs typeface="Cascadia Code SemiLight" panose="020B0609020000020004" pitchFamily="49" charset="0"/>
              </a:rPr>
              <a:t>总和</a:t>
            </a:r>
            <a:endParaRPr lang="en-US" altLang="zh-CN" dirty="0">
              <a:latin typeface="Cascadia Code SemiLight" panose="020B0609020000020004" pitchFamily="49" charset="0"/>
              <a:cs typeface="Cascadia Code SemiLight" panose="020B0609020000020004" pitchFamily="49" charset="0"/>
            </a:endParaRPr>
          </a:p>
          <a:p>
            <a:endParaRPr lang="en-US" altLang="zh-CN" dirty="0">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可以直接对结构体变量初始化，如（根据结构体定义中数据成员的顺序来初始化）</a:t>
            </a:r>
            <a:endParaRPr lang="en-US" altLang="zh-CN" dirty="0">
              <a:latin typeface="Cascadia Code SemiLight" panose="020B0609020000020004" pitchFamily="49" charset="0"/>
              <a:cs typeface="Cascadia Code SemiLight" panose="020B0609020000020004" pitchFamily="49" charset="0"/>
            </a:endParaRPr>
          </a:p>
          <a:p>
            <a:pPr algn="ctr"/>
            <a:r>
              <a:rPr lang="en-US" altLang="zh-CN" dirty="0">
                <a:latin typeface="Cascadia Code SemiLight" panose="020B0609020000020004" pitchFamily="49" charset="0"/>
                <a:cs typeface="Cascadia Code SemiLight" panose="020B0609020000020004" pitchFamily="49" charset="0"/>
              </a:rPr>
              <a:t>struct Employee wang = {“wang”, ‘m’, 22, 10000};</a:t>
            </a:r>
          </a:p>
          <a:p>
            <a:endParaRPr lang="en-US" altLang="zh-CN" dirty="0">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对需要使用结构体变量的数据时，使用形式为</a:t>
            </a:r>
            <a:endParaRPr lang="en-US" altLang="zh-CN" dirty="0">
              <a:latin typeface="Cascadia Code SemiLight" panose="020B0609020000020004" pitchFamily="49" charset="0"/>
              <a:cs typeface="Cascadia Code SemiLight" panose="020B0609020000020004" pitchFamily="49" charset="0"/>
            </a:endParaRPr>
          </a:p>
          <a:p>
            <a:pPr algn="ctr"/>
            <a:r>
              <a:rPr lang="zh-CN" altLang="en-US" dirty="0">
                <a:latin typeface="Cascadia Code SemiLight" panose="020B0609020000020004" pitchFamily="49" charset="0"/>
                <a:cs typeface="Cascadia Code SemiLight" panose="020B0609020000020004" pitchFamily="49" charset="0"/>
              </a:rPr>
              <a:t>结构变量名</a:t>
            </a:r>
            <a:r>
              <a:rPr lang="en-US" altLang="zh-CN" dirty="0">
                <a:latin typeface="Cascadia Code SemiLight" panose="020B0609020000020004" pitchFamily="49" charset="0"/>
                <a:cs typeface="Cascadia Code SemiLight" panose="020B0609020000020004" pitchFamily="49" charset="0"/>
              </a:rPr>
              <a:t>.</a:t>
            </a:r>
            <a:r>
              <a:rPr lang="zh-CN" altLang="en-US" dirty="0">
                <a:latin typeface="Cascadia Code SemiLight" panose="020B0609020000020004" pitchFamily="49" charset="0"/>
                <a:cs typeface="Cascadia Code SemiLight" panose="020B0609020000020004" pitchFamily="49" charset="0"/>
              </a:rPr>
              <a:t>成员名</a:t>
            </a:r>
            <a:endParaRPr lang="en-US" altLang="zh-CN" dirty="0">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比如</a:t>
            </a:r>
            <a:endParaRPr lang="en-US" altLang="zh-CN" dirty="0">
              <a:latin typeface="Cascadia Code SemiLight" panose="020B0609020000020004" pitchFamily="49" charset="0"/>
              <a:cs typeface="Cascadia Code SemiLight" panose="020B0609020000020004" pitchFamily="49" charset="0"/>
            </a:endParaRPr>
          </a:p>
          <a:p>
            <a:pPr algn="ctr"/>
            <a:r>
              <a:rPr lang="en-US" altLang="zh-CN" dirty="0">
                <a:latin typeface="Cascadia Code SemiLight" panose="020B0609020000020004" pitchFamily="49" charset="0"/>
                <a:cs typeface="Cascadia Code SemiLight" panose="020B0609020000020004" pitchFamily="49" charset="0"/>
              </a:rPr>
              <a:t>int wage = </a:t>
            </a:r>
            <a:r>
              <a:rPr lang="en-US" altLang="zh-CN" dirty="0" err="1">
                <a:latin typeface="Cascadia Code SemiLight" panose="020B0609020000020004" pitchFamily="49" charset="0"/>
                <a:cs typeface="Cascadia Code SemiLight" panose="020B0609020000020004" pitchFamily="49" charset="0"/>
              </a:rPr>
              <a:t>wang.wage</a:t>
            </a:r>
            <a:r>
              <a:rPr lang="en-US" altLang="zh-CN" dirty="0">
                <a:latin typeface="Cascadia Code SemiLight" panose="020B0609020000020004" pitchFamily="49" charset="0"/>
                <a:cs typeface="Cascadia Code SemiLight" panose="020B0609020000020004" pitchFamily="49" charset="0"/>
              </a:rPr>
              <a:t>;</a:t>
            </a:r>
          </a:p>
          <a:p>
            <a:r>
              <a:rPr lang="zh-CN" altLang="en-US" dirty="0">
                <a:latin typeface="Cascadia Code SemiLight" panose="020B0609020000020004" pitchFamily="49" charset="0"/>
                <a:cs typeface="Cascadia Code SemiLight" panose="020B0609020000020004" pitchFamily="49" charset="0"/>
              </a:rPr>
              <a:t>同时，也可以以此单独为结构体变量中某个数据进行初始化或修改，如</a:t>
            </a:r>
            <a:endParaRPr lang="en-US" altLang="zh-CN" dirty="0">
              <a:latin typeface="Cascadia Code SemiLight" panose="020B0609020000020004" pitchFamily="49" charset="0"/>
              <a:cs typeface="Cascadia Code SemiLight" panose="020B0609020000020004" pitchFamily="49" charset="0"/>
            </a:endParaRPr>
          </a:p>
          <a:p>
            <a:pPr algn="ctr"/>
            <a:r>
              <a:rPr lang="en-US" altLang="zh-CN" dirty="0" err="1">
                <a:latin typeface="Cascadia Code SemiLight" panose="020B0609020000020004" pitchFamily="49" charset="0"/>
                <a:cs typeface="Cascadia Code SemiLight" panose="020B0609020000020004" pitchFamily="49" charset="0"/>
              </a:rPr>
              <a:t>wang.wage</a:t>
            </a:r>
            <a:r>
              <a:rPr lang="en-US" altLang="zh-CN" dirty="0">
                <a:latin typeface="Cascadia Code SemiLight" panose="020B0609020000020004" pitchFamily="49" charset="0"/>
                <a:cs typeface="Cascadia Code SemiLight" panose="020B0609020000020004" pitchFamily="49" charset="0"/>
              </a:rPr>
              <a:t> = 8000;</a:t>
            </a:r>
          </a:p>
        </p:txBody>
      </p:sp>
    </p:spTree>
    <p:extLst>
      <p:ext uri="{BB962C8B-B14F-4D97-AF65-F5344CB8AC3E}">
        <p14:creationId xmlns:p14="http://schemas.microsoft.com/office/powerpoint/2010/main" val="35426123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521207" y="448056"/>
            <a:ext cx="10552533" cy="640080"/>
          </a:xfrm>
        </p:spPr>
        <p:txBody>
          <a:bodyPr rtlCol="0">
            <a:noAutofit/>
          </a:bodyPr>
          <a:lstStyle/>
          <a:p>
            <a:pPr rtl="0"/>
            <a:r>
              <a:rPr lang="en-US" altLang="zh-CN" dirty="0">
                <a:cs typeface="Segoe UI Light" panose="020B0502040204020203" pitchFamily="34" charset="0"/>
              </a:rPr>
              <a:t>Chapter 8  </a:t>
            </a:r>
            <a:r>
              <a:rPr lang="zh-CN" altLang="en-US" dirty="0">
                <a:cs typeface="Segoe UI Light" panose="020B0502040204020203" pitchFamily="34" charset="0"/>
              </a:rPr>
              <a:t>结构和联合</a:t>
            </a:r>
          </a:p>
        </p:txBody>
      </p:sp>
      <p:sp>
        <p:nvSpPr>
          <p:cNvPr id="5" name="文本框 4">
            <a:extLst>
              <a:ext uri="{FF2B5EF4-FFF2-40B4-BE49-F238E27FC236}">
                <a16:creationId xmlns:a16="http://schemas.microsoft.com/office/drawing/2014/main" id="{88ABA98C-CA39-40C1-B398-04CEFBDC2AD2}"/>
              </a:ext>
            </a:extLst>
          </p:cNvPr>
          <p:cNvSpPr txBox="1"/>
          <p:nvPr/>
        </p:nvSpPr>
        <p:spPr>
          <a:xfrm>
            <a:off x="611578" y="1413164"/>
            <a:ext cx="4372205" cy="369332"/>
          </a:xfrm>
          <a:prstGeom prst="rect">
            <a:avLst/>
          </a:prstGeom>
          <a:noFill/>
        </p:spPr>
        <p:txBody>
          <a:bodyPr wrap="square" rtlCol="0">
            <a:spAutoFit/>
          </a:bodyPr>
          <a:lstStyle/>
          <a:p>
            <a:r>
              <a:rPr lang="en-US" altLang="zh-CN" dirty="0"/>
              <a:t>8.1  </a:t>
            </a:r>
            <a:r>
              <a:rPr lang="zh-CN" altLang="en-US" dirty="0"/>
              <a:t>结构</a:t>
            </a:r>
          </a:p>
        </p:txBody>
      </p:sp>
      <p:sp>
        <p:nvSpPr>
          <p:cNvPr id="10" name="文本框 9">
            <a:extLst>
              <a:ext uri="{FF2B5EF4-FFF2-40B4-BE49-F238E27FC236}">
                <a16:creationId xmlns:a16="http://schemas.microsoft.com/office/drawing/2014/main" id="{9AE6C642-EA61-4260-B2C6-07DBB5BB52E2}"/>
              </a:ext>
            </a:extLst>
          </p:cNvPr>
          <p:cNvSpPr txBox="1"/>
          <p:nvPr/>
        </p:nvSpPr>
        <p:spPr>
          <a:xfrm>
            <a:off x="611578" y="1885991"/>
            <a:ext cx="10681856" cy="4247317"/>
          </a:xfrm>
          <a:prstGeom prst="rect">
            <a:avLst/>
          </a:prstGeom>
          <a:noFill/>
        </p:spPr>
        <p:txBody>
          <a:bodyPr wrap="square" rtlCol="0">
            <a:spAutoFit/>
          </a:bodyPr>
          <a:lstStyle/>
          <a:p>
            <a:r>
              <a:rPr lang="zh-CN" altLang="en-US" dirty="0">
                <a:latin typeface="Cascadia Code SemiLight" panose="020B0609020000020004" pitchFamily="49" charset="0"/>
                <a:cs typeface="Cascadia Code SemiLight" panose="020B0609020000020004" pitchFamily="49" charset="0"/>
              </a:rPr>
              <a:t>与其他数据类型一致，存在</a:t>
            </a:r>
            <a:r>
              <a:rPr lang="zh-CN" altLang="en-US" u="sng" dirty="0">
                <a:latin typeface="Cascadia Code SemiLight" panose="020B0609020000020004" pitchFamily="49" charset="0"/>
                <a:cs typeface="Cascadia Code SemiLight" panose="020B0609020000020004" pitchFamily="49" charset="0"/>
              </a:rPr>
              <a:t>结构数组</a:t>
            </a:r>
            <a:r>
              <a:rPr lang="zh-CN" altLang="en-US" dirty="0">
                <a:latin typeface="Cascadia Code SemiLight" panose="020B0609020000020004" pitchFamily="49" charset="0"/>
                <a:cs typeface="Cascadia Code SemiLight" panose="020B0609020000020004" pitchFamily="49" charset="0"/>
              </a:rPr>
              <a:t>和</a:t>
            </a:r>
            <a:r>
              <a:rPr lang="zh-CN" altLang="en-US" u="sng" dirty="0">
                <a:latin typeface="Cascadia Code SemiLight" panose="020B0609020000020004" pitchFamily="49" charset="0"/>
                <a:cs typeface="Cascadia Code SemiLight" panose="020B0609020000020004" pitchFamily="49" charset="0"/>
              </a:rPr>
              <a:t>结构指针</a:t>
            </a:r>
            <a:endParaRPr lang="en-US" altLang="zh-CN" u="sng" dirty="0">
              <a:latin typeface="Cascadia Code SemiLight" panose="020B0609020000020004" pitchFamily="49" charset="0"/>
              <a:cs typeface="Cascadia Code SemiLight" panose="020B0609020000020004" pitchFamily="49" charset="0"/>
            </a:endParaRPr>
          </a:p>
          <a:p>
            <a:endParaRPr lang="en-US" altLang="zh-CN" u="sng" dirty="0">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结构数组定义如下</a:t>
            </a:r>
            <a:endParaRPr lang="en-US" altLang="zh-CN" dirty="0">
              <a:latin typeface="Cascadia Code SemiLight" panose="020B0609020000020004" pitchFamily="49" charset="0"/>
              <a:cs typeface="Cascadia Code SemiLight" panose="020B0609020000020004" pitchFamily="49" charset="0"/>
            </a:endParaRPr>
          </a:p>
          <a:p>
            <a:pPr algn="ctr"/>
            <a:r>
              <a:rPr lang="en-US" altLang="zh-CN" dirty="0">
                <a:latin typeface="Cascadia Code SemiLight" panose="020B0609020000020004" pitchFamily="49" charset="0"/>
                <a:cs typeface="Cascadia Code SemiLight" panose="020B0609020000020004" pitchFamily="49" charset="0"/>
              </a:rPr>
              <a:t>&lt;</a:t>
            </a:r>
            <a:r>
              <a:rPr lang="zh-CN" altLang="en-US" dirty="0">
                <a:latin typeface="Cascadia Code SemiLight" panose="020B0609020000020004" pitchFamily="49" charset="0"/>
                <a:cs typeface="Cascadia Code SemiLight" panose="020B0609020000020004" pitchFamily="49" charset="0"/>
              </a:rPr>
              <a:t>存储类型</a:t>
            </a:r>
            <a:r>
              <a:rPr lang="en-US" altLang="zh-CN" dirty="0">
                <a:latin typeface="Cascadia Code SemiLight" panose="020B0609020000020004" pitchFamily="49" charset="0"/>
                <a:cs typeface="Cascadia Code SemiLight" panose="020B0609020000020004" pitchFamily="49" charset="0"/>
              </a:rPr>
              <a:t>&gt; struct </a:t>
            </a:r>
            <a:r>
              <a:rPr lang="zh-CN" altLang="en-US" dirty="0">
                <a:latin typeface="Cascadia Code SemiLight" panose="020B0609020000020004" pitchFamily="49" charset="0"/>
                <a:cs typeface="Cascadia Code SemiLight" panose="020B0609020000020004" pitchFamily="49" charset="0"/>
              </a:rPr>
              <a:t>结构名 结构数组名</a:t>
            </a:r>
            <a:r>
              <a:rPr lang="en-US" altLang="zh-CN" dirty="0">
                <a:latin typeface="Cascadia Code SemiLight" panose="020B0609020000020004" pitchFamily="49" charset="0"/>
                <a:cs typeface="Cascadia Code SemiLight" panose="020B0609020000020004" pitchFamily="49" charset="0"/>
              </a:rPr>
              <a:t>[</a:t>
            </a:r>
            <a:r>
              <a:rPr lang="zh-CN" altLang="en-US" dirty="0">
                <a:latin typeface="Cascadia Code SemiLight" panose="020B0609020000020004" pitchFamily="49" charset="0"/>
                <a:cs typeface="Cascadia Code SemiLight" panose="020B0609020000020004" pitchFamily="49" charset="0"/>
              </a:rPr>
              <a:t>元素个数</a:t>
            </a:r>
            <a:r>
              <a:rPr lang="en-US" altLang="zh-CN" dirty="0">
                <a:latin typeface="Cascadia Code SemiLight" panose="020B0609020000020004" pitchFamily="49" charset="0"/>
                <a:cs typeface="Cascadia Code SemiLight" panose="020B0609020000020004" pitchFamily="49" charset="0"/>
              </a:rPr>
              <a:t>][= {</a:t>
            </a:r>
            <a:r>
              <a:rPr lang="zh-CN" altLang="en-US" dirty="0">
                <a:latin typeface="Cascadia Code SemiLight" panose="020B0609020000020004" pitchFamily="49" charset="0"/>
                <a:cs typeface="Cascadia Code SemiLight" panose="020B0609020000020004" pitchFamily="49" charset="0"/>
              </a:rPr>
              <a:t>初值表</a:t>
            </a:r>
            <a:r>
              <a:rPr lang="en-US" altLang="zh-CN" dirty="0">
                <a:latin typeface="Cascadia Code SemiLight" panose="020B0609020000020004" pitchFamily="49" charset="0"/>
                <a:cs typeface="Cascadia Code SemiLight" panose="020B0609020000020004" pitchFamily="49" charset="0"/>
              </a:rPr>
              <a:t>}];</a:t>
            </a:r>
          </a:p>
          <a:p>
            <a:r>
              <a:rPr lang="zh-CN" altLang="en-US" dirty="0">
                <a:latin typeface="Cascadia Code SemiLight" panose="020B0609020000020004" pitchFamily="49" charset="0"/>
                <a:cs typeface="Cascadia Code SemiLight" panose="020B0609020000020004" pitchFamily="49" charset="0"/>
              </a:rPr>
              <a:t>如</a:t>
            </a:r>
            <a:endParaRPr lang="en-US" altLang="zh-CN" dirty="0">
              <a:latin typeface="Cascadia Code SemiLight" panose="020B0609020000020004" pitchFamily="49" charset="0"/>
              <a:cs typeface="Cascadia Code SemiLight" panose="020B0609020000020004" pitchFamily="49" charset="0"/>
            </a:endParaRPr>
          </a:p>
          <a:p>
            <a:pPr algn="ctr"/>
            <a:r>
              <a:rPr lang="en-US" altLang="zh-CN" dirty="0">
                <a:latin typeface="Cascadia Code SemiLight" panose="020B0609020000020004" pitchFamily="49" charset="0"/>
                <a:cs typeface="Cascadia Code SemiLight" panose="020B0609020000020004" pitchFamily="49" charset="0"/>
              </a:rPr>
              <a:t>struct Employee man[3] = {{</a:t>
            </a:r>
            <a:r>
              <a:rPr lang="zh-CN" altLang="en-US" dirty="0">
                <a:latin typeface="Cascadia Code SemiLight" panose="020B0609020000020004" pitchFamily="49" charset="0"/>
                <a:cs typeface="Cascadia Code SemiLight" panose="020B0609020000020004" pitchFamily="49" charset="0"/>
              </a:rPr>
              <a:t>初始化</a:t>
            </a:r>
            <a:r>
              <a:rPr lang="en-US" altLang="zh-CN" dirty="0">
                <a:latin typeface="Cascadia Code SemiLight" panose="020B0609020000020004" pitchFamily="49" charset="0"/>
                <a:cs typeface="Cascadia Code SemiLight" panose="020B0609020000020004" pitchFamily="49" charset="0"/>
              </a:rPr>
              <a:t>1}, {</a:t>
            </a:r>
            <a:r>
              <a:rPr lang="zh-CN" altLang="en-US" dirty="0">
                <a:latin typeface="Cascadia Code SemiLight" panose="020B0609020000020004" pitchFamily="49" charset="0"/>
                <a:cs typeface="Cascadia Code SemiLight" panose="020B0609020000020004" pitchFamily="49" charset="0"/>
              </a:rPr>
              <a:t>初始化</a:t>
            </a:r>
            <a:r>
              <a:rPr lang="en-US" altLang="zh-CN" dirty="0">
                <a:latin typeface="Cascadia Code SemiLight" panose="020B0609020000020004" pitchFamily="49" charset="0"/>
                <a:cs typeface="Cascadia Code SemiLight" panose="020B0609020000020004" pitchFamily="49" charset="0"/>
              </a:rPr>
              <a:t>2}, {</a:t>
            </a:r>
            <a:r>
              <a:rPr lang="zh-CN" altLang="en-US" dirty="0">
                <a:latin typeface="Cascadia Code SemiLight" panose="020B0609020000020004" pitchFamily="49" charset="0"/>
                <a:cs typeface="Cascadia Code SemiLight" panose="020B0609020000020004" pitchFamily="49" charset="0"/>
              </a:rPr>
              <a:t>初始化</a:t>
            </a:r>
            <a:r>
              <a:rPr lang="en-US" altLang="zh-CN" dirty="0">
                <a:latin typeface="Cascadia Code SemiLight" panose="020B0609020000020004" pitchFamily="49" charset="0"/>
                <a:cs typeface="Cascadia Code SemiLight" panose="020B0609020000020004" pitchFamily="49" charset="0"/>
              </a:rPr>
              <a:t>3}};</a:t>
            </a:r>
          </a:p>
          <a:p>
            <a:r>
              <a:rPr lang="zh-CN" altLang="en-US" dirty="0">
                <a:latin typeface="Cascadia Code SemiLight" panose="020B0609020000020004" pitchFamily="49" charset="0"/>
                <a:cs typeface="Cascadia Code SemiLight" panose="020B0609020000020004" pitchFamily="49" charset="0"/>
              </a:rPr>
              <a:t>调用形式如下例</a:t>
            </a:r>
            <a:endParaRPr lang="en-US" altLang="zh-CN" dirty="0">
              <a:latin typeface="Cascadia Code SemiLight" panose="020B0609020000020004" pitchFamily="49" charset="0"/>
              <a:cs typeface="Cascadia Code SemiLight" panose="020B0609020000020004" pitchFamily="49" charset="0"/>
            </a:endParaRPr>
          </a:p>
          <a:p>
            <a:pPr algn="ctr"/>
            <a:r>
              <a:rPr lang="en-US" altLang="zh-CN" dirty="0">
                <a:latin typeface="Cascadia Code SemiLight" panose="020B0609020000020004" pitchFamily="49" charset="0"/>
                <a:cs typeface="Cascadia Code SemiLight" panose="020B0609020000020004" pitchFamily="49" charset="0"/>
              </a:rPr>
              <a:t>int man1wage = man[0].wage;</a:t>
            </a:r>
          </a:p>
          <a:p>
            <a:pPr algn="ctr"/>
            <a:endParaRPr lang="en-US" altLang="zh-CN" dirty="0">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结构指针定义如下</a:t>
            </a:r>
            <a:endParaRPr lang="en-US" altLang="zh-CN" dirty="0">
              <a:latin typeface="Cascadia Code SemiLight" panose="020B0609020000020004" pitchFamily="49" charset="0"/>
              <a:cs typeface="Cascadia Code SemiLight" panose="020B0609020000020004" pitchFamily="49" charset="0"/>
            </a:endParaRPr>
          </a:p>
          <a:p>
            <a:pPr algn="ctr"/>
            <a:r>
              <a:rPr lang="en-US" altLang="zh-CN" dirty="0">
                <a:latin typeface="Cascadia Code SemiLight" panose="020B0609020000020004" pitchFamily="49" charset="0"/>
                <a:cs typeface="Cascadia Code SemiLight" panose="020B0609020000020004" pitchFamily="49" charset="0"/>
              </a:rPr>
              <a:t>&lt;</a:t>
            </a:r>
            <a:r>
              <a:rPr lang="zh-CN" altLang="en-US" dirty="0">
                <a:latin typeface="Cascadia Code SemiLight" panose="020B0609020000020004" pitchFamily="49" charset="0"/>
                <a:cs typeface="Cascadia Code SemiLight" panose="020B0609020000020004" pitchFamily="49" charset="0"/>
              </a:rPr>
              <a:t>存储类型</a:t>
            </a:r>
            <a:r>
              <a:rPr lang="en-US" altLang="zh-CN" dirty="0">
                <a:latin typeface="Cascadia Code SemiLight" panose="020B0609020000020004" pitchFamily="49" charset="0"/>
                <a:cs typeface="Cascadia Code SemiLight" panose="020B0609020000020004" pitchFamily="49" charset="0"/>
              </a:rPr>
              <a:t>&gt; struct </a:t>
            </a:r>
            <a:r>
              <a:rPr lang="zh-CN" altLang="en-US" dirty="0">
                <a:latin typeface="Cascadia Code SemiLight" panose="020B0609020000020004" pitchFamily="49" charset="0"/>
                <a:cs typeface="Cascadia Code SemiLight" panose="020B0609020000020004" pitchFamily="49" charset="0"/>
              </a:rPr>
              <a:t>结构名 </a:t>
            </a:r>
            <a:r>
              <a:rPr lang="en-US" altLang="zh-CN" dirty="0">
                <a:latin typeface="Cascadia Code SemiLight" panose="020B0609020000020004" pitchFamily="49" charset="0"/>
                <a:cs typeface="Cascadia Code SemiLight" panose="020B0609020000020004" pitchFamily="49" charset="0"/>
              </a:rPr>
              <a:t>*</a:t>
            </a:r>
            <a:r>
              <a:rPr lang="zh-CN" altLang="en-US" dirty="0">
                <a:latin typeface="Cascadia Code SemiLight" panose="020B0609020000020004" pitchFamily="49" charset="0"/>
                <a:cs typeface="Cascadia Code SemiLight" panose="020B0609020000020004" pitchFamily="49" charset="0"/>
              </a:rPr>
              <a:t>结构指针名</a:t>
            </a:r>
            <a:r>
              <a:rPr lang="en-US" altLang="zh-CN" dirty="0">
                <a:latin typeface="Cascadia Code SemiLight" panose="020B0609020000020004" pitchFamily="49" charset="0"/>
                <a:cs typeface="Cascadia Code SemiLight" panose="020B0609020000020004" pitchFamily="49" charset="0"/>
              </a:rPr>
              <a:t>[= </a:t>
            </a:r>
            <a:r>
              <a:rPr lang="zh-CN" altLang="en-US" dirty="0">
                <a:latin typeface="Cascadia Code SemiLight" panose="020B0609020000020004" pitchFamily="49" charset="0"/>
                <a:cs typeface="Cascadia Code SemiLight" panose="020B0609020000020004" pitchFamily="49" charset="0"/>
              </a:rPr>
              <a:t>初始地址值</a:t>
            </a:r>
            <a:r>
              <a:rPr lang="en-US" altLang="zh-CN" dirty="0">
                <a:latin typeface="Cascadia Code SemiLight" panose="020B0609020000020004" pitchFamily="49" charset="0"/>
                <a:cs typeface="Cascadia Code SemiLight" panose="020B0609020000020004" pitchFamily="49" charset="0"/>
              </a:rPr>
              <a:t>];</a:t>
            </a:r>
          </a:p>
          <a:p>
            <a:r>
              <a:rPr lang="zh-CN" altLang="en-US" dirty="0">
                <a:latin typeface="Cascadia Code SemiLight" panose="020B0609020000020004" pitchFamily="49" charset="0"/>
                <a:cs typeface="Cascadia Code SemiLight" panose="020B0609020000020004" pitchFamily="49" charset="0"/>
              </a:rPr>
              <a:t>如 </a:t>
            </a:r>
            <a:r>
              <a:rPr lang="en-US" altLang="zh-CN" i="1" dirty="0">
                <a:latin typeface="Cascadia Code SemiLight" panose="020B0609020000020004" pitchFamily="49" charset="0"/>
                <a:cs typeface="Cascadia Code SemiLight" panose="020B0609020000020004" pitchFamily="49" charset="0"/>
              </a:rPr>
              <a:t>// </a:t>
            </a:r>
            <a:r>
              <a:rPr lang="zh-CN" altLang="en-US" i="1" dirty="0">
                <a:latin typeface="Cascadia Code SemiLight" panose="020B0609020000020004" pitchFamily="49" charset="0"/>
                <a:cs typeface="Cascadia Code SemiLight" panose="020B0609020000020004" pitchFamily="49" charset="0"/>
              </a:rPr>
              <a:t>此处假设有一个结构体变量</a:t>
            </a:r>
            <a:r>
              <a:rPr lang="en-US" altLang="zh-CN" i="1" dirty="0">
                <a:latin typeface="Cascadia Code SemiLight" panose="020B0609020000020004" pitchFamily="49" charset="0"/>
                <a:cs typeface="Cascadia Code SemiLight" panose="020B0609020000020004" pitchFamily="49" charset="0"/>
              </a:rPr>
              <a:t>wang</a:t>
            </a:r>
          </a:p>
          <a:p>
            <a:pPr algn="ctr"/>
            <a:r>
              <a:rPr lang="en-US" altLang="zh-CN" dirty="0">
                <a:latin typeface="Cascadia Code SemiLight" panose="020B0609020000020004" pitchFamily="49" charset="0"/>
                <a:cs typeface="Cascadia Code SemiLight" panose="020B0609020000020004" pitchFamily="49" charset="0"/>
              </a:rPr>
              <a:t>struct Employee *</a:t>
            </a:r>
            <a:r>
              <a:rPr lang="en-US" altLang="zh-CN" dirty="0" err="1">
                <a:latin typeface="Cascadia Code SemiLight" panose="020B0609020000020004" pitchFamily="49" charset="0"/>
                <a:cs typeface="Cascadia Code SemiLight" panose="020B0609020000020004" pitchFamily="49" charset="0"/>
              </a:rPr>
              <a:t>pwang</a:t>
            </a:r>
            <a:r>
              <a:rPr lang="en-US" altLang="zh-CN" dirty="0">
                <a:latin typeface="Cascadia Code SemiLight" panose="020B0609020000020004" pitchFamily="49" charset="0"/>
                <a:cs typeface="Cascadia Code SemiLight" panose="020B0609020000020004" pitchFamily="49" charset="0"/>
              </a:rPr>
              <a:t> = &amp;wang;</a:t>
            </a:r>
          </a:p>
          <a:p>
            <a:r>
              <a:rPr lang="zh-CN" altLang="en-US" dirty="0">
                <a:latin typeface="Cascadia Code SemiLight" panose="020B0609020000020004" pitchFamily="49" charset="0"/>
                <a:cs typeface="Cascadia Code SemiLight" panose="020B0609020000020004" pitchFamily="49" charset="0"/>
              </a:rPr>
              <a:t>调用形式如下</a:t>
            </a:r>
            <a:endParaRPr lang="en-US" altLang="zh-CN" dirty="0">
              <a:latin typeface="Cascadia Code SemiLight" panose="020B0609020000020004" pitchFamily="49" charset="0"/>
              <a:cs typeface="Cascadia Code SemiLight" panose="020B0609020000020004" pitchFamily="49" charset="0"/>
            </a:endParaRPr>
          </a:p>
          <a:p>
            <a:pPr algn="ctr"/>
            <a:r>
              <a:rPr lang="en-US" altLang="zh-CN" dirty="0">
                <a:latin typeface="Cascadia Code SemiLight" panose="020B0609020000020004" pitchFamily="49" charset="0"/>
                <a:cs typeface="Cascadia Code SemiLight" panose="020B0609020000020004" pitchFamily="49" charset="0"/>
              </a:rPr>
              <a:t>int man1wage = </a:t>
            </a:r>
            <a:r>
              <a:rPr lang="en-US" altLang="zh-CN" u="sng" dirty="0">
                <a:latin typeface="Cascadia Code SemiLight" panose="020B0609020000020004" pitchFamily="49" charset="0"/>
                <a:cs typeface="Cascadia Code SemiLight" panose="020B0609020000020004" pitchFamily="49" charset="0"/>
              </a:rPr>
              <a:t>(*</a:t>
            </a:r>
            <a:r>
              <a:rPr lang="en-US" altLang="zh-CN" u="sng" dirty="0" err="1">
                <a:latin typeface="Cascadia Code SemiLight" panose="020B0609020000020004" pitchFamily="49" charset="0"/>
                <a:cs typeface="Cascadia Code SemiLight" panose="020B0609020000020004" pitchFamily="49" charset="0"/>
              </a:rPr>
              <a:t>pwang</a:t>
            </a:r>
            <a:r>
              <a:rPr lang="en-US" altLang="zh-CN" u="sng" dirty="0">
                <a:latin typeface="Cascadia Code SemiLight" panose="020B0609020000020004" pitchFamily="49" charset="0"/>
                <a:cs typeface="Cascadia Code SemiLight" panose="020B0609020000020004" pitchFamily="49" charset="0"/>
              </a:rPr>
              <a:t>).wage; </a:t>
            </a:r>
            <a:r>
              <a:rPr lang="zh-CN" altLang="en-US" u="sng" dirty="0">
                <a:latin typeface="Cascadia Code SemiLight" panose="020B0609020000020004" pitchFamily="49" charset="0"/>
                <a:cs typeface="Cascadia Code SemiLight" panose="020B0609020000020004" pitchFamily="49" charset="0"/>
              </a:rPr>
              <a:t>或 </a:t>
            </a:r>
            <a:r>
              <a:rPr lang="en-US" altLang="zh-CN" u="sng" dirty="0" err="1">
                <a:latin typeface="Cascadia Code SemiLight" panose="020B0609020000020004" pitchFamily="49" charset="0"/>
                <a:cs typeface="Cascadia Code SemiLight" panose="020B0609020000020004" pitchFamily="49" charset="0"/>
              </a:rPr>
              <a:t>pwang</a:t>
            </a:r>
            <a:r>
              <a:rPr lang="en-US" altLang="zh-CN" u="sng" dirty="0">
                <a:latin typeface="Cascadia Code SemiLight" panose="020B0609020000020004" pitchFamily="49" charset="0"/>
                <a:cs typeface="Cascadia Code SemiLight" panose="020B0609020000020004" pitchFamily="49" charset="0"/>
              </a:rPr>
              <a:t>-&gt;wage;</a:t>
            </a:r>
          </a:p>
        </p:txBody>
      </p:sp>
    </p:spTree>
    <p:extLst>
      <p:ext uri="{BB962C8B-B14F-4D97-AF65-F5344CB8AC3E}">
        <p14:creationId xmlns:p14="http://schemas.microsoft.com/office/powerpoint/2010/main" val="5541373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521207" y="448056"/>
            <a:ext cx="10552533" cy="640080"/>
          </a:xfrm>
        </p:spPr>
        <p:txBody>
          <a:bodyPr rtlCol="0">
            <a:noAutofit/>
          </a:bodyPr>
          <a:lstStyle/>
          <a:p>
            <a:pPr rtl="0"/>
            <a:r>
              <a:rPr lang="en-US" altLang="zh-CN" dirty="0">
                <a:cs typeface="Segoe UI Light" panose="020B0502040204020203" pitchFamily="34" charset="0"/>
              </a:rPr>
              <a:t>Chapter 8  </a:t>
            </a:r>
            <a:r>
              <a:rPr lang="zh-CN" altLang="en-US" dirty="0">
                <a:cs typeface="Segoe UI Light" panose="020B0502040204020203" pitchFamily="34" charset="0"/>
              </a:rPr>
              <a:t>结构和联合</a:t>
            </a:r>
          </a:p>
        </p:txBody>
      </p:sp>
      <p:sp>
        <p:nvSpPr>
          <p:cNvPr id="5" name="文本框 4">
            <a:extLst>
              <a:ext uri="{FF2B5EF4-FFF2-40B4-BE49-F238E27FC236}">
                <a16:creationId xmlns:a16="http://schemas.microsoft.com/office/drawing/2014/main" id="{88ABA98C-CA39-40C1-B398-04CEFBDC2AD2}"/>
              </a:ext>
            </a:extLst>
          </p:cNvPr>
          <p:cNvSpPr txBox="1"/>
          <p:nvPr/>
        </p:nvSpPr>
        <p:spPr>
          <a:xfrm>
            <a:off x="611578" y="1413164"/>
            <a:ext cx="4372205" cy="369332"/>
          </a:xfrm>
          <a:prstGeom prst="rect">
            <a:avLst/>
          </a:prstGeom>
          <a:noFill/>
        </p:spPr>
        <p:txBody>
          <a:bodyPr wrap="square" rtlCol="0">
            <a:spAutoFit/>
          </a:bodyPr>
          <a:lstStyle/>
          <a:p>
            <a:r>
              <a:rPr lang="en-US" altLang="zh-CN" dirty="0"/>
              <a:t>8.1  </a:t>
            </a:r>
            <a:r>
              <a:rPr lang="zh-CN" altLang="en-US" dirty="0"/>
              <a:t>结构</a:t>
            </a:r>
          </a:p>
        </p:txBody>
      </p:sp>
      <p:sp>
        <p:nvSpPr>
          <p:cNvPr id="10" name="文本框 9">
            <a:extLst>
              <a:ext uri="{FF2B5EF4-FFF2-40B4-BE49-F238E27FC236}">
                <a16:creationId xmlns:a16="http://schemas.microsoft.com/office/drawing/2014/main" id="{9AE6C642-EA61-4260-B2C6-07DBB5BB52E2}"/>
              </a:ext>
            </a:extLst>
          </p:cNvPr>
          <p:cNvSpPr txBox="1"/>
          <p:nvPr/>
        </p:nvSpPr>
        <p:spPr>
          <a:xfrm>
            <a:off x="611578" y="1885991"/>
            <a:ext cx="10681856" cy="2031325"/>
          </a:xfrm>
          <a:prstGeom prst="rect">
            <a:avLst/>
          </a:prstGeom>
          <a:noFill/>
        </p:spPr>
        <p:txBody>
          <a:bodyPr wrap="square" rtlCol="0">
            <a:spAutoFit/>
          </a:bodyPr>
          <a:lstStyle/>
          <a:p>
            <a:r>
              <a:rPr lang="zh-CN" altLang="en-US" dirty="0">
                <a:latin typeface="Cascadia Code SemiLight" panose="020B0609020000020004" pitchFamily="49" charset="0"/>
                <a:cs typeface="Cascadia Code SemiLight" panose="020B0609020000020004" pitchFamily="49" charset="0"/>
              </a:rPr>
              <a:t>也与其他数据类型一致，在参与函数间传参时</a:t>
            </a:r>
            <a:endParaRPr lang="en-US" altLang="zh-CN" dirty="0">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①传递</a:t>
            </a:r>
            <a:r>
              <a:rPr lang="zh-CN" altLang="en-US" u="sng" dirty="0">
                <a:latin typeface="Cascadia Code SemiLight" panose="020B0609020000020004" pitchFamily="49" charset="0"/>
                <a:cs typeface="Cascadia Code SemiLight" panose="020B0609020000020004" pitchFamily="49" charset="0"/>
              </a:rPr>
              <a:t>结构变量</a:t>
            </a:r>
            <a:r>
              <a:rPr lang="zh-CN" altLang="en-US" dirty="0">
                <a:latin typeface="Cascadia Code SemiLight" panose="020B0609020000020004" pitchFamily="49" charset="0"/>
                <a:cs typeface="Cascadia Code SemiLight" panose="020B0609020000020004" pitchFamily="49" charset="0"/>
              </a:rPr>
              <a:t>，函数接收到</a:t>
            </a:r>
            <a:r>
              <a:rPr lang="zh-CN" altLang="en-US" dirty="0">
                <a:highlight>
                  <a:srgbClr val="FFFF00"/>
                </a:highlight>
                <a:latin typeface="Cascadia Code SemiLight" panose="020B0609020000020004" pitchFamily="49" charset="0"/>
                <a:cs typeface="Cascadia Code SemiLight" panose="020B0609020000020004" pitchFamily="49" charset="0"/>
              </a:rPr>
              <a:t>该变量的副本</a:t>
            </a:r>
            <a:endParaRPr lang="en-US" altLang="zh-CN" dirty="0">
              <a:highlight>
                <a:srgbClr val="FFFF00"/>
              </a:highlight>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②传递</a:t>
            </a:r>
            <a:r>
              <a:rPr lang="zh-CN" altLang="en-US" u="sng" dirty="0">
                <a:latin typeface="Cascadia Code SemiLight" panose="020B0609020000020004" pitchFamily="49" charset="0"/>
                <a:cs typeface="Cascadia Code SemiLight" panose="020B0609020000020004" pitchFamily="49" charset="0"/>
              </a:rPr>
              <a:t>结构数组</a:t>
            </a:r>
            <a:r>
              <a:rPr lang="zh-CN" altLang="en-US" dirty="0">
                <a:latin typeface="Cascadia Code SemiLight" panose="020B0609020000020004" pitchFamily="49" charset="0"/>
                <a:cs typeface="Cascadia Code SemiLight" panose="020B0609020000020004" pitchFamily="49" charset="0"/>
              </a:rPr>
              <a:t>，函数接收到</a:t>
            </a:r>
            <a:r>
              <a:rPr lang="zh-CN" altLang="en-US" dirty="0">
                <a:highlight>
                  <a:srgbClr val="FFFF00"/>
                </a:highlight>
                <a:latin typeface="Cascadia Code SemiLight" panose="020B0609020000020004" pitchFamily="49" charset="0"/>
                <a:cs typeface="Cascadia Code SemiLight" panose="020B0609020000020004" pitchFamily="49" charset="0"/>
              </a:rPr>
              <a:t>指向结构体数组的指针</a:t>
            </a:r>
            <a:endParaRPr lang="en-US" altLang="zh-CN" dirty="0">
              <a:highlight>
                <a:srgbClr val="FFFF00"/>
              </a:highlight>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③传递</a:t>
            </a:r>
            <a:r>
              <a:rPr lang="zh-CN" altLang="en-US" u="sng" dirty="0">
                <a:latin typeface="Cascadia Code SemiLight" panose="020B0609020000020004" pitchFamily="49" charset="0"/>
                <a:cs typeface="Cascadia Code SemiLight" panose="020B0609020000020004" pitchFamily="49" charset="0"/>
              </a:rPr>
              <a:t>结构指针</a:t>
            </a:r>
            <a:r>
              <a:rPr lang="zh-CN" altLang="en-US" dirty="0">
                <a:latin typeface="Cascadia Code SemiLight" panose="020B0609020000020004" pitchFamily="49" charset="0"/>
                <a:cs typeface="Cascadia Code SemiLight" panose="020B0609020000020004" pitchFamily="49" charset="0"/>
              </a:rPr>
              <a:t>，函数接收到</a:t>
            </a:r>
            <a:r>
              <a:rPr lang="zh-CN" altLang="en-US" dirty="0">
                <a:highlight>
                  <a:srgbClr val="FFFF00"/>
                </a:highlight>
                <a:latin typeface="Cascadia Code SemiLight" panose="020B0609020000020004" pitchFamily="49" charset="0"/>
                <a:cs typeface="Cascadia Code SemiLight" panose="020B0609020000020004" pitchFamily="49" charset="0"/>
              </a:rPr>
              <a:t>指向结构变量的指针</a:t>
            </a:r>
            <a:endParaRPr lang="en-US" altLang="zh-CN" dirty="0">
              <a:highlight>
                <a:srgbClr val="FFFF00"/>
              </a:highlight>
              <a:latin typeface="Cascadia Code SemiLight" panose="020B0609020000020004" pitchFamily="49" charset="0"/>
              <a:cs typeface="Cascadia Code SemiLight" panose="020B0609020000020004" pitchFamily="49" charset="0"/>
            </a:endParaRPr>
          </a:p>
          <a:p>
            <a:endParaRPr lang="en-US" altLang="zh-CN" dirty="0">
              <a:highlight>
                <a:srgbClr val="FFFF00"/>
              </a:highlight>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也可以将该结构作为函数类型（函数返回值类型），如</a:t>
            </a:r>
            <a:endParaRPr lang="en-US" altLang="zh-CN" dirty="0">
              <a:latin typeface="Cascadia Code SemiLight" panose="020B0609020000020004" pitchFamily="49" charset="0"/>
              <a:cs typeface="Cascadia Code SemiLight" panose="020B0609020000020004" pitchFamily="49" charset="0"/>
            </a:endParaRPr>
          </a:p>
          <a:p>
            <a:pPr algn="ctr"/>
            <a:r>
              <a:rPr lang="en-US" altLang="zh-CN" dirty="0">
                <a:solidFill>
                  <a:schemeClr val="accent6"/>
                </a:solidFill>
                <a:latin typeface="Cascadia Code SemiLight" panose="020B0609020000020004" pitchFamily="49" charset="0"/>
                <a:cs typeface="Cascadia Code SemiLight" panose="020B0609020000020004" pitchFamily="49" charset="0"/>
              </a:rPr>
              <a:t>struct Employee </a:t>
            </a:r>
            <a:r>
              <a:rPr lang="en-US" altLang="zh-CN" dirty="0" err="1">
                <a:solidFill>
                  <a:schemeClr val="accent4">
                    <a:lumMod val="75000"/>
                  </a:schemeClr>
                </a:solidFill>
                <a:latin typeface="Cascadia Code SemiLight" panose="020B0609020000020004" pitchFamily="49" charset="0"/>
                <a:cs typeface="Cascadia Code SemiLight" panose="020B0609020000020004" pitchFamily="49" charset="0"/>
              </a:rPr>
              <a:t>changeWage</a:t>
            </a:r>
            <a:r>
              <a:rPr lang="en-US" altLang="zh-CN" dirty="0">
                <a:latin typeface="Cascadia Code SemiLight" panose="020B0609020000020004" pitchFamily="49" charset="0"/>
                <a:cs typeface="Cascadia Code SemiLight" panose="020B0609020000020004" pitchFamily="49" charset="0"/>
              </a:rPr>
              <a:t>(</a:t>
            </a:r>
            <a:r>
              <a:rPr lang="en-US" altLang="zh-CN" dirty="0">
                <a:solidFill>
                  <a:schemeClr val="accent6"/>
                </a:solidFill>
                <a:latin typeface="Cascadia Code SemiLight" panose="020B0609020000020004" pitchFamily="49" charset="0"/>
                <a:cs typeface="Cascadia Code SemiLight" panose="020B0609020000020004" pitchFamily="49" charset="0"/>
              </a:rPr>
              <a:t>struct Employee </a:t>
            </a:r>
            <a:r>
              <a:rPr lang="en-US" altLang="zh-CN" dirty="0">
                <a:latin typeface="Cascadia Code SemiLight" panose="020B0609020000020004" pitchFamily="49" charset="0"/>
                <a:cs typeface="Cascadia Code SemiLight" panose="020B0609020000020004" pitchFamily="49" charset="0"/>
              </a:rPr>
              <a:t>employee);</a:t>
            </a:r>
          </a:p>
        </p:txBody>
      </p:sp>
    </p:spTree>
    <p:extLst>
      <p:ext uri="{BB962C8B-B14F-4D97-AF65-F5344CB8AC3E}">
        <p14:creationId xmlns:p14="http://schemas.microsoft.com/office/powerpoint/2010/main" val="22482869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521207" y="448056"/>
            <a:ext cx="10552533" cy="640080"/>
          </a:xfrm>
        </p:spPr>
        <p:txBody>
          <a:bodyPr rtlCol="0">
            <a:noAutofit/>
          </a:bodyPr>
          <a:lstStyle/>
          <a:p>
            <a:pPr rtl="0"/>
            <a:r>
              <a:rPr lang="en-US" altLang="zh-CN" dirty="0">
                <a:cs typeface="Segoe UI Light" panose="020B0502040204020203" pitchFamily="34" charset="0"/>
              </a:rPr>
              <a:t>Chapter 8  </a:t>
            </a:r>
            <a:r>
              <a:rPr lang="zh-CN" altLang="en-US" dirty="0">
                <a:cs typeface="Segoe UI Light" panose="020B0502040204020203" pitchFamily="34" charset="0"/>
              </a:rPr>
              <a:t>结构和联合</a:t>
            </a:r>
          </a:p>
        </p:txBody>
      </p:sp>
      <p:sp>
        <p:nvSpPr>
          <p:cNvPr id="5" name="文本框 4">
            <a:extLst>
              <a:ext uri="{FF2B5EF4-FFF2-40B4-BE49-F238E27FC236}">
                <a16:creationId xmlns:a16="http://schemas.microsoft.com/office/drawing/2014/main" id="{88ABA98C-CA39-40C1-B398-04CEFBDC2AD2}"/>
              </a:ext>
            </a:extLst>
          </p:cNvPr>
          <p:cNvSpPr txBox="1"/>
          <p:nvPr/>
        </p:nvSpPr>
        <p:spPr>
          <a:xfrm>
            <a:off x="611578" y="1413164"/>
            <a:ext cx="4372205" cy="369332"/>
          </a:xfrm>
          <a:prstGeom prst="rect">
            <a:avLst/>
          </a:prstGeom>
          <a:noFill/>
        </p:spPr>
        <p:txBody>
          <a:bodyPr wrap="square" rtlCol="0">
            <a:spAutoFit/>
          </a:bodyPr>
          <a:lstStyle/>
          <a:p>
            <a:r>
              <a:rPr lang="en-US" altLang="zh-CN" dirty="0"/>
              <a:t>8.2  </a:t>
            </a:r>
            <a:r>
              <a:rPr lang="zh-CN" altLang="en-US" dirty="0"/>
              <a:t>联合（好像不考）</a:t>
            </a:r>
          </a:p>
        </p:txBody>
      </p:sp>
      <p:sp>
        <p:nvSpPr>
          <p:cNvPr id="10" name="文本框 9">
            <a:extLst>
              <a:ext uri="{FF2B5EF4-FFF2-40B4-BE49-F238E27FC236}">
                <a16:creationId xmlns:a16="http://schemas.microsoft.com/office/drawing/2014/main" id="{9AE6C642-EA61-4260-B2C6-07DBB5BB52E2}"/>
              </a:ext>
            </a:extLst>
          </p:cNvPr>
          <p:cNvSpPr txBox="1"/>
          <p:nvPr/>
        </p:nvSpPr>
        <p:spPr>
          <a:xfrm>
            <a:off x="611578" y="1885991"/>
            <a:ext cx="10681856" cy="3416320"/>
          </a:xfrm>
          <a:prstGeom prst="rect">
            <a:avLst/>
          </a:prstGeom>
          <a:noFill/>
        </p:spPr>
        <p:txBody>
          <a:bodyPr wrap="square" rtlCol="0">
            <a:spAutoFit/>
          </a:bodyPr>
          <a:lstStyle/>
          <a:p>
            <a:r>
              <a:rPr lang="zh-CN" altLang="en-US" dirty="0">
                <a:latin typeface="Cascadia Code SemiLight" panose="020B0609020000020004" pitchFamily="49" charset="0"/>
                <a:cs typeface="Cascadia Code SemiLight" panose="020B0609020000020004" pitchFamily="49" charset="0"/>
              </a:rPr>
              <a:t>联合体定义如下</a:t>
            </a:r>
            <a:endParaRPr lang="en-US" altLang="zh-CN" dirty="0">
              <a:latin typeface="Cascadia Code SemiLight" panose="020B0609020000020004" pitchFamily="49" charset="0"/>
              <a:cs typeface="Cascadia Code SemiLight" panose="020B0609020000020004" pitchFamily="49" charset="0"/>
            </a:endParaRPr>
          </a:p>
          <a:p>
            <a:r>
              <a:rPr lang="en-US" altLang="zh-CN" dirty="0">
                <a:latin typeface="Cascadia Code SemiLight" panose="020B0609020000020004" pitchFamily="49" charset="0"/>
                <a:cs typeface="Cascadia Code SemiLight" panose="020B0609020000020004" pitchFamily="49" charset="0"/>
              </a:rPr>
              <a:t>union </a:t>
            </a:r>
            <a:r>
              <a:rPr lang="zh-CN" altLang="en-US" dirty="0">
                <a:latin typeface="Cascadia Code SemiLight" panose="020B0609020000020004" pitchFamily="49" charset="0"/>
                <a:cs typeface="Cascadia Code SemiLight" panose="020B0609020000020004" pitchFamily="49" charset="0"/>
              </a:rPr>
              <a:t>联合名</a:t>
            </a:r>
            <a:endParaRPr lang="en-US" altLang="zh-CN" dirty="0">
              <a:latin typeface="Cascadia Code SemiLight" panose="020B0609020000020004" pitchFamily="49" charset="0"/>
              <a:cs typeface="Cascadia Code SemiLight" panose="020B0609020000020004" pitchFamily="49" charset="0"/>
            </a:endParaRPr>
          </a:p>
          <a:p>
            <a:r>
              <a:rPr lang="en-US" altLang="zh-CN" dirty="0">
                <a:latin typeface="Cascadia Code SemiLight" panose="020B0609020000020004" pitchFamily="49" charset="0"/>
                <a:cs typeface="Cascadia Code SemiLight" panose="020B0609020000020004" pitchFamily="49" charset="0"/>
              </a:rPr>
              <a:t>{</a:t>
            </a:r>
          </a:p>
          <a:p>
            <a:r>
              <a:rPr lang="en-US" altLang="zh-CN" dirty="0">
                <a:latin typeface="Cascadia Code SemiLight" panose="020B0609020000020004" pitchFamily="49" charset="0"/>
                <a:cs typeface="Cascadia Code SemiLight" panose="020B0609020000020004" pitchFamily="49" charset="0"/>
              </a:rPr>
              <a:t>	</a:t>
            </a:r>
            <a:r>
              <a:rPr lang="zh-CN" altLang="en-US" dirty="0">
                <a:latin typeface="Cascadia Code SemiLight" panose="020B0609020000020004" pitchFamily="49" charset="0"/>
                <a:cs typeface="Cascadia Code SemiLight" panose="020B0609020000020004" pitchFamily="49" charset="0"/>
              </a:rPr>
              <a:t>数据类型  成员名</a:t>
            </a:r>
            <a:r>
              <a:rPr lang="en-US" altLang="zh-CN" dirty="0">
                <a:latin typeface="Cascadia Code SemiLight" panose="020B0609020000020004" pitchFamily="49" charset="0"/>
                <a:cs typeface="Cascadia Code SemiLight" panose="020B0609020000020004" pitchFamily="49" charset="0"/>
              </a:rPr>
              <a:t>1; </a:t>
            </a:r>
            <a:r>
              <a:rPr lang="en-US" altLang="zh-CN" dirty="0">
                <a:solidFill>
                  <a:srgbClr val="FF0000"/>
                </a:solidFill>
                <a:latin typeface="Cascadia Code SemiLight" panose="020B0609020000020004" pitchFamily="49" charset="0"/>
                <a:cs typeface="Cascadia Code SemiLight" panose="020B0609020000020004" pitchFamily="49" charset="0"/>
              </a:rPr>
              <a:t>// </a:t>
            </a:r>
            <a:r>
              <a:rPr lang="zh-CN" altLang="en-US" dirty="0">
                <a:solidFill>
                  <a:srgbClr val="FF0000"/>
                </a:solidFill>
                <a:latin typeface="Cascadia Code SemiLight" panose="020B0609020000020004" pitchFamily="49" charset="0"/>
                <a:cs typeface="Cascadia Code SemiLight" panose="020B0609020000020004" pitchFamily="49" charset="0"/>
              </a:rPr>
              <a:t>此处不能赋初值</a:t>
            </a:r>
            <a:endParaRPr lang="en-US" altLang="zh-CN" dirty="0">
              <a:solidFill>
                <a:srgbClr val="FF0000"/>
              </a:solidFill>
              <a:latin typeface="Cascadia Code SemiLight" panose="020B0609020000020004" pitchFamily="49" charset="0"/>
              <a:cs typeface="Cascadia Code SemiLight" panose="020B0609020000020004" pitchFamily="49" charset="0"/>
            </a:endParaRPr>
          </a:p>
          <a:p>
            <a:r>
              <a:rPr lang="en-US" altLang="zh-CN" dirty="0">
                <a:latin typeface="Cascadia Code SemiLight" panose="020B0609020000020004" pitchFamily="49" charset="0"/>
                <a:cs typeface="Cascadia Code SemiLight" panose="020B0609020000020004" pitchFamily="49" charset="0"/>
              </a:rPr>
              <a:t>	</a:t>
            </a:r>
            <a:r>
              <a:rPr lang="zh-CN" altLang="en-US" dirty="0">
                <a:latin typeface="Cascadia Code SemiLight" panose="020B0609020000020004" pitchFamily="49" charset="0"/>
                <a:cs typeface="Cascadia Code SemiLight" panose="020B0609020000020004" pitchFamily="49" charset="0"/>
              </a:rPr>
              <a:t>数据类型  成员名</a:t>
            </a:r>
            <a:r>
              <a:rPr lang="en-US" altLang="zh-CN" dirty="0">
                <a:latin typeface="Cascadia Code SemiLight" panose="020B0609020000020004" pitchFamily="49" charset="0"/>
                <a:cs typeface="Cascadia Code SemiLight" panose="020B0609020000020004" pitchFamily="49" charset="0"/>
              </a:rPr>
              <a:t>2;</a:t>
            </a:r>
          </a:p>
          <a:p>
            <a:r>
              <a:rPr lang="en-US" altLang="zh-CN" dirty="0">
                <a:latin typeface="Cascadia Code SemiLight" panose="020B0609020000020004" pitchFamily="49" charset="0"/>
                <a:cs typeface="Cascadia Code SemiLight" panose="020B0609020000020004" pitchFamily="49" charset="0"/>
              </a:rPr>
              <a:t>	……</a:t>
            </a:r>
          </a:p>
          <a:p>
            <a:r>
              <a:rPr lang="en-US" altLang="zh-CN" dirty="0">
                <a:latin typeface="Cascadia Code SemiLight" panose="020B0609020000020004" pitchFamily="49" charset="0"/>
                <a:cs typeface="Cascadia Code SemiLight" panose="020B0609020000020004" pitchFamily="49" charset="0"/>
              </a:rPr>
              <a:t>	</a:t>
            </a:r>
            <a:r>
              <a:rPr lang="zh-CN" altLang="en-US" dirty="0">
                <a:latin typeface="Cascadia Code SemiLight" panose="020B0609020000020004" pitchFamily="49" charset="0"/>
                <a:cs typeface="Cascadia Code SemiLight" panose="020B0609020000020004" pitchFamily="49" charset="0"/>
              </a:rPr>
              <a:t>数据类型  成员名</a:t>
            </a:r>
            <a:r>
              <a:rPr lang="en-US" altLang="zh-CN" dirty="0">
                <a:latin typeface="Cascadia Code SemiLight" panose="020B0609020000020004" pitchFamily="49" charset="0"/>
                <a:cs typeface="Cascadia Code SemiLight" panose="020B0609020000020004" pitchFamily="49" charset="0"/>
              </a:rPr>
              <a:t>n;</a:t>
            </a:r>
          </a:p>
          <a:p>
            <a:r>
              <a:rPr lang="en-US" altLang="zh-CN" dirty="0">
                <a:latin typeface="Cascadia Code SemiLight" panose="020B0609020000020004" pitchFamily="49" charset="0"/>
                <a:cs typeface="Cascadia Code SemiLight" panose="020B0609020000020004" pitchFamily="49" charset="0"/>
              </a:rPr>
              <a:t>}</a:t>
            </a:r>
            <a:r>
              <a:rPr lang="en-US" altLang="zh-CN" dirty="0">
                <a:highlight>
                  <a:srgbClr val="FFFF00"/>
                </a:highlight>
                <a:latin typeface="Cascadia Code SemiLight" panose="020B0609020000020004" pitchFamily="49" charset="0"/>
                <a:cs typeface="Cascadia Code SemiLight" panose="020B0609020000020004" pitchFamily="49" charset="0"/>
              </a:rPr>
              <a:t>; </a:t>
            </a:r>
            <a:r>
              <a:rPr lang="en-US" altLang="zh-CN" dirty="0">
                <a:latin typeface="Cascadia Code SemiLight" panose="020B0609020000020004" pitchFamily="49" charset="0"/>
                <a:cs typeface="Cascadia Code SemiLight" panose="020B0609020000020004" pitchFamily="49" charset="0"/>
              </a:rPr>
              <a:t>// </a:t>
            </a:r>
            <a:r>
              <a:rPr lang="zh-CN" altLang="en-US" dirty="0">
                <a:latin typeface="Cascadia Code SemiLight" panose="020B0609020000020004" pitchFamily="49" charset="0"/>
                <a:cs typeface="Cascadia Code SemiLight" panose="020B0609020000020004" pitchFamily="49" charset="0"/>
              </a:rPr>
              <a:t>注意分号</a:t>
            </a:r>
            <a:endParaRPr lang="en-US" altLang="zh-CN" dirty="0">
              <a:latin typeface="Cascadia Code SemiLight" panose="020B0609020000020004" pitchFamily="49" charset="0"/>
              <a:cs typeface="Cascadia Code SemiLight" panose="020B0609020000020004" pitchFamily="49" charset="0"/>
            </a:endParaRPr>
          </a:p>
          <a:p>
            <a:endParaRPr lang="en-US" altLang="zh-CN" dirty="0">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联合体在内存中的占用空间即成员中占空间最大的所占用的空间</a:t>
            </a:r>
            <a:endParaRPr lang="en-US" altLang="zh-CN" dirty="0">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简单理解，就是对于一个变量不知道是储存什么类型的数据时，可以用联合体来解决，详细用法可见教材或自行查阅资料，考试应该不考</a:t>
            </a:r>
            <a:endParaRPr lang="en-US" altLang="zh-CN" dirty="0">
              <a:latin typeface="Cascadia Code SemiLight" panose="020B0609020000020004" pitchFamily="49" charset="0"/>
              <a:cs typeface="Cascadia Code SemiLight" panose="020B0609020000020004" pitchFamily="49" charset="0"/>
            </a:endParaRPr>
          </a:p>
        </p:txBody>
      </p:sp>
    </p:spTree>
    <p:extLst>
      <p:ext uri="{BB962C8B-B14F-4D97-AF65-F5344CB8AC3E}">
        <p14:creationId xmlns:p14="http://schemas.microsoft.com/office/powerpoint/2010/main" val="9285777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521207" y="448056"/>
            <a:ext cx="10552533" cy="640080"/>
          </a:xfrm>
        </p:spPr>
        <p:txBody>
          <a:bodyPr rtlCol="0">
            <a:noAutofit/>
          </a:bodyPr>
          <a:lstStyle/>
          <a:p>
            <a:pPr rtl="0"/>
            <a:r>
              <a:rPr lang="en-US" altLang="zh-CN" dirty="0">
                <a:cs typeface="Segoe UI Light" panose="020B0502040204020203" pitchFamily="34" charset="0"/>
              </a:rPr>
              <a:t>Chapter 8  </a:t>
            </a:r>
            <a:r>
              <a:rPr lang="zh-CN" altLang="en-US" dirty="0">
                <a:cs typeface="Segoe UI Light" panose="020B0502040204020203" pitchFamily="34" charset="0"/>
              </a:rPr>
              <a:t>结构和联合</a:t>
            </a:r>
          </a:p>
        </p:txBody>
      </p:sp>
      <p:sp>
        <p:nvSpPr>
          <p:cNvPr id="5" name="文本框 4">
            <a:extLst>
              <a:ext uri="{FF2B5EF4-FFF2-40B4-BE49-F238E27FC236}">
                <a16:creationId xmlns:a16="http://schemas.microsoft.com/office/drawing/2014/main" id="{88ABA98C-CA39-40C1-B398-04CEFBDC2AD2}"/>
              </a:ext>
            </a:extLst>
          </p:cNvPr>
          <p:cNvSpPr txBox="1"/>
          <p:nvPr/>
        </p:nvSpPr>
        <p:spPr>
          <a:xfrm>
            <a:off x="611578" y="1413164"/>
            <a:ext cx="4372205" cy="369332"/>
          </a:xfrm>
          <a:prstGeom prst="rect">
            <a:avLst/>
          </a:prstGeom>
          <a:noFill/>
        </p:spPr>
        <p:txBody>
          <a:bodyPr wrap="square" rtlCol="0">
            <a:spAutoFit/>
          </a:bodyPr>
          <a:lstStyle/>
          <a:p>
            <a:r>
              <a:rPr lang="en-US" altLang="zh-CN" dirty="0"/>
              <a:t>8.3  </a:t>
            </a:r>
            <a:r>
              <a:rPr lang="zh-CN" altLang="en-US" dirty="0"/>
              <a:t>类型定义语句</a:t>
            </a:r>
          </a:p>
        </p:txBody>
      </p:sp>
      <p:sp>
        <p:nvSpPr>
          <p:cNvPr id="10" name="文本框 9">
            <a:extLst>
              <a:ext uri="{FF2B5EF4-FFF2-40B4-BE49-F238E27FC236}">
                <a16:creationId xmlns:a16="http://schemas.microsoft.com/office/drawing/2014/main" id="{9AE6C642-EA61-4260-B2C6-07DBB5BB52E2}"/>
              </a:ext>
            </a:extLst>
          </p:cNvPr>
          <p:cNvSpPr txBox="1"/>
          <p:nvPr/>
        </p:nvSpPr>
        <p:spPr>
          <a:xfrm>
            <a:off x="611578" y="1885991"/>
            <a:ext cx="10681856" cy="2585323"/>
          </a:xfrm>
          <a:prstGeom prst="rect">
            <a:avLst/>
          </a:prstGeom>
          <a:noFill/>
        </p:spPr>
        <p:txBody>
          <a:bodyPr wrap="square" rtlCol="0">
            <a:spAutoFit/>
          </a:bodyPr>
          <a:lstStyle/>
          <a:p>
            <a:r>
              <a:rPr lang="zh-CN" altLang="en-US" dirty="0">
                <a:latin typeface="Cascadia Code SemiLight" panose="020B0609020000020004" pitchFamily="49" charset="0"/>
                <a:cs typeface="Cascadia Code SemiLight" panose="020B0609020000020004" pitchFamily="49" charset="0"/>
              </a:rPr>
              <a:t>形式如下</a:t>
            </a:r>
            <a:endParaRPr lang="en-US" altLang="zh-CN" dirty="0">
              <a:latin typeface="Cascadia Code SemiLight" panose="020B0609020000020004" pitchFamily="49" charset="0"/>
              <a:cs typeface="Cascadia Code SemiLight" panose="020B0609020000020004" pitchFamily="49" charset="0"/>
            </a:endParaRPr>
          </a:p>
          <a:p>
            <a:pPr algn="ctr"/>
            <a:r>
              <a:rPr lang="en-US" altLang="zh-CN" dirty="0">
                <a:latin typeface="Cascadia Code SemiLight" panose="020B0609020000020004" pitchFamily="49" charset="0"/>
                <a:cs typeface="Cascadia Code SemiLight" panose="020B0609020000020004" pitchFamily="49" charset="0"/>
              </a:rPr>
              <a:t>typedef &lt;</a:t>
            </a:r>
            <a:r>
              <a:rPr lang="zh-CN" altLang="en-US" dirty="0">
                <a:latin typeface="Cascadia Code SemiLight" panose="020B0609020000020004" pitchFamily="49" charset="0"/>
                <a:cs typeface="Cascadia Code SemiLight" panose="020B0609020000020004" pitchFamily="49" charset="0"/>
              </a:rPr>
              <a:t>类型说明</a:t>
            </a:r>
            <a:r>
              <a:rPr lang="en-US" altLang="zh-CN" dirty="0">
                <a:latin typeface="Cascadia Code SemiLight" panose="020B0609020000020004" pitchFamily="49" charset="0"/>
                <a:cs typeface="Cascadia Code SemiLight" panose="020B0609020000020004" pitchFamily="49" charset="0"/>
              </a:rPr>
              <a:t>&gt; &lt;</a:t>
            </a:r>
            <a:r>
              <a:rPr lang="zh-CN" altLang="en-US" dirty="0">
                <a:latin typeface="Cascadia Code SemiLight" panose="020B0609020000020004" pitchFamily="49" charset="0"/>
                <a:cs typeface="Cascadia Code SemiLight" panose="020B0609020000020004" pitchFamily="49" charset="0"/>
              </a:rPr>
              <a:t>新类型名</a:t>
            </a:r>
            <a:r>
              <a:rPr lang="en-US" altLang="zh-CN" dirty="0">
                <a:latin typeface="Cascadia Code SemiLight" panose="020B0609020000020004" pitchFamily="49" charset="0"/>
                <a:cs typeface="Cascadia Code SemiLight" panose="020B0609020000020004" pitchFamily="49" charset="0"/>
              </a:rPr>
              <a:t>&gt;</a:t>
            </a:r>
          </a:p>
          <a:p>
            <a:r>
              <a:rPr lang="zh-CN" altLang="en-US" dirty="0">
                <a:latin typeface="Cascadia Code SemiLight" panose="020B0609020000020004" pitchFamily="49" charset="0"/>
                <a:cs typeface="Cascadia Code SemiLight" panose="020B0609020000020004" pitchFamily="49" charset="0"/>
              </a:rPr>
              <a:t>例如</a:t>
            </a:r>
            <a:br>
              <a:rPr lang="en-US" altLang="zh-CN" dirty="0">
                <a:latin typeface="Cascadia Code SemiLight" panose="020B0609020000020004" pitchFamily="49" charset="0"/>
                <a:cs typeface="Cascadia Code SemiLight" panose="020B0609020000020004" pitchFamily="49" charset="0"/>
              </a:rPr>
            </a:br>
            <a:r>
              <a:rPr lang="en-US" altLang="zh-CN" dirty="0">
                <a:latin typeface="Cascadia Code SemiLight" panose="020B0609020000020004" pitchFamily="49" charset="0"/>
                <a:cs typeface="Cascadia Code SemiLight" panose="020B0609020000020004" pitchFamily="49" charset="0"/>
              </a:rPr>
              <a:t>typedef int COUNTER;</a:t>
            </a:r>
          </a:p>
          <a:p>
            <a:r>
              <a:rPr lang="en-US" altLang="zh-CN" dirty="0">
                <a:latin typeface="Cascadia Code SemiLight" panose="020B0609020000020004" pitchFamily="49" charset="0"/>
                <a:cs typeface="Cascadia Code SemiLight" panose="020B0609020000020004" pitchFamily="49" charset="0"/>
              </a:rPr>
              <a:t>typedef struct _Employee {</a:t>
            </a:r>
            <a:r>
              <a:rPr lang="zh-CN" altLang="en-US" dirty="0">
                <a:latin typeface="Cascadia Code SemiLight" panose="020B0609020000020004" pitchFamily="49" charset="0"/>
                <a:cs typeface="Cascadia Code SemiLight" panose="020B0609020000020004" pitchFamily="49" charset="0"/>
              </a:rPr>
              <a:t>相关定义</a:t>
            </a:r>
            <a:r>
              <a:rPr lang="en-US" altLang="zh-CN" dirty="0">
                <a:latin typeface="Cascadia Code SemiLight" panose="020B0609020000020004" pitchFamily="49" charset="0"/>
                <a:cs typeface="Cascadia Code SemiLight" panose="020B0609020000020004" pitchFamily="49" charset="0"/>
              </a:rPr>
              <a:t>} Employee;</a:t>
            </a:r>
          </a:p>
          <a:p>
            <a:endParaRPr lang="en-US" altLang="zh-CN" dirty="0">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之后，可以编写以下代码</a:t>
            </a:r>
            <a:endParaRPr lang="en-US" altLang="zh-CN" dirty="0">
              <a:latin typeface="Cascadia Code SemiLight" panose="020B0609020000020004" pitchFamily="49" charset="0"/>
              <a:cs typeface="Cascadia Code SemiLight" panose="020B0609020000020004" pitchFamily="49" charset="0"/>
            </a:endParaRPr>
          </a:p>
          <a:p>
            <a:r>
              <a:rPr lang="en-US" altLang="zh-CN" dirty="0">
                <a:latin typeface="Cascadia Code SemiLight" panose="020B0609020000020004" pitchFamily="49" charset="0"/>
                <a:cs typeface="Cascadia Code SemiLight" panose="020B0609020000020004" pitchFamily="49" charset="0"/>
              </a:rPr>
              <a:t>COUNTER a; // </a:t>
            </a:r>
            <a:r>
              <a:rPr lang="zh-CN" altLang="en-US" dirty="0">
                <a:latin typeface="Cascadia Code SemiLight" panose="020B0609020000020004" pitchFamily="49" charset="0"/>
                <a:cs typeface="Cascadia Code SemiLight" panose="020B0609020000020004" pitchFamily="49" charset="0"/>
              </a:rPr>
              <a:t>等价于 </a:t>
            </a:r>
            <a:r>
              <a:rPr lang="en-US" altLang="zh-CN" dirty="0">
                <a:latin typeface="Cascadia Code SemiLight" panose="020B0609020000020004" pitchFamily="49" charset="0"/>
                <a:cs typeface="Cascadia Code SemiLight" panose="020B0609020000020004" pitchFamily="49" charset="0"/>
              </a:rPr>
              <a:t>int a;</a:t>
            </a:r>
          </a:p>
          <a:p>
            <a:r>
              <a:rPr lang="en-US" altLang="zh-CN" dirty="0">
                <a:latin typeface="Cascadia Code SemiLight" panose="020B0609020000020004" pitchFamily="49" charset="0"/>
                <a:cs typeface="Cascadia Code SemiLight" panose="020B0609020000020004" pitchFamily="49" charset="0"/>
              </a:rPr>
              <a:t>Employee wang; // </a:t>
            </a:r>
            <a:r>
              <a:rPr lang="zh-CN" altLang="en-US" dirty="0">
                <a:latin typeface="Cascadia Code SemiLight" panose="020B0609020000020004" pitchFamily="49" charset="0"/>
                <a:cs typeface="Cascadia Code SemiLight" panose="020B0609020000020004" pitchFamily="49" charset="0"/>
              </a:rPr>
              <a:t>等价于 </a:t>
            </a:r>
            <a:r>
              <a:rPr lang="en-US" altLang="zh-CN" dirty="0">
                <a:latin typeface="Cascadia Code SemiLight" panose="020B0609020000020004" pitchFamily="49" charset="0"/>
                <a:cs typeface="Cascadia Code SemiLight" panose="020B0609020000020004" pitchFamily="49" charset="0"/>
              </a:rPr>
              <a:t>struct _Employee wang;</a:t>
            </a:r>
          </a:p>
        </p:txBody>
      </p:sp>
    </p:spTree>
    <p:extLst>
      <p:ext uri="{BB962C8B-B14F-4D97-AF65-F5344CB8AC3E}">
        <p14:creationId xmlns:p14="http://schemas.microsoft.com/office/powerpoint/2010/main" val="13600006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521207" y="448056"/>
            <a:ext cx="10552533" cy="640080"/>
          </a:xfrm>
        </p:spPr>
        <p:txBody>
          <a:bodyPr rtlCol="0">
            <a:noAutofit/>
          </a:bodyPr>
          <a:lstStyle/>
          <a:p>
            <a:pPr rtl="0"/>
            <a:r>
              <a:rPr lang="en-US" altLang="zh-CN" dirty="0">
                <a:cs typeface="Segoe UI Light" panose="020B0502040204020203" pitchFamily="34" charset="0"/>
              </a:rPr>
              <a:t>Chapter 8  </a:t>
            </a:r>
            <a:r>
              <a:rPr lang="zh-CN" altLang="en-US" dirty="0">
                <a:cs typeface="Segoe UI Light" panose="020B0502040204020203" pitchFamily="34" charset="0"/>
              </a:rPr>
              <a:t>结构和联合</a:t>
            </a:r>
          </a:p>
        </p:txBody>
      </p:sp>
      <p:sp>
        <p:nvSpPr>
          <p:cNvPr id="5" name="文本框 4">
            <a:extLst>
              <a:ext uri="{FF2B5EF4-FFF2-40B4-BE49-F238E27FC236}">
                <a16:creationId xmlns:a16="http://schemas.microsoft.com/office/drawing/2014/main" id="{88ABA98C-CA39-40C1-B398-04CEFBDC2AD2}"/>
              </a:ext>
            </a:extLst>
          </p:cNvPr>
          <p:cNvSpPr txBox="1"/>
          <p:nvPr/>
        </p:nvSpPr>
        <p:spPr>
          <a:xfrm>
            <a:off x="611578" y="1413164"/>
            <a:ext cx="4372205" cy="369332"/>
          </a:xfrm>
          <a:prstGeom prst="rect">
            <a:avLst/>
          </a:prstGeom>
          <a:noFill/>
        </p:spPr>
        <p:txBody>
          <a:bodyPr wrap="square" rtlCol="0">
            <a:spAutoFit/>
          </a:bodyPr>
          <a:lstStyle/>
          <a:p>
            <a:r>
              <a:rPr lang="en-US" altLang="zh-CN" dirty="0"/>
              <a:t>8.4  </a:t>
            </a:r>
            <a:r>
              <a:rPr lang="zh-CN" altLang="en-US" dirty="0"/>
              <a:t>枚举类型（应该不考）</a:t>
            </a:r>
          </a:p>
        </p:txBody>
      </p:sp>
      <p:sp>
        <p:nvSpPr>
          <p:cNvPr id="10" name="文本框 9">
            <a:extLst>
              <a:ext uri="{FF2B5EF4-FFF2-40B4-BE49-F238E27FC236}">
                <a16:creationId xmlns:a16="http://schemas.microsoft.com/office/drawing/2014/main" id="{9AE6C642-EA61-4260-B2C6-07DBB5BB52E2}"/>
              </a:ext>
            </a:extLst>
          </p:cNvPr>
          <p:cNvSpPr txBox="1"/>
          <p:nvPr/>
        </p:nvSpPr>
        <p:spPr>
          <a:xfrm>
            <a:off x="611578" y="1885991"/>
            <a:ext cx="10681856" cy="2308324"/>
          </a:xfrm>
          <a:prstGeom prst="rect">
            <a:avLst/>
          </a:prstGeom>
          <a:noFill/>
        </p:spPr>
        <p:txBody>
          <a:bodyPr wrap="square" rtlCol="0">
            <a:spAutoFit/>
          </a:bodyPr>
          <a:lstStyle/>
          <a:p>
            <a:r>
              <a:rPr lang="zh-CN" altLang="en-US" dirty="0">
                <a:latin typeface="Cascadia Code SemiLight" panose="020B0609020000020004" pitchFamily="49" charset="0"/>
                <a:cs typeface="Cascadia Code SemiLight" panose="020B0609020000020004" pitchFamily="49" charset="0"/>
              </a:rPr>
              <a:t>形式如下</a:t>
            </a:r>
            <a:endParaRPr lang="en-US" altLang="zh-CN" dirty="0">
              <a:latin typeface="Cascadia Code SemiLight" panose="020B0609020000020004" pitchFamily="49" charset="0"/>
              <a:cs typeface="Cascadia Code SemiLight" panose="020B0609020000020004" pitchFamily="49" charset="0"/>
            </a:endParaRPr>
          </a:p>
          <a:p>
            <a:pPr algn="ctr"/>
            <a:r>
              <a:rPr lang="en-US" altLang="zh-CN" dirty="0" err="1">
                <a:latin typeface="Cascadia Code SemiLight" panose="020B0609020000020004" pitchFamily="49" charset="0"/>
                <a:cs typeface="Cascadia Code SemiLight" panose="020B0609020000020004" pitchFamily="49" charset="0"/>
              </a:rPr>
              <a:t>enum</a:t>
            </a:r>
            <a:r>
              <a:rPr lang="en-US" altLang="zh-CN" dirty="0">
                <a:latin typeface="Cascadia Code SemiLight" panose="020B0609020000020004" pitchFamily="49" charset="0"/>
                <a:cs typeface="Cascadia Code SemiLight" panose="020B0609020000020004" pitchFamily="49" charset="0"/>
              </a:rPr>
              <a:t> </a:t>
            </a:r>
            <a:r>
              <a:rPr lang="zh-CN" altLang="en-US" dirty="0">
                <a:latin typeface="Cascadia Code SemiLight" panose="020B0609020000020004" pitchFamily="49" charset="0"/>
                <a:cs typeface="Cascadia Code SemiLight" panose="020B0609020000020004" pitchFamily="49" charset="0"/>
              </a:rPr>
              <a:t>枚举类型名 </a:t>
            </a:r>
            <a:r>
              <a:rPr lang="en-US" altLang="zh-CN" dirty="0">
                <a:latin typeface="Cascadia Code SemiLight" panose="020B0609020000020004" pitchFamily="49" charset="0"/>
                <a:cs typeface="Cascadia Code SemiLight" panose="020B0609020000020004" pitchFamily="49" charset="0"/>
              </a:rPr>
              <a:t>{</a:t>
            </a:r>
            <a:r>
              <a:rPr lang="zh-CN" altLang="en-US" dirty="0">
                <a:latin typeface="Cascadia Code SemiLight" panose="020B0609020000020004" pitchFamily="49" charset="0"/>
                <a:cs typeface="Cascadia Code SemiLight" panose="020B0609020000020004" pitchFamily="49" charset="0"/>
              </a:rPr>
              <a:t>枚举元素表</a:t>
            </a:r>
            <a:r>
              <a:rPr lang="en-US" altLang="zh-CN" dirty="0">
                <a:latin typeface="Cascadia Code SemiLight" panose="020B0609020000020004" pitchFamily="49" charset="0"/>
                <a:cs typeface="Cascadia Code SemiLight" panose="020B0609020000020004" pitchFamily="49" charset="0"/>
              </a:rPr>
              <a:t>};</a:t>
            </a:r>
          </a:p>
          <a:p>
            <a:r>
              <a:rPr lang="zh-CN" altLang="en-US" dirty="0">
                <a:latin typeface="Cascadia Code SemiLight" panose="020B0609020000020004" pitchFamily="49" charset="0"/>
                <a:cs typeface="Cascadia Code SemiLight" panose="020B0609020000020004" pitchFamily="49" charset="0"/>
              </a:rPr>
              <a:t>可以定义枚举类型变量，形式如下</a:t>
            </a:r>
            <a:endParaRPr lang="en-US" altLang="zh-CN" dirty="0">
              <a:latin typeface="Cascadia Code SemiLight" panose="020B0609020000020004" pitchFamily="49" charset="0"/>
              <a:cs typeface="Cascadia Code SemiLight" panose="020B0609020000020004" pitchFamily="49" charset="0"/>
            </a:endParaRPr>
          </a:p>
          <a:p>
            <a:pPr algn="ctr"/>
            <a:r>
              <a:rPr lang="en-US" altLang="zh-CN" dirty="0">
                <a:latin typeface="Cascadia Code SemiLight" panose="020B0609020000020004" pitchFamily="49" charset="0"/>
                <a:cs typeface="Cascadia Code SemiLight" panose="020B0609020000020004" pitchFamily="49" charset="0"/>
              </a:rPr>
              <a:t>&lt;</a:t>
            </a:r>
            <a:r>
              <a:rPr lang="zh-CN" altLang="en-US" dirty="0">
                <a:latin typeface="Cascadia Code SemiLight" panose="020B0609020000020004" pitchFamily="49" charset="0"/>
                <a:cs typeface="Cascadia Code SemiLight" panose="020B0609020000020004" pitchFamily="49" charset="0"/>
              </a:rPr>
              <a:t>存储类型</a:t>
            </a:r>
            <a:r>
              <a:rPr lang="en-US" altLang="zh-CN" dirty="0">
                <a:latin typeface="Cascadia Code SemiLight" panose="020B0609020000020004" pitchFamily="49" charset="0"/>
                <a:cs typeface="Cascadia Code SemiLight" panose="020B0609020000020004" pitchFamily="49" charset="0"/>
              </a:rPr>
              <a:t>&gt; </a:t>
            </a:r>
            <a:r>
              <a:rPr lang="en-US" altLang="zh-CN" dirty="0" err="1">
                <a:latin typeface="Cascadia Code SemiLight" panose="020B0609020000020004" pitchFamily="49" charset="0"/>
                <a:cs typeface="Cascadia Code SemiLight" panose="020B0609020000020004" pitchFamily="49" charset="0"/>
              </a:rPr>
              <a:t>enum</a:t>
            </a:r>
            <a:r>
              <a:rPr lang="en-US" altLang="zh-CN" dirty="0">
                <a:latin typeface="Cascadia Code SemiLight" panose="020B0609020000020004" pitchFamily="49" charset="0"/>
                <a:cs typeface="Cascadia Code SemiLight" panose="020B0609020000020004" pitchFamily="49" charset="0"/>
              </a:rPr>
              <a:t> </a:t>
            </a:r>
            <a:r>
              <a:rPr lang="zh-CN" altLang="en-US" dirty="0">
                <a:latin typeface="Cascadia Code SemiLight" panose="020B0609020000020004" pitchFamily="49" charset="0"/>
                <a:cs typeface="Cascadia Code SemiLight" panose="020B0609020000020004" pitchFamily="49" charset="0"/>
              </a:rPr>
              <a:t>枚举类型名 枚举变量名</a:t>
            </a:r>
            <a:r>
              <a:rPr lang="en-US" altLang="zh-CN" dirty="0">
                <a:latin typeface="Cascadia Code SemiLight" panose="020B0609020000020004" pitchFamily="49" charset="0"/>
                <a:cs typeface="Cascadia Code SemiLight" panose="020B0609020000020004" pitchFamily="49" charset="0"/>
              </a:rPr>
              <a:t>;</a:t>
            </a:r>
          </a:p>
          <a:p>
            <a:r>
              <a:rPr lang="zh-CN" altLang="en-US" dirty="0">
                <a:latin typeface="Cascadia Code SemiLight" panose="020B0609020000020004" pitchFamily="49" charset="0"/>
                <a:cs typeface="Cascadia Code SemiLight" panose="020B0609020000020004" pitchFamily="49" charset="0"/>
              </a:rPr>
              <a:t>例如</a:t>
            </a:r>
            <a:endParaRPr lang="en-US" altLang="zh-CN" dirty="0">
              <a:latin typeface="Cascadia Code SemiLight" panose="020B0609020000020004" pitchFamily="49" charset="0"/>
              <a:cs typeface="Cascadia Code SemiLight" panose="020B0609020000020004" pitchFamily="49" charset="0"/>
            </a:endParaRPr>
          </a:p>
          <a:p>
            <a:r>
              <a:rPr lang="en-US" altLang="zh-CN" dirty="0" err="1">
                <a:latin typeface="Cascadia Code SemiLight" panose="020B0609020000020004" pitchFamily="49" charset="0"/>
                <a:cs typeface="Cascadia Code SemiLight" panose="020B0609020000020004" pitchFamily="49" charset="0"/>
              </a:rPr>
              <a:t>enum</a:t>
            </a:r>
            <a:r>
              <a:rPr lang="en-US" altLang="zh-CN" dirty="0">
                <a:latin typeface="Cascadia Code SemiLight" panose="020B0609020000020004" pitchFamily="49" charset="0"/>
                <a:cs typeface="Cascadia Code SemiLight" panose="020B0609020000020004" pitchFamily="49" charset="0"/>
              </a:rPr>
              <a:t> RGB {RED, GREEN, BLUE}; // </a:t>
            </a:r>
            <a:r>
              <a:rPr lang="zh-CN" altLang="en-US" dirty="0">
                <a:latin typeface="Cascadia Code SemiLight" panose="020B0609020000020004" pitchFamily="49" charset="0"/>
                <a:cs typeface="Cascadia Code SemiLight" panose="020B0609020000020004" pitchFamily="49" charset="0"/>
              </a:rPr>
              <a:t>此处，默认枚举元素从左到右用</a:t>
            </a:r>
            <a:r>
              <a:rPr lang="en-US" altLang="zh-CN" dirty="0">
                <a:latin typeface="Cascadia Code SemiLight" panose="020B0609020000020004" pitchFamily="49" charset="0"/>
                <a:cs typeface="Cascadia Code SemiLight" panose="020B0609020000020004" pitchFamily="49" charset="0"/>
              </a:rPr>
              <a:t>int</a:t>
            </a:r>
            <a:r>
              <a:rPr lang="zh-CN" altLang="en-US" dirty="0">
                <a:latin typeface="Cascadia Code SemiLight" panose="020B0609020000020004" pitchFamily="49" charset="0"/>
                <a:cs typeface="Cascadia Code SemiLight" panose="020B0609020000020004" pitchFamily="49" charset="0"/>
              </a:rPr>
              <a:t>数从</a:t>
            </a:r>
            <a:r>
              <a:rPr lang="en-US" altLang="zh-CN" dirty="0">
                <a:latin typeface="Cascadia Code SemiLight" panose="020B0609020000020004" pitchFamily="49" charset="0"/>
                <a:cs typeface="Cascadia Code SemiLight" panose="020B0609020000020004" pitchFamily="49" charset="0"/>
              </a:rPr>
              <a:t>0</a:t>
            </a:r>
            <a:r>
              <a:rPr lang="zh-CN" altLang="en-US" dirty="0">
                <a:latin typeface="Cascadia Code SemiLight" panose="020B0609020000020004" pitchFamily="49" charset="0"/>
                <a:cs typeface="Cascadia Code SemiLight" panose="020B0609020000020004" pitchFamily="49" charset="0"/>
              </a:rPr>
              <a:t>到</a:t>
            </a:r>
            <a:r>
              <a:rPr lang="en-US" altLang="zh-CN" dirty="0">
                <a:latin typeface="Cascadia Code SemiLight" panose="020B0609020000020004" pitchFamily="49" charset="0"/>
                <a:cs typeface="Cascadia Code SemiLight" panose="020B0609020000020004" pitchFamily="49" charset="0"/>
              </a:rPr>
              <a:t>n</a:t>
            </a:r>
            <a:r>
              <a:rPr lang="zh-CN" altLang="en-US" dirty="0">
                <a:latin typeface="Cascadia Code SemiLight" panose="020B0609020000020004" pitchFamily="49" charset="0"/>
                <a:cs typeface="Cascadia Code SemiLight" panose="020B0609020000020004" pitchFamily="49" charset="0"/>
              </a:rPr>
              <a:t>表示，如</a:t>
            </a:r>
            <a:r>
              <a:rPr lang="en-US" altLang="zh-CN" dirty="0">
                <a:latin typeface="Cascadia Code SemiLight" panose="020B0609020000020004" pitchFamily="49" charset="0"/>
                <a:cs typeface="Cascadia Code SemiLight" panose="020B0609020000020004" pitchFamily="49" charset="0"/>
              </a:rPr>
              <a:t>RED=0</a:t>
            </a:r>
          </a:p>
          <a:p>
            <a:r>
              <a:rPr lang="en-US" altLang="zh-CN" dirty="0" err="1">
                <a:latin typeface="Cascadia Code SemiLight" panose="020B0609020000020004" pitchFamily="49" charset="0"/>
                <a:cs typeface="Cascadia Code SemiLight" panose="020B0609020000020004" pitchFamily="49" charset="0"/>
              </a:rPr>
              <a:t>enum</a:t>
            </a:r>
            <a:r>
              <a:rPr lang="en-US" altLang="zh-CN" dirty="0">
                <a:latin typeface="Cascadia Code SemiLight" panose="020B0609020000020004" pitchFamily="49" charset="0"/>
                <a:cs typeface="Cascadia Code SemiLight" panose="020B0609020000020004" pitchFamily="49" charset="0"/>
              </a:rPr>
              <a:t> RGB color1 = RED;</a:t>
            </a:r>
          </a:p>
          <a:p>
            <a:endParaRPr lang="en-US" altLang="zh-CN" dirty="0">
              <a:latin typeface="Cascadia Code SemiLight" panose="020B0609020000020004" pitchFamily="49" charset="0"/>
              <a:cs typeface="Cascadia Code SemiLight" panose="020B0609020000020004" pitchFamily="49" charset="0"/>
            </a:endParaRPr>
          </a:p>
        </p:txBody>
      </p:sp>
    </p:spTree>
    <p:extLst>
      <p:ext uri="{BB962C8B-B14F-4D97-AF65-F5344CB8AC3E}">
        <p14:creationId xmlns:p14="http://schemas.microsoft.com/office/powerpoint/2010/main" val="10053789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521207" y="448056"/>
            <a:ext cx="10552533" cy="640080"/>
          </a:xfrm>
        </p:spPr>
        <p:txBody>
          <a:bodyPr rtlCol="0">
            <a:noAutofit/>
          </a:bodyPr>
          <a:lstStyle/>
          <a:p>
            <a:pPr rtl="0"/>
            <a:r>
              <a:rPr lang="en-US" altLang="zh-CN" dirty="0">
                <a:cs typeface="Segoe UI Light" panose="020B0502040204020203" pitchFamily="34" charset="0"/>
              </a:rPr>
              <a:t>Chapter 10  </a:t>
            </a:r>
            <a:r>
              <a:rPr lang="zh-CN" altLang="en-US" dirty="0">
                <a:cs typeface="Segoe UI Light" panose="020B0502040204020203" pitchFamily="34" charset="0"/>
              </a:rPr>
              <a:t>编译预处理</a:t>
            </a:r>
          </a:p>
        </p:txBody>
      </p:sp>
      <p:sp>
        <p:nvSpPr>
          <p:cNvPr id="5" name="文本框 4">
            <a:extLst>
              <a:ext uri="{FF2B5EF4-FFF2-40B4-BE49-F238E27FC236}">
                <a16:creationId xmlns:a16="http://schemas.microsoft.com/office/drawing/2014/main" id="{88ABA98C-CA39-40C1-B398-04CEFBDC2AD2}"/>
              </a:ext>
            </a:extLst>
          </p:cNvPr>
          <p:cNvSpPr txBox="1"/>
          <p:nvPr/>
        </p:nvSpPr>
        <p:spPr>
          <a:xfrm>
            <a:off x="611578" y="1413164"/>
            <a:ext cx="4372205" cy="369332"/>
          </a:xfrm>
          <a:prstGeom prst="rect">
            <a:avLst/>
          </a:prstGeom>
          <a:noFill/>
        </p:spPr>
        <p:txBody>
          <a:bodyPr wrap="square" rtlCol="0">
            <a:spAutoFit/>
          </a:bodyPr>
          <a:lstStyle/>
          <a:p>
            <a:r>
              <a:rPr lang="en-US" altLang="zh-CN" dirty="0"/>
              <a:t>10.1  #define  </a:t>
            </a:r>
            <a:r>
              <a:rPr lang="zh-CN" altLang="en-US" dirty="0"/>
              <a:t>和</a:t>
            </a:r>
            <a:r>
              <a:rPr lang="en-US" altLang="zh-CN" dirty="0"/>
              <a:t>#include</a:t>
            </a:r>
            <a:endParaRPr lang="zh-CN" altLang="en-US" dirty="0"/>
          </a:p>
        </p:txBody>
      </p:sp>
      <p:sp>
        <p:nvSpPr>
          <p:cNvPr id="10" name="文本框 9">
            <a:extLst>
              <a:ext uri="{FF2B5EF4-FFF2-40B4-BE49-F238E27FC236}">
                <a16:creationId xmlns:a16="http://schemas.microsoft.com/office/drawing/2014/main" id="{9AE6C642-EA61-4260-B2C6-07DBB5BB52E2}"/>
              </a:ext>
            </a:extLst>
          </p:cNvPr>
          <p:cNvSpPr txBox="1"/>
          <p:nvPr/>
        </p:nvSpPr>
        <p:spPr>
          <a:xfrm>
            <a:off x="611578" y="1885991"/>
            <a:ext cx="10681856" cy="2585323"/>
          </a:xfrm>
          <a:prstGeom prst="rect">
            <a:avLst/>
          </a:prstGeom>
          <a:noFill/>
        </p:spPr>
        <p:txBody>
          <a:bodyPr wrap="square" rtlCol="0">
            <a:spAutoFit/>
          </a:bodyPr>
          <a:lstStyle/>
          <a:p>
            <a:r>
              <a:rPr lang="en-US" altLang="zh-CN" dirty="0">
                <a:latin typeface="Cascadia Code SemiLight" panose="020B0609020000020004" pitchFamily="49" charset="0"/>
                <a:cs typeface="Cascadia Code SemiLight" panose="020B0609020000020004" pitchFamily="49" charset="0"/>
              </a:rPr>
              <a:t>#define</a:t>
            </a:r>
            <a:r>
              <a:rPr lang="zh-CN" altLang="en-US" dirty="0">
                <a:latin typeface="Cascadia Code SemiLight" panose="020B0609020000020004" pitchFamily="49" charset="0"/>
                <a:cs typeface="Cascadia Code SemiLight" panose="020B0609020000020004" pitchFamily="49" charset="0"/>
              </a:rPr>
              <a:t>形式如下</a:t>
            </a:r>
            <a:endParaRPr lang="en-US" altLang="zh-CN" dirty="0">
              <a:latin typeface="Cascadia Code SemiLight" panose="020B0609020000020004" pitchFamily="49" charset="0"/>
              <a:cs typeface="Cascadia Code SemiLight" panose="020B0609020000020004" pitchFamily="49" charset="0"/>
            </a:endParaRPr>
          </a:p>
          <a:p>
            <a:pPr algn="ctr"/>
            <a:r>
              <a:rPr lang="en-US" altLang="zh-CN" dirty="0">
                <a:latin typeface="Cascadia Code SemiLight" panose="020B0609020000020004" pitchFamily="49" charset="0"/>
                <a:cs typeface="Cascadia Code SemiLight" panose="020B0609020000020004" pitchFamily="49" charset="0"/>
              </a:rPr>
              <a:t>#define </a:t>
            </a:r>
            <a:r>
              <a:rPr lang="zh-CN" altLang="en-US" dirty="0">
                <a:latin typeface="Cascadia Code SemiLight" panose="020B0609020000020004" pitchFamily="49" charset="0"/>
                <a:cs typeface="Cascadia Code SemiLight" panose="020B0609020000020004" pitchFamily="49" charset="0"/>
              </a:rPr>
              <a:t>标识符 某一类型的值</a:t>
            </a:r>
            <a:endParaRPr lang="en-US" altLang="zh-CN" dirty="0">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如</a:t>
            </a:r>
            <a:endParaRPr lang="en-US" altLang="zh-CN" dirty="0">
              <a:latin typeface="Cascadia Code SemiLight" panose="020B0609020000020004" pitchFamily="49" charset="0"/>
              <a:cs typeface="Cascadia Code SemiLight" panose="020B0609020000020004" pitchFamily="49" charset="0"/>
            </a:endParaRPr>
          </a:p>
          <a:p>
            <a:pPr algn="ctr"/>
            <a:r>
              <a:rPr lang="en-US" altLang="zh-CN" dirty="0">
                <a:latin typeface="Cascadia Code SemiLight" panose="020B0609020000020004" pitchFamily="49" charset="0"/>
                <a:cs typeface="Cascadia Code SemiLight" panose="020B0609020000020004" pitchFamily="49" charset="0"/>
              </a:rPr>
              <a:t>#define PI 3.1415926</a:t>
            </a:r>
          </a:p>
          <a:p>
            <a:pPr algn="ctr"/>
            <a:endParaRPr lang="en-US" altLang="zh-CN" dirty="0">
              <a:latin typeface="Cascadia Code SemiLight" panose="020B0609020000020004" pitchFamily="49" charset="0"/>
              <a:cs typeface="Cascadia Code SemiLight" panose="020B0609020000020004" pitchFamily="49" charset="0"/>
            </a:endParaRPr>
          </a:p>
          <a:p>
            <a:r>
              <a:rPr lang="en-US" altLang="zh-CN" dirty="0">
                <a:latin typeface="Cascadia Code SemiLight" panose="020B0609020000020004" pitchFamily="49" charset="0"/>
                <a:cs typeface="Cascadia Code SemiLight" panose="020B0609020000020004" pitchFamily="49" charset="0"/>
              </a:rPr>
              <a:t>#include</a:t>
            </a:r>
            <a:r>
              <a:rPr lang="zh-CN" altLang="en-US" dirty="0">
                <a:latin typeface="Cascadia Code SemiLight" panose="020B0609020000020004" pitchFamily="49" charset="0"/>
                <a:cs typeface="Cascadia Code SemiLight" panose="020B0609020000020004" pitchFamily="49" charset="0"/>
              </a:rPr>
              <a:t>形式如下</a:t>
            </a:r>
            <a:endParaRPr lang="en-US" altLang="zh-CN" dirty="0">
              <a:latin typeface="Cascadia Code SemiLight" panose="020B0609020000020004" pitchFamily="49" charset="0"/>
              <a:cs typeface="Cascadia Code SemiLight" panose="020B0609020000020004" pitchFamily="49" charset="0"/>
            </a:endParaRPr>
          </a:p>
          <a:p>
            <a:pPr algn="ctr"/>
            <a:r>
              <a:rPr lang="en-US" altLang="zh-CN" dirty="0">
                <a:latin typeface="Cascadia Code SemiLight" panose="020B0609020000020004" pitchFamily="49" charset="0"/>
                <a:cs typeface="Cascadia Code SemiLight" panose="020B0609020000020004" pitchFamily="49" charset="0"/>
              </a:rPr>
              <a:t>#include &lt;</a:t>
            </a:r>
            <a:r>
              <a:rPr lang="zh-CN" altLang="en-US" dirty="0">
                <a:latin typeface="Cascadia Code SemiLight" panose="020B0609020000020004" pitchFamily="49" charset="0"/>
                <a:cs typeface="Cascadia Code SemiLight" panose="020B0609020000020004" pitchFamily="49" charset="0"/>
              </a:rPr>
              <a:t>头文件名</a:t>
            </a:r>
            <a:r>
              <a:rPr lang="en-US" altLang="zh-CN" dirty="0">
                <a:latin typeface="Cascadia Code SemiLight" panose="020B0609020000020004" pitchFamily="49" charset="0"/>
                <a:cs typeface="Cascadia Code SemiLight" panose="020B0609020000020004" pitchFamily="49" charset="0"/>
              </a:rPr>
              <a:t>.h&gt;</a:t>
            </a:r>
          </a:p>
          <a:p>
            <a:r>
              <a:rPr lang="zh-CN" altLang="en-US" dirty="0">
                <a:latin typeface="Cascadia Code SemiLight" panose="020B0609020000020004" pitchFamily="49" charset="0"/>
                <a:cs typeface="Cascadia Code SemiLight" panose="020B0609020000020004" pitchFamily="49" charset="0"/>
              </a:rPr>
              <a:t>如（在绝大多数</a:t>
            </a:r>
            <a:r>
              <a:rPr lang="en-US" altLang="zh-CN" dirty="0">
                <a:latin typeface="Cascadia Code SemiLight" panose="020B0609020000020004" pitchFamily="49" charset="0"/>
                <a:cs typeface="Cascadia Code SemiLight" panose="020B0609020000020004" pitchFamily="49" charset="0"/>
              </a:rPr>
              <a:t>C</a:t>
            </a:r>
            <a:r>
              <a:rPr lang="zh-CN" altLang="en-US" dirty="0">
                <a:latin typeface="Cascadia Code SemiLight" panose="020B0609020000020004" pitchFamily="49" charset="0"/>
                <a:cs typeface="Cascadia Code SemiLight" panose="020B0609020000020004" pitchFamily="49" charset="0"/>
              </a:rPr>
              <a:t>语言程序中都会有）</a:t>
            </a:r>
            <a:endParaRPr lang="en-US" altLang="zh-CN" dirty="0">
              <a:latin typeface="Cascadia Code SemiLight" panose="020B0609020000020004" pitchFamily="49" charset="0"/>
              <a:cs typeface="Cascadia Code SemiLight" panose="020B0609020000020004" pitchFamily="49" charset="0"/>
            </a:endParaRPr>
          </a:p>
          <a:p>
            <a:pPr algn="ctr"/>
            <a:r>
              <a:rPr lang="en-US" altLang="zh-CN" dirty="0">
                <a:latin typeface="Cascadia Code SemiLight" panose="020B0609020000020004" pitchFamily="49" charset="0"/>
                <a:cs typeface="Cascadia Code SemiLight" panose="020B0609020000020004" pitchFamily="49" charset="0"/>
              </a:rPr>
              <a:t>#include&lt;stdio.h&gt; // </a:t>
            </a:r>
            <a:r>
              <a:rPr lang="en-US" altLang="zh-CN" dirty="0" err="1">
                <a:latin typeface="Cascadia Code SemiLight" panose="020B0609020000020004" pitchFamily="49" charset="0"/>
                <a:cs typeface="Cascadia Code SemiLight" panose="020B0609020000020004" pitchFamily="49" charset="0"/>
              </a:rPr>
              <a:t>stdio.h</a:t>
            </a:r>
            <a:r>
              <a:rPr lang="zh-CN" altLang="en-US" dirty="0">
                <a:latin typeface="Cascadia Code SemiLight" panose="020B0609020000020004" pitchFamily="49" charset="0"/>
                <a:cs typeface="Cascadia Code SemiLight" panose="020B0609020000020004" pitchFamily="49" charset="0"/>
              </a:rPr>
              <a:t>提供如</a:t>
            </a:r>
            <a:r>
              <a:rPr lang="en-US" altLang="zh-CN" dirty="0" err="1">
                <a:latin typeface="Cascadia Code SemiLight" panose="020B0609020000020004" pitchFamily="49" charset="0"/>
                <a:cs typeface="Cascadia Code SemiLight" panose="020B0609020000020004" pitchFamily="49" charset="0"/>
              </a:rPr>
              <a:t>printf</a:t>
            </a:r>
            <a:r>
              <a:rPr lang="en-US" altLang="zh-CN" dirty="0">
                <a:latin typeface="Cascadia Code SemiLight" panose="020B0609020000020004" pitchFamily="49" charset="0"/>
                <a:cs typeface="Cascadia Code SemiLight" panose="020B0609020000020004" pitchFamily="49" charset="0"/>
              </a:rPr>
              <a:t>  </a:t>
            </a:r>
            <a:r>
              <a:rPr lang="en-US" altLang="zh-CN" dirty="0" err="1">
                <a:latin typeface="Cascadia Code SemiLight" panose="020B0609020000020004" pitchFamily="49" charset="0"/>
                <a:cs typeface="Cascadia Code SemiLight" panose="020B0609020000020004" pitchFamily="49" charset="0"/>
              </a:rPr>
              <a:t>scanf</a:t>
            </a:r>
            <a:r>
              <a:rPr lang="zh-CN" altLang="en-US" dirty="0">
                <a:latin typeface="Cascadia Code SemiLight" panose="020B0609020000020004" pitchFamily="49" charset="0"/>
                <a:cs typeface="Cascadia Code SemiLight" panose="020B0609020000020004" pitchFamily="49" charset="0"/>
              </a:rPr>
              <a:t>等函数</a:t>
            </a:r>
            <a:endParaRPr lang="en-US" altLang="zh-CN" dirty="0">
              <a:latin typeface="Cascadia Code SemiLight" panose="020B0609020000020004" pitchFamily="49" charset="0"/>
              <a:cs typeface="Cascadia Code SemiLight" panose="020B0609020000020004" pitchFamily="49" charset="0"/>
            </a:endParaRPr>
          </a:p>
        </p:txBody>
      </p:sp>
    </p:spTree>
    <p:extLst>
      <p:ext uri="{BB962C8B-B14F-4D97-AF65-F5344CB8AC3E}">
        <p14:creationId xmlns:p14="http://schemas.microsoft.com/office/powerpoint/2010/main" val="13517993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521207" y="448056"/>
            <a:ext cx="10552533" cy="640080"/>
          </a:xfrm>
        </p:spPr>
        <p:txBody>
          <a:bodyPr rtlCol="0">
            <a:noAutofit/>
          </a:bodyPr>
          <a:lstStyle/>
          <a:p>
            <a:pPr rtl="0"/>
            <a:r>
              <a:rPr lang="en-US" altLang="zh-CN" dirty="0">
                <a:cs typeface="Segoe UI Light" panose="020B0502040204020203" pitchFamily="34" charset="0"/>
              </a:rPr>
              <a:t>Chapter 10  </a:t>
            </a:r>
            <a:r>
              <a:rPr lang="zh-CN" altLang="en-US" dirty="0">
                <a:cs typeface="Segoe UI Light" panose="020B0502040204020203" pitchFamily="34" charset="0"/>
              </a:rPr>
              <a:t>编译预处理</a:t>
            </a:r>
          </a:p>
        </p:txBody>
      </p:sp>
      <p:sp>
        <p:nvSpPr>
          <p:cNvPr id="5" name="文本框 4">
            <a:extLst>
              <a:ext uri="{FF2B5EF4-FFF2-40B4-BE49-F238E27FC236}">
                <a16:creationId xmlns:a16="http://schemas.microsoft.com/office/drawing/2014/main" id="{88ABA98C-CA39-40C1-B398-04CEFBDC2AD2}"/>
              </a:ext>
            </a:extLst>
          </p:cNvPr>
          <p:cNvSpPr txBox="1"/>
          <p:nvPr/>
        </p:nvSpPr>
        <p:spPr>
          <a:xfrm>
            <a:off x="611578" y="1413164"/>
            <a:ext cx="4372205" cy="369332"/>
          </a:xfrm>
          <a:prstGeom prst="rect">
            <a:avLst/>
          </a:prstGeom>
          <a:noFill/>
        </p:spPr>
        <p:txBody>
          <a:bodyPr wrap="square" rtlCol="0">
            <a:spAutoFit/>
          </a:bodyPr>
          <a:lstStyle/>
          <a:p>
            <a:r>
              <a:rPr lang="en-US" altLang="zh-CN" dirty="0"/>
              <a:t>10.2  </a:t>
            </a:r>
            <a:r>
              <a:rPr lang="zh-CN" altLang="en-US" dirty="0"/>
              <a:t>条件处理和其他编译处理</a:t>
            </a:r>
          </a:p>
        </p:txBody>
      </p:sp>
      <p:sp>
        <p:nvSpPr>
          <p:cNvPr id="10" name="文本框 9">
            <a:extLst>
              <a:ext uri="{FF2B5EF4-FFF2-40B4-BE49-F238E27FC236}">
                <a16:creationId xmlns:a16="http://schemas.microsoft.com/office/drawing/2014/main" id="{9AE6C642-EA61-4260-B2C6-07DBB5BB52E2}"/>
              </a:ext>
            </a:extLst>
          </p:cNvPr>
          <p:cNvSpPr txBox="1"/>
          <p:nvPr/>
        </p:nvSpPr>
        <p:spPr>
          <a:xfrm>
            <a:off x="611578" y="1885991"/>
            <a:ext cx="10681856" cy="369332"/>
          </a:xfrm>
          <a:prstGeom prst="rect">
            <a:avLst/>
          </a:prstGeom>
          <a:noFill/>
        </p:spPr>
        <p:txBody>
          <a:bodyPr wrap="square" rtlCol="0">
            <a:spAutoFit/>
          </a:bodyPr>
          <a:lstStyle/>
          <a:p>
            <a:r>
              <a:rPr lang="zh-CN" altLang="en-US" dirty="0">
                <a:latin typeface="Cascadia Code SemiLight" panose="020B0609020000020004" pitchFamily="49" charset="0"/>
                <a:cs typeface="Cascadia Code SemiLight" panose="020B0609020000020004" pitchFamily="49" charset="0"/>
              </a:rPr>
              <a:t>这些都不会考，但是课设可能用到</a:t>
            </a:r>
            <a:endParaRPr lang="en-US" altLang="zh-CN" dirty="0">
              <a:latin typeface="Cascadia Code SemiLight" panose="020B0609020000020004" pitchFamily="49" charset="0"/>
              <a:cs typeface="Cascadia Code SemiLight" panose="020B0609020000020004" pitchFamily="49" charset="0"/>
            </a:endParaRPr>
          </a:p>
        </p:txBody>
      </p:sp>
    </p:spTree>
    <p:extLst>
      <p:ext uri="{BB962C8B-B14F-4D97-AF65-F5344CB8AC3E}">
        <p14:creationId xmlns:p14="http://schemas.microsoft.com/office/powerpoint/2010/main" val="27940705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521207" y="448056"/>
            <a:ext cx="10552533" cy="640080"/>
          </a:xfrm>
        </p:spPr>
        <p:txBody>
          <a:bodyPr rtlCol="0">
            <a:noAutofit/>
          </a:bodyPr>
          <a:lstStyle/>
          <a:p>
            <a:pPr rtl="0"/>
            <a:r>
              <a:rPr lang="zh-CN" altLang="en-US" dirty="0">
                <a:cs typeface="Segoe UI Light" panose="020B0502040204020203" pitchFamily="34" charset="0"/>
              </a:rPr>
              <a:t>考情提醒</a:t>
            </a:r>
          </a:p>
        </p:txBody>
      </p:sp>
      <p:sp>
        <p:nvSpPr>
          <p:cNvPr id="10" name="文本框 9">
            <a:extLst>
              <a:ext uri="{FF2B5EF4-FFF2-40B4-BE49-F238E27FC236}">
                <a16:creationId xmlns:a16="http://schemas.microsoft.com/office/drawing/2014/main" id="{9AE6C642-EA61-4260-B2C6-07DBB5BB52E2}"/>
              </a:ext>
            </a:extLst>
          </p:cNvPr>
          <p:cNvSpPr txBox="1"/>
          <p:nvPr/>
        </p:nvSpPr>
        <p:spPr>
          <a:xfrm>
            <a:off x="521207" y="1286286"/>
            <a:ext cx="10681856" cy="5355312"/>
          </a:xfrm>
          <a:prstGeom prst="rect">
            <a:avLst/>
          </a:prstGeom>
          <a:noFill/>
        </p:spPr>
        <p:txBody>
          <a:bodyPr wrap="square" rtlCol="0">
            <a:spAutoFit/>
          </a:bodyPr>
          <a:lstStyle/>
          <a:p>
            <a:r>
              <a:rPr lang="zh-CN" altLang="en-US" dirty="0">
                <a:latin typeface="Cascadia Code SemiLight" panose="020B0609020000020004" pitchFamily="49" charset="0"/>
                <a:cs typeface="Cascadia Code SemiLight" panose="020B0609020000020004" pitchFamily="49" charset="0"/>
              </a:rPr>
              <a:t>第一大题：判断题</a:t>
            </a:r>
            <a:endParaRPr lang="en-US" altLang="zh-CN" dirty="0">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考的全是细节，如果平时没注意只能多看几套卷子的判断题积累起来，如果可以，将这些内容整理起来</a:t>
            </a:r>
            <a:endParaRPr lang="en-US" altLang="zh-CN" dirty="0">
              <a:latin typeface="Cascadia Code SemiLight" panose="020B0609020000020004" pitchFamily="49" charset="0"/>
              <a:cs typeface="Cascadia Code SemiLight" panose="020B0609020000020004" pitchFamily="49" charset="0"/>
            </a:endParaRPr>
          </a:p>
          <a:p>
            <a:endParaRPr lang="en-US" altLang="zh-CN" dirty="0">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第二大题：计算表达式的值</a:t>
            </a:r>
            <a:endParaRPr lang="en-US" altLang="zh-CN" dirty="0">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牢记第二章的内容即可，</a:t>
            </a:r>
            <a:r>
              <a:rPr lang="zh-CN" altLang="en-US" dirty="0">
                <a:highlight>
                  <a:srgbClr val="FFFF00"/>
                </a:highlight>
                <a:latin typeface="Cascadia Code SemiLight" panose="020B0609020000020004" pitchFamily="49" charset="0"/>
                <a:cs typeface="Cascadia Code SemiLight" panose="020B0609020000020004" pitchFamily="49" charset="0"/>
              </a:rPr>
              <a:t>数据类型，运算符和表达式</a:t>
            </a:r>
            <a:r>
              <a:rPr lang="zh-CN" altLang="en-US" dirty="0">
                <a:latin typeface="Cascadia Code SemiLight" panose="020B0609020000020004" pitchFamily="49" charset="0"/>
                <a:cs typeface="Cascadia Code SemiLight" panose="020B0609020000020004" pitchFamily="49" charset="0"/>
              </a:rPr>
              <a:t>的全面考察</a:t>
            </a:r>
            <a:endParaRPr lang="en-US" altLang="zh-CN" dirty="0">
              <a:latin typeface="Cascadia Code SemiLight" panose="020B0609020000020004" pitchFamily="49" charset="0"/>
              <a:cs typeface="Cascadia Code SemiLight" panose="020B0609020000020004" pitchFamily="49" charset="0"/>
            </a:endParaRPr>
          </a:p>
          <a:p>
            <a:endParaRPr lang="en-US" altLang="zh-CN" dirty="0">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第三大题：程序改错</a:t>
            </a:r>
            <a:br>
              <a:rPr lang="en-US" altLang="zh-CN" dirty="0">
                <a:latin typeface="Cascadia Code SemiLight" panose="020B0609020000020004" pitchFamily="49" charset="0"/>
                <a:cs typeface="Cascadia Code SemiLight" panose="020B0609020000020004" pitchFamily="49" charset="0"/>
              </a:rPr>
            </a:br>
            <a:r>
              <a:rPr lang="zh-CN" altLang="en-US" dirty="0">
                <a:latin typeface="Cascadia Code SemiLight" panose="020B0609020000020004" pitchFamily="49" charset="0"/>
                <a:cs typeface="Cascadia Code SemiLight" panose="020B0609020000020004" pitchFamily="49" charset="0"/>
              </a:rPr>
              <a:t>程序错误包括：</a:t>
            </a:r>
            <a:endParaRPr lang="en-US" altLang="zh-CN" dirty="0">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①编译（语法）层面报错：变量定义或宏定义缺失，函数声明缺失，数据类型不匹配（包括赋值和传参时），格式化错误</a:t>
            </a:r>
            <a:endParaRPr lang="en-US" altLang="zh-CN" dirty="0">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②逻辑层面报错：不符合题目所说要求的部分，或导致程序无法正常运行的部分</a:t>
            </a:r>
            <a:endParaRPr lang="en-US" altLang="zh-CN" dirty="0">
              <a:latin typeface="Cascadia Code SemiLight" panose="020B0609020000020004" pitchFamily="49" charset="0"/>
              <a:cs typeface="Cascadia Code SemiLight" panose="020B0609020000020004" pitchFamily="49" charset="0"/>
            </a:endParaRPr>
          </a:p>
          <a:p>
            <a:endParaRPr lang="en-US" altLang="zh-CN" dirty="0">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第四大题：程序填充</a:t>
            </a:r>
            <a:endParaRPr lang="en-US" altLang="zh-CN" dirty="0">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我认为和第三大题类似，反而没有错误语句干扰你更好做，都是观察题目要求然后顺逻辑填充</a:t>
            </a:r>
            <a:r>
              <a:rPr lang="en-US" altLang="zh-CN" dirty="0">
                <a:latin typeface="Cascadia Code SemiLight" panose="020B0609020000020004" pitchFamily="49" charset="0"/>
                <a:cs typeface="Cascadia Code SemiLight" panose="020B0609020000020004" pitchFamily="49" charset="0"/>
              </a:rPr>
              <a:t>/</a:t>
            </a:r>
            <a:r>
              <a:rPr lang="zh-CN" altLang="en-US" dirty="0">
                <a:latin typeface="Cascadia Code SemiLight" panose="020B0609020000020004" pitchFamily="49" charset="0"/>
                <a:cs typeface="Cascadia Code SemiLight" panose="020B0609020000020004" pitchFamily="49" charset="0"/>
              </a:rPr>
              <a:t>修改代码</a:t>
            </a:r>
            <a:endParaRPr lang="en-US" altLang="zh-CN" dirty="0">
              <a:latin typeface="Cascadia Code SemiLight" panose="020B0609020000020004" pitchFamily="49" charset="0"/>
              <a:cs typeface="Cascadia Code SemiLight" panose="020B0609020000020004" pitchFamily="49" charset="0"/>
            </a:endParaRPr>
          </a:p>
          <a:p>
            <a:endParaRPr lang="en-US" altLang="zh-CN" dirty="0">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第五大题：程序输出题</a:t>
            </a:r>
            <a:endParaRPr lang="en-US" altLang="zh-CN" dirty="0">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观察代码逻辑后写出程序执行的输出，与前两道大题类似，但是要你反着来做。</a:t>
            </a:r>
            <a:endParaRPr lang="en-US" altLang="zh-CN" dirty="0">
              <a:latin typeface="Cascadia Code SemiLight" panose="020B0609020000020004" pitchFamily="49" charset="0"/>
              <a:cs typeface="Cascadia Code SemiLight" panose="020B0609020000020004" pitchFamily="49" charset="0"/>
            </a:endParaRPr>
          </a:p>
          <a:p>
            <a:r>
              <a:rPr lang="zh-CN" altLang="en-US" dirty="0">
                <a:solidFill>
                  <a:srgbClr val="FF0000"/>
                </a:solidFill>
                <a:latin typeface="Cascadia Code SemiLight" panose="020B0609020000020004" pitchFamily="49" charset="0"/>
                <a:cs typeface="Cascadia Code SemiLight" panose="020B0609020000020004" pitchFamily="49" charset="0"/>
              </a:rPr>
              <a:t>一定会考</a:t>
            </a:r>
            <a:r>
              <a:rPr lang="zh-CN" altLang="en-US" dirty="0">
                <a:highlight>
                  <a:srgbClr val="FFFF00"/>
                </a:highlight>
                <a:latin typeface="Cascadia Code SemiLight" panose="020B0609020000020004" pitchFamily="49" charset="0"/>
                <a:cs typeface="Cascadia Code SemiLight" panose="020B0609020000020004" pitchFamily="49" charset="0"/>
              </a:rPr>
              <a:t>指针加减和解引用</a:t>
            </a:r>
            <a:r>
              <a:rPr lang="zh-CN" altLang="en-US" dirty="0">
                <a:latin typeface="Cascadia Code SemiLight" panose="020B0609020000020004" pitchFamily="49" charset="0"/>
                <a:cs typeface="Cascadia Code SemiLight" panose="020B0609020000020004" pitchFamily="49" charset="0"/>
              </a:rPr>
              <a:t>（第六章），</a:t>
            </a:r>
            <a:r>
              <a:rPr lang="zh-CN" altLang="en-US" dirty="0">
                <a:highlight>
                  <a:srgbClr val="FFFF00"/>
                </a:highlight>
                <a:latin typeface="Cascadia Code SemiLight" panose="020B0609020000020004" pitchFamily="49" charset="0"/>
                <a:cs typeface="Cascadia Code SemiLight" panose="020B0609020000020004" pitchFamily="49" charset="0"/>
              </a:rPr>
              <a:t>字符串格式化输出</a:t>
            </a:r>
            <a:r>
              <a:rPr lang="zh-CN" altLang="en-US" dirty="0">
                <a:latin typeface="Cascadia Code SemiLight" panose="020B0609020000020004" pitchFamily="49" charset="0"/>
                <a:cs typeface="Cascadia Code SemiLight" panose="020B0609020000020004" pitchFamily="49" charset="0"/>
              </a:rPr>
              <a:t>（第一章），</a:t>
            </a:r>
            <a:r>
              <a:rPr lang="zh-CN" altLang="en-US" dirty="0">
                <a:highlight>
                  <a:srgbClr val="FFFF00"/>
                </a:highlight>
                <a:latin typeface="Cascadia Code SemiLight" panose="020B0609020000020004" pitchFamily="49" charset="0"/>
                <a:cs typeface="Cascadia Code SemiLight" panose="020B0609020000020004" pitchFamily="49" charset="0"/>
              </a:rPr>
              <a:t>结构体的应用</a:t>
            </a:r>
            <a:r>
              <a:rPr lang="zh-CN" altLang="en-US" dirty="0">
                <a:latin typeface="Cascadia Code SemiLight" panose="020B0609020000020004" pitchFamily="49" charset="0"/>
                <a:cs typeface="Cascadia Code SemiLight" panose="020B0609020000020004" pitchFamily="49" charset="0"/>
              </a:rPr>
              <a:t>（第八章），</a:t>
            </a:r>
            <a:r>
              <a:rPr lang="zh-CN" altLang="en-US" dirty="0">
                <a:highlight>
                  <a:srgbClr val="FFFF00"/>
                </a:highlight>
                <a:latin typeface="Cascadia Code SemiLight" panose="020B0609020000020004" pitchFamily="49" charset="0"/>
                <a:cs typeface="Cascadia Code SemiLight" panose="020B0609020000020004" pitchFamily="49" charset="0"/>
              </a:rPr>
              <a:t>静态变量的应用</a:t>
            </a:r>
            <a:r>
              <a:rPr lang="zh-CN" altLang="en-US" dirty="0">
                <a:latin typeface="Cascadia Code SemiLight" panose="020B0609020000020004" pitchFamily="49" charset="0"/>
                <a:cs typeface="Cascadia Code SemiLight" panose="020B0609020000020004" pitchFamily="49" charset="0"/>
              </a:rPr>
              <a:t>（第四章），剩下的都是鸡毛蒜皮</a:t>
            </a:r>
            <a:endParaRPr lang="en-US" altLang="zh-CN" dirty="0">
              <a:latin typeface="Cascadia Code SemiLight" panose="020B0609020000020004" pitchFamily="49" charset="0"/>
              <a:cs typeface="Cascadia Code SemiLight" panose="020B0609020000020004" pitchFamily="49" charset="0"/>
            </a:endParaRPr>
          </a:p>
        </p:txBody>
      </p:sp>
    </p:spTree>
    <p:extLst>
      <p:ext uri="{BB962C8B-B14F-4D97-AF65-F5344CB8AC3E}">
        <p14:creationId xmlns:p14="http://schemas.microsoft.com/office/powerpoint/2010/main" val="312109914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521207" y="448056"/>
            <a:ext cx="10552533" cy="640080"/>
          </a:xfrm>
        </p:spPr>
        <p:txBody>
          <a:bodyPr rtlCol="0">
            <a:noAutofit/>
          </a:bodyPr>
          <a:lstStyle/>
          <a:p>
            <a:pPr rtl="0"/>
            <a:r>
              <a:rPr lang="zh-CN" altLang="en-US" dirty="0">
                <a:cs typeface="Segoe UI Light" panose="020B0502040204020203" pitchFamily="34" charset="0"/>
              </a:rPr>
              <a:t>考情提醒</a:t>
            </a:r>
          </a:p>
        </p:txBody>
      </p:sp>
      <p:sp>
        <p:nvSpPr>
          <p:cNvPr id="10" name="文本框 9">
            <a:extLst>
              <a:ext uri="{FF2B5EF4-FFF2-40B4-BE49-F238E27FC236}">
                <a16:creationId xmlns:a16="http://schemas.microsoft.com/office/drawing/2014/main" id="{9AE6C642-EA61-4260-B2C6-07DBB5BB52E2}"/>
              </a:ext>
            </a:extLst>
          </p:cNvPr>
          <p:cNvSpPr txBox="1"/>
          <p:nvPr/>
        </p:nvSpPr>
        <p:spPr>
          <a:xfrm>
            <a:off x="521207" y="1351601"/>
            <a:ext cx="10681856" cy="1200329"/>
          </a:xfrm>
          <a:prstGeom prst="rect">
            <a:avLst/>
          </a:prstGeom>
          <a:noFill/>
        </p:spPr>
        <p:txBody>
          <a:bodyPr wrap="square" rtlCol="0">
            <a:spAutoFit/>
          </a:bodyPr>
          <a:lstStyle/>
          <a:p>
            <a:r>
              <a:rPr lang="zh-CN" altLang="en-US" dirty="0">
                <a:latin typeface="Cascadia Code SemiLight" panose="020B0609020000020004" pitchFamily="49" charset="0"/>
                <a:cs typeface="Cascadia Code SemiLight" panose="020B0609020000020004" pitchFamily="49" charset="0"/>
              </a:rPr>
              <a:t>第六大题：程序编写题</a:t>
            </a:r>
            <a:endParaRPr lang="en-US" altLang="zh-CN" dirty="0">
              <a:latin typeface="Cascadia Code SemiLight" panose="020B0609020000020004" pitchFamily="49" charset="0"/>
              <a:cs typeface="Cascadia Code SemiLight" panose="020B0609020000020004" pitchFamily="49" charset="0"/>
            </a:endParaRPr>
          </a:p>
          <a:p>
            <a:r>
              <a:rPr lang="zh-CN" altLang="en-US" dirty="0">
                <a:latin typeface="Cascadia Code SemiLight" panose="020B0609020000020004" pitchFamily="49" charset="0"/>
                <a:cs typeface="Cascadia Code SemiLight" panose="020B0609020000020004" pitchFamily="49" charset="0"/>
              </a:rPr>
              <a:t>本质上是第四大题的超级增强版，主要考察你是否熟悉程序结构，语法和某些常用函数的应用，前三小题比较简单；最后一小题可能要占一页篇幅，十分复杂，草稿和腾抄都要很多时间，不建议前面不能稳定拿分的做。</a:t>
            </a:r>
            <a:endParaRPr lang="en-US" altLang="zh-CN" dirty="0">
              <a:latin typeface="Cascadia Code SemiLight" panose="020B0609020000020004" pitchFamily="49" charset="0"/>
              <a:cs typeface="Cascadia Code SemiLight" panose="020B0609020000020004" pitchFamily="49" charset="0"/>
            </a:endParaRPr>
          </a:p>
        </p:txBody>
      </p:sp>
      <p:sp>
        <p:nvSpPr>
          <p:cNvPr id="2" name="文本框 1">
            <a:extLst>
              <a:ext uri="{FF2B5EF4-FFF2-40B4-BE49-F238E27FC236}">
                <a16:creationId xmlns:a16="http://schemas.microsoft.com/office/drawing/2014/main" id="{E1E7C594-C323-4933-B360-89D604518742}"/>
              </a:ext>
            </a:extLst>
          </p:cNvPr>
          <p:cNvSpPr txBox="1"/>
          <p:nvPr/>
        </p:nvSpPr>
        <p:spPr>
          <a:xfrm>
            <a:off x="2928257" y="3659740"/>
            <a:ext cx="6335486" cy="646331"/>
          </a:xfrm>
          <a:prstGeom prst="rect">
            <a:avLst/>
          </a:prstGeom>
          <a:noFill/>
        </p:spPr>
        <p:txBody>
          <a:bodyPr wrap="square" rtlCol="0">
            <a:spAutoFit/>
          </a:bodyPr>
          <a:lstStyle/>
          <a:p>
            <a:pPr algn="ctr"/>
            <a:r>
              <a:rPr lang="zh-CN" altLang="en-US" sz="3600" dirty="0"/>
              <a:t>祝大家考试顺利</a:t>
            </a:r>
          </a:p>
        </p:txBody>
      </p:sp>
    </p:spTree>
    <p:extLst>
      <p:ext uri="{BB962C8B-B14F-4D97-AF65-F5344CB8AC3E}">
        <p14:creationId xmlns:p14="http://schemas.microsoft.com/office/powerpoint/2010/main" val="37152599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521207" y="448056"/>
            <a:ext cx="10552533" cy="640080"/>
          </a:xfrm>
        </p:spPr>
        <p:txBody>
          <a:bodyPr rtlCol="0">
            <a:noAutofit/>
          </a:bodyPr>
          <a:lstStyle/>
          <a:p>
            <a:pPr rtl="0"/>
            <a:r>
              <a:rPr lang="zh-CN" altLang="en-US" dirty="0">
                <a:cs typeface="Segoe UI Light" panose="020B0502040204020203" pitchFamily="34" charset="0"/>
              </a:rPr>
              <a:t>我认为有价值的题目</a:t>
            </a:r>
          </a:p>
        </p:txBody>
      </p:sp>
      <p:sp>
        <p:nvSpPr>
          <p:cNvPr id="10" name="文本框 9">
            <a:extLst>
              <a:ext uri="{FF2B5EF4-FFF2-40B4-BE49-F238E27FC236}">
                <a16:creationId xmlns:a16="http://schemas.microsoft.com/office/drawing/2014/main" id="{9AE6C642-EA61-4260-B2C6-07DBB5BB52E2}"/>
              </a:ext>
            </a:extLst>
          </p:cNvPr>
          <p:cNvSpPr txBox="1"/>
          <p:nvPr/>
        </p:nvSpPr>
        <p:spPr>
          <a:xfrm>
            <a:off x="521207" y="1351601"/>
            <a:ext cx="10681856" cy="3416320"/>
          </a:xfrm>
          <a:prstGeom prst="rect">
            <a:avLst/>
          </a:prstGeom>
          <a:noFill/>
        </p:spPr>
        <p:txBody>
          <a:bodyPr wrap="square" rtlCol="0">
            <a:spAutoFit/>
          </a:bodyPr>
          <a:lstStyle/>
          <a:p>
            <a:r>
              <a:rPr lang="en-US" altLang="zh-CN" dirty="0">
                <a:latin typeface="Cascadia Code SemiLight" panose="020B0609020000020004" pitchFamily="49" charset="0"/>
                <a:cs typeface="Cascadia Code SemiLight" panose="020B0609020000020004" pitchFamily="49" charset="0"/>
              </a:rPr>
              <a:t>24</a:t>
            </a:r>
            <a:r>
              <a:rPr lang="zh-CN" altLang="en-US" dirty="0">
                <a:latin typeface="Cascadia Code SemiLight" panose="020B0609020000020004" pitchFamily="49" charset="0"/>
                <a:cs typeface="Cascadia Code SemiLight" panose="020B0609020000020004" pitchFamily="49" charset="0"/>
              </a:rPr>
              <a:t>年程序输出题第</a:t>
            </a:r>
            <a:r>
              <a:rPr lang="en-US" altLang="zh-CN" dirty="0">
                <a:latin typeface="Cascadia Code SemiLight" panose="020B0609020000020004" pitchFamily="49" charset="0"/>
                <a:cs typeface="Cascadia Code SemiLight" panose="020B0609020000020004" pitchFamily="49" charset="0"/>
              </a:rPr>
              <a:t>5</a:t>
            </a:r>
            <a:r>
              <a:rPr lang="zh-CN" altLang="en-US" dirty="0">
                <a:latin typeface="Cascadia Code SemiLight" panose="020B0609020000020004" pitchFamily="49" charset="0"/>
                <a:cs typeface="Cascadia Code SemiLight" panose="020B0609020000020004" pitchFamily="49" charset="0"/>
              </a:rPr>
              <a:t>小题</a:t>
            </a:r>
            <a:endParaRPr lang="en-US" altLang="zh-CN" dirty="0">
              <a:latin typeface="Cascadia Code SemiLight" panose="020B0609020000020004" pitchFamily="49" charset="0"/>
              <a:cs typeface="Cascadia Code SemiLight" panose="020B0609020000020004" pitchFamily="49" charset="0"/>
            </a:endParaRPr>
          </a:p>
          <a:p>
            <a:r>
              <a:rPr lang="en-US" altLang="zh-CN" dirty="0">
                <a:latin typeface="Cascadia Code SemiLight" panose="020B0609020000020004" pitchFamily="49" charset="0"/>
                <a:cs typeface="Cascadia Code SemiLight" panose="020B0609020000020004" pitchFamily="49" charset="0"/>
              </a:rPr>
              <a:t>(5)</a:t>
            </a:r>
          </a:p>
          <a:p>
            <a:r>
              <a:rPr lang="en-US" altLang="zh-CN" dirty="0">
                <a:latin typeface="Cascadia Code SemiLight" panose="020B0609020000020004" pitchFamily="49" charset="0"/>
                <a:cs typeface="Cascadia Code SemiLight" panose="020B0609020000020004" pitchFamily="49" charset="0"/>
              </a:rPr>
              <a:t>#include&lt;stdio.h&gt;</a:t>
            </a:r>
          </a:p>
          <a:p>
            <a:r>
              <a:rPr lang="en-US" altLang="zh-CN" dirty="0">
                <a:latin typeface="Cascadia Code SemiLight" panose="020B0609020000020004" pitchFamily="49" charset="0"/>
                <a:cs typeface="Cascadia Code SemiLight" panose="020B0609020000020004" pitchFamily="49" charset="0"/>
              </a:rPr>
              <a:t>void main( )</a:t>
            </a:r>
          </a:p>
          <a:p>
            <a:r>
              <a:rPr lang="en-US" altLang="zh-CN" dirty="0">
                <a:latin typeface="Cascadia Code SemiLight" panose="020B0609020000020004" pitchFamily="49" charset="0"/>
                <a:cs typeface="Cascadia Code SemiLight" panose="020B0609020000020004" pitchFamily="49" charset="0"/>
              </a:rPr>
              <a:t>{</a:t>
            </a:r>
          </a:p>
          <a:p>
            <a:r>
              <a:rPr lang="en-US" altLang="zh-CN" dirty="0">
                <a:latin typeface="Cascadia Code SemiLight" panose="020B0609020000020004" pitchFamily="49" charset="0"/>
                <a:cs typeface="Cascadia Code SemiLight" panose="020B0609020000020004" pitchFamily="49" charset="0"/>
              </a:rPr>
              <a:t>    char *str[ ] = {"HUST","WUHAN","HUBEI","_CHINA"};</a:t>
            </a:r>
          </a:p>
          <a:p>
            <a:r>
              <a:rPr lang="en-US" altLang="zh-CN" dirty="0">
                <a:latin typeface="Cascadia Code SemiLight" panose="020B0609020000020004" pitchFamily="49" charset="0"/>
                <a:cs typeface="Cascadia Code SemiLight" panose="020B0609020000020004" pitchFamily="49" charset="0"/>
              </a:rPr>
              <a:t>    char **p[ ] = {str+3, str+2,str+1,str};</a:t>
            </a:r>
          </a:p>
          <a:p>
            <a:r>
              <a:rPr lang="en-US" altLang="zh-CN" dirty="0">
                <a:latin typeface="Cascadia Code SemiLight" panose="020B0609020000020004" pitchFamily="49" charset="0"/>
                <a:cs typeface="Cascadia Code SemiLight" panose="020B0609020000020004" pitchFamily="49" charset="0"/>
              </a:rPr>
              <a:t>    char ***</a:t>
            </a:r>
            <a:r>
              <a:rPr lang="en-US" altLang="zh-CN" dirty="0" err="1">
                <a:latin typeface="Cascadia Code SemiLight" panose="020B0609020000020004" pitchFamily="49" charset="0"/>
                <a:cs typeface="Cascadia Code SemiLight" panose="020B0609020000020004" pitchFamily="49" charset="0"/>
              </a:rPr>
              <a:t>ppp</a:t>
            </a:r>
            <a:r>
              <a:rPr lang="en-US" altLang="zh-CN" dirty="0">
                <a:latin typeface="Cascadia Code SemiLight" panose="020B0609020000020004" pitchFamily="49" charset="0"/>
                <a:cs typeface="Cascadia Code SemiLight" panose="020B0609020000020004" pitchFamily="49" charset="0"/>
              </a:rPr>
              <a:t> = p;</a:t>
            </a:r>
          </a:p>
          <a:p>
            <a:r>
              <a:rPr lang="en-US" altLang="zh-CN" dirty="0">
                <a:latin typeface="Cascadia Code SemiLight" panose="020B0609020000020004" pitchFamily="49" charset="0"/>
                <a:cs typeface="Cascadia Code SemiLight" panose="020B0609020000020004" pitchFamily="49" charset="0"/>
              </a:rPr>
              <a:t>    </a:t>
            </a:r>
            <a:r>
              <a:rPr lang="en-US" altLang="zh-CN" dirty="0" err="1">
                <a:latin typeface="Cascadia Code SemiLight" panose="020B0609020000020004" pitchFamily="49" charset="0"/>
                <a:cs typeface="Cascadia Code SemiLight" panose="020B0609020000020004" pitchFamily="49" charset="0"/>
              </a:rPr>
              <a:t>printf</a:t>
            </a:r>
            <a:r>
              <a:rPr lang="en-US" altLang="zh-CN" dirty="0">
                <a:latin typeface="Cascadia Code SemiLight" panose="020B0609020000020004" pitchFamily="49" charset="0"/>
                <a:cs typeface="Cascadia Code SemiLight" panose="020B0609020000020004" pitchFamily="49" charset="0"/>
              </a:rPr>
              <a:t>("%s---", *(*++</a:t>
            </a:r>
            <a:r>
              <a:rPr lang="en-US" altLang="zh-CN" dirty="0" err="1">
                <a:latin typeface="Cascadia Code SemiLight" panose="020B0609020000020004" pitchFamily="49" charset="0"/>
                <a:cs typeface="Cascadia Code SemiLight" panose="020B0609020000020004" pitchFamily="49" charset="0"/>
              </a:rPr>
              <a:t>ppp</a:t>
            </a:r>
            <a:r>
              <a:rPr lang="en-US" altLang="zh-CN" dirty="0">
                <a:latin typeface="Cascadia Code SemiLight" panose="020B0609020000020004" pitchFamily="49" charset="0"/>
                <a:cs typeface="Cascadia Code SemiLight" panose="020B0609020000020004" pitchFamily="49" charset="0"/>
              </a:rPr>
              <a:t>));</a:t>
            </a:r>
          </a:p>
          <a:p>
            <a:r>
              <a:rPr lang="en-US" altLang="zh-CN" dirty="0">
                <a:latin typeface="Cascadia Code SemiLight" panose="020B0609020000020004" pitchFamily="49" charset="0"/>
                <a:cs typeface="Cascadia Code SemiLight" panose="020B0609020000020004" pitchFamily="49" charset="0"/>
              </a:rPr>
              <a:t>    </a:t>
            </a:r>
            <a:r>
              <a:rPr lang="en-US" altLang="zh-CN" dirty="0" err="1">
                <a:latin typeface="Cascadia Code SemiLight" panose="020B0609020000020004" pitchFamily="49" charset="0"/>
                <a:cs typeface="Cascadia Code SemiLight" panose="020B0609020000020004" pitchFamily="49" charset="0"/>
              </a:rPr>
              <a:t>printf</a:t>
            </a:r>
            <a:r>
              <a:rPr lang="en-US" altLang="zh-CN" dirty="0">
                <a:latin typeface="Cascadia Code SemiLight" panose="020B0609020000020004" pitchFamily="49" charset="0"/>
                <a:cs typeface="Cascadia Code SemiLight" panose="020B0609020000020004" pitchFamily="49" charset="0"/>
              </a:rPr>
              <a:t>("%s", *(*ppp+1)+1);</a:t>
            </a:r>
          </a:p>
          <a:p>
            <a:r>
              <a:rPr lang="en-US" altLang="zh-CN" dirty="0">
                <a:latin typeface="Cascadia Code SemiLight" panose="020B0609020000020004" pitchFamily="49" charset="0"/>
                <a:cs typeface="Cascadia Code SemiLight" panose="020B0609020000020004" pitchFamily="49" charset="0"/>
              </a:rPr>
              <a:t>}</a:t>
            </a:r>
          </a:p>
          <a:p>
            <a:endParaRPr lang="en-US" altLang="zh-CN" dirty="0">
              <a:latin typeface="Cascadia Code SemiLight" panose="020B0609020000020004" pitchFamily="49" charset="0"/>
              <a:cs typeface="Cascadia Code SemiLight" panose="020B0609020000020004" pitchFamily="49" charset="0"/>
            </a:endParaRPr>
          </a:p>
        </p:txBody>
      </p:sp>
      <p:pic>
        <p:nvPicPr>
          <p:cNvPr id="4" name="图片 3">
            <a:extLst>
              <a:ext uri="{FF2B5EF4-FFF2-40B4-BE49-F238E27FC236}">
                <a16:creationId xmlns:a16="http://schemas.microsoft.com/office/drawing/2014/main" id="{4B090625-E1CC-4306-AF3F-7A470790B14F}"/>
              </a:ext>
            </a:extLst>
          </p:cNvPr>
          <p:cNvPicPr>
            <a:picLocks noChangeAspect="1"/>
          </p:cNvPicPr>
          <p:nvPr/>
        </p:nvPicPr>
        <p:blipFill>
          <a:blip r:embed="rId3"/>
          <a:stretch>
            <a:fillRect/>
          </a:stretch>
        </p:blipFill>
        <p:spPr>
          <a:xfrm>
            <a:off x="5862135" y="3335699"/>
            <a:ext cx="6001588" cy="3391373"/>
          </a:xfrm>
          <a:prstGeom prst="rect">
            <a:avLst/>
          </a:prstGeom>
        </p:spPr>
      </p:pic>
    </p:spTree>
    <p:extLst>
      <p:ext uri="{BB962C8B-B14F-4D97-AF65-F5344CB8AC3E}">
        <p14:creationId xmlns:p14="http://schemas.microsoft.com/office/powerpoint/2010/main" val="2033689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683</TotalTime>
  <Words>5470</Words>
  <Application>Microsoft Office PowerPoint</Application>
  <PresentationFormat>宽屏</PresentationFormat>
  <Paragraphs>798</Paragraphs>
  <Slides>78</Slides>
  <Notes>78</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78</vt:i4>
      </vt:variant>
    </vt:vector>
  </HeadingPairs>
  <TitlesOfParts>
    <vt:vector size="85" baseType="lpstr">
      <vt:lpstr>Microsoft YaHei UI</vt:lpstr>
      <vt:lpstr>Microsoft YaHei UI Light</vt:lpstr>
      <vt:lpstr>等线</vt:lpstr>
      <vt:lpstr>等线 Light</vt:lpstr>
      <vt:lpstr>Arial</vt:lpstr>
      <vt:lpstr>Cascadia Code SemiLight</vt:lpstr>
      <vt:lpstr>Office 主题​​</vt:lpstr>
      <vt:lpstr>C语言程序设计</vt:lpstr>
      <vt:lpstr>第一部分</vt:lpstr>
      <vt:lpstr>Chapter 1  C语言概论</vt:lpstr>
      <vt:lpstr>Chapter 1  C语言概论</vt:lpstr>
      <vt:lpstr>Chapter 1  C语言概论</vt:lpstr>
      <vt:lpstr>Chapter 1  C语言概论</vt:lpstr>
      <vt:lpstr>Chapter 1  C语言概论</vt:lpstr>
      <vt:lpstr>Chapter 1  C语言概论</vt:lpstr>
      <vt:lpstr>Chapter 1  C语言概论</vt:lpstr>
      <vt:lpstr>Chapter 1  C语言概论</vt:lpstr>
      <vt:lpstr>Chapter 2  数据类型、运算符和表达式</vt:lpstr>
      <vt:lpstr>Chapter 2  数据类型、运算符和表达式</vt:lpstr>
      <vt:lpstr>Chapter 2  数据类型、运算符和表达式</vt:lpstr>
      <vt:lpstr>Chapter 2  数据类型、运算符和表达式</vt:lpstr>
      <vt:lpstr>Chapter 2  数据类型、运算符和表达式</vt:lpstr>
      <vt:lpstr>Chapter 2  数据类型、运算符和表达式</vt:lpstr>
      <vt:lpstr>Chapter 2  数据类型、运算符和表达式</vt:lpstr>
      <vt:lpstr>Chapter 2  数据类型、运算符和表达式</vt:lpstr>
      <vt:lpstr>Chapter 2  数据类型、运算符和表达式</vt:lpstr>
      <vt:lpstr>Chapter 2  数据类型、运算符和表达式</vt:lpstr>
      <vt:lpstr>PowerPoint 演示文稿</vt:lpstr>
      <vt:lpstr>Chapter 2  数据类型、运算符和表达式</vt:lpstr>
      <vt:lpstr>Chapter 3  程序和流程控制</vt:lpstr>
      <vt:lpstr>Chapter 3  程序和流程控制</vt:lpstr>
      <vt:lpstr>Chapter 3  程序和流程控制</vt:lpstr>
      <vt:lpstr>Chapter 3  程序和流程控制</vt:lpstr>
      <vt:lpstr>Chapter 3  程序和流程控制</vt:lpstr>
      <vt:lpstr>Chapter 3  程序和流程控制</vt:lpstr>
      <vt:lpstr>Chapter 3  程序和流程控制</vt:lpstr>
      <vt:lpstr>第二部分</vt:lpstr>
      <vt:lpstr>Chapter 4  函数</vt:lpstr>
      <vt:lpstr>Chapter 4  函数</vt:lpstr>
      <vt:lpstr>Chapter 4  函数</vt:lpstr>
      <vt:lpstr>Chapter 4  函数</vt:lpstr>
      <vt:lpstr>Chapter 4  函数</vt:lpstr>
      <vt:lpstr>Chapter 4  函数</vt:lpstr>
      <vt:lpstr>Chapter 4  函数</vt:lpstr>
      <vt:lpstr>Chapter 4  函数</vt:lpstr>
      <vt:lpstr>Chapter 5  数组</vt:lpstr>
      <vt:lpstr>Chapter 5  数组</vt:lpstr>
      <vt:lpstr>Chapter 5  数组</vt:lpstr>
      <vt:lpstr>Chapter 6  指针</vt:lpstr>
      <vt:lpstr>Chapter 6  指针</vt:lpstr>
      <vt:lpstr>Chapter 6  指针</vt:lpstr>
      <vt:lpstr>Chapter 6  指针</vt:lpstr>
      <vt:lpstr>Chapter 6  指针</vt:lpstr>
      <vt:lpstr>Chapter 6  指针</vt:lpstr>
      <vt:lpstr>Chapter 6  指针</vt:lpstr>
      <vt:lpstr>Chapter 6  指针</vt:lpstr>
      <vt:lpstr>Chapter 6  指针</vt:lpstr>
      <vt:lpstr>Chapter 6  指针</vt:lpstr>
      <vt:lpstr>Chapter 6  指针</vt:lpstr>
      <vt:lpstr>Chapter 6  指针</vt:lpstr>
      <vt:lpstr>Chapter 6  指针</vt:lpstr>
      <vt:lpstr>Chapter 6  指针</vt:lpstr>
      <vt:lpstr>第三部分</vt:lpstr>
      <vt:lpstr>Chapter 7  字符串</vt:lpstr>
      <vt:lpstr>Chapter 7  字符串</vt:lpstr>
      <vt:lpstr>Chapter 7  字符串</vt:lpstr>
      <vt:lpstr>Chapter 7  字符串</vt:lpstr>
      <vt:lpstr>Chapter 7  字符串</vt:lpstr>
      <vt:lpstr>Chapter 7  字符串</vt:lpstr>
      <vt:lpstr>Chapter 7  字符串</vt:lpstr>
      <vt:lpstr>Chapter 7  字符串</vt:lpstr>
      <vt:lpstr>Chapter 7  字符串</vt:lpstr>
      <vt:lpstr>Chapter 7  字符串</vt:lpstr>
      <vt:lpstr>Chapter 8  结构和联合</vt:lpstr>
      <vt:lpstr>Chapter 8  结构和联合</vt:lpstr>
      <vt:lpstr>Chapter 8  结构和联合</vt:lpstr>
      <vt:lpstr>Chapter 8  结构和联合</vt:lpstr>
      <vt:lpstr>Chapter 8  结构和联合</vt:lpstr>
      <vt:lpstr>Chapter 8  结构和联合</vt:lpstr>
      <vt:lpstr>Chapter 8  结构和联合</vt:lpstr>
      <vt:lpstr>Chapter 10  编译预处理</vt:lpstr>
      <vt:lpstr>Chapter 10  编译预处理</vt:lpstr>
      <vt:lpstr>考情提醒</vt:lpstr>
      <vt:lpstr>考情提醒</vt:lpstr>
      <vt:lpstr>我认为有价值的题目</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C语言程序设计</dc:title>
  <dc:creator>AloNe LaNterN</dc:creator>
  <cp:lastModifiedBy>AloNe LaNterN</cp:lastModifiedBy>
  <cp:revision>106</cp:revision>
  <dcterms:created xsi:type="dcterms:W3CDTF">2026-01-15T13:58:29Z</dcterms:created>
  <dcterms:modified xsi:type="dcterms:W3CDTF">2026-01-16T08:54:59Z</dcterms:modified>
</cp:coreProperties>
</file>