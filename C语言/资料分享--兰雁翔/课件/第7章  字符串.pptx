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sldIdLst>
    <p:sldId id="256" r:id="rId3"/>
    <p:sldId id="263" r:id="rId4"/>
    <p:sldId id="292" r:id="rId5"/>
    <p:sldId id="309" r:id="rId6"/>
    <p:sldId id="293" r:id="rId7"/>
    <p:sldId id="294" r:id="rId8"/>
    <p:sldId id="300" r:id="rId9"/>
    <p:sldId id="301" r:id="rId10"/>
    <p:sldId id="295" r:id="rId11"/>
    <p:sldId id="296" r:id="rId12"/>
    <p:sldId id="303" r:id="rId13"/>
    <p:sldId id="304" r:id="rId14"/>
    <p:sldId id="297" r:id="rId15"/>
    <p:sldId id="299" r:id="rId16"/>
    <p:sldId id="259" r:id="rId17"/>
    <p:sldId id="264" r:id="rId18"/>
    <p:sldId id="265" r:id="rId19"/>
    <p:sldId id="266" r:id="rId20"/>
    <p:sldId id="267" r:id="rId21"/>
    <p:sldId id="268" r:id="rId22"/>
    <p:sldId id="306" r:id="rId23"/>
    <p:sldId id="269" r:id="rId24"/>
    <p:sldId id="270" r:id="rId25"/>
    <p:sldId id="271" r:id="rId26"/>
    <p:sldId id="272" r:id="rId27"/>
    <p:sldId id="274" r:id="rId28"/>
    <p:sldId id="307" r:id="rId29"/>
    <p:sldId id="273" r:id="rId30"/>
    <p:sldId id="275" r:id="rId31"/>
    <p:sldId id="278" r:id="rId32"/>
    <p:sldId id="279" r:id="rId33"/>
    <p:sldId id="280" r:id="rId34"/>
    <p:sldId id="284" r:id="rId35"/>
    <p:sldId id="285" r:id="rId36"/>
    <p:sldId id="286" r:id="rId37"/>
    <p:sldId id="287" r:id="rId38"/>
    <p:sldId id="289" r:id="rId39"/>
    <p:sldId id="288" r:id="rId40"/>
    <p:sldId id="290" r:id="rId41"/>
    <p:sldId id="276" r:id="rId42"/>
    <p:sldId id="291" r:id="rId43"/>
    <p:sldId id="310" r:id="rId44"/>
    <p:sldId id="323" r:id="rId45"/>
    <p:sldId id="311" r:id="rId46"/>
    <p:sldId id="315" r:id="rId47"/>
    <p:sldId id="316" r:id="rId48"/>
    <p:sldId id="312" r:id="rId49"/>
    <p:sldId id="324" r:id="rId50"/>
    <p:sldId id="317" r:id="rId51"/>
    <p:sldId id="318" r:id="rId52"/>
    <p:sldId id="319" r:id="rId53"/>
    <p:sldId id="313" r:id="rId54"/>
    <p:sldId id="325" r:id="rId55"/>
    <p:sldId id="320" r:id="rId56"/>
    <p:sldId id="321" r:id="rId57"/>
    <p:sldId id="322" r:id="rId58"/>
    <p:sldId id="326" r:id="rId59"/>
    <p:sldId id="305" r:id="rId6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B0A8"/>
    <a:srgbClr val="39626F"/>
    <a:srgbClr val="64868E"/>
    <a:srgbClr val="E5FCC2"/>
    <a:srgbClr val="9DE0B3"/>
    <a:srgbClr val="98B4A6"/>
    <a:srgbClr val="A2D3EC"/>
    <a:srgbClr val="DEEE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2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-93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" y="1"/>
            <a:ext cx="685799" cy="832914"/>
          </a:xfrm>
          <a:prstGeom prst="rect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2141804" y="0"/>
            <a:ext cx="7002197" cy="832915"/>
          </a:xfrm>
          <a:prstGeom prst="rect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0" y="6412984"/>
            <a:ext cx="7797800" cy="445016"/>
          </a:xfrm>
          <a:prstGeom prst="rect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7899400" y="6412984"/>
            <a:ext cx="1244600" cy="445016"/>
          </a:xfrm>
          <a:prstGeom prst="rect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961814" y="248140"/>
            <a:ext cx="646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3600" b="1" dirty="0">
              <a:solidFill>
                <a:srgbClr val="3962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3140958" y="248140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8317084" y="6486554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9C45B0D-623B-4473-964A-C207A9C99705}" type="slidenum">
              <a:rPr lang="zh-CN" altLang="en-US" sz="18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2141804" y="6486554"/>
            <a:ext cx="41040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华中科技大学信息大类平台课</a:t>
            </a:r>
            <a:r>
              <a:rPr lang="en-US" altLang="zh-CN" sz="1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——C</a:t>
            </a:r>
            <a:r>
              <a:rPr lang="zh-CN" altLang="en-US" sz="1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语言程序设计</a:t>
            </a:r>
            <a:endParaRPr lang="zh-CN" altLang="en-US" sz="14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608083" y="1145628"/>
            <a:ext cx="3142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EDE0-A8EA-4A33-82B7-8029BE38CE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1900-5832-4703-932C-AA4849E56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EDE0-A8EA-4A33-82B7-8029BE38CE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1900-5832-4703-932C-AA4849E56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EDE0-A8EA-4A33-82B7-8029BE38CE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1900-5832-4703-932C-AA4849E56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EDE0-A8EA-4A33-82B7-8029BE38CE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1900-5832-4703-932C-AA4849E56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EDE0-A8EA-4A33-82B7-8029BE38CE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1900-5832-4703-932C-AA4849E56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EDE0-A8EA-4A33-82B7-8029BE38CE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1900-5832-4703-932C-AA4849E56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EDE0-A8EA-4A33-82B7-8029BE38CE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1900-5832-4703-932C-AA4849E56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EDE0-A8EA-4A33-82B7-8029BE38CE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1900-5832-4703-932C-AA4849E56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EDE0-A8EA-4A33-82B7-8029BE38CE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1900-5832-4703-932C-AA4849E56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FEDE0-A8EA-4A33-82B7-8029BE38CE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31900-5832-4703-932C-AA4849E5682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2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44" y="1462131"/>
            <a:ext cx="3308791" cy="333229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029200" y="3045427"/>
            <a:ext cx="326243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solidFill>
                  <a:srgbClr val="3962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endParaRPr lang="zh-CN" altLang="en-US" sz="8000" b="1" dirty="0">
              <a:solidFill>
                <a:srgbClr val="3962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72586" y="1613955"/>
            <a:ext cx="32405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chapter 7</a:t>
            </a:r>
            <a:endParaRPr lang="zh-CN" altLang="en-US" sz="5400" b="1" dirty="0">
              <a:solidFill>
                <a:srgbClr val="39626F"/>
              </a:solidFill>
              <a:latin typeface="Segoe UI" panose="020B0502040204020203" pitchFamily="34" charset="0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210491" y="2737089"/>
            <a:ext cx="2254102" cy="0"/>
          </a:xfrm>
          <a:prstGeom prst="line">
            <a:avLst/>
          </a:prstGeom>
          <a:ln w="47625">
            <a:solidFill>
              <a:srgbClr val="39626F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0" y="6337300"/>
            <a:ext cx="9144000" cy="520700"/>
          </a:xfrm>
          <a:prstGeom prst="rect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118096" y="6424302"/>
            <a:ext cx="490780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华中科技大学信息大类平台课</a:t>
            </a:r>
            <a:r>
              <a:rPr lang="en-US" altLang="zh-CN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——C</a:t>
            </a:r>
            <a:r>
              <a:rPr lang="zh-CN" altLang="en-US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语言程序设计</a:t>
            </a:r>
            <a:endParaRPr lang="zh-CN" altLang="en-US" sz="1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70788" y="10630"/>
            <a:ext cx="1484894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3962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2400" b="1" dirty="0">
              <a:solidFill>
                <a:srgbClr val="3962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8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content</a:t>
            </a:r>
            <a:endParaRPr lang="zh-CN" altLang="en-US" sz="28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2155112" y="1371609"/>
            <a:ext cx="4894273" cy="563517"/>
          </a:xfrm>
          <a:prstGeom prst="roundRect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字符串的基本概念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967022" y="1371609"/>
            <a:ext cx="599472" cy="56351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lang="zh-CN" altLang="en-US" sz="24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2155112" y="2137733"/>
            <a:ext cx="4894273" cy="564202"/>
          </a:xfrm>
          <a:prstGeom prst="roundRect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字符串相关库函数及其使用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967022" y="2137732"/>
            <a:ext cx="620738" cy="5642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lang="zh-CN" altLang="en-US" sz="24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2155112" y="2900691"/>
            <a:ext cx="4894273" cy="564888"/>
          </a:xfrm>
          <a:prstGeom prst="roundRect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单个字符串的处理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1967022" y="2900690"/>
            <a:ext cx="620738" cy="5648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lang="zh-CN" altLang="en-US" sz="24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2155112" y="3664334"/>
            <a:ext cx="4894273" cy="565575"/>
          </a:xfrm>
          <a:prstGeom prst="roundRect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多个字符串的处理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967022" y="3664334"/>
            <a:ext cx="620738" cy="5655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4</a:t>
            </a:r>
            <a:endParaRPr lang="zh-CN" altLang="en-US" sz="24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矩形: 圆角 14"/>
          <p:cNvSpPr/>
          <p:nvPr/>
        </p:nvSpPr>
        <p:spPr>
          <a:xfrm>
            <a:off x="2155112" y="4428664"/>
            <a:ext cx="4894273" cy="565575"/>
          </a:xfrm>
          <a:prstGeom prst="roundRect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带参数的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967022" y="4428664"/>
            <a:ext cx="620738" cy="5655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5</a:t>
            </a:r>
            <a:endParaRPr lang="zh-CN" altLang="en-US" sz="24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矩形: 圆角 14"/>
          <p:cNvSpPr/>
          <p:nvPr/>
        </p:nvSpPr>
        <p:spPr>
          <a:xfrm>
            <a:off x="2155112" y="5192994"/>
            <a:ext cx="4894273" cy="565575"/>
          </a:xfrm>
          <a:prstGeom prst="roundRect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综合举例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967022" y="5192994"/>
            <a:ext cx="620738" cy="5655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zh-CN" altLang="en-US" sz="24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97098" y="3929813"/>
            <a:ext cx="128926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字符集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127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左大括号 6"/>
          <p:cNvSpPr/>
          <p:nvPr/>
        </p:nvSpPr>
        <p:spPr>
          <a:xfrm>
            <a:off x="1786365" y="3314921"/>
            <a:ext cx="329278" cy="2484031"/>
          </a:xfrm>
          <a:prstGeom prst="leftBrace">
            <a:avLst>
              <a:gd name="adj1" fmla="val 57716"/>
              <a:gd name="adj2" fmla="val 51498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115644" y="3314921"/>
            <a:ext cx="683187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字母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大写字母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A~Z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，小写字母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a~z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0~9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特殊字符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(29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 &amp; *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+ = _ 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/ ? &lt;&gt; : 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；’ ”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\ [] {} ~ ` ^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空格符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空格、水平制表符（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tab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）、垂直制表符、换行、换页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不能显示的字符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空字符（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 \0 '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）、退格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 \b '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）、回车（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 \r '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33302" y="1027110"/>
            <a:ext cx="8138194" cy="1012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：任何计算机系统都使用一个可被本系统识别的字符集，该字符集包括了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人们常用的字母、数字以及诸如句号、逗号、括号之类的特殊字符。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70213" y="2106216"/>
            <a:ext cx="780128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国际上较通用的字符集是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美国标准信息交换代码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The American Standard Code for Information Interchange, ASCII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）字符集，已被计算机等行业广泛接受为标准。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28490" y="131498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7.1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39820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字符串的基本概念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8" grpId="0"/>
      <p:bldP spid="9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86089" y="120865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7.1.1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5" y="163396"/>
            <a:ext cx="39820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088723" y="1308344"/>
          <a:ext cx="7216276" cy="45147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3288"/>
                <a:gridCol w="1041718"/>
                <a:gridCol w="1363980"/>
                <a:gridCol w="1275080"/>
                <a:gridCol w="1229042"/>
                <a:gridCol w="1213168"/>
              </a:tblGrid>
              <a:tr h="37622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+mn-lt"/>
                          <a:ea typeface="微软雅黑" panose="020B0503020204020204" pitchFamily="34" charset="-122"/>
                        </a:rPr>
                        <a:t>字符类型</a:t>
                      </a:r>
                      <a:endParaRPr lang="zh-CN" altLang="en-US" sz="1600" b="1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+mn-lt"/>
                          <a:ea typeface="微软雅黑" panose="020B0503020204020204" pitchFamily="34" charset="-122"/>
                        </a:rPr>
                        <a:t>字符表示</a:t>
                      </a:r>
                      <a:endParaRPr lang="zh-CN" altLang="en-US" sz="1600" b="1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+mn-lt"/>
                          <a:ea typeface="微软雅黑" panose="020B0503020204020204" pitchFamily="34" charset="-122"/>
                        </a:rPr>
                        <a:t>字符含义</a:t>
                      </a:r>
                      <a:endParaRPr lang="zh-CN" altLang="en-US" sz="1600" b="1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+mn-lt"/>
                          <a:ea typeface="微软雅黑" panose="020B0503020204020204" pitchFamily="34" charset="-122"/>
                        </a:rPr>
                        <a:t>ASCII</a:t>
                      </a:r>
                      <a:r>
                        <a:rPr lang="zh-CN" altLang="en-US" sz="1600" b="1" dirty="0">
                          <a:latin typeface="+mn-lt"/>
                          <a:ea typeface="微软雅黑" panose="020B0503020204020204" pitchFamily="34" charset="-122"/>
                        </a:rPr>
                        <a:t>码值</a:t>
                      </a:r>
                      <a:endParaRPr lang="zh-CN" altLang="en-US" sz="1600" b="1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+mn-lt"/>
                          <a:ea typeface="微软雅黑" panose="020B0503020204020204" pitchFamily="34" charset="-122"/>
                        </a:rPr>
                        <a:t>“\</a:t>
                      </a:r>
                      <a:r>
                        <a:rPr lang="en-US" altLang="zh-CN" sz="1600" b="1" dirty="0" err="1">
                          <a:latin typeface="+mn-lt"/>
                          <a:ea typeface="微软雅黑" panose="020B0503020204020204" pitchFamily="34" charset="-122"/>
                        </a:rPr>
                        <a:t>ddd</a:t>
                      </a:r>
                      <a:r>
                        <a:rPr lang="en-US" altLang="zh-CN" sz="1600" b="1" dirty="0">
                          <a:latin typeface="+mn-lt"/>
                          <a:ea typeface="微软雅黑" panose="020B0503020204020204" pitchFamily="34" charset="-122"/>
                        </a:rPr>
                        <a:t>”</a:t>
                      </a:r>
                      <a:r>
                        <a:rPr lang="zh-CN" altLang="en-US" sz="1600" b="1" dirty="0">
                          <a:latin typeface="+mn-lt"/>
                          <a:ea typeface="微软雅黑" panose="020B0503020204020204" pitchFamily="34" charset="-122"/>
                        </a:rPr>
                        <a:t>表示</a:t>
                      </a:r>
                      <a:endParaRPr lang="zh-CN" altLang="en-US" sz="1600" b="1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+mn-lt"/>
                          <a:ea typeface="微软雅黑" panose="020B0503020204020204" pitchFamily="34" charset="-122"/>
                        </a:rPr>
                        <a:t>“\</a:t>
                      </a:r>
                      <a:r>
                        <a:rPr lang="en-US" altLang="zh-CN" sz="1600" b="1" dirty="0" err="1">
                          <a:latin typeface="+mn-lt"/>
                          <a:ea typeface="微软雅黑" panose="020B0503020204020204" pitchFamily="34" charset="-122"/>
                        </a:rPr>
                        <a:t>xhh</a:t>
                      </a:r>
                      <a:r>
                        <a:rPr lang="en-US" altLang="zh-CN" sz="1600" b="1" dirty="0">
                          <a:latin typeface="+mn-lt"/>
                          <a:ea typeface="微软雅黑" panose="020B0503020204020204" pitchFamily="34" charset="-122"/>
                        </a:rPr>
                        <a:t>”</a:t>
                      </a:r>
                      <a:r>
                        <a:rPr lang="zh-CN" altLang="en-US" sz="1600" b="1" dirty="0">
                          <a:latin typeface="+mn-lt"/>
                          <a:ea typeface="微软雅黑" panose="020B0503020204020204" pitchFamily="34" charset="-122"/>
                        </a:rPr>
                        <a:t>表示</a:t>
                      </a:r>
                      <a:endParaRPr lang="zh-CN" altLang="en-US" sz="1600" b="1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2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字母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‘a’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字母（</a:t>
                      </a:r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97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\141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\x61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2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数字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‘1’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数字（</a:t>
                      </a:r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49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\061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\x31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29"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特殊字符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‘!’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感叹号符（</a:t>
                      </a:r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!</a:t>
                      </a:r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33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\041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\x21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29"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‘\’’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单引号符（</a:t>
                      </a:r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’</a:t>
                      </a:r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96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\140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\x60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29"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‘\”’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双引号符（</a:t>
                      </a:r>
                      <a:r>
                        <a:rPr lang="en-US" altLang="zh-CN" sz="1400">
                          <a:latin typeface="+mn-lt"/>
                          <a:ea typeface="微软雅黑" panose="020B0503020204020204" pitchFamily="34" charset="-122"/>
                        </a:rPr>
                        <a:t>”</a:t>
                      </a:r>
                      <a:r>
                        <a:rPr lang="zh-CN" altLang="en-US" sz="1400">
                          <a:latin typeface="+mn-lt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34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\042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+mn-lt"/>
                          <a:ea typeface="微软雅黑" panose="020B0503020204020204" pitchFamily="34" charset="-122"/>
                        </a:rPr>
                        <a:t>\x22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29"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‘\\’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反斜线符（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\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92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\134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\x5C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29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空格符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‘\n’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回车换行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\012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\x0A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29"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‘\f’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走纸换页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12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\014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\x0C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29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不能显示的字符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‘\0’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空字符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\000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\x00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29">
                <a:tc v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‘\b’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退格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8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\010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\x08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29"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‘\r’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回车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13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\015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\x0D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86089" y="131498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7.1.1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5" y="131497"/>
            <a:ext cx="39820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86088" y="1458842"/>
            <a:ext cx="4958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数值型数字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之间的关系：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1533" y="1985479"/>
            <a:ext cx="4081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/>
              <a:t>char a = ' 3 ' ;             </a:t>
            </a:r>
            <a:r>
              <a:rPr lang="en-US" altLang="zh-CN" dirty="0" err="1"/>
              <a:t>int</a:t>
            </a:r>
            <a:r>
              <a:rPr lang="en-US" altLang="zh-CN" dirty="0"/>
              <a:t>  b = 3;</a:t>
            </a:r>
            <a:endParaRPr lang="en-US" altLang="zh-CN" dirty="0"/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1333014" y="3096245"/>
            <a:ext cx="277339" cy="34872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 flipV="1">
            <a:off x="2174875" y="3089498"/>
            <a:ext cx="280836" cy="369991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306735" y="3531648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以字符型数据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’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2135666" y="3565892"/>
            <a:ext cx="13388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以整型数据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51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359896" y="5218279"/>
            <a:ext cx="482856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整数运算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1+1=2</a:t>
            </a:r>
            <a:endParaRPr lang="en-US" altLang="zh-CN" dirty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字符运算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dirty="0">
                <a:latin typeface="Segoe UI" panose="020B0502040204020203" pitchFamily="34" charset="0"/>
                <a:ea typeface="微软雅黑" panose="020B0503020204020204" pitchFamily="34" charset="-122"/>
                <a:cs typeface="Segoe UI" panose="020B0502040204020203" pitchFamily="34" charset="0"/>
              </a:rPr>
              <a:t>‘</a:t>
            </a:r>
            <a:r>
              <a:rPr lang="en-US" altLang="zh-CN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zh-CN" altLang="en-US" dirty="0">
                <a:latin typeface="Segoe UI" panose="020B0502040204020203" pitchFamily="34" charset="0"/>
                <a:ea typeface="微软雅黑" panose="020B0503020204020204" pitchFamily="34" charset="-122"/>
                <a:cs typeface="Segoe UI" panose="020B0502040204020203" pitchFamily="34" charset="0"/>
              </a:rPr>
              <a:t>’</a:t>
            </a:r>
            <a:r>
              <a:rPr lang="en-US" altLang="zh-CN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+</a:t>
            </a:r>
            <a:r>
              <a:rPr lang="zh-CN" altLang="en-US" dirty="0">
                <a:latin typeface="Segoe UI" panose="020B0502040204020203" pitchFamily="34" charset="0"/>
                <a:ea typeface="微软雅黑" panose="020B0503020204020204" pitchFamily="34" charset="-122"/>
                <a:cs typeface="Segoe UI" panose="020B0502040204020203" pitchFamily="34" charset="0"/>
              </a:rPr>
              <a:t>‘</a:t>
            </a:r>
            <a:r>
              <a:rPr lang="en-US" altLang="zh-CN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zh-CN" altLang="en-US" dirty="0">
                <a:latin typeface="Segoe UI" panose="020B0502040204020203" pitchFamily="34" charset="0"/>
                <a:ea typeface="微软雅黑" panose="020B0503020204020204" pitchFamily="34" charset="-122"/>
                <a:cs typeface="Segoe UI" panose="020B0502040204020203" pitchFamily="34" charset="0"/>
              </a:rPr>
              <a:t>’</a:t>
            </a:r>
            <a:r>
              <a:rPr lang="en-US" altLang="zh-CN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=0x31 + 0x31=0x62</a:t>
            </a:r>
            <a:endParaRPr lang="zh-CN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704578" y="1985479"/>
            <a:ext cx="44834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b="1" dirty="0"/>
              <a:t> </a:t>
            </a:r>
            <a:r>
              <a:rPr lang="en-US" altLang="zh-CN" dirty="0"/>
              <a:t>char a[20] = " 10000 ";      </a:t>
            </a:r>
            <a:r>
              <a:rPr lang="en-US" altLang="zh-CN" dirty="0" err="1"/>
              <a:t>int</a:t>
            </a:r>
            <a:r>
              <a:rPr lang="en-US" altLang="zh-CN" dirty="0"/>
              <a:t> b = 10000;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4771368" y="2550216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938591" y="3274593"/>
            <a:ext cx="4046010" cy="200645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数字字符</a:t>
            </a: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ASCII</a:t>
            </a: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值转换为二进制存储在存储空间中，而数值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数字则直接按二进制形式存储在存储空间中。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一般用数值型数字表示数字的变量占用较小的内存。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74868" y="2550216"/>
            <a:ext cx="319318" cy="369332"/>
          </a:xfrm>
          <a:prstGeom prst="rect">
            <a:avLst/>
          </a:prstGeom>
          <a:solidFill>
            <a:srgbClr val="9DE0B3"/>
          </a:solidFill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37493" y="2550216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468895" y="2550216"/>
            <a:ext cx="774571" cy="369332"/>
          </a:xfrm>
          <a:prstGeom prst="rect">
            <a:avLst/>
          </a:prstGeom>
          <a:solidFill>
            <a:srgbClr val="9DE0B3"/>
          </a:solidFill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0x33 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7861367" y="2550216"/>
            <a:ext cx="1043876" cy="369332"/>
          </a:xfrm>
          <a:prstGeom prst="rect">
            <a:avLst/>
          </a:prstGeom>
          <a:solidFill>
            <a:srgbClr val="9DE0B3"/>
          </a:solidFill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0x27 10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5528428" y="2550216"/>
            <a:ext cx="2127505" cy="369332"/>
          </a:xfrm>
          <a:prstGeom prst="rect">
            <a:avLst/>
          </a:prstGeom>
          <a:solidFill>
            <a:srgbClr val="9DE0B3"/>
          </a:solidFill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0x31 30 30 30 30 </a:t>
            </a:r>
            <a:endParaRPr lang="zh-CN" altLang="en-US" dirty="0"/>
          </a:p>
        </p:txBody>
      </p:sp>
      <p:sp>
        <p:nvSpPr>
          <p:cNvPr id="24" name="圆角矩形 23"/>
          <p:cNvSpPr/>
          <p:nvPr/>
        </p:nvSpPr>
        <p:spPr>
          <a:xfrm>
            <a:off x="359896" y="4264655"/>
            <a:ext cx="3646968" cy="84131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字符型数据和整型数据可以通用，相当于对字符的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ASCII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码进行操作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4359275" y="1985479"/>
            <a:ext cx="2581" cy="3534259"/>
          </a:xfrm>
          <a:prstGeom prst="line">
            <a:avLst/>
          </a:prstGeom>
          <a:ln w="19050">
            <a:solidFill>
              <a:srgbClr val="39626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20" grpId="0"/>
      <p:bldP spid="21" grpId="0"/>
      <p:bldP spid="22" grpId="0"/>
      <p:bldP spid="15" grpId="0" animBg="1"/>
      <p:bldP spid="4" grpId="0" animBg="1"/>
      <p:bldP spid="7" grpId="0"/>
      <p:bldP spid="10" grpId="0" animBg="1"/>
      <p:bldP spid="11" grpId="0" animBg="1"/>
      <p:bldP spid="14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86089" y="142131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7.1.2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5" y="142130"/>
            <a:ext cx="39820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字符串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6089" y="1083259"/>
            <a:ext cx="7964449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串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由一对双引号括起的字符序列，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字符串中可以包括字母、数字以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    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及各种各样的字符等等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72814" y="2250788"/>
            <a:ext cx="42722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</a:pPr>
            <a:r>
              <a:rPr lang="en-US" altLang="zh-CN" sz="1600" dirty="0">
                <a:ea typeface="微软雅黑" panose="020B0503020204020204" pitchFamily="34" charset="-122"/>
              </a:rPr>
              <a:t>"</a:t>
            </a:r>
            <a:r>
              <a:rPr lang="en-US" altLang="zh-CN" sz="1600" dirty="0" err="1">
                <a:ea typeface="微软雅黑" panose="020B0503020204020204" pitchFamily="34" charset="-122"/>
              </a:rPr>
              <a:t>zhang</a:t>
            </a:r>
            <a:r>
              <a:rPr lang="en-US" altLang="zh-CN" sz="1600" dirty="0">
                <a:ea typeface="微软雅黑" panose="020B0503020204020204" pitchFamily="34" charset="-122"/>
              </a:rPr>
              <a:t> san"           	      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表示一个人名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>
              <a:lnSpc>
                <a:spcPct val="150000"/>
              </a:lnSpc>
            </a:pPr>
            <a:r>
              <a:rPr lang="en-US" altLang="zh-CN" sz="1600" dirty="0">
                <a:ea typeface="微软雅黑" panose="020B0503020204020204" pitchFamily="34" charset="-122"/>
              </a:rPr>
              <a:t>"</a:t>
            </a:r>
            <a:r>
              <a:rPr lang="en-US" altLang="zh-CN" sz="1600" dirty="0" err="1">
                <a:ea typeface="微软雅黑" panose="020B0503020204020204" pitchFamily="34" charset="-122"/>
              </a:rPr>
              <a:t>hust.wuhan.china</a:t>
            </a:r>
            <a:r>
              <a:rPr lang="en-US" altLang="zh-CN" sz="1600" dirty="0">
                <a:ea typeface="微软雅黑" panose="020B0503020204020204" pitchFamily="34" charset="-122"/>
              </a:rPr>
              <a:t>"     </a:t>
            </a:r>
            <a:r>
              <a:rPr lang="zh-CN" altLang="zh-CN" sz="1600" dirty="0">
                <a:ea typeface="微软雅黑" panose="020B0503020204020204" pitchFamily="34" charset="-122"/>
              </a:rPr>
              <a:t>表示一个地址</a:t>
            </a:r>
            <a:endParaRPr lang="en-US" altLang="zh-CN" sz="1600" dirty="0">
              <a:ea typeface="微软雅黑" panose="020B0503020204020204" pitchFamily="34" charset="-122"/>
            </a:endParaRPr>
          </a:p>
          <a:p>
            <a:pPr indent="266700">
              <a:lnSpc>
                <a:spcPct val="150000"/>
              </a:lnSpc>
            </a:pPr>
            <a:r>
              <a:rPr lang="en-US" altLang="zh-CN" sz="1600" dirty="0">
                <a:ea typeface="微软雅黑" panose="020B0503020204020204" pitchFamily="34" charset="-122"/>
              </a:rPr>
              <a:t>"87243092"          	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表示一个电话号码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51908" y="4396027"/>
            <a:ext cx="5492824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可以使用字符数组或字符指针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来对字符串进行处理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08929" y="4897037"/>
            <a:ext cx="377000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字符数组：</a:t>
            </a:r>
            <a:r>
              <a:rPr lang="en-US" altLang="zh-CN" dirty="0"/>
              <a:t>char color[20] = "blue"</a:t>
            </a:r>
            <a:r>
              <a:rPr lang="zh-CN" altLang="zh-CN" dirty="0"/>
              <a:t>；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字符指针：</a:t>
            </a:r>
            <a:r>
              <a:rPr lang="en-US" altLang="zh-CN" dirty="0">
                <a:ea typeface="宋体" panose="02010600030101010101" pitchFamily="2" charset="-122"/>
              </a:rPr>
              <a:t>char *</a:t>
            </a:r>
            <a:r>
              <a:rPr lang="en-US" altLang="zh-CN" dirty="0" err="1">
                <a:ea typeface="宋体" panose="02010600030101010101" pitchFamily="2" charset="-122"/>
              </a:rPr>
              <a:t>colorPtr</a:t>
            </a:r>
            <a:r>
              <a:rPr lang="en-US" altLang="zh-CN" dirty="0">
                <a:ea typeface="宋体" panose="02010600030101010101" pitchFamily="2" charset="-122"/>
              </a:rPr>
              <a:t>  = "blue"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对话气泡: 圆角矩形 16"/>
          <p:cNvSpPr/>
          <p:nvPr/>
        </p:nvSpPr>
        <p:spPr>
          <a:xfrm>
            <a:off x="5370930" y="4903859"/>
            <a:ext cx="3379608" cy="1211594"/>
          </a:xfrm>
          <a:prstGeom prst="wedgeRoundRectCallout">
            <a:avLst>
              <a:gd name="adj1" fmla="val -60786"/>
              <a:gd name="adj2" fmla="val -12172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50000"/>
              </a:lnSpc>
            </a:pPr>
            <a:r>
              <a:rPr lang="zh-CN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使用字符指针与</a:t>
            </a:r>
            <a:r>
              <a:rPr lang="zh-CN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字符型数组本质上是具有相通性的，都是对字符串的地址进行操作，而使用字符指针更加方便易懂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019119" y="3533182"/>
          <a:ext cx="373309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788"/>
                <a:gridCol w="414788"/>
                <a:gridCol w="414788"/>
                <a:gridCol w="414788"/>
                <a:gridCol w="414788"/>
                <a:gridCol w="414788"/>
                <a:gridCol w="414788"/>
                <a:gridCol w="414788"/>
                <a:gridCol w="414788"/>
              </a:tblGrid>
              <a:tr h="284487"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\0</a:t>
                      </a:r>
                      <a:endParaRPr lang="zh-CN" altLang="en-US" dirty="0"/>
                    </a:p>
                  </a:txBody>
                  <a:tcPr>
                    <a:solidFill>
                      <a:srgbClr val="45B0A8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1162985" y="2168723"/>
            <a:ext cx="60683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e.g.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对话气泡: 圆角矩形 16"/>
          <p:cNvSpPr/>
          <p:nvPr/>
        </p:nvSpPr>
        <p:spPr>
          <a:xfrm>
            <a:off x="5626112" y="2753832"/>
            <a:ext cx="2996893" cy="737247"/>
          </a:xfrm>
          <a:prstGeom prst="wedgeRoundRectCallout">
            <a:avLst>
              <a:gd name="adj1" fmla="val -45370"/>
              <a:gd name="adj2" fmla="val 65054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在有效字符串的末尾存放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‘\0’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作为字符串结束的标志。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  <p:bldP spid="11" grpId="0"/>
      <p:bldP spid="15" grpId="0" animBg="1"/>
      <p:bldP spid="6" grpId="0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86089" y="152766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7.1.3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5" y="152765"/>
            <a:ext cx="4714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字符数组与字符指针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43117" y="1504427"/>
            <a:ext cx="84116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字符数组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：元素类型为字符型的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数组，字符数组中的一个元素存放一个字符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77858" y="2343075"/>
            <a:ext cx="504675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字符数组的定义方法：</a:t>
            </a:r>
            <a:r>
              <a:rPr lang="en-US" altLang="zh-CN" dirty="0"/>
              <a:t>char string[20];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86089" y="3344849"/>
            <a:ext cx="7612526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一个长度为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的字符数组可以存储长度不超过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个字符的字符串，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因为在有效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末尾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存入一个空字符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‘\0’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不是字符串的一部分，所以字符串的最大长度始终比数组长度小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86089" y="152767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7.1.3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5" y="152766"/>
            <a:ext cx="4714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字符数组与字符指针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53416" y="1311420"/>
            <a:ext cx="459906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数组在处理字符串时的初始化方法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55396" y="1942973"/>
            <a:ext cx="31667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逐个元素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赋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初值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79235" y="2546045"/>
            <a:ext cx="4459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char string[20]={ </a:t>
            </a:r>
            <a:r>
              <a:rPr lang="en-US" altLang="zh-CN" dirty="0">
                <a:ea typeface="宋体" panose="02010600030101010101" pitchFamily="2" charset="-122"/>
              </a:rPr>
              <a:t>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</a:rPr>
              <a:t>'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 </a:t>
            </a:r>
            <a:r>
              <a:rPr lang="en-US" altLang="zh-CN" dirty="0">
                <a:ea typeface="宋体" panose="02010600030101010101" pitchFamily="2" charset="-122"/>
              </a:rPr>
              <a:t>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t</a:t>
            </a:r>
            <a:r>
              <a:rPr lang="en-US" altLang="zh-CN" dirty="0">
                <a:ea typeface="宋体" panose="02010600030101010101" pitchFamily="2" charset="-122"/>
              </a:rPr>
              <a:t>'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 </a:t>
            </a:r>
            <a:r>
              <a:rPr lang="en-US" altLang="zh-CN" dirty="0">
                <a:ea typeface="宋体" panose="02010600030101010101" pitchFamily="2" charset="-122"/>
              </a:rPr>
              <a:t>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r</a:t>
            </a:r>
            <a:r>
              <a:rPr lang="en-US" altLang="zh-CN" dirty="0">
                <a:ea typeface="宋体" panose="02010600030101010101" pitchFamily="2" charset="-122"/>
              </a:rPr>
              <a:t>'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 </a:t>
            </a:r>
            <a:r>
              <a:rPr lang="en-US" altLang="zh-CN" dirty="0">
                <a:ea typeface="宋体" panose="02010600030101010101" pitchFamily="2" charset="-122"/>
              </a:rPr>
              <a:t>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o</a:t>
            </a:r>
            <a:r>
              <a:rPr lang="en-US" altLang="zh-CN" dirty="0">
                <a:ea typeface="宋体" panose="02010600030101010101" pitchFamily="2" charset="-122"/>
              </a:rPr>
              <a:t>'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 </a:t>
            </a:r>
            <a:r>
              <a:rPr lang="en-US" altLang="zh-CN" dirty="0">
                <a:ea typeface="宋体" panose="02010600030101010101" pitchFamily="2" charset="-122"/>
              </a:rPr>
              <a:t>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'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 </a:t>
            </a:r>
            <a:r>
              <a:rPr lang="en-US" altLang="zh-CN" dirty="0">
                <a:ea typeface="宋体" panose="02010600030101010101" pitchFamily="2" charset="-122"/>
              </a:rPr>
              <a:t>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g</a:t>
            </a:r>
            <a:r>
              <a:rPr lang="en-US" altLang="zh-CN" dirty="0">
                <a:ea typeface="宋体" panose="02010600030101010101" pitchFamily="2" charset="-122"/>
              </a:rPr>
              <a:t>'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 </a:t>
            </a:r>
            <a:r>
              <a:rPr lang="en-US" altLang="zh-CN" dirty="0">
                <a:ea typeface="宋体" panose="02010600030101010101" pitchFamily="2" charset="-122"/>
              </a:rPr>
              <a:t>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\0</a:t>
            </a:r>
            <a:r>
              <a:rPr lang="en-US" altLang="zh-CN" dirty="0">
                <a:ea typeface="宋体" panose="02010600030101010101" pitchFamily="2" charset="-122"/>
              </a:rPr>
              <a:t>'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};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53415" y="3378264"/>
            <a:ext cx="17155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-266700" algn="just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string[0]= 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cs typeface="Times New Roman" panose="02020603050405020304" pitchFamily="18" charset="0"/>
            </a:endParaRPr>
          </a:p>
          <a:p>
            <a:pPr marL="266700" indent="-266700" algn="just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string[1]= 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cs typeface="Times New Roman" panose="02020603050405020304" pitchFamily="18" charset="0"/>
            </a:endParaRPr>
          </a:p>
          <a:p>
            <a:pPr marL="266700" indent="-266700" algn="just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string[2]= 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cs typeface="Times New Roman" panose="02020603050405020304" pitchFamily="18" charset="0"/>
            </a:endParaRPr>
          </a:p>
          <a:p>
            <a:pPr marL="266700" indent="-266700" algn="just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	.</a:t>
            </a:r>
            <a:endParaRPr lang="zh-CN" altLang="zh-CN" kern="100" dirty="0">
              <a:cs typeface="Times New Roman" panose="02020603050405020304" pitchFamily="18" charset="0"/>
            </a:endParaRPr>
          </a:p>
          <a:p>
            <a:pPr marL="266700" indent="-266700" algn="just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	.</a:t>
            </a:r>
            <a:endParaRPr lang="zh-CN" altLang="zh-CN" kern="100" dirty="0">
              <a:cs typeface="Times New Roman" panose="02020603050405020304" pitchFamily="18" charset="0"/>
            </a:endParaRPr>
          </a:p>
          <a:p>
            <a:pPr marL="266700" indent="-266700" algn="just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string[6]= 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\0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cs typeface="Times New Roman" panose="02020603050405020304" pitchFamily="18" charset="0"/>
            </a:endParaRPr>
          </a:p>
        </p:txBody>
      </p:sp>
      <p:sp>
        <p:nvSpPr>
          <p:cNvPr id="10" name="对话气泡: 圆角矩形 16"/>
          <p:cNvSpPr/>
          <p:nvPr/>
        </p:nvSpPr>
        <p:spPr>
          <a:xfrm>
            <a:off x="2462110" y="3400468"/>
            <a:ext cx="2676999" cy="767879"/>
          </a:xfrm>
          <a:prstGeom prst="wedgeRoundRectCallout">
            <a:avLst>
              <a:gd name="adj1" fmla="val 34762"/>
              <a:gd name="adj2" fmla="val -113394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zh-CN" sz="1400" dirty="0">
                <a:solidFill>
                  <a:schemeClr val="tx1"/>
                </a:solidFill>
                <a:ea typeface="微软雅黑" panose="020B0503020204020204" pitchFamily="34" charset="-122"/>
              </a:rPr>
              <a:t>在指定初值时，必须在最后一个值之后必须明确地写上‘</a:t>
            </a:r>
            <a:r>
              <a:rPr lang="en-US" altLang="zh-CN" sz="1400" dirty="0">
                <a:solidFill>
                  <a:schemeClr val="tx1"/>
                </a:solidFill>
                <a:ea typeface="微软雅黑" panose="020B0503020204020204" pitchFamily="34" charset="-122"/>
              </a:rPr>
              <a:t>\0</a:t>
            </a:r>
            <a:r>
              <a:rPr lang="zh-CN" altLang="zh-CN" sz="1400" dirty="0">
                <a:solidFill>
                  <a:schemeClr val="tx1"/>
                </a:solidFill>
                <a:ea typeface="微软雅黑" panose="020B0503020204020204" pitchFamily="34" charset="-122"/>
              </a:rPr>
              <a:t>’</a:t>
            </a:r>
            <a:endParaRPr lang="zh-CN" altLang="en-US" sz="1400" dirty="0">
              <a:solidFill>
                <a:schemeClr val="tx1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62910" y="1937841"/>
            <a:ext cx="31667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：整个字符串赋初值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30393" y="2570679"/>
            <a:ext cx="24327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char string[20]="hello";</a:t>
            </a:r>
            <a:endParaRPr lang="zh-CN" altLang="en-US" dirty="0"/>
          </a:p>
        </p:txBody>
      </p:sp>
      <p:sp>
        <p:nvSpPr>
          <p:cNvPr id="17" name="对话气泡: 圆角矩形 16"/>
          <p:cNvSpPr/>
          <p:nvPr/>
        </p:nvSpPr>
        <p:spPr>
          <a:xfrm>
            <a:off x="5524264" y="3385515"/>
            <a:ext cx="3179495" cy="782832"/>
          </a:xfrm>
          <a:prstGeom prst="wedgeRoundRectCallout">
            <a:avLst>
              <a:gd name="adj1" fmla="val 12920"/>
              <a:gd name="adj2" fmla="val -111250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50000"/>
              </a:lnSpc>
            </a:pPr>
            <a:r>
              <a:rPr lang="zh-CN" altLang="zh-CN" sz="1400" dirty="0">
                <a:solidFill>
                  <a:schemeClr val="tx1"/>
                </a:solidFill>
                <a:ea typeface="微软雅黑" panose="020B0503020204020204" pitchFamily="34" charset="-122"/>
              </a:rPr>
              <a:t>自动在末尾加有 </a:t>
            </a:r>
            <a:r>
              <a:rPr lang="en-US" altLang="zh-CN" sz="1400" dirty="0">
                <a:solidFill>
                  <a:schemeClr val="tx1"/>
                </a:solidFill>
                <a:ea typeface="微软雅黑" panose="020B0503020204020204" pitchFamily="34" charset="-122"/>
              </a:rPr>
              <a:t>'\0 '</a:t>
            </a:r>
            <a:r>
              <a:rPr lang="zh-CN" altLang="zh-CN" sz="1400" dirty="0">
                <a:solidFill>
                  <a:schemeClr val="tx1"/>
                </a:solidFill>
                <a:ea typeface="微软雅黑" panose="020B0503020204020204" pitchFamily="34" charset="-122"/>
              </a:rPr>
              <a:t>字符，作为一个结束标志</a:t>
            </a:r>
            <a:endParaRPr lang="zh-CN" altLang="en-US" sz="1400" dirty="0">
              <a:solidFill>
                <a:schemeClr val="tx1"/>
              </a:solidFill>
              <a:ea typeface="微软雅黑" panose="020B0503020204020204" pitchFamily="34" charset="-122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541535" y="5469972"/>
          <a:ext cx="434788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127"/>
                <a:gridCol w="621127"/>
                <a:gridCol w="621127"/>
                <a:gridCol w="621127"/>
                <a:gridCol w="621127"/>
                <a:gridCol w="621127"/>
                <a:gridCol w="62112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</a:t>
                      </a:r>
                      <a:endParaRPr lang="zh-CN" altLang="en-US" dirty="0"/>
                    </a:p>
                  </a:txBody>
                  <a:tcPr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</a:t>
                      </a:r>
                      <a:endParaRPr lang="zh-CN" altLang="en-US" dirty="0"/>
                    </a:p>
                  </a:txBody>
                  <a:tcPr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</a:t>
                      </a:r>
                      <a:endParaRPr lang="zh-CN" altLang="en-US" dirty="0"/>
                    </a:p>
                  </a:txBody>
                  <a:tcPr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</a:t>
                      </a:r>
                      <a:endParaRPr lang="zh-CN" altLang="en-US" dirty="0"/>
                    </a:p>
                  </a:txBody>
                  <a:tcPr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</a:t>
                      </a:r>
                      <a:endParaRPr lang="zh-CN" altLang="en-US" dirty="0"/>
                    </a:p>
                  </a:txBody>
                  <a:tcPr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\0</a:t>
                      </a:r>
                      <a:endParaRPr lang="zh-CN" altLang="en-US" dirty="0"/>
                    </a:p>
                  </a:txBody>
                  <a:tcPr>
                    <a:solidFill>
                      <a:srgbClr val="45B0A8"/>
                    </a:solidFill>
                  </a:tcPr>
                </a:tc>
              </a:tr>
            </a:tbl>
          </a:graphicData>
        </a:graphic>
      </p:graphicFrame>
      <p:sp>
        <p:nvSpPr>
          <p:cNvPr id="18" name="矩形 17"/>
          <p:cNvSpPr/>
          <p:nvPr/>
        </p:nvSpPr>
        <p:spPr>
          <a:xfrm>
            <a:off x="3724409" y="4909693"/>
            <a:ext cx="24898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在内存中的存储状态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5133978" y="5469972"/>
          <a:ext cx="372985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642"/>
                <a:gridCol w="621642"/>
                <a:gridCol w="621642"/>
                <a:gridCol w="621642"/>
                <a:gridCol w="621642"/>
                <a:gridCol w="62164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</a:t>
                      </a:r>
                      <a:endParaRPr lang="zh-CN" altLang="en-US" dirty="0"/>
                    </a:p>
                  </a:txBody>
                  <a:tcPr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</a:t>
                      </a:r>
                      <a:endParaRPr lang="zh-CN" altLang="en-US" dirty="0"/>
                    </a:p>
                  </a:txBody>
                  <a:tcPr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</a:t>
                      </a:r>
                      <a:endParaRPr lang="zh-CN" altLang="en-US" dirty="0"/>
                    </a:p>
                  </a:txBody>
                  <a:tcPr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</a:t>
                      </a:r>
                      <a:endParaRPr lang="zh-CN" altLang="en-US" dirty="0"/>
                    </a:p>
                  </a:txBody>
                  <a:tcPr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</a:t>
                      </a:r>
                      <a:endParaRPr lang="zh-CN" altLang="en-US" dirty="0"/>
                    </a:p>
                  </a:txBody>
                  <a:tcPr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\0</a:t>
                      </a:r>
                      <a:endParaRPr lang="zh-CN" altLang="en-US" dirty="0"/>
                    </a:p>
                  </a:txBody>
                  <a:tcPr>
                    <a:solidFill>
                      <a:srgbClr val="45B0A8"/>
                    </a:solidFill>
                  </a:tcPr>
                </a:tc>
              </a:tr>
            </a:tbl>
          </a:graphicData>
        </a:graphic>
      </p:graphicFrame>
      <p:sp>
        <p:nvSpPr>
          <p:cNvPr id="16" name="下箭头 15"/>
          <p:cNvSpPr/>
          <p:nvPr/>
        </p:nvSpPr>
        <p:spPr>
          <a:xfrm>
            <a:off x="1448145" y="2940011"/>
            <a:ext cx="330298" cy="418211"/>
          </a:xfrm>
          <a:prstGeom prst="downArrow">
            <a:avLst/>
          </a:prstGeom>
          <a:solidFill>
            <a:srgbClr val="648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766599" y="2981319"/>
            <a:ext cx="6024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等效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5" grpId="0"/>
      <p:bldP spid="6" grpId="0"/>
      <p:bldP spid="10" grpId="0" animBg="1"/>
      <p:bldP spid="11" grpId="0"/>
      <p:bldP spid="7" grpId="0"/>
      <p:bldP spid="17" grpId="0" animBg="1"/>
      <p:bldP spid="18" grpId="0"/>
      <p:bldP spid="16" grpId="0" animBg="1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2327446" y="1569024"/>
            <a:ext cx="3922744" cy="4016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500" dirty="0"/>
              <a:t>      #include&lt;</a:t>
            </a:r>
            <a:r>
              <a:rPr lang="en-US" altLang="zh-CN" sz="1500" dirty="0" err="1"/>
              <a:t>stdio.h</a:t>
            </a:r>
            <a:r>
              <a:rPr lang="en-US" altLang="zh-CN" sz="1500" dirty="0"/>
              <a:t>&gt;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length (char *string);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void main()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{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m;</a:t>
            </a:r>
            <a:endParaRPr lang="zh-CN" altLang="zh-CN" sz="1500" dirty="0"/>
          </a:p>
          <a:p>
            <a:pPr lvl="0"/>
            <a:r>
              <a:rPr lang="en-US" altLang="zh-CN" sz="1500" dirty="0"/>
              <a:t>	 char a[20];</a:t>
            </a:r>
            <a:endParaRPr lang="zh-CN" altLang="zh-CN" sz="1500" dirty="0"/>
          </a:p>
          <a:p>
            <a:pPr lvl="0"/>
            <a:r>
              <a:rPr lang="en-US" altLang="zh-CN" sz="1500" dirty="0"/>
              <a:t>	 gets(a); </a:t>
            </a:r>
            <a:endParaRPr lang="en-US" altLang="zh-CN" sz="1500" dirty="0"/>
          </a:p>
          <a:p>
            <a:pPr lvl="0"/>
            <a:r>
              <a:rPr lang="en-US" altLang="zh-CN" sz="1500" dirty="0"/>
              <a:t>	 m = length(a);</a:t>
            </a:r>
            <a:endParaRPr lang="zh-CN" altLang="zh-CN" sz="1500" dirty="0"/>
          </a:p>
          <a:p>
            <a:pPr lvl="0"/>
            <a:r>
              <a:rPr lang="en-US" altLang="zh-CN" sz="1500" dirty="0"/>
              <a:t>	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("The length of string a is %d\</a:t>
            </a:r>
            <a:r>
              <a:rPr lang="en-US" altLang="zh-CN" sz="1500" dirty="0" err="1"/>
              <a:t>n",m</a:t>
            </a:r>
            <a:r>
              <a:rPr lang="en-US" altLang="zh-CN" sz="1500" dirty="0"/>
              <a:t>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}     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length (char *string) </a:t>
            </a:r>
            <a:endParaRPr lang="en-US" altLang="zh-CN" sz="1500" dirty="0"/>
          </a:p>
          <a:p>
            <a:pPr lvl="0"/>
            <a:r>
              <a:rPr lang="en-US" altLang="zh-CN" sz="1500" dirty="0"/>
              <a:t>      {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i</a:t>
            </a:r>
            <a:r>
              <a:rPr lang="en-US" altLang="zh-CN" sz="1500" dirty="0"/>
              <a:t> = 0; 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 while(string[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]!='\0') </a:t>
            </a:r>
            <a:endParaRPr lang="en-US" altLang="zh-CN" sz="1500" dirty="0"/>
          </a:p>
          <a:p>
            <a:pPr lvl="0"/>
            <a:r>
              <a:rPr lang="en-US" altLang="zh-CN" sz="1500" dirty="0"/>
              <a:t>            	</a:t>
            </a:r>
            <a:r>
              <a:rPr lang="en-US" altLang="zh-CN" sz="1500" dirty="0" err="1"/>
              <a:t>i</a:t>
            </a:r>
            <a:r>
              <a:rPr lang="en-US" altLang="zh-CN" sz="1500" dirty="0"/>
              <a:t>++; </a:t>
            </a:r>
            <a:endParaRPr lang="en-US" altLang="zh-CN" sz="1500" dirty="0"/>
          </a:p>
          <a:p>
            <a:pPr lvl="0"/>
            <a:r>
              <a:rPr lang="en-US" altLang="zh-CN" sz="1500" dirty="0"/>
              <a:t>            return(</a:t>
            </a:r>
            <a:r>
              <a:rPr lang="en-US" altLang="zh-CN" sz="1500" dirty="0" err="1"/>
              <a:t>i</a:t>
            </a:r>
            <a:r>
              <a:rPr lang="en-US" altLang="zh-CN" sz="1500" dirty="0"/>
              <a:t>); </a:t>
            </a:r>
            <a:endParaRPr lang="en-US" altLang="zh-CN" sz="1500" dirty="0"/>
          </a:p>
          <a:p>
            <a:pPr lvl="0"/>
            <a:r>
              <a:rPr lang="en-US" altLang="zh-CN" sz="1500" dirty="0"/>
              <a:t>      }</a:t>
            </a:r>
            <a:endParaRPr lang="zh-CN" altLang="en-US" sz="1500" dirty="0"/>
          </a:p>
        </p:txBody>
      </p:sp>
      <p:sp>
        <p:nvSpPr>
          <p:cNvPr id="2" name="文本框 1"/>
          <p:cNvSpPr txBox="1"/>
          <p:nvPr/>
        </p:nvSpPr>
        <p:spPr>
          <a:xfrm>
            <a:off x="786089" y="174032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7.1.3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48646" y="174032"/>
            <a:ext cx="6778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——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一维字符数组与单个字符串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6" name="矩形: 圆角 3"/>
          <p:cNvSpPr/>
          <p:nvPr/>
        </p:nvSpPr>
        <p:spPr>
          <a:xfrm>
            <a:off x="2158408" y="1350335"/>
            <a:ext cx="4199861" cy="4453863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: 圆角 12"/>
          <p:cNvSpPr/>
          <p:nvPr/>
        </p:nvSpPr>
        <p:spPr>
          <a:xfrm>
            <a:off x="2248646" y="1104270"/>
            <a:ext cx="2959532" cy="364050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计算字符串长度的程序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对话气泡: 圆角矩形 16"/>
          <p:cNvSpPr/>
          <p:nvPr/>
        </p:nvSpPr>
        <p:spPr>
          <a:xfrm>
            <a:off x="3965020" y="2375380"/>
            <a:ext cx="2227454" cy="519923"/>
          </a:xfrm>
          <a:prstGeom prst="wedgeRoundRectCallout">
            <a:avLst>
              <a:gd name="adj1" fmla="val -51106"/>
              <a:gd name="adj2" fmla="val 93044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gets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函数用于输入可以包含空格的字符串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4"/>
          <p:cNvSpPr/>
          <p:nvPr/>
        </p:nvSpPr>
        <p:spPr>
          <a:xfrm>
            <a:off x="4570857" y="5153728"/>
            <a:ext cx="3552418" cy="864778"/>
          </a:xfrm>
          <a:prstGeom prst="roundRect">
            <a:avLst/>
          </a:prstGeom>
          <a:solidFill>
            <a:srgbClr val="E5FCC2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运行结果：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    Hello world!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    The length of string a is 12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对话气泡: 圆角矩形 16"/>
          <p:cNvSpPr/>
          <p:nvPr/>
        </p:nvSpPr>
        <p:spPr>
          <a:xfrm>
            <a:off x="4570857" y="3891369"/>
            <a:ext cx="2227454" cy="519923"/>
          </a:xfrm>
          <a:prstGeom prst="wedgeRoundRectCallout">
            <a:avLst>
              <a:gd name="adj1" fmla="val -51106"/>
              <a:gd name="adj2" fmla="val 93044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统计字符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个数，如果字符不等于‘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\0</a:t>
            </a:r>
            <a:r>
              <a:rPr lang="zh-CN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’则循环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2330307" y="1898713"/>
            <a:ext cx="157967" cy="142083"/>
          </a:xfrm>
          <a:prstGeom prst="ellipse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330307" y="3281813"/>
            <a:ext cx="157967" cy="142083"/>
          </a:xfrm>
          <a:prstGeom prst="ellipse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2336646" y="3957110"/>
            <a:ext cx="157967" cy="142083"/>
          </a:xfrm>
          <a:prstGeom prst="ellipse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6" grpId="0" animBg="1"/>
      <p:bldP spid="7" grpId="0" animBg="1"/>
      <p:bldP spid="15" grpId="0" animBg="1"/>
      <p:bldP spid="19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86089" y="184663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7.1.3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48646" y="184663"/>
            <a:ext cx="6778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——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二维字符数组与多个字符串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808073" y="1350335"/>
            <a:ext cx="4199861" cy="4453863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12"/>
          <p:cNvSpPr/>
          <p:nvPr/>
        </p:nvSpPr>
        <p:spPr>
          <a:xfrm>
            <a:off x="808072" y="1168310"/>
            <a:ext cx="6010485" cy="364050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二维字符数组在处理多个字符串时的的定义和初始化方法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对话气泡: 圆角矩形 16"/>
          <p:cNvSpPr/>
          <p:nvPr/>
        </p:nvSpPr>
        <p:spPr>
          <a:xfrm>
            <a:off x="4457131" y="2190650"/>
            <a:ext cx="2361426" cy="372466"/>
          </a:xfrm>
          <a:prstGeom prst="wedgeRoundRectCallout">
            <a:avLst>
              <a:gd name="adj1" fmla="val -65903"/>
              <a:gd name="adj2" fmla="val -5117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多个字符串的显式初始化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65844" y="1732735"/>
            <a:ext cx="311275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方法一</a:t>
            </a:r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en-US" altLang="zh-CN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0"/>
              </a:spcAft>
            </a:pPr>
            <a:r>
              <a:rPr lang="en-US" altLang="zh-CN" sz="1500" dirty="0"/>
              <a:t> 	char string[3][10]={   "pascal",</a:t>
            </a:r>
            <a:endParaRPr lang="zh-CN" altLang="zh-CN" sz="1500" dirty="0"/>
          </a:p>
          <a:p>
            <a:pPr>
              <a:spcAft>
                <a:spcPts val="0"/>
              </a:spcAft>
            </a:pPr>
            <a:r>
              <a:rPr lang="en-US" altLang="zh-CN" sz="1500" dirty="0"/>
              <a:t>                      		      "</a:t>
            </a:r>
            <a:r>
              <a:rPr lang="en-US" altLang="zh-CN" sz="1500" dirty="0" err="1"/>
              <a:t>cobol</a:t>
            </a:r>
            <a:r>
              <a:rPr lang="en-US" altLang="zh-CN" sz="1500" dirty="0"/>
              <a:t>" ,         </a:t>
            </a:r>
            <a:endParaRPr lang="zh-CN" altLang="zh-CN" sz="1500" dirty="0"/>
          </a:p>
          <a:p>
            <a:pPr>
              <a:spcAft>
                <a:spcPts val="0"/>
              </a:spcAft>
            </a:pPr>
            <a:r>
              <a:rPr lang="en-US" altLang="zh-CN" sz="1500" dirty="0"/>
              <a:t>	               	                 "</a:t>
            </a:r>
            <a:r>
              <a:rPr lang="en-US" altLang="zh-CN" sz="1500" dirty="0" err="1"/>
              <a:t>fortran</a:t>
            </a:r>
            <a:r>
              <a:rPr lang="en-US" altLang="zh-CN" sz="1500" dirty="0"/>
              <a:t>" };</a:t>
            </a:r>
            <a:endParaRPr lang="en-US" altLang="zh-CN" sz="1500" dirty="0"/>
          </a:p>
          <a:p>
            <a:pPr>
              <a:spcAft>
                <a:spcPts val="0"/>
              </a:spcAft>
            </a:pPr>
            <a:endParaRPr lang="en-US" altLang="zh-CN" sz="1500" dirty="0"/>
          </a:p>
          <a:p>
            <a:pPr>
              <a:spcAft>
                <a:spcPts val="0"/>
              </a:spcAft>
            </a:pPr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方法二</a:t>
            </a:r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en-US" altLang="zh-CN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500" dirty="0"/>
              <a:t> char string[3][20];</a:t>
            </a:r>
            <a:endParaRPr lang="zh-CN" altLang="zh-CN" sz="1500" dirty="0"/>
          </a:p>
          <a:p>
            <a:pPr lvl="1"/>
            <a:r>
              <a:rPr lang="en-US" altLang="zh-CN" sz="1500" dirty="0"/>
              <a:t>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i</a:t>
            </a:r>
            <a:r>
              <a:rPr lang="en-US" altLang="zh-CN" sz="1500" dirty="0"/>
              <a:t>;</a:t>
            </a:r>
            <a:endParaRPr lang="zh-CN" altLang="zh-CN" sz="1500" dirty="0"/>
          </a:p>
          <a:p>
            <a:pPr lvl="1"/>
            <a:r>
              <a:rPr lang="en-US" altLang="zh-CN" sz="1500" dirty="0"/>
              <a:t> for(</a:t>
            </a:r>
            <a:r>
              <a:rPr lang="en-US" altLang="zh-CN" sz="1500" dirty="0" err="1"/>
              <a:t>i</a:t>
            </a:r>
            <a:r>
              <a:rPr lang="en-US" altLang="zh-CN" sz="1500" dirty="0"/>
              <a:t>=0;i&lt;3;i++)</a:t>
            </a:r>
            <a:endParaRPr lang="zh-CN" altLang="zh-CN" sz="1500" dirty="0"/>
          </a:p>
          <a:p>
            <a:pPr lvl="1"/>
            <a:r>
              <a:rPr lang="en-US" altLang="zh-CN" sz="1500" dirty="0"/>
              <a:t> {</a:t>
            </a:r>
            <a:endParaRPr lang="zh-CN" altLang="zh-CN" sz="1500" dirty="0"/>
          </a:p>
          <a:p>
            <a:pPr lvl="1"/>
            <a:r>
              <a:rPr lang="en-US" altLang="zh-CN" sz="1500" dirty="0"/>
              <a:t>       </a:t>
            </a:r>
            <a:r>
              <a:rPr lang="en-US" altLang="zh-CN" sz="1500" dirty="0" err="1"/>
              <a:t>scanf</a:t>
            </a:r>
            <a:r>
              <a:rPr lang="en-US" altLang="zh-CN" sz="1500" dirty="0"/>
              <a:t>("%s", string[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]);</a:t>
            </a:r>
            <a:endParaRPr lang="zh-CN" altLang="zh-CN" sz="1500" dirty="0"/>
          </a:p>
          <a:p>
            <a:pPr lvl="1"/>
            <a:r>
              <a:rPr lang="en-US" altLang="zh-CN" sz="1500" dirty="0"/>
              <a:t> }</a:t>
            </a:r>
            <a:endParaRPr lang="zh-CN" altLang="zh-CN" sz="1500" dirty="0"/>
          </a:p>
          <a:p>
            <a:pPr lvl="1"/>
            <a:r>
              <a:rPr lang="en-US" altLang="zh-CN" sz="1500" dirty="0"/>
              <a:t> for(</a:t>
            </a:r>
            <a:r>
              <a:rPr lang="en-US" altLang="zh-CN" sz="1500" dirty="0" err="1"/>
              <a:t>i</a:t>
            </a:r>
            <a:r>
              <a:rPr lang="en-US" altLang="zh-CN" sz="1500" dirty="0"/>
              <a:t>=0;i&lt;3;i++)</a:t>
            </a:r>
            <a:endParaRPr lang="zh-CN" altLang="zh-CN" sz="1500" dirty="0"/>
          </a:p>
          <a:p>
            <a:pPr lvl="1"/>
            <a:r>
              <a:rPr lang="en-US" altLang="zh-CN" sz="1500" dirty="0"/>
              <a:t> {</a:t>
            </a:r>
            <a:endParaRPr lang="zh-CN" altLang="zh-CN" sz="1500" dirty="0"/>
          </a:p>
          <a:p>
            <a:pPr lvl="1"/>
            <a:r>
              <a:rPr lang="en-US" altLang="zh-CN" sz="1500" dirty="0"/>
              <a:t>      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("%s\n", string[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]);</a:t>
            </a:r>
            <a:endParaRPr lang="zh-CN" altLang="zh-CN" sz="1500" dirty="0"/>
          </a:p>
          <a:p>
            <a:pPr lvl="1"/>
            <a:r>
              <a:rPr lang="en-US" altLang="zh-CN" sz="1500" dirty="0"/>
              <a:t> }</a:t>
            </a:r>
            <a:endParaRPr lang="zh-CN" altLang="en-US" sz="1500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265705" y="4824298"/>
          <a:ext cx="3556000" cy="8420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</a:tblGrid>
              <a:tr h="27876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endParaRPr lang="zh-C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CN" sz="18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zh-C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CN" sz="18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CN" sz="18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</a:t>
                      </a:r>
                      <a:endParaRPr lang="zh-CN" sz="18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\0</a:t>
                      </a:r>
                      <a:endParaRPr lang="zh-CN" sz="18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zh-CN" sz="18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zh-CN" sz="18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zh-CN" sz="18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</a:tr>
              <a:tr h="27876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C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zh-C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zh-CN" sz="18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zh-CN" sz="18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</a:t>
                      </a:r>
                      <a:endParaRPr lang="zh-CN" sz="18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\0</a:t>
                      </a:r>
                      <a:endParaRPr lang="zh-CN" sz="18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zh-CN" sz="18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zh-CN" sz="18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zh-CN" sz="18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zh-CN" sz="18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endParaRPr lang="zh-CN" sz="18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zh-C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endParaRPr lang="zh-C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C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endParaRPr lang="zh-C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C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endParaRPr lang="zh-C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\0</a:t>
                      </a:r>
                      <a:endParaRPr lang="zh-C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zh-C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zh-C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45B0A8"/>
                    </a:solidFill>
                  </a:tcPr>
                </a:tc>
              </a:tr>
            </a:tbl>
          </a:graphicData>
        </a:graphic>
      </p:graphicFrame>
      <p:sp>
        <p:nvSpPr>
          <p:cNvPr id="10" name="对话气泡: 圆角矩形 16"/>
          <p:cNvSpPr/>
          <p:nvPr/>
        </p:nvSpPr>
        <p:spPr>
          <a:xfrm>
            <a:off x="4241891" y="3359888"/>
            <a:ext cx="2488518" cy="638139"/>
          </a:xfrm>
          <a:prstGeom prst="wedgeRoundRectCallout">
            <a:avLst>
              <a:gd name="adj1" fmla="val -67254"/>
              <a:gd name="adj2" fmla="val 66249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en-US" altLang="zh-CN"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scanf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函数进行循环输入实现多个字符串的初始化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979094" y="4319827"/>
            <a:ext cx="18151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存储状态：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/>
      <p:bldP spid="10" grpId="0" animBg="1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86089" y="163397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7.1.3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48646" y="163397"/>
            <a:ext cx="6778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——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字符指针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45317" y="1130969"/>
            <a:ext cx="5717260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即字符型指针，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它是一个指针变量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	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可以方便地对字符串中的字符进行处理。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45317" y="2691611"/>
            <a:ext cx="4319259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指针初始化：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直接使用字符串常量作为初始值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/>
              <a:t>			char *string = "we are family!";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一个字符串常量赋予一个指针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/>
              <a:t>			char  *p;		p= "c  program";</a:t>
            </a:r>
            <a:endParaRPr lang="zh-CN" altLang="en-US" sz="1600" dirty="0"/>
          </a:p>
        </p:txBody>
      </p:sp>
      <p:sp>
        <p:nvSpPr>
          <p:cNvPr id="13" name="矩形 12"/>
          <p:cNvSpPr/>
          <p:nvPr/>
        </p:nvSpPr>
        <p:spPr>
          <a:xfrm>
            <a:off x="6703987" y="944432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45B0A8"/>
                </a:solidFill>
              </a:rPr>
              <a:t>p</a:t>
            </a:r>
            <a:endParaRPr lang="zh-CN" altLang="en-US" b="1" dirty="0">
              <a:solidFill>
                <a:srgbClr val="45B0A8"/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7126231" y="1151913"/>
            <a:ext cx="457200" cy="0"/>
          </a:xfrm>
          <a:prstGeom prst="straightConnector1">
            <a:avLst/>
          </a:prstGeom>
          <a:ln w="19050">
            <a:solidFill>
              <a:srgbClr val="45B0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545317" y="2224256"/>
            <a:ext cx="4319259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字符指针的定义方法：</a:t>
            </a:r>
            <a:r>
              <a:rPr lang="en-US" altLang="zh-CN" dirty="0"/>
              <a:t>char *string;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814931" y="978194"/>
          <a:ext cx="474479" cy="3891520"/>
        </p:xfrm>
        <a:graphic>
          <a:graphicData uri="http://schemas.openxmlformats.org/drawingml/2006/table">
            <a:tbl>
              <a:tblPr firstRow="1" bandRow="1">
                <a:noFill/>
                <a:tableStyleId>{2D5ABB26-0587-4C30-8999-92F81FD0307C}</a:tableStyleId>
              </a:tblPr>
              <a:tblGrid>
                <a:gridCol w="474479"/>
              </a:tblGrid>
              <a:tr h="38915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CN" altLang="en-US" sz="1800" b="1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B0A8"/>
                    </a:solidFill>
                  </a:tcPr>
                </a:tc>
              </a:tr>
              <a:tr h="38915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1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B0A8"/>
                    </a:solidFill>
                  </a:tcPr>
                </a:tc>
              </a:tr>
              <a:tr h="38915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endParaRPr lang="zh-CN" altLang="en-US" sz="1800" b="1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B0A8"/>
                    </a:solidFill>
                  </a:tcPr>
                </a:tc>
              </a:tr>
              <a:tr h="38915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endParaRPr lang="zh-CN" altLang="en-US" sz="1800" b="1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B0A8"/>
                    </a:solidFill>
                  </a:tcPr>
                </a:tc>
              </a:tr>
              <a:tr h="38915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zh-CN" altLang="en-US" sz="1800" b="1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B0A8"/>
                    </a:solidFill>
                  </a:tcPr>
                </a:tc>
              </a:tr>
              <a:tr h="38915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zh-CN" altLang="en-US" sz="1800" b="1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B0A8"/>
                    </a:solidFill>
                  </a:tcPr>
                </a:tc>
              </a:tr>
              <a:tr h="38915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endParaRPr lang="zh-CN" altLang="en-US" sz="1800" b="1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B0A8"/>
                    </a:solidFill>
                  </a:tcPr>
                </a:tc>
              </a:tr>
              <a:tr h="38915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CN" altLang="en-US" sz="1800" b="1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B0A8"/>
                    </a:solidFill>
                  </a:tcPr>
                </a:tc>
              </a:tr>
              <a:tr h="38915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endParaRPr lang="zh-CN" altLang="en-US" sz="1800" b="1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B0A8"/>
                    </a:solidFill>
                  </a:tcPr>
                </a:tc>
              </a:tr>
              <a:tr h="38915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\0</a:t>
                      </a:r>
                      <a:endParaRPr lang="zh-CN" altLang="en-US" sz="1800" b="1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B0A8"/>
                    </a:solidFill>
                  </a:tcPr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1101336" y="4941878"/>
            <a:ext cx="752647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由于这块区域已经固定，因此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如果要处理该常量字符串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，要保证处理后的字符串长度不能超过初始的字符串长度，否则会修改初始字符串所在区域后面的数据，有可能会影响系统的运行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390707" y="2692977"/>
            <a:ext cx="24242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系统开辟一块区域存储这个字符串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390707" y="3523974"/>
            <a:ext cx="2424224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+mj-ea"/>
              <a:buAutoNum type="circleNumDbPlain" startAt="2"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将首地址赋予指针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97" y="4948010"/>
            <a:ext cx="654768" cy="6547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  <p:bldP spid="13" grpId="0"/>
      <p:bldP spid="11" grpId="0"/>
      <p:bldP spid="10" grpId="0"/>
      <p:bldP spid="20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86089" y="174030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7.1.3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48646" y="174030"/>
            <a:ext cx="6778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——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字符指针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8633" y="1365080"/>
            <a:ext cx="61986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在使用字符数组和字符指针时应注意的问题：</a:t>
            </a:r>
            <a:endParaRPr lang="en-US" altLang="zh-CN" sz="2400" b="1" dirty="0"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0859" y="2214891"/>
            <a:ext cx="3166108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字符指针：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763385" y="2231551"/>
            <a:ext cx="42172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字符数组：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78633" y="2840555"/>
            <a:ext cx="4572000" cy="46487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ea typeface="微软雅黑" panose="020B0503020204020204" pitchFamily="34" charset="-122"/>
              </a:rPr>
              <a:t>char *p;		</a:t>
            </a:r>
            <a:r>
              <a:rPr lang="en-US" altLang="zh-CN" dirty="0" err="1">
                <a:ea typeface="微软雅黑" panose="020B0503020204020204" pitchFamily="34" charset="-122"/>
              </a:rPr>
              <a:t>scanf</a:t>
            </a:r>
            <a:r>
              <a:rPr lang="en-US" altLang="zh-CN" dirty="0">
                <a:ea typeface="微软雅黑" panose="020B0503020204020204" pitchFamily="34" charset="-122"/>
              </a:rPr>
              <a:t>("%</a:t>
            </a:r>
            <a:r>
              <a:rPr lang="en-US" altLang="zh-CN" dirty="0" err="1">
                <a:ea typeface="微软雅黑" panose="020B0503020204020204" pitchFamily="34" charset="-122"/>
              </a:rPr>
              <a:t>s",p</a:t>
            </a:r>
            <a:r>
              <a:rPr lang="en-US" altLang="zh-CN" dirty="0">
                <a:ea typeface="微软雅黑" panose="020B0503020204020204" pitchFamily="34" charset="-122"/>
              </a:rPr>
              <a:t>);</a:t>
            </a:r>
            <a:endParaRPr lang="zh-CN" altLang="zh-CN" dirty="0"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29609" y="3428911"/>
            <a:ext cx="3907019" cy="15152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50000"/>
              </a:lnSpc>
            </a:pPr>
            <a:r>
              <a:rPr lang="en-US" altLang="zh-CN" sz="1600" dirty="0" err="1">
                <a:solidFill>
                  <a:schemeClr val="tx1"/>
                </a:solidFill>
                <a:ea typeface="微软雅黑" panose="020B0503020204020204" pitchFamily="34" charset="-122"/>
              </a:rPr>
              <a:t>scanf</a:t>
            </a:r>
            <a:r>
              <a:rPr lang="en-US" altLang="zh-CN" sz="1600" dirty="0">
                <a:solidFill>
                  <a:schemeClr val="tx1"/>
                </a:solidFill>
                <a:ea typeface="微软雅黑" panose="020B0503020204020204" pitchFamily="34" charset="-122"/>
              </a:rPr>
              <a:t>(“%</a:t>
            </a:r>
            <a:r>
              <a:rPr lang="en-US" altLang="zh-CN" sz="1600" dirty="0" err="1">
                <a:solidFill>
                  <a:schemeClr val="tx1"/>
                </a:solidFill>
                <a:ea typeface="微软雅黑" panose="020B0503020204020204" pitchFamily="34" charset="-122"/>
              </a:rPr>
              <a:t>s”,p</a:t>
            </a:r>
            <a:r>
              <a:rPr lang="en-US" altLang="zh-CN" sz="1600" dirty="0">
                <a:solidFill>
                  <a:schemeClr val="tx1"/>
                </a:solidFill>
                <a:ea typeface="微软雅黑" panose="020B0503020204020204" pitchFamily="34" charset="-122"/>
              </a:rPr>
              <a:t>)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</a:rPr>
              <a:t>是将输入的字符串存放在</a:t>
            </a:r>
            <a:r>
              <a:rPr lang="en-US" altLang="zh-CN" sz="1600" dirty="0">
                <a:solidFill>
                  <a:schemeClr val="tx1"/>
                </a:solidFill>
                <a:ea typeface="微软雅黑" panose="020B0503020204020204" pitchFamily="34" charset="-122"/>
              </a:rPr>
              <a:t>p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</a:rPr>
              <a:t>所指向的地址中，在</a:t>
            </a:r>
            <a:r>
              <a:rPr lang="en-US" altLang="zh-CN" sz="1600" dirty="0">
                <a:solidFill>
                  <a:schemeClr val="tx1"/>
                </a:solidFill>
                <a:ea typeface="微软雅黑" panose="020B0503020204020204" pitchFamily="34" charset="-122"/>
              </a:rPr>
              <a:t>p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</a:rPr>
              <a:t>未赋值之前，执行</a:t>
            </a:r>
            <a:r>
              <a:rPr lang="en-US" altLang="zh-CN" sz="1600" dirty="0" err="1">
                <a:solidFill>
                  <a:schemeClr val="tx1"/>
                </a:solidFill>
                <a:ea typeface="微软雅黑" panose="020B0503020204020204" pitchFamily="34" charset="-122"/>
              </a:rPr>
              <a:t>scanf</a:t>
            </a:r>
            <a:r>
              <a:rPr lang="en-US" altLang="zh-CN" sz="1600" dirty="0">
                <a:solidFill>
                  <a:schemeClr val="tx1"/>
                </a:solidFill>
                <a:ea typeface="微软雅黑" panose="020B0503020204020204" pitchFamily="34" charset="-122"/>
              </a:rPr>
              <a:t>(“%</a:t>
            </a:r>
            <a:r>
              <a:rPr lang="en-US" altLang="zh-CN" sz="1600" dirty="0" err="1">
                <a:solidFill>
                  <a:schemeClr val="tx1"/>
                </a:solidFill>
                <a:ea typeface="微软雅黑" panose="020B0503020204020204" pitchFamily="34" charset="-122"/>
              </a:rPr>
              <a:t>s”,p</a:t>
            </a:r>
            <a:r>
              <a:rPr lang="en-US" altLang="zh-CN" sz="1600" dirty="0">
                <a:solidFill>
                  <a:schemeClr val="tx1"/>
                </a:solidFill>
                <a:ea typeface="微软雅黑" panose="020B0503020204020204" pitchFamily="34" charset="-122"/>
              </a:rPr>
              <a:t>)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</a:rPr>
              <a:t>是错误的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859079" y="3500573"/>
            <a:ext cx="4121532" cy="144356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50000"/>
              </a:lnSpc>
            </a:pP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</a:rPr>
              <a:t>因为</a:t>
            </a:r>
            <a:r>
              <a:rPr lang="en-US" altLang="zh-CN" sz="1600" dirty="0">
                <a:solidFill>
                  <a:schemeClr val="tx1"/>
                </a:solidFill>
                <a:ea typeface="微软雅黑" panose="020B0503020204020204" pitchFamily="34" charset="-122"/>
              </a:rPr>
              <a:t>name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</a:rPr>
              <a:t>是个地址常量，系统不允许向它赋值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</a:rPr>
              <a:t>，正确的初始化形式为</a:t>
            </a:r>
            <a:endParaRPr lang="en-US" altLang="zh-CN" sz="1600" dirty="0">
              <a:solidFill>
                <a:schemeClr val="tx1"/>
              </a:solidFill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dirty="0">
                <a:solidFill>
                  <a:prstClr val="black"/>
                </a:solidFill>
                <a:ea typeface="微软雅黑" panose="020B0503020204020204" pitchFamily="34" charset="-122"/>
              </a:rPr>
              <a:t>char  name[20] ="c  program";</a:t>
            </a:r>
            <a:endParaRPr lang="zh-CN" altLang="zh-CN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6967" y="2840555"/>
            <a:ext cx="504601" cy="504601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655" y="2877882"/>
            <a:ext cx="523387" cy="523387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763385" y="2958583"/>
            <a:ext cx="38277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dirty="0">
                <a:solidFill>
                  <a:prstClr val="black"/>
                </a:solidFill>
                <a:ea typeface="微软雅黑" panose="020B0503020204020204" pitchFamily="34" charset="-122"/>
              </a:rPr>
              <a:t>char  name[20];    name="c  program";</a:t>
            </a:r>
            <a:endParaRPr lang="zh-CN" altLang="zh-CN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1" grpId="0"/>
      <p:bldP spid="14" grpId="0"/>
      <p:bldP spid="4" grpId="0"/>
      <p:bldP spid="9" grpId="0" animBg="1"/>
      <p:bldP spid="13" grpId="0" animBg="1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86089" y="163397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7.1.3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48646" y="163397"/>
            <a:ext cx="6778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——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字符指针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1967023" y="1456663"/>
            <a:ext cx="3342908" cy="3806456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12"/>
          <p:cNvSpPr/>
          <p:nvPr/>
        </p:nvSpPr>
        <p:spPr>
          <a:xfrm>
            <a:off x="1967023" y="1260515"/>
            <a:ext cx="3211033" cy="364050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向字符指针赋字符串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对话气泡: 圆角矩形 16"/>
          <p:cNvSpPr/>
          <p:nvPr/>
        </p:nvSpPr>
        <p:spPr>
          <a:xfrm>
            <a:off x="4741123" y="2421926"/>
            <a:ext cx="2478384" cy="519923"/>
          </a:xfrm>
          <a:prstGeom prst="wedgeRoundRectCallout">
            <a:avLst>
              <a:gd name="adj1" fmla="val -73063"/>
              <a:gd name="adj2" fmla="val -11252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直接使用字符串常量作为初始值进行初始化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236053" y="1823255"/>
            <a:ext cx="3073877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500" dirty="0"/>
              <a:t>      #include &lt;</a:t>
            </a:r>
            <a:r>
              <a:rPr lang="en-US" altLang="zh-CN" sz="1500" dirty="0" err="1"/>
              <a:t>stdio.h</a:t>
            </a:r>
            <a:r>
              <a:rPr lang="en-US" altLang="zh-CN" sz="1500" dirty="0"/>
              <a:t>&gt;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void main( )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{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	 char *s="good";          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	 char *p;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	 while(*s!='\0')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 	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("%c",*s++);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</a:t>
            </a:r>
            <a:r>
              <a:rPr lang="en-US" altLang="zh-CN" sz="1500" dirty="0">
                <a:highlight>
                  <a:srgbClr val="FFFF00"/>
                </a:highlight>
              </a:rPr>
              <a:t>	 </a:t>
            </a:r>
            <a:r>
              <a:rPr lang="en-US" altLang="zh-CN" sz="1500" dirty="0" err="1">
                <a:highlight>
                  <a:srgbClr val="FFFF00"/>
                </a:highlight>
              </a:rPr>
              <a:t>printf</a:t>
            </a:r>
            <a:r>
              <a:rPr lang="en-US" altLang="zh-CN" sz="1500" dirty="0">
                <a:highlight>
                  <a:srgbClr val="FFFF00"/>
                </a:highlight>
              </a:rPr>
              <a:t>("\n");</a:t>
            </a:r>
            <a:endParaRPr lang="zh-CN" altLang="zh-CN" sz="1500" dirty="0">
              <a:highlight>
                <a:srgbClr val="FFFF00"/>
              </a:highlight>
            </a:endParaRPr>
          </a:p>
          <a:p>
            <a:pPr lvl="0"/>
            <a:r>
              <a:rPr lang="en-US" altLang="zh-CN" sz="1500" dirty="0"/>
              <a:t>         	 p="morning";            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	 while(*p!='\0')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	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("%c",*p++);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	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("\n");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}</a:t>
            </a:r>
            <a:endParaRPr lang="zh-CN" altLang="en-US" sz="1500" dirty="0"/>
          </a:p>
        </p:txBody>
      </p:sp>
      <p:sp>
        <p:nvSpPr>
          <p:cNvPr id="10" name="矩形: 圆角 4"/>
          <p:cNvSpPr/>
          <p:nvPr/>
        </p:nvSpPr>
        <p:spPr>
          <a:xfrm>
            <a:off x="4358206" y="4764934"/>
            <a:ext cx="2861301" cy="864778"/>
          </a:xfrm>
          <a:prstGeom prst="roundRect">
            <a:avLst/>
          </a:prstGeom>
          <a:solidFill>
            <a:srgbClr val="E5FCC2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运行结果：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    good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      morning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对话气泡: 圆角矩形 16"/>
          <p:cNvSpPr/>
          <p:nvPr/>
        </p:nvSpPr>
        <p:spPr>
          <a:xfrm>
            <a:off x="4741122" y="3593430"/>
            <a:ext cx="2563445" cy="519923"/>
          </a:xfrm>
          <a:prstGeom prst="wedgeRoundRectCallout">
            <a:avLst>
              <a:gd name="adj1" fmla="val -82250"/>
              <a:gd name="adj2" fmla="val -5117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一个字符串常量赋予一个指针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完成字符串的初始化</a:t>
            </a:r>
            <a:endParaRPr lang="zh-CN" altLang="en-US" sz="1400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86089" y="184663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7.1.3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48646" y="184663"/>
            <a:ext cx="6778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——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字符指针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808074" y="1095150"/>
            <a:ext cx="4764908" cy="5278464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12"/>
          <p:cNvSpPr/>
          <p:nvPr/>
        </p:nvSpPr>
        <p:spPr>
          <a:xfrm>
            <a:off x="3190528" y="1032548"/>
            <a:ext cx="3764992" cy="364050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输入一行字符串，将其逆序输出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对话气泡: 圆角矩形 16"/>
          <p:cNvSpPr/>
          <p:nvPr/>
        </p:nvSpPr>
        <p:spPr>
          <a:xfrm>
            <a:off x="3681622" y="3268462"/>
            <a:ext cx="2453364" cy="616643"/>
          </a:xfrm>
          <a:prstGeom prst="wedgeRoundRectCallout">
            <a:avLst>
              <a:gd name="adj1" fmla="val -72109"/>
              <a:gd name="adj2" fmla="val -2109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利用字符指针将单个字符串在函数间传递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4"/>
          <p:cNvSpPr/>
          <p:nvPr/>
        </p:nvSpPr>
        <p:spPr>
          <a:xfrm>
            <a:off x="5223059" y="1644187"/>
            <a:ext cx="3633862" cy="1376686"/>
          </a:xfrm>
          <a:prstGeom prst="roundRect">
            <a:avLst/>
          </a:prstGeom>
          <a:solidFill>
            <a:srgbClr val="E5FCC2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运行结果：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	    Enter a line of text: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	    Hello world!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	    The line printed backward is: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	    !</a:t>
            </a:r>
            <a:r>
              <a:rPr lang="en-US" altLang="zh-CN" dirty="0" err="1">
                <a:solidFill>
                  <a:schemeClr val="tx1"/>
                </a:solidFill>
              </a:rPr>
              <a:t>dlrow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err="1">
                <a:solidFill>
                  <a:schemeClr val="tx1"/>
                </a:solidFill>
              </a:rPr>
              <a:t>olleH</a:t>
            </a:r>
            <a:endParaRPr lang="zh-CN" altLang="zh-CN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00982" y="1202968"/>
            <a:ext cx="4572000" cy="51706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  <a:tabLst>
                <a:tab pos="575945" algn="l"/>
              </a:tabLst>
            </a:pPr>
            <a:r>
              <a:rPr lang="en-US" altLang="zh-CN" sz="1500" dirty="0"/>
              <a:t>      #include&lt;</a:t>
            </a:r>
            <a:r>
              <a:rPr lang="en-US" altLang="zh-CN" sz="1500" dirty="0" err="1"/>
              <a:t>stdio.h</a:t>
            </a:r>
            <a:r>
              <a:rPr lang="en-US" altLang="zh-CN" sz="1500" dirty="0"/>
              <a:t>&gt;</a:t>
            </a:r>
            <a:endParaRPr lang="zh-CN" altLang="zh-CN" sz="1500" dirty="0"/>
          </a:p>
          <a:p>
            <a:pPr>
              <a:spcAft>
                <a:spcPts val="0"/>
              </a:spcAft>
              <a:tabLst>
                <a:tab pos="575945" algn="l"/>
              </a:tabLst>
            </a:pPr>
            <a:r>
              <a:rPr lang="en-US" altLang="zh-CN" sz="1500" dirty="0"/>
              <a:t>      void reverse(char *</a:t>
            </a:r>
            <a:r>
              <a:rPr lang="en-US" altLang="zh-CN" sz="1500" dirty="0" err="1"/>
              <a:t>sPtr</a:t>
            </a:r>
            <a:r>
              <a:rPr lang="en-US" altLang="zh-CN" sz="1500" dirty="0"/>
              <a:t>); </a:t>
            </a:r>
            <a:endParaRPr lang="en-US" altLang="zh-CN" sz="1500" dirty="0"/>
          </a:p>
          <a:p>
            <a:pPr>
              <a:spcAft>
                <a:spcPts val="0"/>
              </a:spcAft>
              <a:tabLst>
                <a:tab pos="575945" algn="l"/>
              </a:tabLst>
            </a:pPr>
            <a:r>
              <a:rPr lang="en-US" altLang="zh-CN" sz="1500" dirty="0"/>
              <a:t>      void main()</a:t>
            </a:r>
            <a:endParaRPr lang="zh-CN" altLang="zh-CN" sz="1500" dirty="0"/>
          </a:p>
          <a:p>
            <a:pPr>
              <a:spcAft>
                <a:spcPts val="0"/>
              </a:spcAft>
              <a:tabLst>
                <a:tab pos="575945" algn="l"/>
              </a:tabLst>
            </a:pPr>
            <a:r>
              <a:rPr lang="en-US" altLang="zh-CN" sz="1500" dirty="0"/>
              <a:t>      {</a:t>
            </a:r>
            <a:endParaRPr lang="zh-CN" altLang="zh-CN" sz="1500" dirty="0"/>
          </a:p>
          <a:p>
            <a:pPr>
              <a:spcAft>
                <a:spcPts val="0"/>
              </a:spcAft>
              <a:tabLst>
                <a:tab pos="575945" algn="l"/>
              </a:tabLst>
            </a:pPr>
            <a:r>
              <a:rPr lang="en-US" altLang="zh-CN" sz="1500" dirty="0"/>
              <a:t>         	 char s[80];</a:t>
            </a:r>
            <a:endParaRPr lang="zh-CN" altLang="zh-CN" sz="1500" dirty="0"/>
          </a:p>
          <a:p>
            <a:pPr>
              <a:spcAft>
                <a:spcPts val="0"/>
              </a:spcAft>
              <a:tabLst>
                <a:tab pos="575945" algn="l"/>
              </a:tabLst>
            </a:pPr>
            <a:r>
              <a:rPr lang="en-US" altLang="zh-CN" sz="1500" dirty="0"/>
              <a:t>        	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("Enter a line of text:\n");</a:t>
            </a:r>
            <a:endParaRPr lang="zh-CN" altLang="zh-CN" sz="1500" dirty="0"/>
          </a:p>
          <a:p>
            <a:pPr>
              <a:spcAft>
                <a:spcPts val="0"/>
              </a:spcAft>
              <a:tabLst>
                <a:tab pos="575945" algn="l"/>
              </a:tabLst>
            </a:pPr>
            <a:r>
              <a:rPr lang="en-US" altLang="zh-CN" sz="1500" dirty="0"/>
              <a:t>         	 gets(s);                   </a:t>
            </a:r>
            <a:endParaRPr lang="zh-CN" altLang="zh-CN" sz="1500" dirty="0"/>
          </a:p>
          <a:p>
            <a:pPr>
              <a:spcAft>
                <a:spcPts val="0"/>
              </a:spcAft>
              <a:tabLst>
                <a:tab pos="575945" algn="l"/>
              </a:tabLst>
            </a:pPr>
            <a:r>
              <a:rPr lang="en-US" altLang="zh-CN" sz="1500" dirty="0"/>
              <a:t>        	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("\</a:t>
            </a:r>
            <a:r>
              <a:rPr lang="en-US" altLang="zh-CN" sz="1500" dirty="0" err="1"/>
              <a:t>nThe</a:t>
            </a:r>
            <a:r>
              <a:rPr lang="en-US" altLang="zh-CN" sz="1500" dirty="0"/>
              <a:t> line printed backward is\n");</a:t>
            </a:r>
            <a:endParaRPr lang="zh-CN" altLang="zh-CN" sz="1500" dirty="0"/>
          </a:p>
          <a:p>
            <a:pPr>
              <a:spcAft>
                <a:spcPts val="0"/>
              </a:spcAft>
              <a:tabLst>
                <a:tab pos="575945" algn="l"/>
              </a:tabLst>
            </a:pPr>
            <a:r>
              <a:rPr lang="en-US" altLang="zh-CN" sz="1500" dirty="0"/>
              <a:t>        	 reverse(s);</a:t>
            </a:r>
            <a:endParaRPr lang="zh-CN" altLang="zh-CN" sz="1500" dirty="0"/>
          </a:p>
          <a:p>
            <a:pPr>
              <a:spcAft>
                <a:spcPts val="0"/>
              </a:spcAft>
              <a:tabLst>
                <a:tab pos="575945" algn="l"/>
              </a:tabLst>
            </a:pPr>
            <a:r>
              <a:rPr lang="en-US" altLang="zh-CN" sz="1500" dirty="0"/>
              <a:t>     }</a:t>
            </a:r>
            <a:endParaRPr lang="zh-CN" altLang="zh-CN" sz="1500" dirty="0"/>
          </a:p>
          <a:p>
            <a:pPr>
              <a:spcAft>
                <a:spcPts val="0"/>
              </a:spcAft>
              <a:tabLst>
                <a:tab pos="575945" algn="l"/>
              </a:tabLst>
            </a:pPr>
            <a:r>
              <a:rPr lang="en-US" altLang="zh-CN" sz="1500" dirty="0"/>
              <a:t>     void reverse(char *</a:t>
            </a:r>
            <a:r>
              <a:rPr lang="en-US" altLang="zh-CN" sz="1500" dirty="0" err="1"/>
              <a:t>sPtr</a:t>
            </a:r>
            <a:r>
              <a:rPr lang="en-US" altLang="zh-CN" sz="1500" dirty="0"/>
              <a:t>)</a:t>
            </a:r>
            <a:endParaRPr lang="zh-CN" altLang="zh-CN" sz="1500" dirty="0"/>
          </a:p>
          <a:p>
            <a:pPr>
              <a:spcAft>
                <a:spcPts val="0"/>
              </a:spcAft>
              <a:tabLst>
                <a:tab pos="575945" algn="l"/>
              </a:tabLst>
            </a:pPr>
            <a:r>
              <a:rPr lang="en-US" altLang="zh-CN" sz="1500" dirty="0"/>
              <a:t>     {</a:t>
            </a:r>
            <a:endParaRPr lang="zh-CN" altLang="zh-CN" sz="1500" dirty="0"/>
          </a:p>
          <a:p>
            <a:pPr>
              <a:spcAft>
                <a:spcPts val="0"/>
              </a:spcAft>
              <a:tabLst>
                <a:tab pos="575945" algn="l"/>
              </a:tabLst>
            </a:pPr>
            <a:r>
              <a:rPr lang="en-US" altLang="zh-CN" sz="1500" dirty="0"/>
              <a:t>	if(</a:t>
            </a:r>
            <a:r>
              <a:rPr lang="en-US" altLang="zh-CN" sz="1500" dirty="0" err="1"/>
              <a:t>sPtr</a:t>
            </a:r>
            <a:r>
              <a:rPr lang="en-US" altLang="zh-CN" sz="1500" dirty="0"/>
              <a:t>[0]=='\0')</a:t>
            </a:r>
            <a:endParaRPr lang="zh-CN" altLang="zh-CN" sz="1500" dirty="0"/>
          </a:p>
          <a:p>
            <a:pPr>
              <a:spcAft>
                <a:spcPts val="0"/>
              </a:spcAft>
              <a:tabLst>
                <a:tab pos="575945" algn="l"/>
              </a:tabLst>
            </a:pPr>
            <a:r>
              <a:rPr lang="en-US" altLang="zh-CN" sz="1500" dirty="0"/>
              <a:t>       	{</a:t>
            </a:r>
            <a:endParaRPr lang="zh-CN" altLang="zh-CN" sz="1500" dirty="0"/>
          </a:p>
          <a:p>
            <a:pPr>
              <a:spcAft>
                <a:spcPts val="0"/>
              </a:spcAft>
              <a:tabLst>
                <a:tab pos="575945" algn="l"/>
              </a:tabLst>
            </a:pPr>
            <a:r>
              <a:rPr lang="en-US" altLang="zh-CN" sz="1500" dirty="0"/>
              <a:t>	         return;</a:t>
            </a:r>
            <a:endParaRPr lang="zh-CN" altLang="zh-CN" sz="1500" dirty="0"/>
          </a:p>
          <a:p>
            <a:pPr>
              <a:spcAft>
                <a:spcPts val="0"/>
              </a:spcAft>
              <a:tabLst>
                <a:tab pos="575945" algn="l"/>
              </a:tabLst>
            </a:pPr>
            <a:r>
              <a:rPr lang="en-US" altLang="zh-CN" sz="1500" dirty="0"/>
              <a:t>        	}</a:t>
            </a:r>
            <a:endParaRPr lang="zh-CN" altLang="zh-CN" sz="1500" dirty="0"/>
          </a:p>
          <a:p>
            <a:pPr>
              <a:spcAft>
                <a:spcPts val="0"/>
              </a:spcAft>
              <a:tabLst>
                <a:tab pos="575945" algn="l"/>
              </a:tabLst>
            </a:pPr>
            <a:r>
              <a:rPr lang="en-US" altLang="zh-CN" sz="1500" dirty="0"/>
              <a:t>        	else</a:t>
            </a:r>
            <a:endParaRPr lang="zh-CN" altLang="zh-CN" sz="1500" dirty="0"/>
          </a:p>
          <a:p>
            <a:pPr>
              <a:spcAft>
                <a:spcPts val="0"/>
              </a:spcAft>
              <a:tabLst>
                <a:tab pos="575945" algn="l"/>
              </a:tabLst>
            </a:pPr>
            <a:r>
              <a:rPr lang="en-US" altLang="zh-CN" sz="1500" dirty="0"/>
              <a:t>        	{</a:t>
            </a:r>
            <a:endParaRPr lang="zh-CN" altLang="zh-CN" sz="1500" dirty="0"/>
          </a:p>
          <a:p>
            <a:pPr>
              <a:spcAft>
                <a:spcPts val="0"/>
              </a:spcAft>
              <a:tabLst>
                <a:tab pos="575945" algn="l"/>
              </a:tabLst>
            </a:pPr>
            <a:r>
              <a:rPr lang="en-US" altLang="zh-CN" sz="1500" dirty="0"/>
              <a:t>         		reverse(&amp;</a:t>
            </a:r>
            <a:r>
              <a:rPr lang="en-US" altLang="zh-CN" sz="1500" dirty="0" err="1"/>
              <a:t>sPtr</a:t>
            </a:r>
            <a:r>
              <a:rPr lang="en-US" altLang="zh-CN" sz="1500" dirty="0"/>
              <a:t>[1]); </a:t>
            </a:r>
            <a:endParaRPr lang="en-US" altLang="zh-CN" sz="1500" dirty="0"/>
          </a:p>
          <a:p>
            <a:pPr>
              <a:spcAft>
                <a:spcPts val="0"/>
              </a:spcAft>
              <a:tabLst>
                <a:tab pos="575945" algn="l"/>
              </a:tabLst>
            </a:pPr>
            <a:r>
              <a:rPr lang="en-US" altLang="zh-CN" sz="1500" dirty="0"/>
              <a:t>		</a:t>
            </a:r>
            <a:r>
              <a:rPr lang="en-US" altLang="zh-CN" sz="1500" dirty="0" err="1"/>
              <a:t>putchar</a:t>
            </a:r>
            <a:r>
              <a:rPr lang="en-US" altLang="zh-CN" sz="1500" dirty="0"/>
              <a:t>(</a:t>
            </a:r>
            <a:r>
              <a:rPr lang="en-US" altLang="zh-CN" sz="1500" dirty="0" err="1"/>
              <a:t>sPtr</a:t>
            </a:r>
            <a:r>
              <a:rPr lang="en-US" altLang="zh-CN" sz="1500" dirty="0"/>
              <a:t>[0]); </a:t>
            </a:r>
            <a:endParaRPr lang="en-US" altLang="zh-CN" sz="1500" dirty="0"/>
          </a:p>
          <a:p>
            <a:pPr>
              <a:spcAft>
                <a:spcPts val="0"/>
              </a:spcAft>
              <a:tabLst>
                <a:tab pos="575945" algn="l"/>
              </a:tabLst>
            </a:pPr>
            <a:r>
              <a:rPr lang="en-US" altLang="zh-CN" sz="1500" dirty="0"/>
              <a:t>	}</a:t>
            </a:r>
            <a:endParaRPr lang="zh-CN" altLang="zh-CN" sz="1500" dirty="0"/>
          </a:p>
          <a:p>
            <a:pPr>
              <a:spcAft>
                <a:spcPts val="0"/>
              </a:spcAft>
              <a:tabLst>
                <a:tab pos="575945" algn="l"/>
              </a:tabLst>
            </a:pPr>
            <a:r>
              <a:rPr lang="en-US" altLang="zh-CN" sz="1500" dirty="0"/>
              <a:t>     }</a:t>
            </a:r>
            <a:endParaRPr lang="zh-CN" altLang="en-US" sz="1500" dirty="0"/>
          </a:p>
        </p:txBody>
      </p:sp>
      <p:sp>
        <p:nvSpPr>
          <p:cNvPr id="9" name="对话气泡: 圆角矩形 16"/>
          <p:cNvSpPr/>
          <p:nvPr/>
        </p:nvSpPr>
        <p:spPr>
          <a:xfrm>
            <a:off x="3907531" y="5140326"/>
            <a:ext cx="3620319" cy="616643"/>
          </a:xfrm>
          <a:prstGeom prst="wedgeRoundRectCallout">
            <a:avLst>
              <a:gd name="adj1" fmla="val -64985"/>
              <a:gd name="adj2" fmla="val -3833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reverse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递归调用，从最后的字符开始，实现逆序输出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000982" y="1560918"/>
            <a:ext cx="157967" cy="142083"/>
          </a:xfrm>
          <a:prstGeom prst="ellipse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1000982" y="3172618"/>
            <a:ext cx="157967" cy="142083"/>
          </a:xfrm>
          <a:prstGeom prst="ellipse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1007321" y="3604075"/>
            <a:ext cx="157967" cy="142083"/>
          </a:xfrm>
          <a:prstGeom prst="ellipse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7" grpId="0"/>
      <p:bldP spid="9" grpId="0" animBg="1"/>
      <p:bldP spid="11" grpId="0" animBg="1"/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28490" y="184663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7.2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05845" y="184662"/>
            <a:ext cx="5885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字符串相关库函数及其使用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797443" y="1148314"/>
          <a:ext cx="7793662" cy="50329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5124"/>
                <a:gridCol w="3660907"/>
                <a:gridCol w="2197631"/>
              </a:tblGrid>
              <a:tr h="37622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+mn-lt"/>
                          <a:ea typeface="微软雅黑" panose="020B0503020204020204" pitchFamily="34" charset="-122"/>
                        </a:rPr>
                        <a:t>相关库函数</a:t>
                      </a:r>
                      <a:endParaRPr lang="zh-CN" altLang="en-US" sz="1600" b="1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+mn-lt"/>
                          <a:ea typeface="微软雅黑" panose="020B0503020204020204" pitchFamily="34" charset="-122"/>
                        </a:rPr>
                        <a:t>函数声明</a:t>
                      </a:r>
                      <a:endParaRPr lang="zh-CN" altLang="en-US" sz="1600" b="1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+mn-lt"/>
                          <a:ea typeface="微软雅黑" panose="020B0503020204020204" pitchFamily="34" charset="-122"/>
                        </a:rPr>
                        <a:t>函数功能</a:t>
                      </a:r>
                      <a:endParaRPr lang="zh-CN" altLang="en-US" sz="1600" b="1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29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字符串输入输出函数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char *gets (char *s);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字符串输入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29"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int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 puts (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const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 char *s);</a:t>
                      </a:r>
                      <a:r>
                        <a:rPr lang="zh-CN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字符串输出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29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字符串转换函数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double 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atof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 (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const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 char *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nPtr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);</a:t>
                      </a:r>
                      <a:r>
                        <a:rPr lang="zh-CN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字符串转换为浮点数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29"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int atoi (const char *nPtr);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字符串转换为整数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29"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long 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atol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 (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const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 char *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nPtr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); 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字符串转换为长整型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29"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void 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itoa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(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int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n,char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 s[],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int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 radix); 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整数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n</a:t>
                      </a:r>
                      <a:r>
                        <a:rPr lang="zh-CN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转换为字符串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29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字符串处理函数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char *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strcpy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(char *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dest,char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 *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src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); 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复制字符串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29"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char *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strcat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(char *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dest,char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 *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src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);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连接字符串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2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字符串比较函数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int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strcmp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(char *s1,char *s2);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比较字符串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29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其他函数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int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strlen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(char *s); 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求字符串长度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29"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char *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strupr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(char *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str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);</a:t>
                      </a:r>
                      <a:r>
                        <a:rPr lang="zh-CN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  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char *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strlwr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(char *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str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); 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字符串大小写转换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29"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char *</a:t>
                      </a:r>
                      <a:r>
                        <a:rPr lang="en-US" altLang="zh-CN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strstr</a:t>
                      </a: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(char *s1,char *s2);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指定字符串在给定字符串中第一次出现的位置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09125" y="174029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7.2.1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49581" y="193430"/>
            <a:ext cx="5885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字符串输入输出函数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2134" y="1690413"/>
            <a:ext cx="2627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字符串输入函数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2134" y="3788744"/>
            <a:ext cx="2627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字符串输出函数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54160" y="1690413"/>
            <a:ext cx="3881953" cy="4997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char *gets (char *s);</a:t>
            </a:r>
            <a:endParaRPr lang="zh-CN" altLang="zh-CN" sz="2400" b="1" kern="1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854160" y="3804522"/>
            <a:ext cx="3881953" cy="4997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int</a:t>
            </a: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puts (</a:t>
            </a:r>
            <a:r>
              <a:rPr lang="en-US" altLang="zh-CN" sz="2400" b="1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const</a:t>
            </a: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char *s);</a:t>
            </a:r>
            <a:endParaRPr lang="zh-CN" altLang="zh-CN" sz="2400" b="1" kern="1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64022" y="2332193"/>
            <a:ext cx="4628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功能：从键盘输入一个字符串到字符数组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91839" y="4462143"/>
            <a:ext cx="3704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功能：将一个字符串输出到终端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868718" y="2332192"/>
            <a:ext cx="2371516" cy="1017065"/>
          </a:xfrm>
          <a:prstGeom prst="rect">
            <a:avLst/>
          </a:prstGeom>
          <a:noFill/>
          <a:ln>
            <a:solidFill>
              <a:srgbClr val="98B4A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执行：   </a:t>
            </a:r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char string[80];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      gets(string);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zh-CN" altLang="en-US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键盘输入：   </a:t>
            </a:r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good↙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86400" y="4462143"/>
            <a:ext cx="3041361" cy="769079"/>
          </a:xfrm>
          <a:prstGeom prst="rect">
            <a:avLst/>
          </a:prstGeom>
          <a:noFill/>
          <a:ln>
            <a:solidFill>
              <a:srgbClr val="98B4A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执行：   </a:t>
            </a:r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char string[]={"hello"};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            puts(string);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80550" y="163401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7.2.2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5" y="163401"/>
            <a:ext cx="5885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字符串转换函数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655329" y="1562821"/>
            <a:ext cx="5223948" cy="4997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double </a:t>
            </a:r>
            <a:r>
              <a:rPr lang="en-US" altLang="zh-CN" sz="2400" b="1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atof</a:t>
            </a: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altLang="zh-CN" sz="2400" b="1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const</a:t>
            </a: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char *</a:t>
            </a:r>
            <a:r>
              <a:rPr lang="en-US" altLang="zh-CN" sz="2400" b="1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nPtr</a:t>
            </a: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);</a:t>
            </a:r>
            <a:endParaRPr lang="zh-CN" altLang="zh-CN" sz="2400" b="1" kern="1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55327" y="3823095"/>
            <a:ext cx="5223950" cy="4997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long </a:t>
            </a:r>
            <a:r>
              <a:rPr lang="en-US" altLang="zh-CN" sz="2400" b="1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atol</a:t>
            </a: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altLang="zh-CN" sz="2400" b="1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const</a:t>
            </a: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char *</a:t>
            </a:r>
            <a:r>
              <a:rPr lang="en-US" altLang="zh-CN" sz="2400" b="1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nPtr</a:t>
            </a: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);</a:t>
            </a:r>
            <a:endParaRPr lang="zh-CN" altLang="zh-CN" sz="2400" b="1" kern="1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55327" y="2692958"/>
            <a:ext cx="5223950" cy="4997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fr-FR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int atoi (const char *nPtr); </a:t>
            </a:r>
            <a:endParaRPr lang="zh-CN" altLang="zh-CN" sz="2400" b="1" kern="1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55327" y="4953232"/>
            <a:ext cx="5223950" cy="4997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void </a:t>
            </a:r>
            <a:r>
              <a:rPr lang="en-US" altLang="zh-CN" sz="2400" b="1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itoa</a:t>
            </a: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altLang="zh-CN" sz="2400" b="1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int</a:t>
            </a: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2400" b="1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n,char</a:t>
            </a: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s[],</a:t>
            </a:r>
            <a:r>
              <a:rPr lang="en-US" altLang="zh-CN" sz="2400" b="1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int</a:t>
            </a: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radix);</a:t>
            </a:r>
            <a:endParaRPr lang="zh-CN" altLang="zh-CN" sz="2400" b="1" kern="1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75881" y="2062551"/>
            <a:ext cx="4166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功能：将字符串转换为浮点数的函数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75881" y="3192688"/>
            <a:ext cx="3935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功能：将字符串转换为整数的函数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675880" y="4322825"/>
            <a:ext cx="4166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功能：将字符串转换为长整形的函数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75880" y="5448337"/>
            <a:ext cx="4166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功能：将整数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转换为字符串的函数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09125" y="108957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7.2.2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5" y="142135"/>
            <a:ext cx="5885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字符串转换函数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723020" y="1155928"/>
            <a:ext cx="3349256" cy="5138546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79069" y="1155929"/>
            <a:ext cx="3742726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   #include&lt;</a:t>
            </a:r>
            <a:r>
              <a:rPr lang="en-US" altLang="zh-CN" sz="1500" dirty="0" err="1">
                <a:ea typeface="Segoe UI" panose="020B0502040204020203" pitchFamily="34" charset="0"/>
                <a:cs typeface="Segoe UI" panose="020B0502040204020203" pitchFamily="34" charset="0"/>
              </a:rPr>
              <a:t>stdio.h</a:t>
            </a:r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&gt;</a:t>
            </a:r>
            <a:endParaRPr lang="en-US" altLang="zh-CN" sz="1500" dirty="0"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   #define LENGTH 6</a:t>
            </a:r>
            <a:endParaRPr lang="en-US" altLang="zh-CN" sz="1500" dirty="0"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   void reverse(char *s);</a:t>
            </a:r>
            <a:endParaRPr lang="en-US" altLang="zh-CN" sz="1500" dirty="0"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   void </a:t>
            </a:r>
            <a:r>
              <a:rPr lang="en-US" altLang="zh-CN" sz="1500" dirty="0" err="1">
                <a:ea typeface="Segoe UI" panose="020B0502040204020203" pitchFamily="34" charset="0"/>
                <a:cs typeface="Segoe UI" panose="020B0502040204020203" pitchFamily="34" charset="0"/>
              </a:rPr>
              <a:t>itoa</a:t>
            </a:r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altLang="zh-CN" sz="1500" dirty="0" err="1">
                <a:ea typeface="Segoe UI" panose="020B0502040204020203" pitchFamily="34" charset="0"/>
                <a:cs typeface="Segoe UI" panose="020B0502040204020203" pitchFamily="34" charset="0"/>
              </a:rPr>
              <a:t>int</a:t>
            </a:r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1500" dirty="0" err="1">
                <a:ea typeface="Segoe UI" panose="020B0502040204020203" pitchFamily="34" charset="0"/>
                <a:cs typeface="Segoe UI" panose="020B0502040204020203" pitchFamily="34" charset="0"/>
              </a:rPr>
              <a:t>n,char</a:t>
            </a:r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*s);           </a:t>
            </a:r>
            <a:endParaRPr lang="en-US" altLang="zh-CN" sz="1500" dirty="0"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   void main(void)</a:t>
            </a:r>
            <a:endParaRPr lang="en-US" altLang="zh-CN" sz="1500" dirty="0"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   {</a:t>
            </a:r>
            <a:endParaRPr lang="en-US" altLang="zh-CN" sz="1500" dirty="0"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       </a:t>
            </a:r>
            <a:r>
              <a:rPr lang="en-US" altLang="zh-CN" sz="1500" dirty="0" err="1">
                <a:ea typeface="Segoe UI" panose="020B0502040204020203" pitchFamily="34" charset="0"/>
                <a:cs typeface="Segoe UI" panose="020B0502040204020203" pitchFamily="34" charset="0"/>
              </a:rPr>
              <a:t>int</a:t>
            </a:r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n;                          </a:t>
            </a:r>
            <a:endParaRPr lang="en-US" altLang="zh-CN" sz="1500" dirty="0"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       char s[LENGTH]; </a:t>
            </a:r>
            <a:endParaRPr lang="en-US" altLang="zh-CN" sz="1500" dirty="0"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       </a:t>
            </a:r>
            <a:r>
              <a:rPr lang="en-US" altLang="zh-CN" sz="1500" dirty="0" err="1">
                <a:ea typeface="Segoe UI" panose="020B0502040204020203" pitchFamily="34" charset="0"/>
                <a:cs typeface="Segoe UI" panose="020B0502040204020203" pitchFamily="34" charset="0"/>
              </a:rPr>
              <a:t>printf</a:t>
            </a:r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("input a integer:");</a:t>
            </a:r>
            <a:endParaRPr lang="en-US" altLang="zh-CN" sz="1500" dirty="0"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       </a:t>
            </a:r>
            <a:r>
              <a:rPr lang="en-US" altLang="zh-CN" sz="1500" dirty="0" err="1">
                <a:ea typeface="Segoe UI" panose="020B0502040204020203" pitchFamily="34" charset="0"/>
                <a:cs typeface="Segoe UI" panose="020B0502040204020203" pitchFamily="34" charset="0"/>
              </a:rPr>
              <a:t>scanf</a:t>
            </a:r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(“%</a:t>
            </a:r>
            <a:r>
              <a:rPr lang="en-US" altLang="zh-CN" sz="1500" dirty="0" err="1">
                <a:ea typeface="Segoe UI" panose="020B0502040204020203" pitchFamily="34" charset="0"/>
                <a:cs typeface="Segoe UI" panose="020B0502040204020203" pitchFamily="34" charset="0"/>
              </a:rPr>
              <a:t>d”,&amp;n</a:t>
            </a:r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);</a:t>
            </a:r>
            <a:endParaRPr lang="zh-CN" altLang="en-US" sz="1500" dirty="0">
              <a:cs typeface="Segoe UI" panose="020B0502040204020203" pitchFamily="34" charset="0"/>
            </a:endParaRPr>
          </a:p>
          <a:p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       </a:t>
            </a:r>
            <a:r>
              <a:rPr lang="en-US" altLang="zh-CN" sz="1500" dirty="0" err="1">
                <a:ea typeface="Segoe UI" panose="020B0502040204020203" pitchFamily="34" charset="0"/>
                <a:cs typeface="Segoe UI" panose="020B0502040204020203" pitchFamily="34" charset="0"/>
              </a:rPr>
              <a:t>itoa</a:t>
            </a:r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altLang="zh-CN" sz="1500" dirty="0" err="1">
                <a:ea typeface="Segoe UI" panose="020B0502040204020203" pitchFamily="34" charset="0"/>
                <a:cs typeface="Segoe UI" panose="020B0502040204020203" pitchFamily="34" charset="0"/>
              </a:rPr>
              <a:t>n,s</a:t>
            </a:r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);                  </a:t>
            </a:r>
            <a:endParaRPr lang="zh-CN" altLang="en-US" sz="1500" dirty="0">
              <a:cs typeface="Segoe UI" panose="020B0502040204020203" pitchFamily="34" charset="0"/>
            </a:endParaRPr>
          </a:p>
          <a:p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       </a:t>
            </a:r>
            <a:r>
              <a:rPr lang="en-US" altLang="zh-CN" sz="1500" dirty="0" err="1">
                <a:ea typeface="Segoe UI" panose="020B0502040204020203" pitchFamily="34" charset="0"/>
                <a:cs typeface="Segoe UI" panose="020B0502040204020203" pitchFamily="34" charset="0"/>
              </a:rPr>
              <a:t>printf</a:t>
            </a:r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("string: %s\</a:t>
            </a:r>
            <a:r>
              <a:rPr lang="en-US" altLang="zh-CN" sz="1500" dirty="0" err="1">
                <a:ea typeface="Segoe UI" panose="020B0502040204020203" pitchFamily="34" charset="0"/>
                <a:cs typeface="Segoe UI" panose="020B0502040204020203" pitchFamily="34" charset="0"/>
              </a:rPr>
              <a:t>n",s</a:t>
            </a:r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);      </a:t>
            </a:r>
            <a:endParaRPr lang="zh-CN" altLang="en-US" sz="1500" dirty="0">
              <a:cs typeface="Segoe UI" panose="020B0502040204020203" pitchFamily="34" charset="0"/>
            </a:endParaRPr>
          </a:p>
          <a:p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    }</a:t>
            </a:r>
            <a:endParaRPr lang="en-US" altLang="zh-CN" sz="1500" dirty="0"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    void </a:t>
            </a:r>
            <a:r>
              <a:rPr lang="en-US" altLang="zh-CN" sz="1500" dirty="0" err="1">
                <a:ea typeface="Segoe UI" panose="020B0502040204020203" pitchFamily="34" charset="0"/>
                <a:cs typeface="Segoe UI" panose="020B0502040204020203" pitchFamily="34" charset="0"/>
              </a:rPr>
              <a:t>itoa</a:t>
            </a:r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altLang="zh-CN" sz="1500" dirty="0" err="1">
                <a:ea typeface="Segoe UI" panose="020B0502040204020203" pitchFamily="34" charset="0"/>
                <a:cs typeface="Segoe UI" panose="020B0502040204020203" pitchFamily="34" charset="0"/>
              </a:rPr>
              <a:t>int</a:t>
            </a:r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1500" dirty="0" err="1">
                <a:ea typeface="Segoe UI" panose="020B0502040204020203" pitchFamily="34" charset="0"/>
                <a:cs typeface="Segoe UI" panose="020B0502040204020203" pitchFamily="34" charset="0"/>
              </a:rPr>
              <a:t>n,char</a:t>
            </a:r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*s)</a:t>
            </a:r>
            <a:endParaRPr lang="zh-CN" altLang="en-US" sz="1500" dirty="0">
              <a:cs typeface="Segoe UI" panose="020B0502040204020203" pitchFamily="34" charset="0"/>
            </a:endParaRPr>
          </a:p>
          <a:p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    {</a:t>
            </a:r>
            <a:endParaRPr lang="en-US" altLang="zh-CN" sz="1500" dirty="0"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       </a:t>
            </a:r>
            <a:r>
              <a:rPr lang="en-US" altLang="zh-CN" sz="1500" dirty="0" err="1">
                <a:ea typeface="Segoe UI" panose="020B0502040204020203" pitchFamily="34" charset="0"/>
                <a:cs typeface="Segoe UI" panose="020B0502040204020203" pitchFamily="34" charset="0"/>
              </a:rPr>
              <a:t>int</a:t>
            </a:r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1500" dirty="0" err="1">
                <a:ea typeface="Segoe UI" panose="020B0502040204020203" pitchFamily="34" charset="0"/>
                <a:cs typeface="Segoe UI" panose="020B0502040204020203" pitchFamily="34" charset="0"/>
              </a:rPr>
              <a:t>i,sign</a:t>
            </a:r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;                   </a:t>
            </a:r>
            <a:endParaRPr lang="en-US" altLang="zh-CN" sz="1500" dirty="0"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       if((sign=n)&lt;0)</a:t>
            </a:r>
            <a:endParaRPr lang="zh-CN" altLang="en-US" sz="1500" dirty="0">
              <a:cs typeface="Segoe UI" panose="020B0502040204020203" pitchFamily="34" charset="0"/>
            </a:endParaRPr>
          </a:p>
          <a:p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       {</a:t>
            </a:r>
            <a:endParaRPr lang="en-US" altLang="zh-CN" sz="1500" dirty="0"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          n=-n;</a:t>
            </a:r>
            <a:endParaRPr lang="en-US" altLang="zh-CN" sz="1500" dirty="0"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       }</a:t>
            </a:r>
            <a:endParaRPr lang="en-US" altLang="zh-CN" sz="1500" dirty="0"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       </a:t>
            </a:r>
            <a:r>
              <a:rPr lang="en-US" altLang="zh-CN" sz="1500" dirty="0" err="1">
                <a:ea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=0;</a:t>
            </a:r>
            <a:endParaRPr lang="en-US" altLang="zh-CN" sz="1500" dirty="0"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        do                    </a:t>
            </a:r>
            <a:endParaRPr lang="zh-CN" altLang="en-US" sz="1500" dirty="0">
              <a:cs typeface="Segoe UI" panose="020B0502040204020203" pitchFamily="34" charset="0"/>
            </a:endParaRPr>
          </a:p>
          <a:p>
            <a:endParaRPr lang="en-US" altLang="zh-CN" sz="1500" dirty="0"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4672933" y="1155927"/>
            <a:ext cx="3666781" cy="4808938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004126" y="1155927"/>
            <a:ext cx="3411533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500" dirty="0"/>
              <a:t>        </a:t>
            </a:r>
            <a:r>
              <a:rPr lang="en-US" altLang="zh-CN" sz="1500" dirty="0">
                <a:ea typeface="Segoe UI" panose="020B0502040204020203" pitchFamily="34" charset="0"/>
                <a:cs typeface="Segoe UI" panose="020B0502040204020203" pitchFamily="34" charset="0"/>
              </a:rPr>
              <a:t>{</a:t>
            </a:r>
            <a:r>
              <a:rPr lang="en-US" altLang="zh-CN" sz="1500" dirty="0"/>
              <a:t>  </a:t>
            </a:r>
            <a:endParaRPr lang="en-US" altLang="zh-CN" sz="1500" dirty="0"/>
          </a:p>
          <a:p>
            <a:r>
              <a:rPr lang="en-US" altLang="zh-CN" sz="1500" dirty="0"/>
              <a:t>	 s[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++] = n%10 + '0';      </a:t>
            </a:r>
            <a:endParaRPr lang="en-US" altLang="zh-CN" sz="1500" dirty="0"/>
          </a:p>
          <a:p>
            <a:r>
              <a:rPr lang="en-US" altLang="zh-CN" sz="1500" dirty="0"/>
              <a:t>        }(while((n/=10)&gt;0); </a:t>
            </a:r>
            <a:endParaRPr lang="en-US" altLang="zh-CN" sz="1500" dirty="0"/>
          </a:p>
          <a:p>
            <a:r>
              <a:rPr lang="en-US" altLang="zh-CN" sz="1500" dirty="0"/>
              <a:t>        if(sign&lt;0)</a:t>
            </a:r>
            <a:endParaRPr lang="en-US" altLang="zh-CN" sz="1500" dirty="0"/>
          </a:p>
          <a:p>
            <a:r>
              <a:rPr lang="en-US" altLang="zh-CN" sz="1500" dirty="0"/>
              <a:t>        {</a:t>
            </a:r>
            <a:endParaRPr lang="en-US" altLang="zh-CN" sz="1500" dirty="0"/>
          </a:p>
          <a:p>
            <a:r>
              <a:rPr lang="en-US" altLang="zh-CN" sz="1500" dirty="0"/>
              <a:t>           s[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++]='-';</a:t>
            </a:r>
            <a:endParaRPr lang="en-US" altLang="zh-CN" sz="1500" dirty="0"/>
          </a:p>
          <a:p>
            <a:r>
              <a:rPr lang="en-US" altLang="zh-CN" sz="1500" dirty="0"/>
              <a:t>        }</a:t>
            </a:r>
            <a:endParaRPr lang="en-US" altLang="zh-CN" sz="1500" dirty="0"/>
          </a:p>
          <a:p>
            <a:r>
              <a:rPr lang="en-US" altLang="zh-CN" sz="1500" dirty="0"/>
              <a:t>        s[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]='\0';</a:t>
            </a:r>
            <a:endParaRPr lang="en-US" altLang="zh-CN" sz="1500" dirty="0"/>
          </a:p>
          <a:p>
            <a:r>
              <a:rPr lang="en-US" altLang="zh-CN" sz="1500" dirty="0"/>
              <a:t>        reverse(s);            </a:t>
            </a:r>
            <a:endParaRPr lang="en-US" altLang="zh-CN" sz="1500" dirty="0"/>
          </a:p>
          <a:p>
            <a:r>
              <a:rPr lang="en-US" altLang="zh-CN" sz="1500" dirty="0"/>
              <a:t>     }</a:t>
            </a:r>
            <a:endParaRPr lang="en-US" altLang="zh-CN" sz="1500" dirty="0"/>
          </a:p>
          <a:p>
            <a:r>
              <a:rPr lang="en-US" altLang="zh-CN" sz="1500" dirty="0"/>
              <a:t>     void reverse(char *s)</a:t>
            </a:r>
            <a:endParaRPr lang="en-US" altLang="zh-CN" sz="1500" dirty="0"/>
          </a:p>
          <a:p>
            <a:r>
              <a:rPr lang="en-US" altLang="zh-CN" sz="1500" dirty="0"/>
              <a:t>     {</a:t>
            </a:r>
            <a:endParaRPr lang="en-US" altLang="zh-CN" sz="1500" dirty="0"/>
          </a:p>
          <a:p>
            <a:r>
              <a:rPr lang="en-US" altLang="zh-CN" sz="1500" dirty="0"/>
              <a:t>       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i</a:t>
            </a:r>
            <a:r>
              <a:rPr lang="en-US" altLang="zh-CN" sz="1500" dirty="0"/>
              <a:t>, j, k;</a:t>
            </a:r>
            <a:endParaRPr lang="en-US" altLang="zh-CN" sz="1500" dirty="0"/>
          </a:p>
          <a:p>
            <a:r>
              <a:rPr lang="en-US" altLang="zh-CN" sz="1500" dirty="0"/>
              <a:t>        for(</a:t>
            </a:r>
            <a:r>
              <a:rPr lang="en-US" altLang="zh-CN" sz="1500" dirty="0" err="1"/>
              <a:t>i</a:t>
            </a:r>
            <a:r>
              <a:rPr lang="en-US" altLang="zh-CN" sz="1500" dirty="0"/>
              <a:t>=0,j = </a:t>
            </a:r>
            <a:r>
              <a:rPr lang="en-US" altLang="zh-CN" sz="1500" dirty="0" err="1"/>
              <a:t>strlen</a:t>
            </a:r>
            <a:r>
              <a:rPr lang="en-US" altLang="zh-CN" sz="1500" dirty="0"/>
              <a:t>(s)-1;i&lt;</a:t>
            </a:r>
            <a:r>
              <a:rPr lang="en-US" altLang="zh-CN" sz="1500" dirty="0" err="1"/>
              <a:t>j;i</a:t>
            </a:r>
            <a:r>
              <a:rPr lang="en-US" altLang="zh-CN" sz="1500" dirty="0"/>
              <a:t>++,j--)</a:t>
            </a:r>
            <a:endParaRPr lang="en-US" altLang="zh-CN" sz="1500" dirty="0"/>
          </a:p>
          <a:p>
            <a:r>
              <a:rPr lang="en-US" altLang="zh-CN" sz="1500" dirty="0"/>
              <a:t>        {</a:t>
            </a:r>
            <a:endParaRPr lang="en-US" altLang="zh-CN" sz="1500" dirty="0"/>
          </a:p>
          <a:p>
            <a:r>
              <a:rPr lang="en-US" altLang="zh-CN" sz="1500" dirty="0"/>
              <a:t>           k=s[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];</a:t>
            </a:r>
            <a:endParaRPr lang="en-US" altLang="zh-CN" sz="1500" dirty="0"/>
          </a:p>
          <a:p>
            <a:r>
              <a:rPr lang="en-US" altLang="zh-CN" sz="1500" dirty="0"/>
              <a:t>           s[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]=s[j];</a:t>
            </a:r>
            <a:endParaRPr lang="en-US" altLang="zh-CN" sz="1500" dirty="0"/>
          </a:p>
          <a:p>
            <a:r>
              <a:rPr lang="en-US" altLang="zh-CN" sz="1500" dirty="0"/>
              <a:t>           s[j]=k;</a:t>
            </a:r>
            <a:endParaRPr lang="en-US" altLang="zh-CN" sz="1500" dirty="0"/>
          </a:p>
          <a:p>
            <a:r>
              <a:rPr lang="en-US" altLang="zh-CN" sz="1500" dirty="0"/>
              <a:t>        }</a:t>
            </a:r>
            <a:endParaRPr lang="en-US" altLang="zh-CN" sz="1500" dirty="0"/>
          </a:p>
          <a:p>
            <a:r>
              <a:rPr lang="en-US" altLang="zh-CN" sz="1500" dirty="0"/>
              <a:t>     }</a:t>
            </a:r>
            <a:endParaRPr lang="en-US" altLang="zh-CN" sz="1500" dirty="0"/>
          </a:p>
        </p:txBody>
      </p:sp>
      <p:grpSp>
        <p:nvGrpSpPr>
          <p:cNvPr id="18" name="组合 17"/>
          <p:cNvGrpSpPr/>
          <p:nvPr/>
        </p:nvGrpSpPr>
        <p:grpSpPr>
          <a:xfrm>
            <a:off x="2785730" y="3351250"/>
            <a:ext cx="2636722" cy="332328"/>
            <a:chOff x="2785730" y="3351250"/>
            <a:chExt cx="2636722" cy="332328"/>
          </a:xfrm>
        </p:grpSpPr>
        <p:sp>
          <p:nvSpPr>
            <p:cNvPr id="8" name="对话气泡: 圆角矩形 7"/>
            <p:cNvSpPr/>
            <p:nvPr/>
          </p:nvSpPr>
          <p:spPr>
            <a:xfrm>
              <a:off x="2785730" y="3352158"/>
              <a:ext cx="2392114" cy="331420"/>
            </a:xfrm>
            <a:prstGeom prst="wedgeRoundRectCallout">
              <a:avLst>
                <a:gd name="adj1" fmla="val -73367"/>
                <a:gd name="adj2" fmla="val 42983"/>
                <a:gd name="adj3" fmla="val 16667"/>
              </a:avLst>
            </a:prstGeom>
            <a:solidFill>
              <a:srgbClr val="98B4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2785730" y="3351250"/>
              <a:ext cx="2636722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将输入的整数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转换为字符串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517824" y="2519596"/>
            <a:ext cx="1445963" cy="332328"/>
            <a:chOff x="6517824" y="2519596"/>
            <a:chExt cx="1445963" cy="332328"/>
          </a:xfrm>
        </p:grpSpPr>
        <p:sp>
          <p:nvSpPr>
            <p:cNvPr id="11" name="对话气泡: 圆角矩形 10"/>
            <p:cNvSpPr/>
            <p:nvPr/>
          </p:nvSpPr>
          <p:spPr>
            <a:xfrm>
              <a:off x="6517824" y="2520504"/>
              <a:ext cx="1445963" cy="331420"/>
            </a:xfrm>
            <a:prstGeom prst="wedgeRoundRectCallout">
              <a:avLst>
                <a:gd name="adj1" fmla="val -66990"/>
                <a:gd name="adj2" fmla="val 87898"/>
                <a:gd name="adj3" fmla="val 16667"/>
              </a:avLst>
            </a:prstGeom>
            <a:solidFill>
              <a:srgbClr val="98B4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6517824" y="2519596"/>
              <a:ext cx="144596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字符串翻转函数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338392" y="5128116"/>
            <a:ext cx="2065077" cy="331420"/>
            <a:chOff x="2338392" y="5128116"/>
            <a:chExt cx="2065077" cy="331420"/>
          </a:xfrm>
        </p:grpSpPr>
        <p:sp>
          <p:nvSpPr>
            <p:cNvPr id="13" name="对话气泡: 圆角矩形 12"/>
            <p:cNvSpPr/>
            <p:nvPr/>
          </p:nvSpPr>
          <p:spPr>
            <a:xfrm>
              <a:off x="2338392" y="5128116"/>
              <a:ext cx="1916215" cy="331420"/>
            </a:xfrm>
            <a:prstGeom prst="wedgeRoundRectCallout">
              <a:avLst>
                <a:gd name="adj1" fmla="val -66255"/>
                <a:gd name="adj2" fmla="val -59679"/>
                <a:gd name="adj3" fmla="val 16667"/>
              </a:avLst>
            </a:prstGeom>
            <a:solidFill>
              <a:srgbClr val="98B4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2338392" y="5128116"/>
              <a:ext cx="2065077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为负值，转换为正数 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矩形: 圆角 15"/>
          <p:cNvSpPr/>
          <p:nvPr/>
        </p:nvSpPr>
        <p:spPr>
          <a:xfrm>
            <a:off x="6420271" y="5128116"/>
            <a:ext cx="2491737" cy="1183030"/>
          </a:xfrm>
          <a:prstGeom prst="roundRect">
            <a:avLst/>
          </a:prstGeom>
          <a:solidFill>
            <a:srgbClr val="E5FCC2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运行结果：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input a integer: -102</a:t>
            </a:r>
            <a:endParaRPr lang="zh-CN" altLang="zh-CN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string: -102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590231" y="819082"/>
            <a:ext cx="4231564" cy="364050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 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将某一个整数转换为相对应的数字串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048911" y="1940623"/>
            <a:ext cx="157967" cy="142083"/>
          </a:xfrm>
          <a:prstGeom prst="ellipse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1048911" y="3544703"/>
            <a:ext cx="157967" cy="142083"/>
          </a:xfrm>
          <a:prstGeom prst="ellipse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1055250" y="4242860"/>
            <a:ext cx="157967" cy="142083"/>
          </a:xfrm>
          <a:prstGeom prst="ellipse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16" grpId="0" animBg="1"/>
      <p:bldP spid="17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80550" y="137432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7.2.3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5" y="142132"/>
            <a:ext cx="5885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字符串处理函数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1256" y="1609153"/>
            <a:ext cx="2627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字符串复制函数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503282" y="1609153"/>
            <a:ext cx="4907068" cy="4997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+mn-ea"/>
              </a:rPr>
              <a:t>char *</a:t>
            </a:r>
            <a:r>
              <a:rPr lang="en-US" altLang="zh-CN" sz="2400" b="1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+mn-ea"/>
              </a:rPr>
              <a:t>strcpy</a:t>
            </a: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+mn-ea"/>
              </a:rPr>
              <a:t>(char *</a:t>
            </a:r>
            <a:r>
              <a:rPr lang="en-US" altLang="zh-CN" sz="2400" b="1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+mn-ea"/>
              </a:rPr>
              <a:t>dest,char</a:t>
            </a: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+mn-ea"/>
              </a:rPr>
              <a:t> *</a:t>
            </a:r>
            <a:r>
              <a:rPr lang="en-US" altLang="zh-CN" sz="2400" b="1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+mn-ea"/>
              </a:rPr>
              <a:t>src</a:t>
            </a: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+mn-ea"/>
              </a:rPr>
              <a:t>);</a:t>
            </a:r>
            <a:endParaRPr lang="zh-CN" altLang="zh-CN" sz="2400" b="1" kern="1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8256" y="2506114"/>
            <a:ext cx="72523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功能：将指针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src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所指向的字符串复制到指针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dest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所指向的内存区域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中，函数返回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dest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所指向的字符串的首地址。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812173" y="3636335"/>
            <a:ext cx="3312180" cy="1917487"/>
          </a:xfrm>
          <a:prstGeom prst="rect">
            <a:avLst/>
          </a:prstGeom>
          <a:noFill/>
          <a:ln>
            <a:solidFill>
              <a:srgbClr val="98B4A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char *</a:t>
            </a:r>
            <a:r>
              <a:rPr lang="en-US" altLang="zh-CN" sz="1600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strcpy</a:t>
            </a:r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(char *</a:t>
            </a:r>
            <a:r>
              <a:rPr lang="en-US" altLang="zh-CN" sz="1600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dest,char</a:t>
            </a:r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*</a:t>
            </a:r>
            <a:r>
              <a:rPr lang="en-US" altLang="zh-CN" sz="1600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src</a:t>
            </a:r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{  </a:t>
            </a:r>
            <a:endParaRPr lang="zh-CN" altLang="en-US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	char *temp = </a:t>
            </a:r>
            <a:r>
              <a:rPr lang="en-US" altLang="zh-CN" sz="1600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dest</a:t>
            </a:r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;                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	while((*</a:t>
            </a:r>
            <a:r>
              <a:rPr lang="en-US" altLang="zh-CN" sz="1600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dest</a:t>
            </a:r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++=*</a:t>
            </a:r>
            <a:r>
              <a:rPr lang="en-US" altLang="zh-CN" sz="1600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src</a:t>
            </a:r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++)!='\0')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		;     		</a:t>
            </a:r>
            <a:endParaRPr lang="zh-CN" altLang="en-US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	return temp;                    </a:t>
            </a:r>
            <a:endParaRPr lang="zh-CN" altLang="en-US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}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18650" y="93876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7.2.3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5" y="131498"/>
            <a:ext cx="5885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字符串处理函数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180755" y="1776816"/>
            <a:ext cx="2982182" cy="2615609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24407" y="1882059"/>
            <a:ext cx="2648403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500" dirty="0"/>
              <a:t>#include &lt;</a:t>
            </a:r>
            <a:r>
              <a:rPr lang="en-US" altLang="zh-CN" sz="1500" dirty="0" err="1"/>
              <a:t>string.h</a:t>
            </a:r>
            <a:r>
              <a:rPr lang="en-US" altLang="zh-CN" sz="1500" dirty="0"/>
              <a:t>&gt;</a:t>
            </a:r>
            <a:endParaRPr lang="en-US" altLang="zh-CN" sz="1500" dirty="0"/>
          </a:p>
          <a:p>
            <a:r>
              <a:rPr lang="en-US" altLang="zh-CN" sz="1500" dirty="0"/>
              <a:t>#include &lt;</a:t>
            </a:r>
            <a:r>
              <a:rPr lang="en-US" altLang="zh-CN" sz="1500" dirty="0" err="1"/>
              <a:t>stdio.h</a:t>
            </a:r>
            <a:r>
              <a:rPr lang="en-US" altLang="zh-CN" sz="1500" dirty="0"/>
              <a:t>&gt;</a:t>
            </a:r>
            <a:endParaRPr lang="en-US" altLang="zh-CN" sz="1500" dirty="0"/>
          </a:p>
          <a:p>
            <a:r>
              <a:rPr lang="en-US" altLang="zh-CN" sz="1500" dirty="0"/>
              <a:t>void main()</a:t>
            </a:r>
            <a:endParaRPr lang="en-US" altLang="zh-CN" sz="1500" dirty="0"/>
          </a:p>
          <a:p>
            <a:r>
              <a:rPr lang="en-US" altLang="zh-CN" sz="1500" dirty="0"/>
              <a:t> {</a:t>
            </a:r>
            <a:endParaRPr lang="en-US" altLang="zh-CN" sz="1500" dirty="0"/>
          </a:p>
          <a:p>
            <a:r>
              <a:rPr lang="en-US" altLang="zh-CN" sz="1500" dirty="0"/>
              <a:t>         char 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[80]="</a:t>
            </a:r>
            <a:r>
              <a:rPr lang="en-US" altLang="zh-CN" sz="1500" dirty="0" err="1"/>
              <a:t>TurboC</a:t>
            </a:r>
            <a:r>
              <a:rPr lang="en-US" altLang="zh-CN" sz="1500" dirty="0"/>
              <a:t>++";</a:t>
            </a:r>
            <a:endParaRPr lang="en-US" altLang="zh-CN" sz="1500" dirty="0"/>
          </a:p>
          <a:p>
            <a:r>
              <a:rPr lang="en-US" altLang="zh-CN" sz="1500" dirty="0"/>
              <a:t>         char *p="</a:t>
            </a:r>
            <a:r>
              <a:rPr lang="en-US" altLang="zh-CN" sz="1500" dirty="0" err="1"/>
              <a:t>BorlandC</a:t>
            </a:r>
            <a:r>
              <a:rPr lang="en-US" altLang="zh-CN" sz="1500" dirty="0"/>
              <a:t>++";</a:t>
            </a:r>
            <a:endParaRPr lang="en-US" altLang="zh-CN" sz="1500" dirty="0"/>
          </a:p>
          <a:p>
            <a:r>
              <a:rPr lang="en-US" altLang="zh-CN" sz="1500" dirty="0"/>
              <a:t>         </a:t>
            </a:r>
            <a:r>
              <a:rPr lang="en-US" altLang="zh-CN" sz="1500" dirty="0" err="1"/>
              <a:t>strcpy</a:t>
            </a:r>
            <a:r>
              <a:rPr lang="en-US" altLang="zh-CN" sz="1500" dirty="0"/>
              <a:t>(</a:t>
            </a:r>
            <a:r>
              <a:rPr lang="en-US" altLang="zh-CN" sz="1500" dirty="0" err="1"/>
              <a:t>str,p</a:t>
            </a:r>
            <a:r>
              <a:rPr lang="en-US" altLang="zh-CN" sz="1500" dirty="0"/>
              <a:t>);</a:t>
            </a:r>
            <a:endParaRPr lang="en-US" altLang="zh-CN" sz="1500" dirty="0"/>
          </a:p>
          <a:p>
            <a:r>
              <a:rPr lang="en-US" altLang="zh-CN" sz="1500" dirty="0"/>
              <a:t>         </a:t>
            </a:r>
            <a:r>
              <a:rPr lang="en-US" altLang="zh-CN" sz="1500" dirty="0" err="1"/>
              <a:t>strcpy</a:t>
            </a:r>
            <a:r>
              <a:rPr lang="en-US" altLang="zh-CN" sz="1500" dirty="0"/>
              <a:t>(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,"</a:t>
            </a:r>
            <a:r>
              <a:rPr lang="en-US" altLang="zh-CN" sz="1500" dirty="0" err="1"/>
              <a:t>VisualC</a:t>
            </a:r>
            <a:r>
              <a:rPr lang="en-US" altLang="zh-CN" sz="1500" dirty="0"/>
              <a:t>++");</a:t>
            </a:r>
            <a:endParaRPr lang="en-US" altLang="zh-CN" sz="1500" dirty="0"/>
          </a:p>
          <a:p>
            <a:r>
              <a:rPr lang="en-US" altLang="zh-CN" sz="1500" dirty="0"/>
              <a:t>        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("%s\n",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);</a:t>
            </a:r>
            <a:endParaRPr lang="en-US" altLang="zh-CN" sz="1500" dirty="0"/>
          </a:p>
          <a:p>
            <a:r>
              <a:rPr lang="en-US" altLang="zh-CN" sz="1500" dirty="0"/>
              <a:t> } </a:t>
            </a:r>
            <a:endParaRPr lang="en-US" altLang="zh-CN" sz="1500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003387" y="1362147"/>
            <a:ext cx="4727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第一次调用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strcpy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的复制过程如图（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）所示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第一次调用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strcpy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的复制过程如图（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）所示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90377" y="1536733"/>
            <a:ext cx="3524693" cy="364050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7.6 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字符串复制函数</a:t>
            </a:r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strcpy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的使用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615070" y="2358989"/>
          <a:ext cx="5109194" cy="3648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Visio" r:id="rId1" imgW="17602200" imgH="12573000" progId="Visio.Drawing.15">
                  <p:embed/>
                </p:oleObj>
              </mc:Choice>
              <mc:Fallback>
                <p:oleObj name="Visio" r:id="rId1" imgW="17602200" imgH="12573000" progId="Visio.Drawing.15">
                  <p:embed/>
                  <p:pic>
                    <p:nvPicPr>
                      <p:cNvPr id="0" name="图片 205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15070" y="2358989"/>
                        <a:ext cx="5109194" cy="36484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8" grpId="0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80550" y="158697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7.2.3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5" y="163397"/>
            <a:ext cx="5885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字符串处理函数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4928" y="1393631"/>
            <a:ext cx="2627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字符串连接函数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396954" y="1409409"/>
            <a:ext cx="4907068" cy="4997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char *</a:t>
            </a:r>
            <a:r>
              <a:rPr lang="en-US" altLang="zh-CN" sz="2400" b="1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strcat</a:t>
            </a: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(char *</a:t>
            </a:r>
            <a:r>
              <a:rPr lang="en-US" altLang="zh-CN" sz="2400" b="1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dest,char</a:t>
            </a: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*</a:t>
            </a:r>
            <a:r>
              <a:rPr lang="en-US" altLang="zh-CN" sz="2400" b="1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src</a:t>
            </a: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);</a:t>
            </a:r>
            <a:endParaRPr lang="zh-CN" altLang="zh-CN" sz="2400" b="1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34633" y="2067030"/>
            <a:ext cx="7110176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功能：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strcat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函数的功能是将两个字符串连接。具体的就是把字符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串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或者字符数组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中的字符串连接到字符数组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中的字符串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的后面，结果存放在字符数组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05845" y="3724843"/>
            <a:ext cx="3875708" cy="1946111"/>
          </a:xfrm>
          <a:prstGeom prst="rect">
            <a:avLst/>
          </a:prstGeom>
          <a:noFill/>
          <a:ln>
            <a:solidFill>
              <a:srgbClr val="98B4A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char *</a:t>
            </a:r>
            <a:r>
              <a:rPr lang="en-US" altLang="zh-CN" sz="1600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strcat</a:t>
            </a:r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(char *</a:t>
            </a:r>
            <a:r>
              <a:rPr lang="en-US" altLang="zh-CN" sz="1600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dest,char</a:t>
            </a:r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*</a:t>
            </a:r>
            <a:r>
              <a:rPr lang="en-US" altLang="zh-CN" sz="1600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src</a:t>
            </a:r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{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altLang="zh-CN" sz="1600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int</a:t>
            </a:r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*temp = </a:t>
            </a:r>
            <a:r>
              <a:rPr lang="en-US" altLang="zh-CN" sz="1600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dest</a:t>
            </a:r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; 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	while(*</a:t>
            </a:r>
            <a:r>
              <a:rPr lang="en-US" altLang="zh-CN" sz="1600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dest</a:t>
            </a:r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!='\0') </a:t>
            </a:r>
            <a:r>
              <a:rPr lang="en-US" altLang="zh-CN" sz="1600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dest</a:t>
            </a:r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++; 	while(*</a:t>
            </a:r>
            <a:r>
              <a:rPr lang="en-US" altLang="zh-CN" sz="1600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src</a:t>
            </a:r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!='\0') *</a:t>
            </a:r>
            <a:r>
              <a:rPr lang="en-US" altLang="zh-CN" sz="1600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dest</a:t>
            </a:r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++ = *</a:t>
            </a:r>
            <a:r>
              <a:rPr lang="en-US" altLang="zh-CN" sz="1600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src</a:t>
            </a:r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++;     </a:t>
            </a:r>
            <a:endParaRPr lang="zh-CN" altLang="en-US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zh-CN" altLang="en-US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	return temp; 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}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1834949" y="1604218"/>
            <a:ext cx="3565745" cy="1686919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078601" y="1709460"/>
            <a:ext cx="3322093" cy="1434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char string1[80]={"good morning,"}; char string2[ ]={"everyone</a:t>
            </a:r>
            <a:r>
              <a:rPr lang="zh-CN" altLang="en-US" sz="1500" dirty="0">
                <a:latin typeface="Segoe UI" panose="020B0502040204020203" pitchFamily="34" charset="0"/>
                <a:cs typeface="Segoe UI" panose="020B0502040204020203" pitchFamily="34" charset="0"/>
              </a:rPr>
              <a:t>！</a:t>
            </a:r>
            <a:r>
              <a:rPr lang="en-US" altLang="zh-CN" sz="15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"};</a:t>
            </a:r>
            <a:endParaRPr lang="en-US" altLang="zh-CN" sz="1500" dirty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err="1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strcat</a:t>
            </a:r>
            <a:r>
              <a:rPr lang="en-US" altLang="zh-CN" sz="15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(string1,string2);</a:t>
            </a:r>
            <a:endParaRPr lang="en-US" altLang="zh-CN" sz="1500" dirty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err="1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printf</a:t>
            </a:r>
            <a:r>
              <a:rPr lang="en-US" altLang="zh-CN" sz="15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("%s",string1);</a:t>
            </a:r>
            <a:endParaRPr lang="en-US" altLang="zh-CN" sz="1500" dirty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2163585" y="1292789"/>
            <a:ext cx="2920419" cy="364050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字符串连接函数</a:t>
            </a:r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strcat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的使用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3905291" y="2927087"/>
            <a:ext cx="2828903" cy="864778"/>
          </a:xfrm>
          <a:prstGeom prst="roundRect">
            <a:avLst/>
          </a:prstGeom>
          <a:solidFill>
            <a:srgbClr val="E5FCC2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运行结果：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good </a:t>
            </a:r>
            <a:r>
              <a:rPr lang="en-US" altLang="zh-CN" dirty="0" err="1">
                <a:solidFill>
                  <a:schemeClr val="tx1"/>
                </a:solidFill>
              </a:rPr>
              <a:t>morning,everyone</a:t>
            </a:r>
            <a:r>
              <a:rPr lang="en-US" altLang="zh-CN" dirty="0">
                <a:solidFill>
                  <a:schemeClr val="tx1"/>
                </a:solidFill>
              </a:rPr>
              <a:t>!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1025" y="152763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7.2.3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705845" y="152763"/>
            <a:ext cx="5885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字符串处理函数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25516" y="4162353"/>
            <a:ext cx="5652736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字符数组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必须足够大，以便容纳连接后的新字符串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连接前两个字符串的后面都有一个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'\0',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连接时将字符串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后面的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'\0'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取消，只在新串最后保留一个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'\0'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25" y="4183133"/>
            <a:ext cx="654768" cy="6547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09125" y="152765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7.2.4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5" y="152765"/>
            <a:ext cx="5885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字符串比较函数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2134" y="1148149"/>
            <a:ext cx="2627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字符串比较函数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4160" y="1148149"/>
            <a:ext cx="4396702" cy="4997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int</a:t>
            </a: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2400" b="1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strcmp</a:t>
            </a: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(char *s1,char *s2);</a:t>
            </a:r>
            <a:endParaRPr lang="zh-CN" altLang="zh-CN" sz="2400" b="1" kern="1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70890" y="4187955"/>
            <a:ext cx="3709877" cy="1765322"/>
          </a:xfrm>
          <a:prstGeom prst="rect">
            <a:avLst/>
          </a:prstGeom>
          <a:noFill/>
          <a:ln>
            <a:solidFill>
              <a:srgbClr val="98B4A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en-US" altLang="zh-CN" sz="1600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int</a:t>
            </a:r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1600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strcmp</a:t>
            </a:r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(char *s1,char *s2)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{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	for(; *s1==*s2 &amp;&amp; *s1;s1++,s2++) 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       		;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       return  *s1 - *s2;           </a:t>
            </a:r>
            <a:endParaRPr lang="zh-CN" altLang="en-US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}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9125" y="2900025"/>
            <a:ext cx="774404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）如果字符串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中的字符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码较大，则认为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大于字符串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，函数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值为一正整数。</a:t>
            </a:r>
            <a:endParaRPr lang="zh-CN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）如果字符串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中的字符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码较小，则认为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于字符串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，函数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值为一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整数。</a:t>
            </a:r>
            <a:endParaRPr lang="zh-CN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全部字符相等，则认为两字符串相等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，函数返回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7064" y="1906725"/>
            <a:ext cx="7510127" cy="833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字符串比较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即对两个字符串从第一个字符开始逐个字符相比（按照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码大小比较），</a:t>
            </a:r>
            <a:r>
              <a:rPr lang="zh-CN" altLang="zh-CN" sz="16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直到出现第一个不同的字符或遇到</a:t>
            </a:r>
            <a:r>
              <a:rPr lang="en-US" altLang="zh-CN" sz="16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’\0’</a:t>
            </a:r>
            <a:r>
              <a:rPr lang="zh-CN" altLang="zh-CN" sz="16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为止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170122" y="1702385"/>
            <a:ext cx="3540392" cy="2736733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13774" y="1807628"/>
            <a:ext cx="3403314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500" dirty="0"/>
              <a:t>#include &lt;</a:t>
            </a:r>
            <a:r>
              <a:rPr lang="en-US" altLang="zh-CN" sz="1500" dirty="0" err="1"/>
              <a:t>string.h</a:t>
            </a:r>
            <a:r>
              <a:rPr lang="en-US" altLang="zh-CN" sz="1500" dirty="0"/>
              <a:t>&gt;</a:t>
            </a:r>
            <a:endParaRPr lang="en-US" altLang="zh-CN" sz="1500" dirty="0"/>
          </a:p>
          <a:p>
            <a:r>
              <a:rPr lang="en-US" altLang="zh-CN" sz="1500" dirty="0"/>
              <a:t>#include &lt;</a:t>
            </a:r>
            <a:r>
              <a:rPr lang="en-US" altLang="zh-CN" sz="1500" dirty="0" err="1"/>
              <a:t>stdio.h</a:t>
            </a:r>
            <a:r>
              <a:rPr lang="en-US" altLang="zh-CN" sz="1500" dirty="0"/>
              <a:t>&gt;</a:t>
            </a:r>
            <a:endParaRPr lang="en-US" altLang="zh-CN" sz="1500" dirty="0"/>
          </a:p>
          <a:p>
            <a:r>
              <a:rPr lang="en-US" altLang="zh-CN" sz="1500" dirty="0"/>
              <a:t>void main()</a:t>
            </a:r>
            <a:endParaRPr lang="en-US" altLang="zh-CN" sz="1500" dirty="0"/>
          </a:p>
          <a:p>
            <a:r>
              <a:rPr lang="en-US" altLang="zh-CN" sz="1500" dirty="0"/>
              <a:t>{</a:t>
            </a:r>
            <a:endParaRPr lang="en-US" altLang="zh-CN" sz="1500" dirty="0"/>
          </a:p>
          <a:p>
            <a:r>
              <a:rPr lang="en-US" altLang="zh-CN" sz="1500" dirty="0"/>
              <a:t>         char 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[80]="Hello";</a:t>
            </a:r>
            <a:endParaRPr lang="en-US" altLang="zh-CN" sz="1500" dirty="0"/>
          </a:p>
          <a:p>
            <a:r>
              <a:rPr lang="en-US" altLang="zh-CN" sz="1500" dirty="0"/>
              <a:t>         char *p="Hello";</a:t>
            </a:r>
            <a:endParaRPr lang="en-US" altLang="zh-CN" sz="1500" dirty="0"/>
          </a:p>
          <a:p>
            <a:r>
              <a:rPr lang="en-US" altLang="zh-CN" sz="1500" dirty="0"/>
              <a:t>         if(</a:t>
            </a:r>
            <a:r>
              <a:rPr lang="en-US" altLang="zh-CN" sz="1500" dirty="0" err="1"/>
              <a:t>strcmp</a:t>
            </a:r>
            <a:r>
              <a:rPr lang="en-US" altLang="zh-CN" sz="1500" dirty="0"/>
              <a:t>(</a:t>
            </a:r>
            <a:r>
              <a:rPr lang="en-US" altLang="zh-CN" sz="1500" dirty="0" err="1"/>
              <a:t>str,p</a:t>
            </a:r>
            <a:r>
              <a:rPr lang="en-US" altLang="zh-CN" sz="1500" dirty="0"/>
              <a:t>)==0)</a:t>
            </a:r>
            <a:endParaRPr lang="en-US" altLang="zh-CN" sz="1500" dirty="0"/>
          </a:p>
          <a:p>
            <a:r>
              <a:rPr lang="en-US" altLang="zh-CN" sz="1500" dirty="0"/>
              <a:t>         	    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("two strings equal\n");</a:t>
            </a:r>
            <a:endParaRPr lang="en-US" altLang="zh-CN" sz="1500" dirty="0"/>
          </a:p>
          <a:p>
            <a:r>
              <a:rPr lang="en-US" altLang="zh-CN" sz="1500" dirty="0"/>
              <a:t>         if(</a:t>
            </a:r>
            <a:r>
              <a:rPr lang="en-US" altLang="zh-CN" sz="1500" dirty="0" err="1"/>
              <a:t>strcmp</a:t>
            </a:r>
            <a:r>
              <a:rPr lang="en-US" altLang="zh-CN" sz="1500" dirty="0"/>
              <a:t>(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,"HELLO")&gt;0)</a:t>
            </a:r>
            <a:endParaRPr lang="en-US" altLang="zh-CN" sz="1500" dirty="0"/>
          </a:p>
          <a:p>
            <a:r>
              <a:rPr lang="en-US" altLang="zh-CN" sz="1500" dirty="0"/>
              <a:t>               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("string(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)is larger\n ");</a:t>
            </a:r>
            <a:endParaRPr lang="en-US" altLang="zh-CN" sz="1500" dirty="0"/>
          </a:p>
          <a:p>
            <a:r>
              <a:rPr lang="en-US" altLang="zh-CN" sz="1500" dirty="0"/>
              <a:t> }</a:t>
            </a:r>
            <a:endParaRPr lang="en-US" altLang="zh-CN" sz="1500" dirty="0"/>
          </a:p>
        </p:txBody>
      </p:sp>
      <p:sp>
        <p:nvSpPr>
          <p:cNvPr id="5" name="文本框 4"/>
          <p:cNvSpPr txBox="1"/>
          <p:nvPr/>
        </p:nvSpPr>
        <p:spPr>
          <a:xfrm>
            <a:off x="4205405" y="1785232"/>
            <a:ext cx="48110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第一次调用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strcmp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的复制过程如图（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）所示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第一次调用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strcmp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的复制过程如图（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）所示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47403" y="1393894"/>
            <a:ext cx="3585830" cy="364050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7.7 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字符串比较函数</a:t>
            </a:r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strcmp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的使用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99600" y="180162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7.2.4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05845" y="184663"/>
            <a:ext cx="5885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字符串比较函数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089076" y="2700245"/>
          <a:ext cx="4654271" cy="3477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Visio" r:id="rId1" imgW="11417300" imgH="8534400" progId="Visio.Drawing.15">
                  <p:embed/>
                </p:oleObj>
              </mc:Choice>
              <mc:Fallback>
                <p:oleObj name="Visio" r:id="rId1" imgW="11417300" imgH="8534400" progId="Visio.Drawing.15">
                  <p:embed/>
                  <p:pic>
                    <p:nvPicPr>
                      <p:cNvPr id="0" name="图片 104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89076" y="2700245"/>
                        <a:ext cx="4654271" cy="34777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18650" y="163396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7.2.5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5" y="163396"/>
            <a:ext cx="5885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其它函数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4928" y="1449687"/>
            <a:ext cx="3243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求字符串的长度函数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4928" y="3785965"/>
            <a:ext cx="3550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字符串大小写转换函数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68232" y="1411622"/>
            <a:ext cx="2732562" cy="4997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int</a:t>
            </a: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2400" b="1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strlen</a:t>
            </a: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(char *s);</a:t>
            </a:r>
            <a:endParaRPr lang="zh-CN" altLang="zh-CN" sz="2400" b="1" kern="1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795827" y="3560900"/>
            <a:ext cx="3795816" cy="8896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char *strupr(char *str);</a:t>
            </a:r>
            <a:endParaRPr lang="sv-SE" altLang="zh-CN" sz="2400" b="1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sv-SE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char *strlwr(char *str);</a:t>
            </a:r>
            <a:endParaRPr lang="sv-SE" altLang="zh-CN" sz="2400" b="1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630901" y="1467294"/>
            <a:ext cx="2236651" cy="1893373"/>
          </a:xfrm>
          <a:prstGeom prst="rect">
            <a:avLst/>
          </a:prstGeom>
          <a:noFill/>
          <a:ln>
            <a:solidFill>
              <a:srgbClr val="98B4A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en-US" altLang="zh-CN" sz="1600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int</a:t>
            </a:r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1600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strlen</a:t>
            </a:r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(char *s)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{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	char *p=s;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	while(*p!='\0')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		p++;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	return p-s;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sz="1600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}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4633" y="4465112"/>
            <a:ext cx="62238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功能：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strlwr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函数将字符串中的大写字母换成小写字母。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strupr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函数将字符串中的小写字母换成大写字母。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34633" y="2110750"/>
            <a:ext cx="6223863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功能：求有效字符串的长度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10" grpId="0" animBg="1"/>
      <p:bldP spid="15" grpId="0"/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18650" y="152103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7.2.5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5" y="174029"/>
            <a:ext cx="5885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其它函数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816550" y="1625173"/>
            <a:ext cx="3774556" cy="3265804"/>
          </a:xfrm>
          <a:prstGeom prst="rect">
            <a:avLst/>
          </a:prstGeom>
          <a:noFill/>
          <a:ln>
            <a:solidFill>
              <a:srgbClr val="98B4A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char *</a:t>
            </a:r>
            <a:r>
              <a:rPr lang="en-US" altLang="zh-CN" sz="1500" dirty="0" err="1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strlwr</a:t>
            </a:r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(char *</a:t>
            </a:r>
            <a:r>
              <a:rPr lang="en-US" altLang="zh-CN" sz="1500" dirty="0" err="1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str</a:t>
            </a:r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zh-CN" altLang="zh-CN" sz="15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{</a:t>
            </a:r>
            <a:endParaRPr lang="zh-CN" altLang="zh-CN" sz="15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   char *str2=</a:t>
            </a:r>
            <a:r>
              <a:rPr lang="en-US" altLang="zh-CN" sz="1500" dirty="0" err="1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str</a:t>
            </a:r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;</a:t>
            </a:r>
            <a:endParaRPr lang="zh-CN" altLang="zh-CN" sz="15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   while (*str2!='\0')</a:t>
            </a:r>
            <a:endParaRPr lang="zh-CN" altLang="zh-CN" sz="15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   {</a:t>
            </a:r>
            <a:endParaRPr lang="zh-CN" altLang="zh-CN" sz="15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         if(*str2&gt;='A'&amp;&amp; *str2&lt;='Z') </a:t>
            </a:r>
            <a:endParaRPr lang="zh-CN" altLang="zh-CN" sz="15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        	*str2 += 0x20;</a:t>
            </a:r>
            <a:endParaRPr lang="zh-CN" altLang="zh-CN" sz="15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        str2++;</a:t>
            </a:r>
            <a:endParaRPr lang="zh-CN" altLang="zh-CN" sz="15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  }</a:t>
            </a:r>
            <a:endParaRPr lang="zh-CN" altLang="zh-CN" sz="15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  return </a:t>
            </a:r>
            <a:r>
              <a:rPr lang="en-US" altLang="zh-CN" sz="1500" dirty="0" err="1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str</a:t>
            </a:r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;</a:t>
            </a:r>
            <a:endParaRPr lang="zh-CN" altLang="zh-CN" sz="15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}</a:t>
            </a:r>
            <a:endParaRPr lang="zh-CN" altLang="zh-CN" sz="15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18650" y="1625173"/>
            <a:ext cx="3361791" cy="3265804"/>
          </a:xfrm>
          <a:prstGeom prst="rect">
            <a:avLst/>
          </a:prstGeom>
          <a:noFill/>
          <a:ln>
            <a:solidFill>
              <a:srgbClr val="98B4A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char *</a:t>
            </a:r>
            <a:r>
              <a:rPr lang="en-US" altLang="zh-CN" sz="1500" dirty="0" err="1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strupr</a:t>
            </a:r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(char *</a:t>
            </a:r>
            <a:r>
              <a:rPr lang="en-US" altLang="zh-CN" sz="1500" dirty="0" err="1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str</a:t>
            </a:r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zh-CN" altLang="zh-CN" sz="15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{</a:t>
            </a:r>
            <a:endParaRPr lang="zh-CN" altLang="zh-CN" sz="15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     char *str1=</a:t>
            </a:r>
            <a:r>
              <a:rPr lang="en-US" altLang="zh-CN" sz="1500" dirty="0" err="1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str</a:t>
            </a:r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;</a:t>
            </a:r>
            <a:endParaRPr lang="zh-CN" altLang="zh-CN" sz="15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     while (*str1!='\0')</a:t>
            </a:r>
            <a:endParaRPr lang="zh-CN" altLang="zh-CN" sz="15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     {</a:t>
            </a:r>
            <a:endParaRPr lang="en-US" altLang="zh-CN" sz="1500" dirty="0">
              <a:solidFill>
                <a:prstClr val="black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	    if(*str1&gt;='a'&amp;&amp; *str1&lt;='z') </a:t>
            </a:r>
            <a:endParaRPr lang="zh-CN" altLang="zh-CN" sz="15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          	*str1 -= 0x20;                    </a:t>
            </a:r>
            <a:endParaRPr lang="zh-CN" altLang="zh-CN" sz="15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          str1++;</a:t>
            </a:r>
            <a:endParaRPr lang="zh-CN" altLang="zh-CN" sz="15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    }</a:t>
            </a:r>
            <a:endParaRPr lang="zh-CN" altLang="zh-CN" sz="15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   return </a:t>
            </a:r>
            <a:r>
              <a:rPr lang="en-US" altLang="zh-CN" sz="1500" dirty="0" err="1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str</a:t>
            </a:r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;</a:t>
            </a:r>
            <a:endParaRPr lang="zh-CN" altLang="zh-CN" sz="15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}</a:t>
            </a:r>
            <a:endParaRPr lang="en-US" altLang="zh-CN" sz="1600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矩形: 圆角 5"/>
          <p:cNvSpPr/>
          <p:nvPr/>
        </p:nvSpPr>
        <p:spPr>
          <a:xfrm>
            <a:off x="765257" y="1403518"/>
            <a:ext cx="2126511" cy="364050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字符串大写转换函数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矩形: 圆角 5"/>
          <p:cNvSpPr/>
          <p:nvPr/>
        </p:nvSpPr>
        <p:spPr>
          <a:xfrm>
            <a:off x="4816550" y="1403518"/>
            <a:ext cx="2126511" cy="364050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字符串小写转换函数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65257" y="5250856"/>
            <a:ext cx="7655729" cy="64471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‘</a:t>
            </a:r>
            <a:r>
              <a:rPr lang="en-US" altLang="zh-CN" sz="16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a’~’z</a:t>
            </a:r>
            <a:r>
              <a:rPr lang="en-US" altLang="zh-CN" sz="16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’</a:t>
            </a:r>
            <a:r>
              <a:rPr lang="zh-CN" altLang="en-US" sz="16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的</a:t>
            </a:r>
            <a:r>
              <a:rPr lang="en-US" altLang="zh-CN" sz="16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ASCII</a:t>
            </a:r>
            <a:r>
              <a:rPr lang="zh-CN" altLang="en-US" sz="16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码值为</a:t>
            </a:r>
            <a:r>
              <a:rPr lang="en-US" altLang="zh-CN" sz="16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0x61~0x7A</a:t>
            </a:r>
            <a:r>
              <a:rPr lang="zh-CN" altLang="en-US" sz="16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‘A’~’Z’</a:t>
            </a:r>
            <a:r>
              <a:rPr lang="zh-CN" altLang="en-US" sz="16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的</a:t>
            </a:r>
            <a:r>
              <a:rPr lang="en-US" altLang="zh-CN" sz="16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ASCII</a:t>
            </a:r>
            <a:r>
              <a:rPr lang="zh-CN" altLang="en-US" sz="16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码值为</a:t>
            </a:r>
            <a:r>
              <a:rPr lang="en-US" altLang="zh-CN" sz="16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0x41~0x5A</a:t>
            </a:r>
            <a:r>
              <a:rPr lang="zh-CN" altLang="en-US" sz="16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，相差</a:t>
            </a:r>
            <a:r>
              <a:rPr lang="en-US" altLang="zh-CN" sz="16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0x20</a:t>
            </a:r>
            <a:endParaRPr lang="en-US" altLang="zh-CN" sz="16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18650" y="152763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7.2.5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5" y="152763"/>
            <a:ext cx="5885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其它函数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96949" y="1733070"/>
            <a:ext cx="7244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查找指定字符串在给定字符串中第一次出现的函数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59799" y="2599460"/>
            <a:ext cx="4907068" cy="4997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char *</a:t>
            </a:r>
            <a:r>
              <a:rPr lang="en-US" altLang="zh-CN" sz="2400" b="1" kern="100" dirty="0" err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strstr</a:t>
            </a:r>
            <a:r>
              <a:rPr lang="en-US" altLang="zh-CN" sz="2400" b="1" kern="1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(char *s1,char *s2);</a:t>
            </a:r>
            <a:endParaRPr lang="zh-CN" altLang="zh-CN" sz="2400" b="1" kern="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34633" y="3597691"/>
            <a:ext cx="8148356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功能：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这个函数在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s1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中查找整个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s2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第一次出现的起始位置，并返回一个指向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该位置的指针。如果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s2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并没有完整地出现在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s1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的任何地方，函数将返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NULL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指针。如果第二个参数是一个空字符串，函数就返回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s1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73306" y="142130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7.2.5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5" y="142131"/>
            <a:ext cx="5885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其它函数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808074" y="1350335"/>
            <a:ext cx="3764596" cy="4630150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: 圆角 12"/>
          <p:cNvSpPr/>
          <p:nvPr/>
        </p:nvSpPr>
        <p:spPr>
          <a:xfrm>
            <a:off x="3047863" y="1221228"/>
            <a:ext cx="5793113" cy="364050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7.8 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在给定字符串中查找子串最后（最右）一次出现的位置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174907" y="1456170"/>
            <a:ext cx="354063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500" dirty="0"/>
              <a:t>#include &lt;</a:t>
            </a:r>
            <a:r>
              <a:rPr lang="en-US" altLang="zh-CN" sz="1500" dirty="0" err="1"/>
              <a:t>stdio.h</a:t>
            </a:r>
            <a:r>
              <a:rPr lang="en-US" altLang="zh-CN" sz="1500" dirty="0"/>
              <a:t>&gt;</a:t>
            </a:r>
            <a:endParaRPr lang="en-US" altLang="zh-CN" sz="1500" dirty="0"/>
          </a:p>
          <a:p>
            <a:r>
              <a:rPr lang="en-US" altLang="zh-CN" sz="1500" dirty="0"/>
              <a:t>#include &lt;</a:t>
            </a:r>
            <a:r>
              <a:rPr lang="en-US" altLang="zh-CN" sz="1500" dirty="0" err="1"/>
              <a:t>string.h</a:t>
            </a:r>
            <a:r>
              <a:rPr lang="en-US" altLang="zh-CN" sz="1500" dirty="0"/>
              <a:t>&gt;</a:t>
            </a:r>
            <a:endParaRPr lang="en-US" altLang="zh-CN" sz="1500" dirty="0"/>
          </a:p>
          <a:p>
            <a:r>
              <a:rPr lang="en-US" altLang="zh-CN" sz="1500" dirty="0"/>
              <a:t>char *</a:t>
            </a:r>
            <a:r>
              <a:rPr lang="en-US" altLang="zh-CN" sz="1500" dirty="0" err="1"/>
              <a:t>my_strrstr</a:t>
            </a:r>
            <a:r>
              <a:rPr lang="en-US" altLang="zh-CN" sz="1500" dirty="0"/>
              <a:t>(char *s1,char *s2)</a:t>
            </a:r>
            <a:endParaRPr lang="en-US" altLang="zh-CN" sz="1500" dirty="0"/>
          </a:p>
          <a:p>
            <a:r>
              <a:rPr lang="en-US" altLang="zh-CN" sz="1500" dirty="0"/>
              <a:t>{ </a:t>
            </a:r>
            <a:endParaRPr lang="en-US" altLang="zh-CN" sz="1500" dirty="0"/>
          </a:p>
          <a:p>
            <a:r>
              <a:rPr lang="en-US" altLang="zh-CN" sz="1500" dirty="0"/>
              <a:t>         char *last;</a:t>
            </a:r>
            <a:endParaRPr lang="en-US" altLang="zh-CN" sz="1500" dirty="0"/>
          </a:p>
          <a:p>
            <a:r>
              <a:rPr lang="en-US" altLang="zh-CN" sz="1500" dirty="0"/>
              <a:t>         char *current;   </a:t>
            </a:r>
            <a:endParaRPr lang="en-US" altLang="zh-CN" sz="1500" dirty="0"/>
          </a:p>
          <a:p>
            <a:r>
              <a:rPr lang="en-US" altLang="zh-CN" sz="1500" dirty="0"/>
              <a:t>         last = NULL; </a:t>
            </a:r>
            <a:endParaRPr lang="en-US" altLang="zh-CN" sz="1500" dirty="0"/>
          </a:p>
          <a:p>
            <a:r>
              <a:rPr lang="en-US" altLang="zh-CN" sz="1500" dirty="0"/>
              <a:t>	if( *s2 != '\0')</a:t>
            </a:r>
            <a:endParaRPr lang="en-US" altLang="zh-CN" sz="1500" dirty="0"/>
          </a:p>
          <a:p>
            <a:r>
              <a:rPr lang="en-US" altLang="zh-CN" sz="1500" dirty="0"/>
              <a:t>         {</a:t>
            </a:r>
            <a:endParaRPr lang="en-US" altLang="zh-CN" sz="1500" dirty="0"/>
          </a:p>
          <a:p>
            <a:r>
              <a:rPr lang="en-US" altLang="zh-CN" sz="1500" dirty="0"/>
              <a:t>            current = </a:t>
            </a:r>
            <a:r>
              <a:rPr lang="en-US" altLang="zh-CN" sz="1500" dirty="0" err="1"/>
              <a:t>strstr</a:t>
            </a:r>
            <a:r>
              <a:rPr lang="en-US" altLang="zh-CN" sz="1500" dirty="0"/>
              <a:t>(s1,s2);</a:t>
            </a:r>
            <a:endParaRPr lang="en-US" altLang="zh-CN" sz="1500" dirty="0"/>
          </a:p>
          <a:p>
            <a:r>
              <a:rPr lang="en-US" altLang="zh-CN" sz="1500" dirty="0"/>
              <a:t>            while (current!=NULL)</a:t>
            </a:r>
            <a:endParaRPr lang="en-US" altLang="zh-CN" sz="1500" dirty="0"/>
          </a:p>
          <a:p>
            <a:r>
              <a:rPr lang="en-US" altLang="zh-CN" sz="1500" dirty="0"/>
              <a:t>           {</a:t>
            </a:r>
            <a:endParaRPr lang="en-US" altLang="zh-CN" sz="1500" dirty="0"/>
          </a:p>
          <a:p>
            <a:r>
              <a:rPr lang="en-US" altLang="zh-CN" sz="1500" dirty="0"/>
              <a:t>              last = current;</a:t>
            </a:r>
            <a:endParaRPr lang="en-US" altLang="zh-CN" sz="1500" dirty="0"/>
          </a:p>
          <a:p>
            <a:r>
              <a:rPr lang="en-US" altLang="zh-CN" sz="1500" dirty="0"/>
              <a:t>              current = </a:t>
            </a:r>
            <a:r>
              <a:rPr lang="en-US" altLang="zh-CN" sz="1500" dirty="0" err="1"/>
              <a:t>strstr</a:t>
            </a:r>
            <a:r>
              <a:rPr lang="en-US" altLang="zh-CN" sz="1500" dirty="0"/>
              <a:t>(last+1,s2);</a:t>
            </a:r>
            <a:endParaRPr lang="en-US" altLang="zh-CN" sz="1500" dirty="0"/>
          </a:p>
          <a:p>
            <a:r>
              <a:rPr lang="en-US" altLang="zh-CN" sz="1500" dirty="0"/>
              <a:t>           }</a:t>
            </a:r>
            <a:endParaRPr lang="en-US" altLang="zh-CN" sz="1500" dirty="0"/>
          </a:p>
          <a:p>
            <a:r>
              <a:rPr lang="en-US" altLang="zh-CN" sz="1500" dirty="0"/>
              <a:t>        }  </a:t>
            </a:r>
            <a:endParaRPr lang="en-US" altLang="zh-CN" sz="1500" dirty="0"/>
          </a:p>
          <a:p>
            <a:r>
              <a:rPr lang="en-US" altLang="zh-CN" sz="1500" dirty="0"/>
              <a:t>        return last; </a:t>
            </a:r>
            <a:endParaRPr lang="en-US" altLang="zh-CN" sz="1500" dirty="0"/>
          </a:p>
          <a:p>
            <a:r>
              <a:rPr lang="en-US" altLang="zh-CN" sz="1500" dirty="0"/>
              <a:t>}</a:t>
            </a:r>
            <a:endParaRPr lang="en-US" altLang="zh-CN" sz="1500" dirty="0"/>
          </a:p>
          <a:p>
            <a:endParaRPr lang="en-US" altLang="zh-CN" dirty="0"/>
          </a:p>
        </p:txBody>
      </p:sp>
      <p:grpSp>
        <p:nvGrpSpPr>
          <p:cNvPr id="19" name="组合 18"/>
          <p:cNvGrpSpPr/>
          <p:nvPr/>
        </p:nvGrpSpPr>
        <p:grpSpPr>
          <a:xfrm>
            <a:off x="4157331" y="2659184"/>
            <a:ext cx="4093534" cy="857257"/>
            <a:chOff x="4157331" y="2659184"/>
            <a:chExt cx="4093534" cy="857257"/>
          </a:xfrm>
        </p:grpSpPr>
        <p:sp>
          <p:nvSpPr>
            <p:cNvPr id="15" name="对话气泡: 圆角矩形 14"/>
            <p:cNvSpPr/>
            <p:nvPr/>
          </p:nvSpPr>
          <p:spPr>
            <a:xfrm>
              <a:off x="4157331" y="2659184"/>
              <a:ext cx="4093534" cy="857257"/>
            </a:xfrm>
            <a:prstGeom prst="wedgeRoundRectCallout">
              <a:avLst>
                <a:gd name="adj1" fmla="val -64438"/>
                <a:gd name="adj2" fmla="val 64351"/>
                <a:gd name="adj3" fmla="val 16667"/>
              </a:avLst>
            </a:prstGeom>
            <a:solidFill>
              <a:srgbClr val="98B4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矩形 15"/>
            <p:cNvSpPr/>
            <p:nvPr/>
          </p:nvSpPr>
          <p:spPr>
            <a:xfrm>
              <a:off x="4266316" y="2670025"/>
              <a:ext cx="3875563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调用函数</a:t>
              </a:r>
              <a:r>
                <a:rPr lang="en-US" altLang="zh-CN" sz="14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strstr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查找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s2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s1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中第一次出现的位置，找到，返回找到的位置，否则，返回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NULL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450400" y="4151086"/>
            <a:ext cx="3258199" cy="857257"/>
            <a:chOff x="4482298" y="4161718"/>
            <a:chExt cx="3258199" cy="857257"/>
          </a:xfrm>
        </p:grpSpPr>
        <p:sp>
          <p:nvSpPr>
            <p:cNvPr id="17" name="对话气泡: 圆角矩形 16"/>
            <p:cNvSpPr/>
            <p:nvPr/>
          </p:nvSpPr>
          <p:spPr>
            <a:xfrm>
              <a:off x="4482298" y="4161718"/>
              <a:ext cx="3215675" cy="857257"/>
            </a:xfrm>
            <a:prstGeom prst="wedgeRoundRectCallout">
              <a:avLst>
                <a:gd name="adj1" fmla="val -80284"/>
                <a:gd name="adj2" fmla="val -59679"/>
                <a:gd name="adj3" fmla="val 16667"/>
              </a:avLst>
            </a:prstGeom>
            <a:solidFill>
              <a:srgbClr val="98B4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矩形 17"/>
            <p:cNvSpPr/>
            <p:nvPr/>
          </p:nvSpPr>
          <p:spPr>
            <a:xfrm>
              <a:off x="4667696" y="4221014"/>
              <a:ext cx="3072801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每找到字符串，指向它的其始位置，然后查找该字符串下一个匹配位置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901739" y="1696035"/>
            <a:ext cx="7481285" cy="4886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8" name="矩形 27"/>
          <p:cNvSpPr/>
          <p:nvPr/>
        </p:nvSpPr>
        <p:spPr>
          <a:xfrm>
            <a:off x="905590" y="2183823"/>
            <a:ext cx="7481285" cy="4886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0" name="矩形 29"/>
          <p:cNvSpPr/>
          <p:nvPr/>
        </p:nvSpPr>
        <p:spPr>
          <a:xfrm>
            <a:off x="909441" y="2663655"/>
            <a:ext cx="7481285" cy="48860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" name="文本框 1"/>
          <p:cNvSpPr txBox="1"/>
          <p:nvPr/>
        </p:nvSpPr>
        <p:spPr>
          <a:xfrm>
            <a:off x="928490" y="142131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7.3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87200" y="150680"/>
            <a:ext cx="3875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单个字符串的处理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98530" y="2207715"/>
            <a:ext cx="10544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a[n]; 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67035" y="2207715"/>
            <a:ext cx="11836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char s[n]; 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528518" y="2714641"/>
            <a:ext cx="19851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数组名  数组长度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3994319" y="2502758"/>
            <a:ext cx="214579" cy="1931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 flipV="1">
            <a:off x="4432085" y="2507837"/>
            <a:ext cx="178015" cy="1946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6371785" y="2724078"/>
            <a:ext cx="1581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字符串首地址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对话气泡: 圆角矩形 16"/>
          <p:cNvSpPr/>
          <p:nvPr/>
        </p:nvSpPr>
        <p:spPr>
          <a:xfrm>
            <a:off x="4985795" y="3327714"/>
            <a:ext cx="3694984" cy="774057"/>
          </a:xfrm>
          <a:prstGeom prst="wedgeRoundRectCallout">
            <a:avLst>
              <a:gd name="adj1" fmla="val -2267"/>
              <a:gd name="adj2" fmla="val -88426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‘\0’</a:t>
            </a:r>
            <a:r>
              <a:rPr lang="zh-CN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作为字符串的结束标志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，所以其长度已经隐藏在其中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69464" y="4212655"/>
            <a:ext cx="81483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一般情况下，字符串的赋值需要通过输入输出函数或者标准库函数来实现；而常量字符串可以采用更为简洁的方法，即直接将常量字符串赋予一个指针。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一般单个字符串可以利用字符指针（动态内存分配）、字符数组来处理，而常量字符串则可以直接使用字符指针进行处理。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21408" y="2225444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>
              <a:defRPr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1039" y="2727787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>
              <a:defRPr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函数参数传递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935832" y="1801855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>
              <a:defRPr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640306" y="1795199"/>
            <a:ext cx="8002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>
              <a:defRPr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05905" y="1103910"/>
            <a:ext cx="4801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对字符串进行处理时与一般数组的不同之处：</a:t>
            </a:r>
            <a:endParaRPr lang="zh-CN" altLang="en-US" dirty="0"/>
          </a:p>
        </p:txBody>
      </p:sp>
      <p:cxnSp>
        <p:nvCxnSpPr>
          <p:cNvPr id="33" name="直接箭头连接符 32"/>
          <p:cNvCxnSpPr/>
          <p:nvPr/>
        </p:nvCxnSpPr>
        <p:spPr>
          <a:xfrm flipV="1">
            <a:off x="6833287" y="2510618"/>
            <a:ext cx="214579" cy="1931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8" grpId="0"/>
      <p:bldP spid="24" grpId="0"/>
      <p:bldP spid="27" grpId="0" animBg="1"/>
      <p:bldP spid="26" grpId="0"/>
      <p:bldP spid="4" grpId="0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9756" y="131498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7.3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86025" y="150680"/>
            <a:ext cx="6657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——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利用指针处理单个常量字符串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93495" y="2126614"/>
            <a:ext cx="264840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/>
              <a:t> </a:t>
            </a:r>
            <a:r>
              <a:rPr lang="en-US" altLang="zh-CN" sz="1500" dirty="0"/>
              <a:t>char *strchr1(char *</a:t>
            </a:r>
            <a:r>
              <a:rPr lang="en-US" altLang="zh-CN" sz="1500" dirty="0" err="1"/>
              <a:t>str,char</a:t>
            </a:r>
            <a:r>
              <a:rPr lang="en-US" altLang="zh-CN" sz="1500" dirty="0"/>
              <a:t> </a:t>
            </a:r>
            <a:r>
              <a:rPr lang="en-US" altLang="zh-CN" sz="1500" dirty="0" err="1"/>
              <a:t>ch</a:t>
            </a:r>
            <a:r>
              <a:rPr lang="en-US" altLang="zh-CN" sz="1500" dirty="0"/>
              <a:t>)</a:t>
            </a:r>
            <a:endParaRPr lang="zh-CN" altLang="zh-CN" sz="1500" dirty="0"/>
          </a:p>
          <a:p>
            <a:r>
              <a:rPr lang="en-US" altLang="zh-CN" sz="1500" dirty="0"/>
              <a:t> {</a:t>
            </a:r>
            <a:endParaRPr lang="zh-CN" altLang="zh-CN" sz="1500" dirty="0"/>
          </a:p>
          <a:p>
            <a:r>
              <a:rPr lang="en-US" altLang="zh-CN" sz="1500" dirty="0"/>
              <a:t>          char *temp=NULL;                     	for(;*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!= '\0';str++)</a:t>
            </a:r>
            <a:endParaRPr lang="zh-CN" altLang="zh-CN" sz="1500" dirty="0"/>
          </a:p>
          <a:p>
            <a:r>
              <a:rPr lang="en-US" altLang="zh-CN" sz="1500" dirty="0"/>
              <a:t>           if(*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 == </a:t>
            </a:r>
            <a:r>
              <a:rPr lang="en-US" altLang="zh-CN" sz="1500" dirty="0" err="1"/>
              <a:t>ch</a:t>
            </a:r>
            <a:r>
              <a:rPr lang="en-US" altLang="zh-CN" sz="1500" dirty="0"/>
              <a:t>)   	</a:t>
            </a:r>
            <a:endParaRPr lang="en-US" altLang="zh-CN" sz="1500" dirty="0"/>
          </a:p>
          <a:p>
            <a:r>
              <a:rPr lang="en-US" altLang="zh-CN" sz="1500" dirty="0"/>
              <a:t>	 {</a:t>
            </a:r>
            <a:endParaRPr lang="zh-CN" altLang="zh-CN" sz="1500" dirty="0"/>
          </a:p>
          <a:p>
            <a:r>
              <a:rPr lang="en-US" altLang="zh-CN" sz="1500" dirty="0"/>
              <a:t>     		temp=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; </a:t>
            </a:r>
            <a:endParaRPr lang="en-US" altLang="zh-CN" sz="1500" dirty="0"/>
          </a:p>
          <a:p>
            <a:r>
              <a:rPr lang="en-US" altLang="zh-CN" sz="1500" dirty="0"/>
              <a:t>		break;</a:t>
            </a:r>
            <a:endParaRPr lang="zh-CN" altLang="zh-CN" sz="1500" dirty="0"/>
          </a:p>
          <a:p>
            <a:r>
              <a:rPr lang="en-US" altLang="zh-CN" sz="1500" dirty="0"/>
              <a:t>    	 }</a:t>
            </a:r>
            <a:endParaRPr lang="zh-CN" altLang="zh-CN" sz="1500" dirty="0"/>
          </a:p>
          <a:p>
            <a:r>
              <a:rPr lang="en-US" altLang="zh-CN" sz="1500" dirty="0"/>
              <a:t>   	return temp; </a:t>
            </a:r>
            <a:endParaRPr lang="en-US" altLang="zh-CN" sz="1500" dirty="0"/>
          </a:p>
          <a:p>
            <a:r>
              <a:rPr lang="en-US" altLang="zh-CN" sz="1500" dirty="0"/>
              <a:t>}</a:t>
            </a:r>
            <a:endParaRPr lang="en-US" altLang="zh-CN" sz="1500" dirty="0"/>
          </a:p>
        </p:txBody>
      </p:sp>
      <p:sp>
        <p:nvSpPr>
          <p:cNvPr id="17" name="矩形: 圆角 3"/>
          <p:cNvSpPr/>
          <p:nvPr/>
        </p:nvSpPr>
        <p:spPr>
          <a:xfrm>
            <a:off x="797441" y="1935129"/>
            <a:ext cx="3104707" cy="3030279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: 圆角 12"/>
          <p:cNvSpPr/>
          <p:nvPr/>
        </p:nvSpPr>
        <p:spPr>
          <a:xfrm>
            <a:off x="574153" y="1613611"/>
            <a:ext cx="3753294" cy="364050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7.9  </a:t>
            </a: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在给定字符串中查找特定的字符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239736" y="2126614"/>
            <a:ext cx="459326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500" dirty="0"/>
              <a:t>      #include &lt;</a:t>
            </a:r>
            <a:r>
              <a:rPr lang="en-US" altLang="zh-CN" sz="1500" dirty="0" err="1"/>
              <a:t>stdio.h</a:t>
            </a:r>
            <a:r>
              <a:rPr lang="en-US" altLang="zh-CN" sz="1500" dirty="0"/>
              <a:t>&gt;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#include &lt;</a:t>
            </a:r>
            <a:r>
              <a:rPr lang="en-US" altLang="zh-CN" sz="1500" dirty="0" err="1"/>
              <a:t>string.h</a:t>
            </a:r>
            <a:r>
              <a:rPr lang="en-US" altLang="zh-CN" sz="1500" dirty="0"/>
              <a:t>&gt;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char *strchr1(char *</a:t>
            </a:r>
            <a:r>
              <a:rPr lang="en-US" altLang="zh-CN" sz="1500" dirty="0" err="1"/>
              <a:t>str,char</a:t>
            </a:r>
            <a:r>
              <a:rPr lang="en-US" altLang="zh-CN" sz="1500" dirty="0"/>
              <a:t> </a:t>
            </a:r>
            <a:r>
              <a:rPr lang="en-US" altLang="zh-CN" sz="1500" dirty="0" err="1"/>
              <a:t>ch</a:t>
            </a:r>
            <a:r>
              <a:rPr lang="en-US" altLang="zh-CN" sz="1500" dirty="0"/>
              <a:t>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void main()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{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  char *string = "this is a string"; </a:t>
            </a:r>
            <a:endParaRPr lang="en-US" altLang="zh-CN" sz="1500" dirty="0"/>
          </a:p>
          <a:p>
            <a:pPr lvl="0"/>
            <a:r>
              <a:rPr lang="en-US" altLang="zh-CN" sz="1500" dirty="0"/>
              <a:t>	  char *</a:t>
            </a:r>
            <a:r>
              <a:rPr lang="en-US" altLang="zh-CN" sz="1500" dirty="0" err="1"/>
              <a:t>pstr</a:t>
            </a:r>
            <a:r>
              <a:rPr lang="en-US" altLang="zh-CN" sz="1500" dirty="0"/>
              <a:t>, </a:t>
            </a:r>
            <a:r>
              <a:rPr lang="en-US" altLang="zh-CN" sz="1500" dirty="0" err="1"/>
              <a:t>ch</a:t>
            </a:r>
            <a:r>
              <a:rPr lang="en-US" altLang="zh-CN" sz="1500" dirty="0"/>
              <a:t>= 'c';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	  </a:t>
            </a:r>
            <a:r>
              <a:rPr lang="en-US" altLang="zh-CN" sz="1500" dirty="0" err="1"/>
              <a:t>pstr</a:t>
            </a:r>
            <a:r>
              <a:rPr lang="en-US" altLang="zh-CN" sz="1500" dirty="0"/>
              <a:t>=strchr1(</a:t>
            </a:r>
            <a:r>
              <a:rPr lang="en-US" altLang="zh-CN" sz="1500" dirty="0" err="1"/>
              <a:t>string,ch</a:t>
            </a:r>
            <a:r>
              <a:rPr lang="en-US" altLang="zh-CN" sz="1500" dirty="0"/>
              <a:t>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  if(</a:t>
            </a:r>
            <a:r>
              <a:rPr lang="en-US" altLang="zh-CN" sz="1500" dirty="0" err="1"/>
              <a:t>pstr</a:t>
            </a:r>
            <a:r>
              <a:rPr lang="en-US" altLang="zh-CN" sz="1500" dirty="0"/>
              <a:t>) </a:t>
            </a:r>
            <a:endParaRPr lang="en-US" altLang="zh-CN" sz="1500" dirty="0"/>
          </a:p>
          <a:p>
            <a:pPr lvl="0"/>
            <a:r>
              <a:rPr lang="en-US" altLang="zh-CN" sz="1500" dirty="0"/>
              <a:t>	         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("the character %c is at the position: 			%d\n",</a:t>
            </a:r>
            <a:r>
              <a:rPr lang="en-US" altLang="zh-CN" sz="1500" dirty="0" err="1"/>
              <a:t>ch</a:t>
            </a:r>
            <a:r>
              <a:rPr lang="en-US" altLang="zh-CN" sz="1500" dirty="0"/>
              <a:t>, pstr-string+1);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	  else </a:t>
            </a:r>
            <a:endParaRPr lang="en-US" altLang="zh-CN" sz="1500" dirty="0"/>
          </a:p>
          <a:p>
            <a:pPr lvl="0"/>
            <a:r>
              <a:rPr lang="en-US" altLang="zh-CN" sz="1500" dirty="0"/>
              <a:t>		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("the character %c not found\n",</a:t>
            </a:r>
            <a:r>
              <a:rPr lang="en-US" altLang="zh-CN" sz="1500" dirty="0" err="1"/>
              <a:t>ch</a:t>
            </a:r>
            <a:r>
              <a:rPr lang="en-US" altLang="zh-CN" sz="1500" dirty="0"/>
              <a:t>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}</a:t>
            </a:r>
            <a:endParaRPr lang="zh-CN" altLang="en-US" sz="1500" dirty="0"/>
          </a:p>
        </p:txBody>
      </p:sp>
      <p:sp>
        <p:nvSpPr>
          <p:cNvPr id="22" name="矩形: 圆角 3"/>
          <p:cNvSpPr/>
          <p:nvPr/>
        </p:nvSpPr>
        <p:spPr>
          <a:xfrm>
            <a:off x="4125436" y="1935129"/>
            <a:ext cx="4424040" cy="3625700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3" name="组合 22"/>
          <p:cNvGrpSpPr/>
          <p:nvPr/>
        </p:nvGrpSpPr>
        <p:grpSpPr>
          <a:xfrm>
            <a:off x="7166344" y="2626242"/>
            <a:ext cx="1977656" cy="518059"/>
            <a:chOff x="4157331" y="2659184"/>
            <a:chExt cx="4093534" cy="857257"/>
          </a:xfrm>
        </p:grpSpPr>
        <p:sp>
          <p:nvSpPr>
            <p:cNvPr id="24" name="对话气泡: 圆角矩形 14"/>
            <p:cNvSpPr/>
            <p:nvPr/>
          </p:nvSpPr>
          <p:spPr>
            <a:xfrm>
              <a:off x="4157331" y="2659184"/>
              <a:ext cx="4093534" cy="857257"/>
            </a:xfrm>
            <a:prstGeom prst="wedgeRoundRectCallout">
              <a:avLst>
                <a:gd name="adj1" fmla="val -64438"/>
                <a:gd name="adj2" fmla="val 64351"/>
                <a:gd name="adj3" fmla="val 16667"/>
              </a:avLst>
            </a:prstGeom>
            <a:solidFill>
              <a:srgbClr val="98B4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矩形 24"/>
            <p:cNvSpPr/>
            <p:nvPr/>
          </p:nvSpPr>
          <p:spPr>
            <a:xfrm>
              <a:off x="4266315" y="2670023"/>
              <a:ext cx="3984548" cy="6875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对常量字符串的处理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对话气泡: 圆角矩形 16"/>
          <p:cNvSpPr/>
          <p:nvPr/>
        </p:nvSpPr>
        <p:spPr>
          <a:xfrm>
            <a:off x="3058086" y="3144301"/>
            <a:ext cx="1331743" cy="534564"/>
          </a:xfrm>
          <a:prstGeom prst="wedgeRoundRectCallout">
            <a:avLst>
              <a:gd name="adj1" fmla="val -80284"/>
              <a:gd name="adj2" fmla="val -59679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字符串的结束标志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'\0'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: 圆角 4"/>
          <p:cNvSpPr/>
          <p:nvPr/>
        </p:nvSpPr>
        <p:spPr>
          <a:xfrm>
            <a:off x="6165346" y="5270154"/>
            <a:ext cx="2828903" cy="864778"/>
          </a:xfrm>
          <a:prstGeom prst="roundRect">
            <a:avLst/>
          </a:prstGeom>
          <a:solidFill>
            <a:srgbClr val="E5FCC2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运行结果：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the character c not found</a:t>
            </a:r>
            <a:endParaRPr lang="zh-CN" altLang="en-US" dirty="0">
              <a:solidFill>
                <a:schemeClr val="tx1"/>
              </a:solidFill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1006697" y="2251325"/>
            <a:ext cx="157967" cy="142083"/>
          </a:xfrm>
          <a:prstGeom prst="ellipse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4231862" y="2685735"/>
            <a:ext cx="157967" cy="142083"/>
          </a:xfrm>
          <a:prstGeom prst="ellipse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4238201" y="3831567"/>
            <a:ext cx="157967" cy="142083"/>
          </a:xfrm>
          <a:prstGeom prst="ellipse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  <p:bldP spid="19" grpId="0" animBg="1"/>
      <p:bldP spid="21" grpId="0"/>
      <p:bldP spid="22" grpId="0" animBg="1"/>
      <p:bldP spid="26" grpId="0" animBg="1"/>
      <p:bldP spid="32" grpId="0" animBg="1"/>
      <p:bldP spid="14" grpId="0" animBg="1"/>
      <p:bldP spid="15" grpId="0" animBg="1"/>
      <p:bldP spid="1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8490" y="142134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7.3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86025" y="150683"/>
            <a:ext cx="6657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——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利用字符数组处理单个字符串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4" name="矩形: 圆角 3"/>
          <p:cNvSpPr/>
          <p:nvPr/>
        </p:nvSpPr>
        <p:spPr>
          <a:xfrm>
            <a:off x="850607" y="1850065"/>
            <a:ext cx="2955346" cy="2892052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: 圆角 12"/>
          <p:cNvSpPr/>
          <p:nvPr/>
        </p:nvSpPr>
        <p:spPr>
          <a:xfrm>
            <a:off x="627318" y="1528547"/>
            <a:ext cx="3753294" cy="364050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7.10  </a:t>
            </a: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删除给定字符串中的数字字符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3"/>
          <p:cNvSpPr/>
          <p:nvPr/>
        </p:nvSpPr>
        <p:spPr>
          <a:xfrm>
            <a:off x="4198967" y="1850064"/>
            <a:ext cx="3286356" cy="3625700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8" name="组合 17"/>
          <p:cNvGrpSpPr/>
          <p:nvPr/>
        </p:nvGrpSpPr>
        <p:grpSpPr>
          <a:xfrm>
            <a:off x="6443332" y="2251244"/>
            <a:ext cx="1892596" cy="518059"/>
            <a:chOff x="4157331" y="2659184"/>
            <a:chExt cx="4093534" cy="857257"/>
          </a:xfrm>
        </p:grpSpPr>
        <p:sp>
          <p:nvSpPr>
            <p:cNvPr id="19" name="对话气泡: 圆角矩形 14"/>
            <p:cNvSpPr/>
            <p:nvPr/>
          </p:nvSpPr>
          <p:spPr>
            <a:xfrm>
              <a:off x="4157331" y="2659184"/>
              <a:ext cx="4093534" cy="857257"/>
            </a:xfrm>
            <a:prstGeom prst="wedgeRoundRectCallout">
              <a:avLst>
                <a:gd name="adj1" fmla="val -64438"/>
                <a:gd name="adj2" fmla="val 64351"/>
                <a:gd name="adj3" fmla="val 16667"/>
              </a:avLst>
            </a:prstGeom>
            <a:solidFill>
              <a:srgbClr val="98B4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矩形 19"/>
            <p:cNvSpPr/>
            <p:nvPr/>
          </p:nvSpPr>
          <p:spPr>
            <a:xfrm>
              <a:off x="4266316" y="2670024"/>
              <a:ext cx="3875564" cy="6875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保存字符串的首地址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对话气泡: 圆角矩形 16"/>
          <p:cNvSpPr/>
          <p:nvPr/>
        </p:nvSpPr>
        <p:spPr>
          <a:xfrm>
            <a:off x="709826" y="4575617"/>
            <a:ext cx="2227454" cy="609473"/>
          </a:xfrm>
          <a:prstGeom prst="wedgeRoundRectCallout">
            <a:avLst>
              <a:gd name="adj1" fmla="val 50090"/>
              <a:gd name="adj2" fmla="val -118289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使用字符数组名作为实参进行参数传递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: 圆角 4"/>
          <p:cNvSpPr/>
          <p:nvPr/>
        </p:nvSpPr>
        <p:spPr>
          <a:xfrm>
            <a:off x="5964868" y="4813786"/>
            <a:ext cx="2764465" cy="1353092"/>
          </a:xfrm>
          <a:prstGeom prst="roundRect">
            <a:avLst>
              <a:gd name="adj" fmla="val 32355"/>
            </a:avLst>
          </a:prstGeom>
          <a:solidFill>
            <a:srgbClr val="E5FCC2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运行结果：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       input string: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        I have 12 dreams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        I have  dreams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81655" y="2041550"/>
            <a:ext cx="2771644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500" dirty="0"/>
              <a:t>      #include &lt;</a:t>
            </a:r>
            <a:r>
              <a:rPr lang="en-US" altLang="zh-CN" sz="1500" dirty="0" err="1"/>
              <a:t>stdio.h</a:t>
            </a:r>
            <a:r>
              <a:rPr lang="en-US" altLang="zh-CN" sz="1500" dirty="0"/>
              <a:t>&gt;</a:t>
            </a:r>
            <a:endParaRPr lang="zh-CN" altLang="zh-CN" sz="1500" dirty="0"/>
          </a:p>
          <a:p>
            <a:r>
              <a:rPr lang="en-US" altLang="zh-CN" sz="1500" dirty="0"/>
              <a:t>      #include &lt;</a:t>
            </a:r>
            <a:r>
              <a:rPr lang="en-US" altLang="zh-CN" sz="1500" dirty="0" err="1"/>
              <a:t>string.h</a:t>
            </a:r>
            <a:r>
              <a:rPr lang="en-US" altLang="zh-CN" sz="1500" dirty="0"/>
              <a:t>&gt;</a:t>
            </a:r>
            <a:endParaRPr lang="zh-CN" altLang="zh-CN" sz="1500" dirty="0"/>
          </a:p>
          <a:p>
            <a:r>
              <a:rPr lang="en-US" altLang="zh-CN" sz="1500" dirty="0"/>
              <a:t>      char *</a:t>
            </a:r>
            <a:r>
              <a:rPr lang="en-US" altLang="zh-CN" sz="1500" dirty="0" err="1"/>
              <a:t>delnum</a:t>
            </a:r>
            <a:r>
              <a:rPr lang="en-US" altLang="zh-CN" sz="1500" dirty="0"/>
              <a:t> (char *s);      </a:t>
            </a:r>
            <a:endParaRPr lang="zh-CN" altLang="zh-CN" sz="1500" dirty="0"/>
          </a:p>
          <a:p>
            <a:r>
              <a:rPr lang="en-US" altLang="zh-CN" sz="1500" dirty="0"/>
              <a:t>      void main()</a:t>
            </a:r>
            <a:endParaRPr lang="zh-CN" altLang="zh-CN" sz="1500" dirty="0"/>
          </a:p>
          <a:p>
            <a:r>
              <a:rPr lang="en-US" altLang="zh-CN" sz="1500" dirty="0"/>
              <a:t>      {</a:t>
            </a:r>
            <a:endParaRPr lang="zh-CN" altLang="zh-CN" sz="1500" dirty="0"/>
          </a:p>
          <a:p>
            <a:r>
              <a:rPr lang="en-US" altLang="zh-CN" sz="1500" dirty="0"/>
              <a:t>        	 char string[80];</a:t>
            </a:r>
            <a:endParaRPr lang="zh-CN" altLang="zh-CN" sz="1500" dirty="0"/>
          </a:p>
          <a:p>
            <a:r>
              <a:rPr lang="en-US" altLang="zh-CN" sz="1500" dirty="0"/>
              <a:t>         	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("input string:\n");</a:t>
            </a:r>
            <a:endParaRPr lang="zh-CN" altLang="zh-CN" sz="1500" dirty="0"/>
          </a:p>
          <a:p>
            <a:r>
              <a:rPr lang="en-US" altLang="zh-CN" sz="1500" dirty="0"/>
              <a:t>         	 gets(string);</a:t>
            </a:r>
            <a:endParaRPr lang="zh-CN" altLang="zh-CN" sz="1500" dirty="0"/>
          </a:p>
          <a:p>
            <a:r>
              <a:rPr lang="en-US" altLang="zh-CN" sz="1500" dirty="0"/>
              <a:t>          	 puts(</a:t>
            </a:r>
            <a:r>
              <a:rPr lang="en-US" altLang="zh-CN" sz="1500" dirty="0" err="1"/>
              <a:t>delnum</a:t>
            </a:r>
            <a:r>
              <a:rPr lang="en-US" altLang="zh-CN" sz="1500" dirty="0"/>
              <a:t>(string));</a:t>
            </a:r>
            <a:endParaRPr lang="zh-CN" altLang="zh-CN" sz="1500" dirty="0"/>
          </a:p>
          <a:p>
            <a:r>
              <a:rPr lang="en-US" altLang="zh-CN" sz="1500" dirty="0"/>
              <a:t>     } </a:t>
            </a:r>
            <a:endParaRPr lang="zh-CN" altLang="en-US" sz="1500" dirty="0"/>
          </a:p>
        </p:txBody>
      </p:sp>
      <p:sp>
        <p:nvSpPr>
          <p:cNvPr id="26" name="矩形 25"/>
          <p:cNvSpPr/>
          <p:nvPr/>
        </p:nvSpPr>
        <p:spPr>
          <a:xfrm>
            <a:off x="4596209" y="2018031"/>
            <a:ext cx="2738264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500" dirty="0"/>
              <a:t> char *</a:t>
            </a:r>
            <a:r>
              <a:rPr lang="en-US" altLang="zh-CN" sz="1500" dirty="0" err="1"/>
              <a:t>delnum</a:t>
            </a:r>
            <a:r>
              <a:rPr lang="en-US" altLang="zh-CN" sz="1500" dirty="0"/>
              <a:t>(char *s)</a:t>
            </a:r>
            <a:endParaRPr lang="zh-CN" altLang="zh-CN" sz="1500" dirty="0"/>
          </a:p>
          <a:p>
            <a:pPr lvl="0"/>
            <a:r>
              <a:rPr lang="en-US" altLang="zh-CN" sz="1500" dirty="0"/>
              <a:t> {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i</a:t>
            </a:r>
            <a:r>
              <a:rPr lang="en-US" altLang="zh-CN" sz="1500" dirty="0"/>
              <a:t>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char *temp = s;    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for(</a:t>
            </a:r>
            <a:r>
              <a:rPr lang="en-US" altLang="zh-CN" sz="1500" dirty="0" err="1"/>
              <a:t>i</a:t>
            </a:r>
            <a:r>
              <a:rPr lang="en-US" altLang="zh-CN" sz="1500" dirty="0"/>
              <a:t>=0; s[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]!='\0';)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{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	     if(s[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]&gt;='0'&amp;&amp;s[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]&lt;='9')</a:t>
            </a:r>
            <a:endParaRPr lang="en-US" altLang="zh-CN" sz="1500" dirty="0"/>
          </a:p>
          <a:p>
            <a:pPr lvl="0"/>
            <a:r>
              <a:rPr lang="en-US" altLang="zh-CN" sz="1500" dirty="0"/>
              <a:t>  		  </a:t>
            </a:r>
            <a:r>
              <a:rPr lang="en-US" altLang="zh-CN" sz="1500" dirty="0" err="1"/>
              <a:t>strcpy</a:t>
            </a:r>
            <a:r>
              <a:rPr lang="en-US" altLang="zh-CN" sz="1500" dirty="0"/>
              <a:t>(s,s+1); </a:t>
            </a:r>
            <a:endParaRPr lang="en-US" altLang="zh-CN" sz="1500" dirty="0"/>
          </a:p>
          <a:p>
            <a:pPr lvl="0"/>
            <a:r>
              <a:rPr lang="en-US" altLang="zh-CN" sz="1500" dirty="0"/>
              <a:t>	     else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  	   s++; </a:t>
            </a:r>
            <a:endParaRPr lang="en-US" altLang="zh-CN" sz="1500" dirty="0"/>
          </a:p>
          <a:p>
            <a:pPr lvl="0"/>
            <a:r>
              <a:rPr lang="en-US" altLang="zh-CN" sz="1500" dirty="0"/>
              <a:t>         }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return temp;</a:t>
            </a:r>
            <a:endParaRPr lang="zh-CN" altLang="zh-CN" sz="1500" dirty="0"/>
          </a:p>
          <a:p>
            <a:pPr lvl="0"/>
            <a:r>
              <a:rPr lang="en-US" altLang="zh-CN" sz="1500" dirty="0"/>
              <a:t> }</a:t>
            </a:r>
            <a:endParaRPr lang="zh-CN" altLang="en-US" sz="1500" dirty="0"/>
          </a:p>
        </p:txBody>
      </p:sp>
      <p:sp>
        <p:nvSpPr>
          <p:cNvPr id="16" name="椭圆 15"/>
          <p:cNvSpPr/>
          <p:nvPr/>
        </p:nvSpPr>
        <p:spPr>
          <a:xfrm>
            <a:off x="1000982" y="2598035"/>
            <a:ext cx="157967" cy="142083"/>
          </a:xfrm>
          <a:prstGeom prst="ellipse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1000982" y="3990660"/>
            <a:ext cx="157967" cy="142083"/>
          </a:xfrm>
          <a:prstGeom prst="ellipse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4403023" y="2115712"/>
            <a:ext cx="157967" cy="142083"/>
          </a:xfrm>
          <a:prstGeom prst="ellipse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 animBg="1"/>
      <p:bldP spid="21" grpId="0" animBg="1"/>
      <p:bldP spid="22" grpId="0" animBg="1"/>
      <p:bldP spid="24" grpId="0"/>
      <p:bldP spid="26" grpId="0"/>
      <p:bldP spid="16" grpId="0" animBg="1"/>
      <p:bldP spid="23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8490" y="184663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7.3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43493" y="161313"/>
            <a:ext cx="6657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——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利用动态内存分配处理单个字符串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9962" y="2470551"/>
            <a:ext cx="8011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分配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80819" y="1533246"/>
            <a:ext cx="1702991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静态内存分配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80818" y="3182677"/>
            <a:ext cx="1702991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动态内存分配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75894" y="2949144"/>
            <a:ext cx="33931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tabLst>
                <a:tab pos="266700" algn="l"/>
              </a:tabLst>
            </a:pPr>
            <a:r>
              <a:rPr lang="en-US" altLang="zh-CN" sz="1600" b="1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void * </a:t>
            </a:r>
            <a:r>
              <a:rPr lang="en-US" altLang="zh-CN" sz="1600" b="1" dirty="0" err="1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malloc</a:t>
            </a:r>
            <a:r>
              <a:rPr lang="en-US" altLang="zh-CN" sz="1600" b="1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(unsigned size);</a:t>
            </a:r>
            <a:endParaRPr lang="en-US" altLang="zh-CN" sz="1600" b="1" dirty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0"/>
              </a:spcAft>
              <a:tabLst>
                <a:tab pos="266700" algn="l"/>
              </a:tabLst>
            </a:pPr>
            <a:r>
              <a:rPr lang="en-US" altLang="zh-CN" sz="1600" b="1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void free (void * </a:t>
            </a:r>
            <a:r>
              <a:rPr lang="en-US" altLang="zh-CN" sz="1600" b="1" dirty="0" err="1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ptr</a:t>
            </a:r>
            <a:r>
              <a:rPr lang="en-US" altLang="zh-CN" sz="1600" b="1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);</a:t>
            </a:r>
            <a:endParaRPr lang="zh-CN" altLang="en-US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左大括号 10"/>
          <p:cNvSpPr/>
          <p:nvPr/>
        </p:nvSpPr>
        <p:spPr>
          <a:xfrm>
            <a:off x="1224115" y="1362075"/>
            <a:ext cx="329278" cy="3571875"/>
          </a:xfrm>
          <a:prstGeom prst="leftBrace">
            <a:avLst>
              <a:gd name="adj1" fmla="val 57716"/>
              <a:gd name="adj2" fmla="val 51498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626754" y="1533246"/>
            <a:ext cx="4572000" cy="45890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编译器在处理程序源代码时（编译时）分配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626754" y="2503226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程序执行时调用运行时刻库函数进行分配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8"/>
          <p:cNvSpPr/>
          <p:nvPr/>
        </p:nvSpPr>
        <p:spPr>
          <a:xfrm>
            <a:off x="1553392" y="5310438"/>
            <a:ext cx="6506463" cy="70706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内存是计算机系统的重要资源之一，必须有效地加以管理以求得最佳使用效率，而动态内存技术是有效管理内存资源的最好方法。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626755" y="3695038"/>
            <a:ext cx="50981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en-US" altLang="zh-CN" sz="16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malloc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函数在堆区中开辟内存空间，并将该内存空间的首地址存放在指针中返回，当该字符串使用完后，应立即用配对的标准库函数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free()</a:t>
            </a:r>
            <a:r>
              <a:rPr lang="zh-CN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释放这一内存空间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9" grpId="0"/>
      <p:bldP spid="11" grpId="0" animBg="1"/>
      <p:bldP spid="12" grpId="0"/>
      <p:bldP spid="13" grpId="0"/>
      <p:bldP spid="15" grpId="0" animBg="1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8490" y="163397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7.3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86025" y="171946"/>
            <a:ext cx="6657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——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利用动态内存分配处理单个字符串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563526" y="1279350"/>
            <a:ext cx="5018867" cy="4845006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12"/>
          <p:cNvSpPr/>
          <p:nvPr/>
        </p:nvSpPr>
        <p:spPr>
          <a:xfrm>
            <a:off x="563526" y="1085133"/>
            <a:ext cx="4295556" cy="364050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7.11  </a:t>
            </a: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删除字符串中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除了前导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外的其他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3"/>
          <p:cNvSpPr/>
          <p:nvPr/>
        </p:nvSpPr>
        <p:spPr>
          <a:xfrm>
            <a:off x="5792415" y="1264186"/>
            <a:ext cx="2943407" cy="4264743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对话气泡: 圆角矩形 16"/>
          <p:cNvSpPr/>
          <p:nvPr/>
        </p:nvSpPr>
        <p:spPr>
          <a:xfrm>
            <a:off x="4363577" y="1881389"/>
            <a:ext cx="1855317" cy="417827"/>
          </a:xfrm>
          <a:prstGeom prst="wedgeRoundRectCallout">
            <a:avLst>
              <a:gd name="adj1" fmla="val 64185"/>
              <a:gd name="adj2" fmla="val 1912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保留前导的*号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4"/>
          <p:cNvSpPr/>
          <p:nvPr/>
        </p:nvSpPr>
        <p:spPr>
          <a:xfrm>
            <a:off x="6325633" y="4875258"/>
            <a:ext cx="2764465" cy="1353092"/>
          </a:xfrm>
          <a:prstGeom prst="roundRect">
            <a:avLst>
              <a:gd name="adj" fmla="val 32355"/>
            </a:avLst>
          </a:prstGeom>
          <a:solidFill>
            <a:srgbClr val="E5FCC2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运行结果：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      Enter a string: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      ****A*BC*DEF**** 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      ****ABCDEF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1069854" y="1406766"/>
            <a:ext cx="4689677" cy="47089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2559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zh-CN" sz="1500" dirty="0">
                <a:latin typeface="+mn-lt"/>
              </a:rPr>
              <a:t>      #include&lt;</a:t>
            </a:r>
            <a:r>
              <a:rPr lang="en-US" altLang="zh-CN" sz="1500" dirty="0" err="1">
                <a:latin typeface="+mn-lt"/>
              </a:rPr>
              <a:t>stdio.h</a:t>
            </a:r>
            <a:r>
              <a:rPr lang="en-US" altLang="zh-CN" sz="1500" dirty="0">
                <a:latin typeface="+mn-lt"/>
              </a:rPr>
              <a:t>&gt;</a:t>
            </a:r>
            <a:endParaRPr lang="en-US" altLang="zh-CN" sz="1500" dirty="0">
              <a:latin typeface="+mn-lt"/>
            </a:endParaRPr>
          </a:p>
          <a:p>
            <a:pPr marR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zh-CN" sz="1500" dirty="0">
                <a:latin typeface="+mn-lt"/>
              </a:rPr>
              <a:t>      #include &lt;</a:t>
            </a:r>
            <a:r>
              <a:rPr lang="en-US" altLang="zh-CN" sz="1500" dirty="0" err="1">
                <a:latin typeface="+mn-lt"/>
              </a:rPr>
              <a:t>stdlib.h</a:t>
            </a:r>
            <a:r>
              <a:rPr lang="en-US" altLang="zh-CN" sz="1500" dirty="0">
                <a:latin typeface="+mn-lt"/>
              </a:rPr>
              <a:t>&gt;</a:t>
            </a:r>
            <a:endParaRPr lang="en-US" altLang="zh-CN" sz="1500" dirty="0">
              <a:latin typeface="+mn-lt"/>
            </a:endParaRPr>
          </a:p>
          <a:p>
            <a:pPr marR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zh-CN" sz="1500" dirty="0">
                <a:latin typeface="+mn-lt"/>
              </a:rPr>
              <a:t>      #include&lt;</a:t>
            </a:r>
            <a:r>
              <a:rPr lang="en-US" altLang="zh-CN" sz="1500" dirty="0" err="1">
                <a:latin typeface="+mn-lt"/>
              </a:rPr>
              <a:t>string.h</a:t>
            </a:r>
            <a:r>
              <a:rPr lang="en-US" altLang="zh-CN" sz="1500" dirty="0">
                <a:latin typeface="+mn-lt"/>
              </a:rPr>
              <a:t>&gt;</a:t>
            </a:r>
            <a:endParaRPr lang="en-US" altLang="zh-CN" sz="1500" dirty="0">
              <a:latin typeface="+mn-lt"/>
            </a:endParaRPr>
          </a:p>
          <a:p>
            <a:pPr marR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zh-CN" sz="1500" dirty="0">
                <a:latin typeface="+mn-lt"/>
              </a:rPr>
              <a:t>      void del(char *</a:t>
            </a:r>
            <a:r>
              <a:rPr lang="en-US" altLang="zh-CN" sz="1500" dirty="0" err="1">
                <a:latin typeface="+mn-lt"/>
              </a:rPr>
              <a:t>s,char</a:t>
            </a:r>
            <a:r>
              <a:rPr lang="en-US" altLang="zh-CN" sz="1500" dirty="0">
                <a:latin typeface="+mn-lt"/>
              </a:rPr>
              <a:t> *p);</a:t>
            </a:r>
            <a:endParaRPr lang="en-US" altLang="zh-CN" sz="1500" dirty="0">
              <a:latin typeface="+mn-lt"/>
            </a:endParaRPr>
          </a:p>
          <a:p>
            <a:pPr marR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zh-CN" sz="1500" dirty="0">
                <a:latin typeface="+mn-lt"/>
              </a:rPr>
              <a:t>      void main()</a:t>
            </a:r>
            <a:endParaRPr lang="en-US" altLang="zh-CN" sz="1500" dirty="0">
              <a:latin typeface="+mn-lt"/>
            </a:endParaRPr>
          </a:p>
          <a:p>
            <a:pPr marR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zh-CN" sz="1500" dirty="0">
                <a:latin typeface="+mn-lt"/>
              </a:rPr>
              <a:t>      {</a:t>
            </a:r>
            <a:endParaRPr lang="en-US" altLang="zh-CN" sz="1500" dirty="0">
              <a:latin typeface="+mn-lt"/>
            </a:endParaRPr>
          </a:p>
          <a:p>
            <a:pPr marR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zh-CN" sz="1500" dirty="0">
                <a:latin typeface="+mn-lt"/>
              </a:rPr>
              <a:t>        	   char </a:t>
            </a:r>
            <a:r>
              <a:rPr lang="en-US" altLang="zh-CN" sz="1500" dirty="0" err="1">
                <a:latin typeface="+mn-lt"/>
              </a:rPr>
              <a:t>str</a:t>
            </a:r>
            <a:r>
              <a:rPr lang="en-US" altLang="zh-CN" sz="1500" dirty="0">
                <a:latin typeface="+mn-lt"/>
              </a:rPr>
              <a:t>[20],*p;</a:t>
            </a:r>
            <a:endParaRPr lang="en-US" altLang="zh-CN" sz="1500" dirty="0">
              <a:latin typeface="+mn-lt"/>
            </a:endParaRPr>
          </a:p>
          <a:p>
            <a:pPr marR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zh-CN" sz="1500" dirty="0">
                <a:latin typeface="+mn-lt"/>
              </a:rPr>
              <a:t>         	   </a:t>
            </a:r>
            <a:r>
              <a:rPr lang="en-US" altLang="zh-CN" sz="1500" dirty="0" err="1">
                <a:latin typeface="+mn-lt"/>
              </a:rPr>
              <a:t>printf</a:t>
            </a:r>
            <a:r>
              <a:rPr lang="en-US" altLang="zh-CN" sz="1500" dirty="0">
                <a:latin typeface="+mn-lt"/>
              </a:rPr>
              <a:t>("Enter a string:\n");</a:t>
            </a:r>
            <a:endParaRPr lang="en-US" altLang="zh-CN" sz="1500" dirty="0">
              <a:latin typeface="+mn-lt"/>
            </a:endParaRPr>
          </a:p>
          <a:p>
            <a:pPr marR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zh-CN" sz="1500" dirty="0">
                <a:latin typeface="+mn-lt"/>
              </a:rPr>
              <a:t>      	   gets(</a:t>
            </a:r>
            <a:r>
              <a:rPr lang="en-US" altLang="zh-CN" sz="1500" dirty="0" err="1">
                <a:latin typeface="+mn-lt"/>
              </a:rPr>
              <a:t>str</a:t>
            </a:r>
            <a:r>
              <a:rPr lang="en-US" altLang="zh-CN" sz="1500" dirty="0">
                <a:latin typeface="+mn-lt"/>
              </a:rPr>
              <a:t>);</a:t>
            </a:r>
            <a:endParaRPr lang="en-US" altLang="zh-CN" sz="1500" dirty="0">
              <a:latin typeface="+mn-lt"/>
            </a:endParaRPr>
          </a:p>
          <a:p>
            <a:pPr marR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zh-CN" sz="1500" dirty="0">
                <a:latin typeface="+mn-lt"/>
              </a:rPr>
              <a:t>             if((p=(char *)</a:t>
            </a:r>
            <a:r>
              <a:rPr lang="en-US" altLang="zh-CN" sz="1500" dirty="0" err="1">
                <a:latin typeface="+mn-lt"/>
              </a:rPr>
              <a:t>malloc</a:t>
            </a:r>
            <a:r>
              <a:rPr lang="en-US" altLang="zh-CN" sz="1500" dirty="0">
                <a:latin typeface="+mn-lt"/>
              </a:rPr>
              <a:t>(</a:t>
            </a:r>
            <a:r>
              <a:rPr lang="en-US" altLang="zh-CN" sz="1500" dirty="0" err="1">
                <a:latin typeface="+mn-lt"/>
              </a:rPr>
              <a:t>strlen</a:t>
            </a:r>
            <a:r>
              <a:rPr lang="en-US" altLang="zh-CN" sz="1500" dirty="0">
                <a:latin typeface="+mn-lt"/>
              </a:rPr>
              <a:t>(</a:t>
            </a:r>
            <a:r>
              <a:rPr lang="en-US" altLang="zh-CN" sz="1500" dirty="0" err="1">
                <a:latin typeface="+mn-lt"/>
              </a:rPr>
              <a:t>str</a:t>
            </a:r>
            <a:r>
              <a:rPr lang="en-US" altLang="zh-CN" sz="1500" dirty="0">
                <a:latin typeface="+mn-lt"/>
              </a:rPr>
              <a:t>)+1))==NULL)   </a:t>
            </a:r>
            <a:endParaRPr lang="zh-CN" altLang="en-US" sz="1500" dirty="0">
              <a:latin typeface="+mn-lt"/>
            </a:endParaRPr>
          </a:p>
          <a:p>
            <a:pPr marR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CN" altLang="en-US" sz="1500" dirty="0">
                <a:latin typeface="+mn-lt"/>
              </a:rPr>
              <a:t>             </a:t>
            </a:r>
            <a:r>
              <a:rPr lang="en-US" altLang="zh-CN" sz="1500" dirty="0">
                <a:latin typeface="+mn-lt"/>
              </a:rPr>
              <a:t>{</a:t>
            </a:r>
            <a:endParaRPr lang="en-US" altLang="zh-CN" sz="1500" dirty="0">
              <a:latin typeface="+mn-lt"/>
            </a:endParaRPr>
          </a:p>
          <a:p>
            <a:pPr marR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zh-CN" sz="1500" dirty="0">
                <a:latin typeface="+mn-lt"/>
              </a:rPr>
              <a:t>           	</a:t>
            </a:r>
            <a:r>
              <a:rPr lang="en-US" altLang="zh-CN" sz="1500" dirty="0" err="1">
                <a:latin typeface="+mn-lt"/>
              </a:rPr>
              <a:t>printf</a:t>
            </a:r>
            <a:r>
              <a:rPr lang="en-US" altLang="zh-CN" sz="1500" dirty="0">
                <a:latin typeface="+mn-lt"/>
              </a:rPr>
              <a:t>("\n not enough memory to allocate 			buffer! ");</a:t>
            </a:r>
            <a:endParaRPr lang="en-US" altLang="zh-CN" sz="1500" dirty="0">
              <a:latin typeface="+mn-lt"/>
            </a:endParaRPr>
          </a:p>
          <a:p>
            <a:pPr marR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zh-CN" sz="1500" dirty="0">
                <a:latin typeface="+mn-lt"/>
              </a:rPr>
              <a:t>          		 exit(1);</a:t>
            </a:r>
            <a:endParaRPr lang="en-US" altLang="zh-CN" sz="1500" dirty="0">
              <a:latin typeface="+mn-lt"/>
            </a:endParaRPr>
          </a:p>
          <a:p>
            <a:pPr marR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zh-CN" sz="1500" dirty="0">
                <a:latin typeface="+mn-lt"/>
              </a:rPr>
              <a:t>        	   }</a:t>
            </a:r>
            <a:endParaRPr lang="en-US" altLang="zh-CN" sz="1500" dirty="0">
              <a:latin typeface="+mn-lt"/>
            </a:endParaRPr>
          </a:p>
          <a:p>
            <a:pPr marR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zh-CN" sz="1500" dirty="0">
                <a:latin typeface="+mn-lt"/>
              </a:rPr>
              <a:t>       	 del(</a:t>
            </a:r>
            <a:r>
              <a:rPr lang="en-US" altLang="zh-CN" sz="1500" dirty="0" err="1">
                <a:latin typeface="+mn-lt"/>
              </a:rPr>
              <a:t>str,p</a:t>
            </a:r>
            <a:r>
              <a:rPr lang="en-US" altLang="zh-CN" sz="1500" dirty="0">
                <a:latin typeface="+mn-lt"/>
              </a:rPr>
              <a:t>);</a:t>
            </a:r>
            <a:endParaRPr lang="en-US" altLang="zh-CN" sz="1500" dirty="0">
              <a:latin typeface="+mn-lt"/>
            </a:endParaRPr>
          </a:p>
          <a:p>
            <a:pPr marR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zh-CN" sz="1500" dirty="0">
                <a:latin typeface="+mn-lt"/>
              </a:rPr>
              <a:t>        	 </a:t>
            </a:r>
            <a:r>
              <a:rPr lang="en-US" altLang="zh-CN" sz="1500" dirty="0" err="1">
                <a:latin typeface="+mn-lt"/>
              </a:rPr>
              <a:t>strcpy</a:t>
            </a:r>
            <a:r>
              <a:rPr lang="en-US" altLang="zh-CN" sz="1500" dirty="0">
                <a:latin typeface="+mn-lt"/>
              </a:rPr>
              <a:t>(</a:t>
            </a:r>
            <a:r>
              <a:rPr lang="en-US" altLang="zh-CN" sz="1500" dirty="0" err="1">
                <a:latin typeface="+mn-lt"/>
              </a:rPr>
              <a:t>str,p</a:t>
            </a:r>
            <a:r>
              <a:rPr lang="en-US" altLang="zh-CN" sz="1500" dirty="0">
                <a:latin typeface="+mn-lt"/>
              </a:rPr>
              <a:t>); free(p);</a:t>
            </a:r>
            <a:endParaRPr lang="en-US" altLang="zh-CN" sz="1500" dirty="0">
              <a:latin typeface="+mn-lt"/>
            </a:endParaRPr>
          </a:p>
          <a:p>
            <a:pPr marR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zh-CN" sz="1500" dirty="0">
                <a:latin typeface="+mn-lt"/>
              </a:rPr>
              <a:t>       	 </a:t>
            </a:r>
            <a:r>
              <a:rPr lang="en-US" altLang="zh-CN" sz="1500" dirty="0" err="1">
                <a:latin typeface="+mn-lt"/>
              </a:rPr>
              <a:t>printf</a:t>
            </a:r>
            <a:r>
              <a:rPr lang="en-US" altLang="zh-CN" sz="1500" dirty="0">
                <a:latin typeface="+mn-lt"/>
              </a:rPr>
              <a:t>("%s\n",</a:t>
            </a:r>
            <a:r>
              <a:rPr lang="en-US" altLang="zh-CN" sz="1500" dirty="0" err="1">
                <a:latin typeface="+mn-lt"/>
              </a:rPr>
              <a:t>str</a:t>
            </a:r>
            <a:r>
              <a:rPr lang="en-US" altLang="zh-CN" sz="1500" dirty="0">
                <a:latin typeface="+mn-lt"/>
              </a:rPr>
              <a:t>);</a:t>
            </a:r>
            <a:endParaRPr lang="en-US" altLang="zh-CN" sz="1500" dirty="0">
              <a:latin typeface="+mn-lt"/>
            </a:endParaRPr>
          </a:p>
          <a:p>
            <a:pPr marR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zh-CN" sz="1500" dirty="0">
                <a:latin typeface="+mn-lt"/>
              </a:rPr>
              <a:t>       	 </a:t>
            </a:r>
            <a:r>
              <a:rPr lang="en-US" altLang="zh-CN" sz="1500" dirty="0" err="1">
                <a:latin typeface="+mn-lt"/>
              </a:rPr>
              <a:t>getch</a:t>
            </a:r>
            <a:r>
              <a:rPr lang="en-US" altLang="zh-CN" sz="1500" dirty="0">
                <a:latin typeface="+mn-lt"/>
              </a:rPr>
              <a:t>();</a:t>
            </a:r>
            <a:endParaRPr lang="en-US" altLang="zh-CN" sz="1500" dirty="0">
              <a:latin typeface="+mn-lt"/>
            </a:endParaRPr>
          </a:p>
          <a:p>
            <a:pPr marR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zh-CN" sz="1500" dirty="0">
                <a:latin typeface="+mn-lt"/>
              </a:rPr>
              <a:t>     }</a:t>
            </a:r>
            <a:endParaRPr lang="en-US" altLang="zh-CN" sz="1500" dirty="0">
              <a:latin typeface="+mn-lt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5983804" y="1365337"/>
            <a:ext cx="2704298" cy="378565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2559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indent="0" eaLnBrk="1" hangingPunct="1"/>
            <a:r>
              <a:rPr lang="en-US" altLang="zh-CN" sz="1500" dirty="0">
                <a:latin typeface="+mn-lt"/>
              </a:rPr>
              <a:t>     void del(char *</a:t>
            </a:r>
            <a:r>
              <a:rPr lang="en-US" altLang="zh-CN" sz="1500" dirty="0" err="1">
                <a:latin typeface="+mn-lt"/>
              </a:rPr>
              <a:t>s,char</a:t>
            </a:r>
            <a:r>
              <a:rPr lang="en-US" altLang="zh-CN" sz="1500" dirty="0">
                <a:latin typeface="+mn-lt"/>
              </a:rPr>
              <a:t> *p)</a:t>
            </a:r>
            <a:endParaRPr lang="en-US" altLang="zh-CN" sz="1500" dirty="0">
              <a:latin typeface="+mn-lt"/>
            </a:endParaRPr>
          </a:p>
          <a:p>
            <a:pPr lvl="0" indent="0" eaLnBrk="1" hangingPunct="1"/>
            <a:r>
              <a:rPr lang="en-US" altLang="zh-CN" sz="1500" dirty="0">
                <a:latin typeface="+mn-lt"/>
              </a:rPr>
              <a:t>     {</a:t>
            </a:r>
            <a:endParaRPr lang="en-US" altLang="zh-CN" sz="1500" dirty="0">
              <a:latin typeface="+mn-lt"/>
            </a:endParaRPr>
          </a:p>
          <a:p>
            <a:pPr lvl="0" indent="0" eaLnBrk="1" hangingPunct="1"/>
            <a:r>
              <a:rPr lang="en-US" altLang="zh-CN" sz="1500" dirty="0">
                <a:latin typeface="+mn-lt"/>
              </a:rPr>
              <a:t>       	 while(*s&amp;&amp;*s=='*') </a:t>
            </a:r>
            <a:endParaRPr lang="en-US" altLang="zh-CN" sz="1500" dirty="0">
              <a:latin typeface="+mn-lt"/>
            </a:endParaRPr>
          </a:p>
          <a:p>
            <a:pPr lvl="0" indent="0" eaLnBrk="1" hangingPunct="1"/>
            <a:r>
              <a:rPr lang="en-US" altLang="zh-CN" sz="1500" dirty="0">
                <a:latin typeface="+mn-lt"/>
              </a:rPr>
              <a:t>	{</a:t>
            </a:r>
            <a:endParaRPr lang="en-US" altLang="zh-CN" sz="1500" dirty="0">
              <a:latin typeface="+mn-lt"/>
            </a:endParaRPr>
          </a:p>
          <a:p>
            <a:pPr lvl="0" indent="0" eaLnBrk="1" hangingPunct="1"/>
            <a:r>
              <a:rPr lang="en-US" altLang="zh-CN" sz="1500" dirty="0">
                <a:latin typeface="+mn-lt"/>
              </a:rPr>
              <a:t>           	*p=*s; p++; s++;</a:t>
            </a:r>
            <a:endParaRPr lang="en-US" altLang="zh-CN" sz="1500" dirty="0">
              <a:latin typeface="+mn-lt"/>
            </a:endParaRPr>
          </a:p>
          <a:p>
            <a:pPr lvl="0" indent="0" eaLnBrk="1" hangingPunct="1"/>
            <a:r>
              <a:rPr lang="en-US" altLang="zh-CN" sz="1500" dirty="0">
                <a:latin typeface="+mn-lt"/>
              </a:rPr>
              <a:t>           }</a:t>
            </a:r>
            <a:endParaRPr lang="en-US" altLang="zh-CN" sz="1500" dirty="0">
              <a:latin typeface="+mn-lt"/>
            </a:endParaRPr>
          </a:p>
          <a:p>
            <a:pPr lvl="0" indent="0" eaLnBrk="1" hangingPunct="1"/>
            <a:r>
              <a:rPr lang="en-US" altLang="zh-CN" sz="1500" dirty="0">
                <a:latin typeface="+mn-lt"/>
              </a:rPr>
              <a:t>        	while(*s)</a:t>
            </a:r>
            <a:endParaRPr lang="zh-CN" altLang="en-US" sz="1500" dirty="0">
              <a:latin typeface="+mn-lt"/>
            </a:endParaRPr>
          </a:p>
          <a:p>
            <a:pPr lvl="0" indent="0" eaLnBrk="1" hangingPunct="1"/>
            <a:r>
              <a:rPr lang="zh-CN" altLang="en-US" sz="1500" dirty="0">
                <a:latin typeface="+mn-lt"/>
              </a:rPr>
              <a:t>        </a:t>
            </a:r>
            <a:r>
              <a:rPr lang="en-US" altLang="zh-CN" sz="1500" dirty="0">
                <a:latin typeface="+mn-lt"/>
              </a:rPr>
              <a:t>	{</a:t>
            </a:r>
            <a:endParaRPr lang="en-US" altLang="zh-CN" sz="1500" dirty="0">
              <a:latin typeface="+mn-lt"/>
            </a:endParaRPr>
          </a:p>
          <a:p>
            <a:pPr lvl="0" indent="0" eaLnBrk="1" hangingPunct="1"/>
            <a:r>
              <a:rPr lang="en-US" altLang="zh-CN" sz="1500" dirty="0">
                <a:latin typeface="+mn-lt"/>
              </a:rPr>
              <a:t>           	if(*s!='*')</a:t>
            </a:r>
            <a:endParaRPr lang="en-US" altLang="zh-CN" sz="1500" dirty="0">
              <a:latin typeface="+mn-lt"/>
            </a:endParaRPr>
          </a:p>
          <a:p>
            <a:pPr lvl="0" indent="0" eaLnBrk="1" hangingPunct="1"/>
            <a:r>
              <a:rPr lang="en-US" altLang="zh-CN" sz="1500" dirty="0">
                <a:latin typeface="+mn-lt"/>
              </a:rPr>
              <a:t>           	{</a:t>
            </a:r>
            <a:endParaRPr lang="en-US" altLang="zh-CN" sz="1500" dirty="0">
              <a:latin typeface="+mn-lt"/>
            </a:endParaRPr>
          </a:p>
          <a:p>
            <a:pPr lvl="0" indent="0" eaLnBrk="1" hangingPunct="1"/>
            <a:r>
              <a:rPr lang="en-US" altLang="zh-CN" sz="1500" dirty="0">
                <a:latin typeface="+mn-lt"/>
              </a:rPr>
              <a:t>              		*p=*s; p++;</a:t>
            </a:r>
            <a:endParaRPr lang="en-US" altLang="zh-CN" sz="1500" dirty="0">
              <a:latin typeface="+mn-lt"/>
            </a:endParaRPr>
          </a:p>
          <a:p>
            <a:pPr lvl="0" indent="0" eaLnBrk="1" hangingPunct="1"/>
            <a:r>
              <a:rPr lang="en-US" altLang="zh-CN" sz="1500" dirty="0">
                <a:latin typeface="+mn-lt"/>
              </a:rPr>
              <a:t>           	}</a:t>
            </a:r>
            <a:endParaRPr lang="en-US" altLang="zh-CN" sz="1500" dirty="0">
              <a:latin typeface="+mn-lt"/>
            </a:endParaRPr>
          </a:p>
          <a:p>
            <a:pPr lvl="0" indent="0" eaLnBrk="1" hangingPunct="1"/>
            <a:r>
              <a:rPr lang="en-US" altLang="zh-CN" sz="1500" dirty="0">
                <a:latin typeface="+mn-lt"/>
              </a:rPr>
              <a:t>          		 s++;</a:t>
            </a:r>
            <a:endParaRPr lang="en-US" altLang="zh-CN" sz="1500" dirty="0">
              <a:latin typeface="+mn-lt"/>
            </a:endParaRPr>
          </a:p>
          <a:p>
            <a:pPr lvl="0" indent="0" eaLnBrk="1" hangingPunct="1"/>
            <a:r>
              <a:rPr lang="en-US" altLang="zh-CN" sz="1500" dirty="0">
                <a:latin typeface="+mn-lt"/>
              </a:rPr>
              <a:t>        	}</a:t>
            </a:r>
            <a:endParaRPr lang="en-US" altLang="zh-CN" sz="1500" dirty="0">
              <a:latin typeface="+mn-lt"/>
            </a:endParaRPr>
          </a:p>
          <a:p>
            <a:pPr lvl="0" indent="0" eaLnBrk="1" hangingPunct="1"/>
            <a:r>
              <a:rPr lang="en-US" altLang="zh-CN" sz="1500" dirty="0">
                <a:latin typeface="+mn-lt"/>
              </a:rPr>
              <a:t>        	*p='\0';</a:t>
            </a:r>
            <a:endParaRPr lang="en-US" altLang="zh-CN" sz="1500" dirty="0">
              <a:latin typeface="+mn-lt"/>
            </a:endParaRPr>
          </a:p>
          <a:p>
            <a:pPr lvl="0" indent="0" eaLnBrk="1" hangingPunct="1"/>
            <a:r>
              <a:rPr lang="en-US" altLang="zh-CN" sz="1500" dirty="0">
                <a:latin typeface="+mn-lt"/>
              </a:rPr>
              <a:t>     }</a:t>
            </a:r>
            <a:endParaRPr lang="en-US" altLang="zh-CN" sz="1500" dirty="0">
              <a:latin typeface="+mn-lt"/>
            </a:endParaRPr>
          </a:p>
        </p:txBody>
      </p:sp>
      <p:sp>
        <p:nvSpPr>
          <p:cNvPr id="18" name="对话气泡: 圆角矩形 16"/>
          <p:cNvSpPr/>
          <p:nvPr/>
        </p:nvSpPr>
        <p:spPr>
          <a:xfrm>
            <a:off x="3815645" y="2902834"/>
            <a:ext cx="1855317" cy="417827"/>
          </a:xfrm>
          <a:prstGeom prst="wedgeRoundRectCallout">
            <a:avLst>
              <a:gd name="adj1" fmla="val -63040"/>
              <a:gd name="adj2" fmla="val 118969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动态内存分配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528199" y="4502651"/>
            <a:ext cx="1892596" cy="745214"/>
            <a:chOff x="4157331" y="2659185"/>
            <a:chExt cx="4093534" cy="1233142"/>
          </a:xfrm>
        </p:grpSpPr>
        <p:sp>
          <p:nvSpPr>
            <p:cNvPr id="8" name="对话气泡: 圆角矩形 14"/>
            <p:cNvSpPr/>
            <p:nvPr/>
          </p:nvSpPr>
          <p:spPr>
            <a:xfrm>
              <a:off x="4157331" y="2659185"/>
              <a:ext cx="4093534" cy="1233142"/>
            </a:xfrm>
            <a:prstGeom prst="wedgeRoundRectCallout">
              <a:avLst>
                <a:gd name="adj1" fmla="val -65646"/>
                <a:gd name="adj2" fmla="val 57193"/>
                <a:gd name="adj3" fmla="val 16667"/>
              </a:avLst>
            </a:prstGeom>
            <a:solidFill>
              <a:srgbClr val="98B4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4375301" y="2659185"/>
              <a:ext cx="3875564" cy="12223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将处理后的字符串占用的内存释放掉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椭圆 14"/>
          <p:cNvSpPr/>
          <p:nvPr/>
        </p:nvSpPr>
        <p:spPr>
          <a:xfrm>
            <a:off x="971259" y="2228174"/>
            <a:ext cx="157967" cy="142083"/>
          </a:xfrm>
          <a:prstGeom prst="ellipse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971259" y="4955803"/>
            <a:ext cx="157967" cy="142083"/>
          </a:xfrm>
          <a:prstGeom prst="ellipse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5916513" y="1480480"/>
            <a:ext cx="157967" cy="142083"/>
          </a:xfrm>
          <a:prstGeom prst="ellipse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1" grpId="0" animBg="1"/>
      <p:bldP spid="16" grpId="0"/>
      <p:bldP spid="17" grpId="0"/>
      <p:bldP spid="18" grpId="0" animBg="1"/>
      <p:bldP spid="15" grpId="0" animBg="1"/>
      <p:bldP spid="19" grpId="0" animBg="1"/>
      <p:bldP spid="2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8490" y="152767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7.4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87200" y="150683"/>
            <a:ext cx="3875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多个字符串的处理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01897" y="1487068"/>
            <a:ext cx="1403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多个字符串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15932" y="4031506"/>
            <a:ext cx="794327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与单个字符串类似的是，一般多个字符串可以利用字符指针数组（动态内存分配）、多维字符数组来处理，而多个常量字符串则可以直接使用字符指针数组处理。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170438" y="1487068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单个字符串</a:t>
            </a:r>
            <a:endParaRPr lang="zh-CN" altLang="en-US" dirty="0"/>
          </a:p>
        </p:txBody>
      </p:sp>
      <p:sp>
        <p:nvSpPr>
          <p:cNvPr id="9" name="圆角矩形 8"/>
          <p:cNvSpPr/>
          <p:nvPr/>
        </p:nvSpPr>
        <p:spPr>
          <a:xfrm>
            <a:off x="2170438" y="2176558"/>
            <a:ext cx="1436960" cy="5026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字符指针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圆角矩形 8"/>
          <p:cNvSpPr/>
          <p:nvPr/>
        </p:nvSpPr>
        <p:spPr>
          <a:xfrm>
            <a:off x="2170438" y="2897293"/>
            <a:ext cx="1436960" cy="5026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字符数组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8"/>
          <p:cNvSpPr/>
          <p:nvPr/>
        </p:nvSpPr>
        <p:spPr>
          <a:xfrm>
            <a:off x="5254272" y="2176558"/>
            <a:ext cx="1608634" cy="50265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字符指针数组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8"/>
          <p:cNvSpPr/>
          <p:nvPr/>
        </p:nvSpPr>
        <p:spPr>
          <a:xfrm>
            <a:off x="5254272" y="2897293"/>
            <a:ext cx="1608634" cy="50265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多维字符数组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箭头: 燕尾形 14"/>
          <p:cNvSpPr/>
          <p:nvPr/>
        </p:nvSpPr>
        <p:spPr>
          <a:xfrm>
            <a:off x="4169410" y="1601884"/>
            <a:ext cx="520700" cy="171450"/>
          </a:xfrm>
          <a:prstGeom prst="notchedRightArrow">
            <a:avLst/>
          </a:prstGeom>
          <a:solidFill>
            <a:srgbClr val="648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燕尾形 16"/>
          <p:cNvSpPr/>
          <p:nvPr/>
        </p:nvSpPr>
        <p:spPr>
          <a:xfrm>
            <a:off x="4169410" y="2330101"/>
            <a:ext cx="520700" cy="171450"/>
          </a:xfrm>
          <a:prstGeom prst="notchedRightArrow">
            <a:avLst/>
          </a:prstGeom>
          <a:solidFill>
            <a:srgbClr val="648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燕尾形 17"/>
          <p:cNvSpPr/>
          <p:nvPr/>
        </p:nvSpPr>
        <p:spPr>
          <a:xfrm>
            <a:off x="4169410" y="3062276"/>
            <a:ext cx="520700" cy="171450"/>
          </a:xfrm>
          <a:prstGeom prst="notchedRightArrow">
            <a:avLst/>
          </a:prstGeom>
          <a:solidFill>
            <a:srgbClr val="648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4" grpId="0"/>
      <p:bldP spid="9" grpId="0" animBg="1"/>
      <p:bldP spid="10" grpId="0" animBg="1"/>
      <p:bldP spid="12" grpId="0" animBg="1"/>
      <p:bldP spid="13" grpId="0" animBg="1"/>
      <p:bldP spid="15" grpId="0" animBg="1"/>
      <p:bldP spid="17" grpId="0" animBg="1"/>
      <p:bldP spid="1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6433" y="1597860"/>
            <a:ext cx="525748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500" dirty="0"/>
              <a:t>      #include &lt;</a:t>
            </a:r>
            <a:r>
              <a:rPr lang="en-US" altLang="zh-CN" sz="1500" dirty="0" err="1"/>
              <a:t>stdio.h</a:t>
            </a:r>
            <a:r>
              <a:rPr lang="en-US" altLang="zh-CN" sz="1500" dirty="0"/>
              <a:t>&gt;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#include &lt;</a:t>
            </a:r>
            <a:r>
              <a:rPr lang="en-US" altLang="zh-CN" sz="1500" dirty="0" err="1"/>
              <a:t>string.h</a:t>
            </a:r>
            <a:r>
              <a:rPr lang="en-US" altLang="zh-CN" sz="1500" dirty="0"/>
              <a:t>&gt;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void </a:t>
            </a:r>
            <a:r>
              <a:rPr lang="en-US" altLang="zh-CN" sz="1500" dirty="0" err="1"/>
              <a:t>sortstr</a:t>
            </a:r>
            <a:r>
              <a:rPr lang="en-US" altLang="zh-CN" sz="1500" dirty="0"/>
              <a:t>(char **v,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n);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void main( )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{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	char *</a:t>
            </a:r>
            <a:r>
              <a:rPr lang="en-US" altLang="zh-CN" sz="1500" dirty="0" err="1"/>
              <a:t>proname</a:t>
            </a:r>
            <a:r>
              <a:rPr lang="en-US" altLang="zh-CN" sz="1500" dirty="0"/>
              <a:t>[ ]={"pascal","basic","</a:t>
            </a:r>
            <a:r>
              <a:rPr lang="en-US" altLang="zh-CN" sz="1500" dirty="0" err="1"/>
              <a:t>cobol</a:t>
            </a:r>
            <a:r>
              <a:rPr lang="en-US" altLang="zh-CN" sz="1500" dirty="0"/>
              <a:t>","</a:t>
            </a:r>
            <a:r>
              <a:rPr lang="en-US" altLang="zh-CN" sz="1500" dirty="0" err="1"/>
              <a:t>prolog","lisp</a:t>
            </a:r>
            <a:r>
              <a:rPr lang="en-US" altLang="zh-CN" sz="1500" dirty="0"/>
              <a:t>"};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	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i</a:t>
            </a:r>
            <a:r>
              <a:rPr lang="en-US" altLang="zh-CN" sz="1500" dirty="0"/>
              <a:t>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	</a:t>
            </a:r>
            <a:r>
              <a:rPr lang="en-US" altLang="zh-CN" sz="1500" dirty="0" err="1"/>
              <a:t>sortstr</a:t>
            </a:r>
            <a:r>
              <a:rPr lang="en-US" altLang="zh-CN" sz="1500" dirty="0"/>
              <a:t>(proname,5);      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	for(</a:t>
            </a:r>
            <a:r>
              <a:rPr lang="en-US" altLang="zh-CN" sz="1500" dirty="0" err="1"/>
              <a:t>i</a:t>
            </a:r>
            <a:r>
              <a:rPr lang="en-US" altLang="zh-CN" sz="1500" dirty="0"/>
              <a:t>=0;i&lt;5;i++) </a:t>
            </a:r>
            <a:endParaRPr lang="en-US" altLang="zh-CN" sz="1500" dirty="0"/>
          </a:p>
          <a:p>
            <a:pPr lvl="0"/>
            <a:r>
              <a:rPr lang="en-US" altLang="zh-CN" sz="1500" dirty="0"/>
              <a:t>		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("%s\n",</a:t>
            </a:r>
            <a:r>
              <a:rPr lang="en-US" altLang="zh-CN" sz="1500" dirty="0" err="1"/>
              <a:t>proname</a:t>
            </a:r>
            <a:r>
              <a:rPr lang="en-US" altLang="zh-CN" sz="1500" dirty="0"/>
              <a:t>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}</a:t>
            </a:r>
            <a:endParaRPr lang="zh-CN" altLang="zh-CN" sz="1500" dirty="0"/>
          </a:p>
          <a:p>
            <a:pPr lvl="0"/>
            <a:endParaRPr lang="zh-CN" altLang="en-US" sz="1500" dirty="0"/>
          </a:p>
        </p:txBody>
      </p:sp>
      <p:sp>
        <p:nvSpPr>
          <p:cNvPr id="2" name="文本框 1"/>
          <p:cNvSpPr txBox="1"/>
          <p:nvPr/>
        </p:nvSpPr>
        <p:spPr>
          <a:xfrm>
            <a:off x="928490" y="152767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7.4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55225" y="180246"/>
            <a:ext cx="6539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利用字符指针数组处理多个常量字符串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7" name="矩形: 圆角 3"/>
          <p:cNvSpPr/>
          <p:nvPr/>
        </p:nvSpPr>
        <p:spPr>
          <a:xfrm>
            <a:off x="297709" y="1487427"/>
            <a:ext cx="5166211" cy="3084574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: 圆角 12"/>
          <p:cNvSpPr/>
          <p:nvPr/>
        </p:nvSpPr>
        <p:spPr>
          <a:xfrm>
            <a:off x="631737" y="1123376"/>
            <a:ext cx="5093000" cy="364050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7.12  </a:t>
            </a: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用字符指针数组处理多个字符串的排序问题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对话气泡: 圆角矩形 16"/>
          <p:cNvSpPr/>
          <p:nvPr/>
        </p:nvSpPr>
        <p:spPr>
          <a:xfrm>
            <a:off x="2880814" y="2064014"/>
            <a:ext cx="1853111" cy="549507"/>
          </a:xfrm>
          <a:prstGeom prst="wedgeRoundRectCallout">
            <a:avLst>
              <a:gd name="adj1" fmla="val -98957"/>
              <a:gd name="adj2" fmla="val 85091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字符指针数组用来存储多个常量字符串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834829" y="1629597"/>
            <a:ext cx="2765682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void </a:t>
            </a:r>
            <a:r>
              <a:rPr lang="en-US" altLang="zh-CN" sz="1500" dirty="0" err="1">
                <a:solidFill>
                  <a:prstClr val="black"/>
                </a:solidFill>
              </a:rPr>
              <a:t>sortstr</a:t>
            </a:r>
            <a:r>
              <a:rPr lang="en-US" altLang="zh-CN" sz="1500" dirty="0">
                <a:solidFill>
                  <a:prstClr val="black"/>
                </a:solidFill>
              </a:rPr>
              <a:t>(char **v, </a:t>
            </a:r>
            <a:r>
              <a:rPr lang="en-US" altLang="zh-CN" sz="1500" dirty="0" err="1">
                <a:solidFill>
                  <a:prstClr val="black"/>
                </a:solidFill>
              </a:rPr>
              <a:t>int</a:t>
            </a:r>
            <a:r>
              <a:rPr lang="en-US" altLang="zh-CN" sz="1500" dirty="0">
                <a:solidFill>
                  <a:prstClr val="black"/>
                </a:solidFill>
              </a:rPr>
              <a:t> n)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{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  </a:t>
            </a:r>
            <a:r>
              <a:rPr lang="en-US" altLang="zh-CN" sz="1500" dirty="0" err="1">
                <a:solidFill>
                  <a:prstClr val="black"/>
                </a:solidFill>
              </a:rPr>
              <a:t>int</a:t>
            </a:r>
            <a:r>
              <a:rPr lang="en-US" altLang="zh-CN" sz="1500" dirty="0">
                <a:solidFill>
                  <a:prstClr val="black"/>
                </a:solidFill>
              </a:rPr>
              <a:t> </a:t>
            </a:r>
            <a:r>
              <a:rPr lang="en-US" altLang="zh-CN" sz="1500" dirty="0" err="1">
                <a:solidFill>
                  <a:prstClr val="black"/>
                </a:solidFill>
              </a:rPr>
              <a:t>i,j</a:t>
            </a:r>
            <a:r>
              <a:rPr lang="en-US" altLang="zh-CN" sz="1500" dirty="0">
                <a:solidFill>
                  <a:prstClr val="black"/>
                </a:solidFill>
              </a:rPr>
              <a:t>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  char * temp;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  for(</a:t>
            </a:r>
            <a:r>
              <a:rPr lang="en-US" altLang="zh-CN" sz="1500" dirty="0" err="1">
                <a:solidFill>
                  <a:prstClr val="black"/>
                </a:solidFill>
              </a:rPr>
              <a:t>i</a:t>
            </a:r>
            <a:r>
              <a:rPr lang="en-US" altLang="zh-CN" sz="1500" dirty="0">
                <a:solidFill>
                  <a:prstClr val="black"/>
                </a:solidFill>
              </a:rPr>
              <a:t>=0;i&lt;n-1;i++)       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       for(j=i+1;j&lt;</a:t>
            </a:r>
            <a:r>
              <a:rPr lang="en-US" altLang="zh-CN" sz="1500" dirty="0" err="1">
                <a:solidFill>
                  <a:prstClr val="black"/>
                </a:solidFill>
              </a:rPr>
              <a:t>n;j</a:t>
            </a:r>
            <a:r>
              <a:rPr lang="en-US" altLang="zh-CN" sz="1500" dirty="0">
                <a:solidFill>
                  <a:prstClr val="black"/>
                </a:solidFill>
              </a:rPr>
              <a:t>++)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       {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	        if(</a:t>
            </a:r>
            <a:r>
              <a:rPr lang="en-US" altLang="zh-CN" sz="1500" dirty="0" err="1">
                <a:solidFill>
                  <a:prstClr val="black"/>
                </a:solidFill>
              </a:rPr>
              <a:t>strcmp</a:t>
            </a:r>
            <a:r>
              <a:rPr lang="en-US" altLang="zh-CN" sz="1500" dirty="0">
                <a:solidFill>
                  <a:prstClr val="black"/>
                </a:solidFill>
              </a:rPr>
              <a:t>(v[</a:t>
            </a:r>
            <a:r>
              <a:rPr lang="en-US" altLang="zh-CN" sz="1500" dirty="0" err="1">
                <a:solidFill>
                  <a:prstClr val="black"/>
                </a:solidFill>
              </a:rPr>
              <a:t>i</a:t>
            </a:r>
            <a:r>
              <a:rPr lang="en-US" altLang="zh-CN" sz="1500" dirty="0">
                <a:solidFill>
                  <a:prstClr val="black"/>
                </a:solidFill>
              </a:rPr>
              <a:t>],v[j])&gt;=0)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             {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         	   temp=v[</a:t>
            </a:r>
            <a:r>
              <a:rPr lang="en-US" altLang="zh-CN" sz="1500" dirty="0" err="1">
                <a:solidFill>
                  <a:prstClr val="black"/>
                </a:solidFill>
              </a:rPr>
              <a:t>i</a:t>
            </a:r>
            <a:r>
              <a:rPr lang="en-US" altLang="zh-CN" sz="1500" dirty="0">
                <a:solidFill>
                  <a:prstClr val="black"/>
                </a:solidFill>
              </a:rPr>
              <a:t>]; 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	   v[</a:t>
            </a:r>
            <a:r>
              <a:rPr lang="en-US" altLang="zh-CN" sz="1500" dirty="0" err="1">
                <a:solidFill>
                  <a:prstClr val="black"/>
                </a:solidFill>
              </a:rPr>
              <a:t>i</a:t>
            </a:r>
            <a:r>
              <a:rPr lang="en-US" altLang="zh-CN" sz="1500" dirty="0">
                <a:solidFill>
                  <a:prstClr val="black"/>
                </a:solidFill>
              </a:rPr>
              <a:t>]=v[j];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          	   v[j]=temp;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             }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       }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}</a:t>
            </a:r>
            <a:endParaRPr lang="zh-CN" altLang="en-US" dirty="0"/>
          </a:p>
        </p:txBody>
      </p:sp>
      <p:sp>
        <p:nvSpPr>
          <p:cNvPr id="18" name="矩形: 圆角 3"/>
          <p:cNvSpPr/>
          <p:nvPr/>
        </p:nvSpPr>
        <p:spPr>
          <a:xfrm>
            <a:off x="5637147" y="1487426"/>
            <a:ext cx="2929585" cy="3820112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矩形: 圆角 4"/>
          <p:cNvSpPr/>
          <p:nvPr/>
        </p:nvSpPr>
        <p:spPr>
          <a:xfrm>
            <a:off x="3297380" y="4171601"/>
            <a:ext cx="2040164" cy="1733107"/>
          </a:xfrm>
          <a:prstGeom prst="roundRect">
            <a:avLst/>
          </a:prstGeom>
          <a:solidFill>
            <a:srgbClr val="E5FCC2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运行结果：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+mj-lt"/>
              </a:rPr>
              <a:t>        </a:t>
            </a:r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basic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        </a:t>
            </a:r>
            <a:r>
              <a:rPr lang="en-US" altLang="zh-CN" dirty="0" err="1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cobol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        lisp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        pascal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        prolog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对话气泡: 圆角矩形 16"/>
          <p:cNvSpPr/>
          <p:nvPr/>
        </p:nvSpPr>
        <p:spPr>
          <a:xfrm>
            <a:off x="6857336" y="2035456"/>
            <a:ext cx="2464064" cy="346662"/>
          </a:xfrm>
          <a:prstGeom prst="wedgeRoundRectCallout">
            <a:avLst>
              <a:gd name="adj1" fmla="val -45661"/>
              <a:gd name="adj2" fmla="val -90855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形参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实质上是一个二级指针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15006" y="2163060"/>
            <a:ext cx="157967" cy="142083"/>
          </a:xfrm>
          <a:prstGeom prst="ellipse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315006" y="3323910"/>
            <a:ext cx="157967" cy="142083"/>
          </a:xfrm>
          <a:prstGeom prst="ellipse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5722456" y="1731137"/>
            <a:ext cx="157967" cy="142083"/>
          </a:xfrm>
          <a:prstGeom prst="ellipse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 animBg="1"/>
      <p:bldP spid="19" grpId="0" animBg="1"/>
      <p:bldP spid="26" grpId="0" animBg="1"/>
      <p:bldP spid="6" grpId="0"/>
      <p:bldP spid="18" grpId="0" animBg="1"/>
      <p:bldP spid="32" grpId="0" animBg="1"/>
      <p:bldP spid="20" grpId="0" animBg="1"/>
      <p:bldP spid="12" grpId="0" animBg="1"/>
      <p:bldP spid="13" grpId="0" animBg="1"/>
      <p:bldP spid="1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8490" y="184663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7.4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03965" y="160753"/>
            <a:ext cx="6501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——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利用多维字符数组处理多个字符串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4" name="矩形: 圆角 3"/>
          <p:cNvSpPr/>
          <p:nvPr/>
        </p:nvSpPr>
        <p:spPr>
          <a:xfrm>
            <a:off x="531625" y="1733101"/>
            <a:ext cx="3149023" cy="4550741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: 圆角 12"/>
          <p:cNvSpPr/>
          <p:nvPr/>
        </p:nvSpPr>
        <p:spPr>
          <a:xfrm>
            <a:off x="539636" y="1195719"/>
            <a:ext cx="4795287" cy="364050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7.13 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使用选择法对输入的字符串进行升序排序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3"/>
          <p:cNvSpPr/>
          <p:nvPr/>
        </p:nvSpPr>
        <p:spPr>
          <a:xfrm>
            <a:off x="4198967" y="1758780"/>
            <a:ext cx="3956205" cy="4412513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对话气泡: 圆角矩形 16"/>
          <p:cNvSpPr/>
          <p:nvPr/>
        </p:nvSpPr>
        <p:spPr>
          <a:xfrm>
            <a:off x="2657298" y="3329884"/>
            <a:ext cx="2227454" cy="609473"/>
          </a:xfrm>
          <a:prstGeom prst="wedgeRoundRectCallout">
            <a:avLst>
              <a:gd name="adj1" fmla="val -51106"/>
              <a:gd name="adj2" fmla="val -95610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数组指针作形参，二维数组名作实参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1626" y="1839832"/>
            <a:ext cx="291421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500" dirty="0"/>
              <a:t>      #include &lt;</a:t>
            </a:r>
            <a:r>
              <a:rPr lang="en-US" altLang="zh-CN" sz="1500" dirty="0" err="1"/>
              <a:t>stdio.h</a:t>
            </a:r>
            <a:r>
              <a:rPr lang="en-US" altLang="zh-CN" sz="1500" dirty="0"/>
              <a:t>&gt;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#include &lt;</a:t>
            </a:r>
            <a:r>
              <a:rPr lang="en-US" altLang="zh-CN" sz="1500" dirty="0" err="1"/>
              <a:t>string.h</a:t>
            </a:r>
            <a:r>
              <a:rPr lang="en-US" altLang="zh-CN" sz="1500" dirty="0"/>
              <a:t>&gt;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void </a:t>
            </a:r>
            <a:r>
              <a:rPr lang="en-US" altLang="zh-CN" sz="1500" dirty="0" err="1"/>
              <a:t>inpstr</a:t>
            </a:r>
            <a:r>
              <a:rPr lang="en-US" altLang="zh-CN" sz="1500" dirty="0"/>
              <a:t>(char (*p)[80],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n); </a:t>
            </a:r>
            <a:endParaRPr lang="en-US" altLang="zh-CN" sz="1500" dirty="0"/>
          </a:p>
          <a:p>
            <a:pPr lvl="0"/>
            <a:r>
              <a:rPr lang="en-US" altLang="zh-CN" sz="1500" dirty="0"/>
              <a:t>      void </a:t>
            </a:r>
            <a:r>
              <a:rPr lang="en-US" altLang="zh-CN" sz="1500" dirty="0" err="1"/>
              <a:t>sortstr</a:t>
            </a:r>
            <a:r>
              <a:rPr lang="en-US" altLang="zh-CN" sz="1500" dirty="0"/>
              <a:t>(char (*p)[80],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n); </a:t>
            </a:r>
            <a:endParaRPr lang="en-US" altLang="zh-CN" sz="1500" dirty="0"/>
          </a:p>
          <a:p>
            <a:pPr lvl="0"/>
            <a:r>
              <a:rPr lang="en-US" altLang="zh-CN" sz="1500" dirty="0"/>
              <a:t>      void </a:t>
            </a:r>
            <a:r>
              <a:rPr lang="en-US" altLang="zh-CN" sz="1500" dirty="0" err="1"/>
              <a:t>outpstr</a:t>
            </a:r>
            <a:r>
              <a:rPr lang="en-US" altLang="zh-CN" sz="1500" dirty="0"/>
              <a:t>(char (*p)[80],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n);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void main()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{</a:t>
            </a:r>
            <a:endParaRPr lang="zh-CN" altLang="zh-CN" sz="1500" dirty="0"/>
          </a:p>
          <a:p>
            <a:pPr lvl="0"/>
            <a:r>
              <a:rPr lang="en-US" altLang="zh-CN" sz="1500" dirty="0"/>
              <a:t>     	    char </a:t>
            </a:r>
            <a:r>
              <a:rPr lang="en-US" altLang="zh-CN" sz="1500" dirty="0" err="1">
                <a:solidFill>
                  <a:srgbClr val="FF0000"/>
                </a:solidFill>
              </a:rPr>
              <a:t>str</a:t>
            </a:r>
            <a:r>
              <a:rPr lang="en-US" altLang="zh-CN" sz="1500" dirty="0"/>
              <a:t>[10][80]; </a:t>
            </a:r>
            <a:endParaRPr lang="en-US" altLang="zh-CN" sz="1500" dirty="0"/>
          </a:p>
          <a:p>
            <a:pPr lvl="0"/>
            <a:r>
              <a:rPr lang="en-US" altLang="zh-CN" sz="1500" dirty="0"/>
              <a:t>	    </a:t>
            </a:r>
            <a:r>
              <a:rPr lang="en-US" altLang="zh-CN" sz="1500" dirty="0" err="1"/>
              <a:t>inpstr</a:t>
            </a:r>
            <a:r>
              <a:rPr lang="en-US" altLang="zh-CN" sz="1500" dirty="0"/>
              <a:t>(str,10);               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	    </a:t>
            </a:r>
            <a:r>
              <a:rPr lang="en-US" altLang="zh-CN" sz="1500" dirty="0" err="1"/>
              <a:t>sortstr</a:t>
            </a:r>
            <a:r>
              <a:rPr lang="en-US" altLang="zh-CN" sz="1500" dirty="0"/>
              <a:t>(str,10);               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	    </a:t>
            </a:r>
            <a:r>
              <a:rPr lang="en-US" altLang="zh-CN" sz="1500" dirty="0" err="1"/>
              <a:t>outpstr</a:t>
            </a:r>
            <a:r>
              <a:rPr lang="en-US" altLang="zh-CN" sz="1500" dirty="0"/>
              <a:t>(str,10);               </a:t>
            </a:r>
            <a:endParaRPr lang="zh-CN" altLang="zh-CN" sz="1500" dirty="0"/>
          </a:p>
          <a:p>
            <a:pPr lvl="0"/>
            <a:r>
              <a:rPr lang="en-US" altLang="zh-CN" sz="1500" dirty="0"/>
              <a:t>     }</a:t>
            </a:r>
            <a:endParaRPr lang="zh-CN" altLang="en-US" sz="1500" dirty="0"/>
          </a:p>
        </p:txBody>
      </p:sp>
      <p:sp>
        <p:nvSpPr>
          <p:cNvPr id="6" name="矩形 5"/>
          <p:cNvSpPr/>
          <p:nvPr/>
        </p:nvSpPr>
        <p:spPr>
          <a:xfrm>
            <a:off x="4433777" y="1956795"/>
            <a:ext cx="354064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500" dirty="0"/>
              <a:t>     void </a:t>
            </a:r>
            <a:r>
              <a:rPr lang="en-US" altLang="zh-CN" sz="1500" dirty="0" err="1"/>
              <a:t>sortstr</a:t>
            </a:r>
            <a:r>
              <a:rPr lang="en-US" altLang="zh-CN" sz="1500" dirty="0"/>
              <a:t>(char</a:t>
            </a:r>
            <a:r>
              <a:rPr lang="en-US" altLang="zh-CN" sz="1500" dirty="0">
                <a:solidFill>
                  <a:srgbClr val="FF0000"/>
                </a:solidFill>
              </a:rPr>
              <a:t> (*p)[80]</a:t>
            </a:r>
            <a:r>
              <a:rPr lang="en-US" altLang="zh-CN" sz="1500" dirty="0"/>
              <a:t>,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n)</a:t>
            </a:r>
            <a:endParaRPr lang="zh-CN" altLang="zh-CN" sz="1500" dirty="0"/>
          </a:p>
          <a:p>
            <a:r>
              <a:rPr lang="en-US" altLang="zh-CN" sz="1500" dirty="0"/>
              <a:t>     {</a:t>
            </a:r>
            <a:endParaRPr lang="zh-CN" altLang="zh-CN" sz="1500" dirty="0"/>
          </a:p>
          <a:p>
            <a:r>
              <a:rPr lang="en-US" altLang="zh-CN" sz="1500" dirty="0"/>
              <a:t>          	 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i,j</a:t>
            </a:r>
            <a:r>
              <a:rPr lang="en-US" altLang="zh-CN" sz="1500" dirty="0"/>
              <a:t>;</a:t>
            </a:r>
            <a:endParaRPr lang="zh-CN" altLang="zh-CN" sz="1500" dirty="0"/>
          </a:p>
          <a:p>
            <a:r>
              <a:rPr lang="en-US" altLang="zh-CN" sz="1500" dirty="0"/>
              <a:t>      	  char temp[80];</a:t>
            </a:r>
            <a:endParaRPr lang="zh-CN" altLang="zh-CN" sz="1500" dirty="0"/>
          </a:p>
          <a:p>
            <a:r>
              <a:rPr lang="en-US" altLang="zh-CN" sz="1500" dirty="0"/>
              <a:t>     	   for(</a:t>
            </a:r>
            <a:r>
              <a:rPr lang="en-US" altLang="zh-CN" sz="1500" dirty="0" err="1"/>
              <a:t>i</a:t>
            </a:r>
            <a:r>
              <a:rPr lang="en-US" altLang="zh-CN" sz="1500" dirty="0"/>
              <a:t>=0;i&lt;n-1;i++) </a:t>
            </a:r>
            <a:endParaRPr lang="en-US" altLang="zh-CN" sz="1500" dirty="0"/>
          </a:p>
          <a:p>
            <a:r>
              <a:rPr lang="en-US" altLang="zh-CN" sz="1500" dirty="0"/>
              <a:t>	      for(j=i+1;j&lt;</a:t>
            </a:r>
            <a:r>
              <a:rPr lang="en-US" altLang="zh-CN" sz="1500" dirty="0" err="1"/>
              <a:t>n;j</a:t>
            </a:r>
            <a:r>
              <a:rPr lang="en-US" altLang="zh-CN" sz="1500" dirty="0"/>
              <a:t>++)</a:t>
            </a:r>
            <a:endParaRPr lang="zh-CN" altLang="zh-CN" sz="1500" dirty="0"/>
          </a:p>
          <a:p>
            <a:r>
              <a:rPr lang="en-US" altLang="zh-CN" sz="1500" dirty="0"/>
              <a:t>                   if(</a:t>
            </a:r>
            <a:r>
              <a:rPr lang="en-US" altLang="zh-CN" sz="1500" dirty="0" err="1"/>
              <a:t>strcmp</a:t>
            </a:r>
            <a:r>
              <a:rPr lang="en-US" altLang="zh-CN" sz="1500" dirty="0"/>
              <a:t>(p[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],p[j])&gt;0)</a:t>
            </a:r>
            <a:endParaRPr lang="en-US" altLang="zh-CN" sz="1500" dirty="0"/>
          </a:p>
          <a:p>
            <a:r>
              <a:rPr lang="en-US" altLang="zh-CN" sz="1500" dirty="0"/>
              <a:t>	        {</a:t>
            </a:r>
            <a:endParaRPr lang="zh-CN" altLang="zh-CN" sz="1500" dirty="0"/>
          </a:p>
          <a:p>
            <a:r>
              <a:rPr lang="en-US" altLang="zh-CN" sz="1500" dirty="0"/>
              <a:t>              	  </a:t>
            </a:r>
            <a:r>
              <a:rPr lang="en-US" altLang="zh-CN" sz="1500" dirty="0" err="1">
                <a:solidFill>
                  <a:srgbClr val="FF0000"/>
                </a:solidFill>
                <a:highlight>
                  <a:srgbClr val="FFFF00"/>
                </a:highlight>
              </a:rPr>
              <a:t>strcpy</a:t>
            </a:r>
            <a:r>
              <a:rPr lang="en-US" altLang="zh-CN" sz="1500" dirty="0">
                <a:solidFill>
                  <a:srgbClr val="FF0000"/>
                </a:solidFill>
              </a:rPr>
              <a:t>(</a:t>
            </a:r>
            <a:r>
              <a:rPr lang="en-US" altLang="zh-CN" sz="1500" dirty="0" err="1">
                <a:solidFill>
                  <a:srgbClr val="FF0000"/>
                </a:solidFill>
              </a:rPr>
              <a:t>temp,p</a:t>
            </a:r>
            <a:r>
              <a:rPr lang="en-US" altLang="zh-CN" sz="1500" dirty="0">
                <a:solidFill>
                  <a:srgbClr val="FF0000"/>
                </a:solidFill>
              </a:rPr>
              <a:t>[</a:t>
            </a:r>
            <a:r>
              <a:rPr lang="en-US" altLang="zh-CN" sz="1500" dirty="0" err="1">
                <a:solidFill>
                  <a:srgbClr val="FF0000"/>
                </a:solidFill>
              </a:rPr>
              <a:t>i</a:t>
            </a:r>
            <a:r>
              <a:rPr lang="en-US" altLang="zh-CN" sz="1500" dirty="0">
                <a:solidFill>
                  <a:srgbClr val="FF0000"/>
                </a:solidFill>
              </a:rPr>
              <a:t>]);   </a:t>
            </a:r>
            <a:endParaRPr lang="en-US" altLang="zh-CN" sz="1500" dirty="0">
              <a:solidFill>
                <a:srgbClr val="FF0000"/>
              </a:solidFill>
            </a:endParaRPr>
          </a:p>
          <a:p>
            <a:r>
              <a:rPr lang="en-US" altLang="zh-CN" sz="1500" dirty="0">
                <a:solidFill>
                  <a:srgbClr val="FF0000"/>
                </a:solidFill>
              </a:rPr>
              <a:t>                	  </a:t>
            </a:r>
            <a:r>
              <a:rPr lang="en-US" altLang="zh-CN" sz="1500" dirty="0" err="1">
                <a:solidFill>
                  <a:srgbClr val="FF0000"/>
                </a:solidFill>
              </a:rPr>
              <a:t>strcpy</a:t>
            </a:r>
            <a:r>
              <a:rPr lang="en-US" altLang="zh-CN" sz="1500" dirty="0">
                <a:solidFill>
                  <a:srgbClr val="FF0000"/>
                </a:solidFill>
              </a:rPr>
              <a:t>(p[</a:t>
            </a:r>
            <a:r>
              <a:rPr lang="en-US" altLang="zh-CN" sz="1500" dirty="0" err="1">
                <a:solidFill>
                  <a:srgbClr val="FF0000"/>
                </a:solidFill>
              </a:rPr>
              <a:t>i</a:t>
            </a:r>
            <a:r>
              <a:rPr lang="en-US" altLang="zh-CN" sz="1500" dirty="0">
                <a:solidFill>
                  <a:srgbClr val="FF0000"/>
                </a:solidFill>
              </a:rPr>
              <a:t>],p[j]);</a:t>
            </a:r>
            <a:endParaRPr lang="zh-CN" altLang="zh-CN" sz="1500" dirty="0">
              <a:solidFill>
                <a:srgbClr val="FF0000"/>
              </a:solidFill>
            </a:endParaRPr>
          </a:p>
          <a:p>
            <a:r>
              <a:rPr lang="en-US" altLang="zh-CN" sz="1500" dirty="0">
                <a:solidFill>
                  <a:srgbClr val="FF0000"/>
                </a:solidFill>
              </a:rPr>
              <a:t>	             </a:t>
            </a:r>
            <a:r>
              <a:rPr lang="en-US" altLang="zh-CN" sz="1500" dirty="0" err="1">
                <a:solidFill>
                  <a:srgbClr val="FF0000"/>
                </a:solidFill>
              </a:rPr>
              <a:t>strcpy</a:t>
            </a:r>
            <a:r>
              <a:rPr lang="en-US" altLang="zh-CN" sz="1500" dirty="0">
                <a:solidFill>
                  <a:srgbClr val="FF0000"/>
                </a:solidFill>
              </a:rPr>
              <a:t>(p[j],temp)</a:t>
            </a:r>
            <a:r>
              <a:rPr lang="en-US" altLang="zh-CN" sz="1500" dirty="0"/>
              <a:t>;</a:t>
            </a:r>
            <a:endParaRPr lang="zh-CN" altLang="zh-CN" sz="1500" dirty="0"/>
          </a:p>
          <a:p>
            <a:r>
              <a:rPr lang="en-US" altLang="zh-CN" sz="1500" dirty="0"/>
              <a:t>                   }</a:t>
            </a:r>
            <a:endParaRPr lang="zh-CN" altLang="zh-CN" sz="1500" dirty="0"/>
          </a:p>
          <a:p>
            <a:r>
              <a:rPr lang="en-US" altLang="zh-CN" sz="1500" dirty="0"/>
              <a:t>     }</a:t>
            </a:r>
            <a:endParaRPr lang="zh-CN" altLang="zh-CN" sz="1500" dirty="0"/>
          </a:p>
          <a:p>
            <a:r>
              <a:rPr lang="en-US" altLang="zh-CN" sz="1500" dirty="0"/>
              <a:t>     void </a:t>
            </a:r>
            <a:r>
              <a:rPr lang="en-US" altLang="zh-CN" sz="1500" dirty="0" err="1"/>
              <a:t>outpstr</a:t>
            </a:r>
            <a:r>
              <a:rPr lang="en-US" altLang="zh-CN" sz="1500" dirty="0"/>
              <a:t>(char (*p)[80],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n)</a:t>
            </a:r>
            <a:endParaRPr lang="zh-CN" altLang="zh-CN" sz="1500" dirty="0"/>
          </a:p>
          <a:p>
            <a:r>
              <a:rPr lang="en-US" altLang="zh-CN" sz="1500" dirty="0"/>
              <a:t>     {</a:t>
            </a:r>
            <a:endParaRPr lang="zh-CN" altLang="zh-CN" sz="1500" dirty="0"/>
          </a:p>
          <a:p>
            <a:r>
              <a:rPr lang="en-US" altLang="zh-CN" sz="1500" dirty="0"/>
              <a:t>        	  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i</a:t>
            </a:r>
            <a:r>
              <a:rPr lang="en-US" altLang="zh-CN" sz="1500" dirty="0"/>
              <a:t>;</a:t>
            </a:r>
            <a:endParaRPr lang="zh-CN" altLang="zh-CN" sz="1500" dirty="0"/>
          </a:p>
          <a:p>
            <a:r>
              <a:rPr lang="en-US" altLang="zh-CN" sz="1500" dirty="0"/>
              <a:t>              for(</a:t>
            </a:r>
            <a:r>
              <a:rPr lang="en-US" altLang="zh-CN" sz="1500" dirty="0" err="1"/>
              <a:t>i</a:t>
            </a:r>
            <a:r>
              <a:rPr lang="en-US" altLang="zh-CN" sz="1500" dirty="0"/>
              <a:t>=0;i&lt;</a:t>
            </a:r>
            <a:r>
              <a:rPr lang="en-US" altLang="zh-CN" sz="1500" dirty="0" err="1"/>
              <a:t>n;i</a:t>
            </a:r>
            <a:r>
              <a:rPr lang="en-US" altLang="zh-CN" sz="1500" dirty="0"/>
              <a:t>++) puts(p[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]);</a:t>
            </a:r>
            <a:endParaRPr lang="zh-CN" altLang="zh-CN" sz="1500" dirty="0"/>
          </a:p>
          <a:p>
            <a:r>
              <a:rPr lang="en-US" altLang="zh-CN" sz="1500" dirty="0"/>
              <a:t>     }</a:t>
            </a:r>
            <a:endParaRPr lang="zh-CN" altLang="zh-CN" sz="1500" dirty="0"/>
          </a:p>
        </p:txBody>
      </p:sp>
      <p:sp>
        <p:nvSpPr>
          <p:cNvPr id="8" name="矩形 7"/>
          <p:cNvSpPr/>
          <p:nvPr/>
        </p:nvSpPr>
        <p:spPr>
          <a:xfrm>
            <a:off x="742907" y="4702154"/>
            <a:ext cx="253278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void </a:t>
            </a:r>
            <a:r>
              <a:rPr lang="en-US" altLang="zh-CN" sz="1500" dirty="0" err="1">
                <a:solidFill>
                  <a:prstClr val="black"/>
                </a:solidFill>
              </a:rPr>
              <a:t>inpstr</a:t>
            </a:r>
            <a:r>
              <a:rPr lang="en-US" altLang="zh-CN" sz="1500" dirty="0">
                <a:solidFill>
                  <a:prstClr val="black"/>
                </a:solidFill>
              </a:rPr>
              <a:t>(char (*p)[80],</a:t>
            </a:r>
            <a:r>
              <a:rPr lang="en-US" altLang="zh-CN" sz="1500" dirty="0" err="1">
                <a:solidFill>
                  <a:prstClr val="black"/>
                </a:solidFill>
              </a:rPr>
              <a:t>int</a:t>
            </a:r>
            <a:r>
              <a:rPr lang="en-US" altLang="zh-CN" sz="1500" dirty="0">
                <a:solidFill>
                  <a:prstClr val="black"/>
                </a:solidFill>
              </a:rPr>
              <a:t> n) {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 </a:t>
            </a:r>
            <a:r>
              <a:rPr lang="en-US" altLang="zh-CN" sz="1500" dirty="0">
                <a:solidFill>
                  <a:prstClr val="black"/>
                </a:solidFill>
                <a:highlight>
                  <a:srgbClr val="FFFF00"/>
                </a:highlight>
              </a:rPr>
              <a:t> </a:t>
            </a:r>
            <a:r>
              <a:rPr lang="en-US" altLang="zh-CN" sz="1500" dirty="0" err="1">
                <a:solidFill>
                  <a:prstClr val="black"/>
                </a:solidFill>
                <a:highlight>
                  <a:srgbClr val="FFFF00"/>
                </a:highlight>
              </a:rPr>
              <a:t>int</a:t>
            </a:r>
            <a:r>
              <a:rPr lang="en-US" altLang="zh-CN" sz="1500" dirty="0">
                <a:solidFill>
                  <a:prstClr val="black"/>
                </a:solidFill>
                <a:highlight>
                  <a:srgbClr val="FFFF00"/>
                </a:highlight>
              </a:rPr>
              <a:t> </a:t>
            </a:r>
            <a:r>
              <a:rPr lang="en-US" altLang="zh-CN" sz="1500" dirty="0" err="1">
                <a:solidFill>
                  <a:prstClr val="black"/>
                </a:solidFill>
                <a:highlight>
                  <a:srgbClr val="FFFF00"/>
                </a:highlight>
              </a:rPr>
              <a:t>i</a:t>
            </a:r>
            <a:r>
              <a:rPr lang="en-US" altLang="zh-CN" sz="1500" dirty="0">
                <a:solidFill>
                  <a:prstClr val="black"/>
                </a:solidFill>
                <a:highlight>
                  <a:srgbClr val="FFFF00"/>
                </a:highlight>
              </a:rPr>
              <a:t>;</a:t>
            </a:r>
            <a:endParaRPr lang="zh-CN" altLang="zh-CN" sz="1500" dirty="0">
              <a:solidFill>
                <a:prstClr val="black"/>
              </a:solidFill>
              <a:highlight>
                <a:srgbClr val="FFFF00"/>
              </a:highlight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  <a:highlight>
                  <a:srgbClr val="FFFF00"/>
                </a:highlight>
              </a:rPr>
              <a:t>        for(</a:t>
            </a:r>
            <a:r>
              <a:rPr lang="en-US" altLang="zh-CN" sz="1500" dirty="0" err="1">
                <a:solidFill>
                  <a:prstClr val="black"/>
                </a:solidFill>
                <a:highlight>
                  <a:srgbClr val="FFFF00"/>
                </a:highlight>
              </a:rPr>
              <a:t>i</a:t>
            </a:r>
            <a:r>
              <a:rPr lang="en-US" altLang="zh-CN" sz="1500" dirty="0">
                <a:solidFill>
                  <a:prstClr val="black"/>
                </a:solidFill>
                <a:highlight>
                  <a:srgbClr val="FFFF00"/>
                </a:highlight>
              </a:rPr>
              <a:t>=0;i&lt;</a:t>
            </a:r>
            <a:r>
              <a:rPr lang="en-US" altLang="zh-CN" sz="1500" dirty="0" err="1">
                <a:solidFill>
                  <a:prstClr val="black"/>
                </a:solidFill>
                <a:highlight>
                  <a:srgbClr val="FFFF00"/>
                </a:highlight>
              </a:rPr>
              <a:t>n;i</a:t>
            </a:r>
            <a:r>
              <a:rPr lang="en-US" altLang="zh-CN" sz="1500" dirty="0">
                <a:solidFill>
                  <a:prstClr val="black"/>
                </a:solidFill>
                <a:highlight>
                  <a:srgbClr val="FFFF00"/>
                </a:highlight>
              </a:rPr>
              <a:t>++)</a:t>
            </a:r>
            <a:endParaRPr lang="zh-CN" altLang="zh-CN" sz="1500" dirty="0">
              <a:solidFill>
                <a:prstClr val="black"/>
              </a:solidFill>
              <a:highlight>
                <a:srgbClr val="FFFF00"/>
              </a:highlight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  <a:highlight>
                  <a:srgbClr val="FFFF00"/>
                </a:highlight>
              </a:rPr>
              <a:t>           gets(p[</a:t>
            </a:r>
            <a:r>
              <a:rPr lang="en-US" altLang="zh-CN" sz="1500" dirty="0" err="1">
                <a:solidFill>
                  <a:prstClr val="black"/>
                </a:solidFill>
                <a:highlight>
                  <a:srgbClr val="FFFF00"/>
                </a:highlight>
              </a:rPr>
              <a:t>i</a:t>
            </a:r>
            <a:r>
              <a:rPr lang="en-US" altLang="zh-CN" sz="1500" dirty="0">
                <a:solidFill>
                  <a:prstClr val="black"/>
                </a:solidFill>
                <a:highlight>
                  <a:srgbClr val="FFFF00"/>
                </a:highlight>
              </a:rPr>
              <a:t>]); </a:t>
            </a:r>
            <a:endParaRPr lang="en-US" altLang="zh-CN" sz="1500" dirty="0">
              <a:solidFill>
                <a:prstClr val="black"/>
              </a:solidFill>
              <a:highlight>
                <a:srgbClr val="FFFF00"/>
              </a:highlight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}</a:t>
            </a:r>
            <a:endParaRPr lang="zh-CN" altLang="zh-CN" sz="1500" dirty="0">
              <a:solidFill>
                <a:prstClr val="black"/>
              </a:solidFill>
            </a:endParaRPr>
          </a:p>
        </p:txBody>
      </p:sp>
      <p:sp>
        <p:nvSpPr>
          <p:cNvPr id="23" name="对话气泡: 圆角矩形 16"/>
          <p:cNvSpPr/>
          <p:nvPr/>
        </p:nvSpPr>
        <p:spPr>
          <a:xfrm>
            <a:off x="6735863" y="2573079"/>
            <a:ext cx="2227454" cy="392333"/>
          </a:xfrm>
          <a:prstGeom prst="wedgeRoundRectCallout">
            <a:avLst>
              <a:gd name="adj1" fmla="val -55402"/>
              <a:gd name="adj2" fmla="val 103269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采用选择法进行排序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619806" y="2410710"/>
            <a:ext cx="157967" cy="142083"/>
          </a:xfrm>
          <a:prstGeom prst="ellipse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619806" y="3762060"/>
            <a:ext cx="157967" cy="142083"/>
          </a:xfrm>
          <a:prstGeom prst="ellipse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19806" y="4804444"/>
            <a:ext cx="157967" cy="142083"/>
          </a:xfrm>
          <a:prstGeom prst="ellipse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417820" y="1130300"/>
            <a:ext cx="3840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指针数组，二级指针：</a:t>
            </a:r>
            <a:r>
              <a:rPr lang="zh-CN" altLang="en-US"/>
              <a:t>提升程序效率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bldLvl="0" animBg="1"/>
      <p:bldP spid="17" grpId="0" animBg="1"/>
      <p:bldP spid="21" grpId="0" animBg="1"/>
      <p:bldP spid="5" grpId="0"/>
      <p:bldP spid="6" grpId="0"/>
      <p:bldP spid="8" grpId="0"/>
      <p:bldP spid="23" grpId="0" animBg="1"/>
      <p:bldP spid="13" grpId="0" animBg="1"/>
      <p:bldP spid="16" grpId="0" animBg="1"/>
      <p:bldP spid="1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8490" y="195297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7.4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03965" y="150121"/>
            <a:ext cx="6501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——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利用多维字符数组处理多个字符串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5" name="矩形: 圆角 12"/>
          <p:cNvSpPr/>
          <p:nvPr/>
        </p:nvSpPr>
        <p:spPr>
          <a:xfrm>
            <a:off x="539636" y="1195719"/>
            <a:ext cx="4795287" cy="364050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7.13 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使用选择法对输入的字符串进行升序排序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: 圆角 4"/>
          <p:cNvSpPr/>
          <p:nvPr/>
        </p:nvSpPr>
        <p:spPr>
          <a:xfrm>
            <a:off x="909082" y="1850064"/>
            <a:ext cx="2929271" cy="3923416"/>
          </a:xfrm>
          <a:prstGeom prst="roundRect">
            <a:avLst>
              <a:gd name="adj" fmla="val 23021"/>
            </a:avLst>
          </a:prstGeom>
          <a:solidFill>
            <a:srgbClr val="E5FCC2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输入：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	publisher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	word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	excel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	access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altLang="zh-CN" dirty="0" err="1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frontpage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	outlook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altLang="zh-CN" dirty="0" err="1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onenote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altLang="zh-CN" dirty="0" err="1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infopath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altLang="zh-CN" dirty="0" err="1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powerpoint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altLang="zh-CN" dirty="0" err="1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visio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矩形: 圆角 4"/>
          <p:cNvSpPr/>
          <p:nvPr/>
        </p:nvSpPr>
        <p:spPr>
          <a:xfrm>
            <a:off x="4375296" y="1850063"/>
            <a:ext cx="2929271" cy="3923416"/>
          </a:xfrm>
          <a:prstGeom prst="roundRect">
            <a:avLst>
              <a:gd name="adj" fmla="val 23021"/>
            </a:avLst>
          </a:prstGeom>
          <a:solidFill>
            <a:srgbClr val="E5FCC2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	access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	excel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altLang="zh-CN" dirty="0" err="1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frontpage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altLang="zh-CN" dirty="0" err="1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infopath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altLang="zh-CN" dirty="0" err="1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onenote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	outlook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altLang="zh-CN" dirty="0" err="1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powerpoint</a:t>
            </a:r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	publisher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altLang="zh-CN" dirty="0" err="1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visio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	word</a:t>
            </a:r>
            <a:endParaRPr lang="zh-CN" altLang="zh-CN" dirty="0">
              <a:solidFill>
                <a:schemeClr val="tx1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8490" y="174032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7.4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86025" y="140049"/>
            <a:ext cx="6657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——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利用动态内存分配处理多个字符串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563526" y="1075331"/>
            <a:ext cx="6889897" cy="5170647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12"/>
          <p:cNvSpPr/>
          <p:nvPr/>
        </p:nvSpPr>
        <p:spPr>
          <a:xfrm>
            <a:off x="3999186" y="1049331"/>
            <a:ext cx="4848446" cy="364050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7.14 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使用冒泡法对输入的字符串进行升序排序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对话气泡: 圆角矩形 16"/>
          <p:cNvSpPr/>
          <p:nvPr/>
        </p:nvSpPr>
        <p:spPr>
          <a:xfrm>
            <a:off x="3999186" y="2188314"/>
            <a:ext cx="2825572" cy="617927"/>
          </a:xfrm>
          <a:prstGeom prst="wedgeRoundRectCallout">
            <a:avLst>
              <a:gd name="adj1" fmla="val -48140"/>
              <a:gd name="adj2" fmla="val 83343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根据字符串长度动态分配内存，并根据字符串长度动态分配内存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28490" y="1087561"/>
            <a:ext cx="6326372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void main()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{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      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i</a:t>
            </a:r>
            <a:r>
              <a:rPr lang="en-US" altLang="zh-CN" sz="1500" dirty="0"/>
              <a:t>;             </a:t>
            </a:r>
            <a:endParaRPr lang="en-US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       char</a:t>
            </a:r>
            <a:r>
              <a:rPr lang="en-US" altLang="zh-CN" sz="1500" dirty="0">
                <a:solidFill>
                  <a:srgbClr val="FF0000"/>
                </a:solidFill>
              </a:rPr>
              <a:t>*</a:t>
            </a:r>
            <a:r>
              <a:rPr lang="en-US" altLang="zh-CN" sz="1500" dirty="0" err="1">
                <a:solidFill>
                  <a:srgbClr val="FF0000"/>
                </a:solidFill>
              </a:rPr>
              <a:t>str</a:t>
            </a:r>
            <a:r>
              <a:rPr lang="en-US" altLang="zh-CN" sz="1500" dirty="0">
                <a:solidFill>
                  <a:srgbClr val="FF0000"/>
                </a:solidFill>
              </a:rPr>
              <a:t>[10]</a:t>
            </a:r>
            <a:r>
              <a:rPr lang="en-US" altLang="zh-CN" sz="1500" dirty="0"/>
              <a:t>={NULL,NULL,NULL,NULL,NULL,NULL,NULL,NULL,NULL,NULL};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       char temp[100];	 </a:t>
            </a:r>
            <a:endParaRPr lang="en-US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       for(</a:t>
            </a:r>
            <a:r>
              <a:rPr lang="en-US" altLang="zh-CN" sz="1500" dirty="0" err="1"/>
              <a:t>i</a:t>
            </a:r>
            <a:r>
              <a:rPr lang="en-US" altLang="zh-CN" sz="1500" dirty="0"/>
              <a:t>=0;i&lt;10;i++)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       {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	     gets(temp);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	     </a:t>
            </a:r>
            <a:r>
              <a:rPr lang="en-US" altLang="zh-CN" sz="1500" dirty="0" err="1">
                <a:solidFill>
                  <a:srgbClr val="FF0000"/>
                </a:solidFill>
              </a:rPr>
              <a:t>str</a:t>
            </a:r>
            <a:r>
              <a:rPr lang="en-US" altLang="zh-CN" sz="1500" dirty="0">
                <a:solidFill>
                  <a:srgbClr val="FF0000"/>
                </a:solidFill>
              </a:rPr>
              <a:t>[</a:t>
            </a:r>
            <a:r>
              <a:rPr lang="en-US" altLang="zh-CN" sz="1500" dirty="0" err="1">
                <a:solidFill>
                  <a:srgbClr val="FF0000"/>
                </a:solidFill>
              </a:rPr>
              <a:t>i</a:t>
            </a:r>
            <a:r>
              <a:rPr lang="en-US" altLang="zh-CN" sz="1500" dirty="0">
                <a:solidFill>
                  <a:srgbClr val="FF0000"/>
                </a:solidFill>
              </a:rPr>
              <a:t>]=(char *)</a:t>
            </a:r>
            <a:r>
              <a:rPr lang="en-US" altLang="zh-CN" sz="1500" dirty="0" err="1">
                <a:solidFill>
                  <a:srgbClr val="FF0000"/>
                </a:solidFill>
              </a:rPr>
              <a:t>malloc</a:t>
            </a:r>
            <a:r>
              <a:rPr lang="en-US" altLang="zh-CN" sz="1500" dirty="0">
                <a:solidFill>
                  <a:srgbClr val="FF0000"/>
                </a:solidFill>
              </a:rPr>
              <a:t>(</a:t>
            </a:r>
            <a:r>
              <a:rPr lang="en-US" altLang="zh-CN" sz="1500" dirty="0" err="1">
                <a:solidFill>
                  <a:srgbClr val="FF0000"/>
                </a:solidFill>
              </a:rPr>
              <a:t>sizeof</a:t>
            </a:r>
            <a:r>
              <a:rPr lang="en-US" altLang="zh-CN" sz="1500" dirty="0">
                <a:solidFill>
                  <a:srgbClr val="FF0000"/>
                </a:solidFill>
              </a:rPr>
              <a:t>(temp)); </a:t>
            </a:r>
            <a:r>
              <a:rPr lang="en-US" altLang="zh-CN" sz="1500" dirty="0"/>
              <a:t>	  </a:t>
            </a:r>
            <a:endParaRPr lang="en-US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	     if(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]==NULL)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              {    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("not enough memory to </a:t>
            </a:r>
            <a:r>
              <a:rPr lang="en-US" altLang="zh-CN" sz="1500" dirty="0" err="1"/>
              <a:t>allocte</a:t>
            </a:r>
            <a:r>
              <a:rPr lang="en-US" altLang="zh-CN" sz="1500" dirty="0"/>
              <a:t> buffer.\n");  exit(1);    }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      	     </a:t>
            </a:r>
            <a:r>
              <a:rPr lang="en-US" altLang="zh-CN" sz="1500" dirty="0" err="1"/>
              <a:t>strcpy</a:t>
            </a:r>
            <a:r>
              <a:rPr lang="en-US" altLang="zh-CN" sz="1500" dirty="0"/>
              <a:t>(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],temp);			  </a:t>
            </a:r>
            <a:endParaRPr lang="en-US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     }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       sort(</a:t>
            </a:r>
            <a:r>
              <a:rPr lang="en-US" altLang="zh-CN" sz="1500" dirty="0">
                <a:solidFill>
                  <a:srgbClr val="FF0000"/>
                </a:solidFill>
              </a:rPr>
              <a:t>str</a:t>
            </a:r>
            <a:r>
              <a:rPr lang="en-US" altLang="zh-CN" sz="1500" dirty="0"/>
              <a:t>,10);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       for(</a:t>
            </a:r>
            <a:r>
              <a:rPr lang="en-US" altLang="zh-CN" sz="1500" dirty="0" err="1"/>
              <a:t>i</a:t>
            </a:r>
            <a:r>
              <a:rPr lang="en-US" altLang="zh-CN" sz="1500" dirty="0"/>
              <a:t>=0;i&lt;10;i++)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	    puts(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]);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       for(</a:t>
            </a:r>
            <a:r>
              <a:rPr lang="en-US" altLang="zh-CN" sz="1500" dirty="0" err="1"/>
              <a:t>i</a:t>
            </a:r>
            <a:r>
              <a:rPr lang="en-US" altLang="zh-CN" sz="1500" dirty="0"/>
              <a:t>=0;i&lt;10;i++)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       {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              if(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]!=NULL)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      	    free(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]);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       }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}</a:t>
            </a:r>
            <a:endParaRPr lang="zh-CN" alt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0" grpId="0" animBg="1"/>
      <p:bldP spid="1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8490" y="142134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7.4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86025" y="225111"/>
            <a:ext cx="6657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——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利用动态内存分配处理多个字符串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1871332" y="1279350"/>
            <a:ext cx="4306186" cy="4845006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12"/>
          <p:cNvSpPr/>
          <p:nvPr/>
        </p:nvSpPr>
        <p:spPr>
          <a:xfrm>
            <a:off x="1020725" y="1085133"/>
            <a:ext cx="4848446" cy="364050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7.14 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使用冒泡法对输入的字符串进行升序排序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对话气泡: 圆角矩形 16"/>
          <p:cNvSpPr/>
          <p:nvPr/>
        </p:nvSpPr>
        <p:spPr>
          <a:xfrm>
            <a:off x="4998649" y="3919480"/>
            <a:ext cx="2529203" cy="617927"/>
          </a:xfrm>
          <a:prstGeom prst="wedgeRoundRectCallout">
            <a:avLst>
              <a:gd name="adj1" fmla="val -62816"/>
              <a:gd name="adj2" fmla="val -21619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排序具体实现的方法是相应指针的互换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16901" y="1588313"/>
            <a:ext cx="3860617" cy="4061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500" dirty="0"/>
              <a:t>void sort(char </a:t>
            </a:r>
            <a:r>
              <a:rPr lang="en-US" altLang="zh-CN" sz="1500" dirty="0">
                <a:highlight>
                  <a:srgbClr val="FFFF00"/>
                </a:highlight>
              </a:rPr>
              <a:t>**</a:t>
            </a:r>
            <a:r>
              <a:rPr lang="en-US" altLang="zh-CN" sz="1500" dirty="0" err="1">
                <a:highlight>
                  <a:srgbClr val="FFFF00"/>
                </a:highlight>
              </a:rPr>
              <a:t>str</a:t>
            </a:r>
            <a:r>
              <a:rPr lang="en-US" altLang="zh-CN" sz="1500" dirty="0" err="1"/>
              <a:t>,int</a:t>
            </a:r>
            <a:r>
              <a:rPr lang="en-US" altLang="zh-CN" sz="1500" dirty="0"/>
              <a:t> n)    </a:t>
            </a:r>
            <a:endParaRPr lang="en-US" altLang="zh-CN" sz="1500" dirty="0"/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{</a:t>
            </a:r>
            <a:endParaRPr lang="zh-CN" altLang="zh-CN" sz="1500" dirty="0"/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	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i,j</a:t>
            </a:r>
            <a:r>
              <a:rPr lang="en-US" altLang="zh-CN" sz="1500" dirty="0"/>
              <a:t>;</a:t>
            </a:r>
            <a:endParaRPr lang="zh-CN" altLang="zh-CN" sz="1500" dirty="0"/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	</a:t>
            </a:r>
            <a:r>
              <a:rPr lang="en-US" altLang="zh-CN" sz="1500" dirty="0">
                <a:solidFill>
                  <a:srgbClr val="FF0000"/>
                </a:solidFill>
              </a:rPr>
              <a:t>char *p</a:t>
            </a:r>
            <a:r>
              <a:rPr lang="en-US" altLang="zh-CN" sz="1500" dirty="0"/>
              <a:t>;</a:t>
            </a:r>
            <a:endParaRPr lang="zh-CN" altLang="zh-CN" sz="1500" dirty="0"/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	for(</a:t>
            </a:r>
            <a:r>
              <a:rPr lang="en-US" altLang="zh-CN" sz="1500" dirty="0" err="1"/>
              <a:t>i</a:t>
            </a:r>
            <a:r>
              <a:rPr lang="en-US" altLang="zh-CN" sz="1500" dirty="0"/>
              <a:t>=0;i&lt;n-1;i++)</a:t>
            </a:r>
            <a:endParaRPr lang="zh-CN" altLang="zh-CN" sz="1500" dirty="0"/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       	{</a:t>
            </a:r>
            <a:endParaRPr lang="zh-CN" altLang="zh-CN" sz="1500" dirty="0"/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	     for(j=0;j&lt;n-1-i;j++)		  		     </a:t>
            </a:r>
            <a:endParaRPr lang="en-US" altLang="zh-CN" sz="1500" dirty="0"/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	     {</a:t>
            </a:r>
            <a:endParaRPr lang="en-US" altLang="zh-CN" sz="1500" dirty="0"/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	 	if(</a:t>
            </a:r>
            <a:r>
              <a:rPr lang="en-US" altLang="zh-CN" sz="1500" dirty="0" err="1"/>
              <a:t>strcmp</a:t>
            </a:r>
            <a:r>
              <a:rPr lang="en-US" altLang="zh-CN" sz="1500" dirty="0"/>
              <a:t>(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[j],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[j+1])&gt;=0)</a:t>
            </a:r>
            <a:endParaRPr lang="zh-CN" altLang="zh-CN" sz="1500" dirty="0"/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		{</a:t>
            </a:r>
            <a:endParaRPr lang="zh-CN" altLang="zh-CN" sz="1500" dirty="0"/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	p</a:t>
            </a:r>
            <a:r>
              <a:rPr lang="zh-CN" altLang="en-US" sz="1500" dirty="0"/>
              <a:t>是指针</a:t>
            </a:r>
            <a:r>
              <a:rPr lang="en-US" altLang="zh-CN" sz="1500" dirty="0"/>
              <a:t>	      </a:t>
            </a:r>
            <a:r>
              <a:rPr lang="en-US" altLang="zh-CN" sz="1500" dirty="0">
                <a:highlight>
                  <a:srgbClr val="FFFF00"/>
                </a:highlight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highlight>
                  <a:srgbClr val="FFFF00"/>
                </a:highlight>
              </a:rPr>
              <a:t>p</a:t>
            </a:r>
            <a:r>
              <a:rPr lang="en-US" altLang="zh-CN" sz="1500" dirty="0">
                <a:highlight>
                  <a:srgbClr val="FFFF00"/>
                </a:highlight>
              </a:rPr>
              <a:t>=</a:t>
            </a:r>
            <a:r>
              <a:rPr lang="en-US" altLang="zh-CN" sz="1500" dirty="0" err="1">
                <a:highlight>
                  <a:srgbClr val="FFFF00"/>
                </a:highlight>
              </a:rPr>
              <a:t>str</a:t>
            </a:r>
            <a:r>
              <a:rPr lang="en-US" altLang="zh-CN" sz="1500" dirty="0">
                <a:highlight>
                  <a:srgbClr val="FFFF00"/>
                </a:highlight>
              </a:rPr>
              <a:t>[j];</a:t>
            </a:r>
            <a:r>
              <a:rPr lang="en-US" altLang="zh-CN" sz="1500" dirty="0"/>
              <a:t>			</a:t>
            </a:r>
            <a:endParaRPr lang="zh-CN" altLang="zh-CN" sz="1500" dirty="0"/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		       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[j]=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[j+1];</a:t>
            </a:r>
            <a:endParaRPr lang="zh-CN" altLang="zh-CN" sz="1500" dirty="0"/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		       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[j+1]=p;  				        </a:t>
            </a:r>
            <a:endParaRPr lang="en-US" altLang="zh-CN" sz="1500" dirty="0"/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		}</a:t>
            </a:r>
            <a:endParaRPr lang="zh-CN" altLang="zh-CN" sz="1500" dirty="0"/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	     }</a:t>
            </a:r>
            <a:endParaRPr lang="zh-CN" altLang="zh-CN" sz="1500" dirty="0"/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       	}</a:t>
            </a:r>
            <a:endParaRPr lang="zh-CN" altLang="zh-CN" sz="1500" dirty="0"/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 }</a:t>
            </a:r>
            <a:endParaRPr lang="zh-CN" altLang="en-US" sz="1500" dirty="0"/>
          </a:p>
        </p:txBody>
      </p:sp>
      <p:sp>
        <p:nvSpPr>
          <p:cNvPr id="9" name="对话气泡: 圆角矩形 16"/>
          <p:cNvSpPr/>
          <p:nvPr/>
        </p:nvSpPr>
        <p:spPr>
          <a:xfrm>
            <a:off x="4661447" y="2413590"/>
            <a:ext cx="2227454" cy="392333"/>
          </a:xfrm>
          <a:prstGeom prst="wedgeRoundRectCallout">
            <a:avLst>
              <a:gd name="adj1" fmla="val -55402"/>
              <a:gd name="adj2" fmla="val 103269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冒泡法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进行排序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4"/>
          <p:cNvSpPr/>
          <p:nvPr/>
        </p:nvSpPr>
        <p:spPr>
          <a:xfrm>
            <a:off x="4998648" y="5443871"/>
            <a:ext cx="4124087" cy="819616"/>
          </a:xfrm>
          <a:prstGeom prst="roundRect">
            <a:avLst/>
          </a:prstGeom>
          <a:solidFill>
            <a:srgbClr val="E5FCC2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运行结果：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+mj-lt"/>
              </a:rPr>
              <a:t>       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运行结果与例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7.13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相类似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0" grpId="0" animBg="1"/>
      <p:bldP spid="6" grpId="0"/>
      <p:bldP spid="9" grpId="0" bldLvl="0" animBg="1"/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8490" y="163397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7.5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6" y="163396"/>
            <a:ext cx="471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带参数的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main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函数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28488" y="1381046"/>
            <a:ext cx="722491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在操作系统状态下，为了执行某个程序而键入的一行字符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852300" y="2013335"/>
            <a:ext cx="33306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  file.txt  file2.txt  &lt;CR&gt;</a:t>
            </a:r>
            <a:endParaRPr lang="zh-CN" alt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43046" y="2468323"/>
            <a:ext cx="723275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命令名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47879" y="2468323"/>
            <a:ext cx="1082348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命令行参数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402260" y="2468323"/>
            <a:ext cx="723275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结束符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82479" y="3385229"/>
            <a:ext cx="3274828" cy="964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tabLst>
                <a:tab pos="630555" algn="l"/>
              </a:tabLst>
            </a:pP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</a:rPr>
              <a:t>int</a:t>
            </a:r>
            <a:r>
              <a:rPr lang="en-US" altLang="zh-CN" dirty="0">
                <a:ea typeface="宋体" panose="02010600030101010101" pitchFamily="2" charset="-122"/>
              </a:rPr>
              <a:t> main(</a:t>
            </a:r>
            <a:r>
              <a:rPr lang="en-US" altLang="zh-CN" dirty="0" err="1">
                <a:ea typeface="宋体" panose="02010600030101010101" pitchFamily="2" charset="-122"/>
              </a:rPr>
              <a:t>int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</a:rPr>
              <a:t>argc</a:t>
            </a:r>
            <a:r>
              <a:rPr lang="en-US" altLang="zh-CN" dirty="0">
                <a:ea typeface="宋体" panose="02010600030101010101" pitchFamily="2" charset="-122"/>
              </a:rPr>
              <a:t>, char *</a:t>
            </a:r>
            <a:r>
              <a:rPr lang="en-US" altLang="zh-CN" dirty="0" err="1">
                <a:ea typeface="宋体" panose="02010600030101010101" pitchFamily="2" charset="-122"/>
              </a:rPr>
              <a:t>argv</a:t>
            </a:r>
            <a:r>
              <a:rPr lang="en-US" altLang="zh-CN" dirty="0">
                <a:ea typeface="宋体" panose="02010600030101010101" pitchFamily="2" charset="-122"/>
              </a:rPr>
              <a:t>[])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ts val="1650"/>
              </a:lnSpc>
              <a:tabLst>
                <a:tab pos="630555" algn="l"/>
              </a:tabLst>
            </a:pPr>
            <a:r>
              <a:rPr lang="en-US" altLang="zh-CN" dirty="0">
                <a:ea typeface="宋体" panose="02010600030101010101" pitchFamily="2" charset="-122"/>
              </a:rPr>
              <a:t> {</a:t>
            </a:r>
            <a:endParaRPr lang="zh-CN" altLang="zh-CN" dirty="0">
              <a:ea typeface="宋体" panose="02010600030101010101" pitchFamily="2" charset="-122"/>
            </a:endParaRPr>
          </a:p>
          <a:p>
            <a:pPr>
              <a:lnSpc>
                <a:spcPts val="1650"/>
              </a:lnSpc>
              <a:tabLst>
                <a:tab pos="630555" algn="l"/>
              </a:tabLst>
            </a:pPr>
            <a:r>
              <a:rPr lang="en-US" altLang="zh-CN" dirty="0">
                <a:ea typeface="宋体" panose="02010600030101010101" pitchFamily="2" charset="-122"/>
              </a:rPr>
              <a:t>     …</a:t>
            </a:r>
            <a:endParaRPr lang="zh-CN" altLang="zh-CN" dirty="0">
              <a:ea typeface="宋体" panose="02010600030101010101" pitchFamily="2" charset="-122"/>
            </a:endParaRPr>
          </a:p>
          <a:p>
            <a:pPr>
              <a:lnSpc>
                <a:spcPts val="1650"/>
              </a:lnSpc>
              <a:tabLst>
                <a:tab pos="630555" algn="l"/>
              </a:tabLst>
            </a:pPr>
            <a:r>
              <a:rPr lang="en-US" altLang="zh-CN" dirty="0">
                <a:ea typeface="宋体" panose="02010600030101010101" pitchFamily="2" charset="-122"/>
              </a:rPr>
              <a:t> }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28487" y="4459353"/>
            <a:ext cx="702488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30555" algn="l"/>
              </a:tabLst>
            </a:pP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argc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的值是命令行中包括命令在内的所有参数的个数之和。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30555" algn="l"/>
              </a:tabLst>
            </a:pP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指针数组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argv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 ]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的各个指针分别指向命令中命令名和各个参数的字符串。其中指针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argv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[0]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总是指向命令名字符串，从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argv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开始依次指向按先后顺序出现的命令行参数字符串。</a:t>
            </a:r>
            <a:endParaRPr lang="zh-CN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1309487" y="3276600"/>
            <a:ext cx="3547820" cy="1182752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3809365" y="295846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指针数组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1" grpId="0"/>
      <p:bldP spid="12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: 圆角 3"/>
          <p:cNvSpPr/>
          <p:nvPr/>
        </p:nvSpPr>
        <p:spPr>
          <a:xfrm>
            <a:off x="382273" y="1735511"/>
            <a:ext cx="3806955" cy="3091673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928490" y="152766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7.5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6" y="152765"/>
            <a:ext cx="471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带参数的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main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函数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4" name="矩形: 圆角 3"/>
          <p:cNvSpPr/>
          <p:nvPr/>
        </p:nvSpPr>
        <p:spPr>
          <a:xfrm>
            <a:off x="4603897" y="1732665"/>
            <a:ext cx="2987749" cy="2382137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: 圆角 12"/>
          <p:cNvSpPr/>
          <p:nvPr/>
        </p:nvSpPr>
        <p:spPr>
          <a:xfrm>
            <a:off x="5272750" y="1450005"/>
            <a:ext cx="3125973" cy="364050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7.15 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打印命令行参数的程序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对话气泡: 圆角矩形 16"/>
          <p:cNvSpPr/>
          <p:nvPr/>
        </p:nvSpPr>
        <p:spPr>
          <a:xfrm>
            <a:off x="6835737" y="3194735"/>
            <a:ext cx="2227454" cy="519923"/>
          </a:xfrm>
          <a:prstGeom prst="wedgeRoundRectCallout">
            <a:avLst>
              <a:gd name="adj1" fmla="val -51583"/>
              <a:gd name="adj2" fmla="val -84873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打印命令行参数，直至遇到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NULL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528474" y="1895444"/>
            <a:ext cx="306317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     #include &lt;</a:t>
            </a:r>
            <a:r>
              <a:rPr lang="en-US" altLang="zh-CN" sz="1500" dirty="0" err="1"/>
              <a:t>stdio.h</a:t>
            </a:r>
            <a:r>
              <a:rPr lang="en-US" altLang="zh-CN" sz="1500" dirty="0"/>
              <a:t>&gt;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     #include &lt;</a:t>
            </a:r>
            <a:r>
              <a:rPr lang="en-US" altLang="zh-CN" sz="1500" dirty="0" err="1"/>
              <a:t>stdlib.h</a:t>
            </a:r>
            <a:r>
              <a:rPr lang="en-US" altLang="zh-CN" sz="1500" dirty="0"/>
              <a:t>&gt;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    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main(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argc</a:t>
            </a:r>
            <a:r>
              <a:rPr lang="en-US" altLang="zh-CN" sz="1500" dirty="0"/>
              <a:t>, char **</a:t>
            </a:r>
            <a:r>
              <a:rPr lang="en-US" altLang="zh-CN" sz="1500" dirty="0" err="1"/>
              <a:t>argv</a:t>
            </a:r>
            <a:r>
              <a:rPr lang="en-US" altLang="zh-CN" sz="1500" dirty="0"/>
              <a:t>)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     {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	while(*++</a:t>
            </a:r>
            <a:r>
              <a:rPr lang="en-US" altLang="zh-CN" sz="1500" dirty="0" err="1"/>
              <a:t>argv</a:t>
            </a:r>
            <a:r>
              <a:rPr lang="en-US" altLang="zh-CN" sz="1500" dirty="0"/>
              <a:t>!=NULL)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        	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("%s\n",*</a:t>
            </a:r>
            <a:r>
              <a:rPr lang="en-US" altLang="zh-CN" sz="1500" dirty="0" err="1"/>
              <a:t>argv</a:t>
            </a:r>
            <a:r>
              <a:rPr lang="en-US" altLang="zh-CN" sz="1500" dirty="0"/>
              <a:t>);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	return 1;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     }</a:t>
            </a:r>
            <a:endParaRPr lang="zh-CN" altLang="en-US" sz="1500" dirty="0"/>
          </a:p>
        </p:txBody>
      </p:sp>
      <p:sp>
        <p:nvSpPr>
          <p:cNvPr id="18" name="矩形 17"/>
          <p:cNvSpPr/>
          <p:nvPr/>
        </p:nvSpPr>
        <p:spPr>
          <a:xfrm>
            <a:off x="502319" y="1895444"/>
            <a:ext cx="384639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630555" algn="l"/>
              </a:tabLst>
            </a:pPr>
            <a:r>
              <a:rPr lang="en-US" altLang="zh-CN" sz="1500" dirty="0"/>
              <a:t>C</a:t>
            </a:r>
            <a:r>
              <a:rPr lang="zh-CN" altLang="zh-CN" sz="1500" dirty="0"/>
              <a:t>语言程序</a:t>
            </a:r>
            <a:r>
              <a:rPr lang="en-US" altLang="zh-CN" sz="1500" dirty="0"/>
              <a:t>test</a:t>
            </a:r>
            <a:r>
              <a:rPr lang="zh-CN" altLang="zh-CN" sz="1500" dirty="0"/>
              <a:t>带有三个命令行参数，</a:t>
            </a:r>
            <a:endParaRPr lang="en-US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630555" algn="l"/>
              </a:tabLst>
            </a:pPr>
            <a:r>
              <a:rPr lang="zh-CN" altLang="zh-CN" sz="1500" dirty="0"/>
              <a:t>其命令行是：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/>
              <a:t>          test </a:t>
            </a:r>
            <a:r>
              <a:rPr lang="en-US" altLang="zh-CN" sz="1500" dirty="0" err="1"/>
              <a:t>progl.c</a:t>
            </a:r>
            <a:r>
              <a:rPr lang="en-US" altLang="zh-CN" sz="1500" dirty="0"/>
              <a:t>  prog2.c  /p  &lt;CR&gt;</a:t>
            </a:r>
            <a:endParaRPr lang="en-US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630555" algn="l"/>
              </a:tabLst>
            </a:pPr>
            <a:r>
              <a:rPr lang="zh-CN" altLang="en-US" sz="1500" dirty="0"/>
              <a:t>则</a:t>
            </a:r>
            <a:r>
              <a:rPr lang="en-US" altLang="zh-CN" sz="1500" dirty="0"/>
              <a:t>     </a:t>
            </a:r>
            <a:r>
              <a:rPr lang="en-US" altLang="zh-CN" sz="1500" dirty="0" err="1"/>
              <a:t>argc</a:t>
            </a:r>
            <a:r>
              <a:rPr lang="zh-CN" altLang="en-US" sz="1500" dirty="0"/>
              <a:t>初始化为</a:t>
            </a:r>
            <a:r>
              <a:rPr lang="en-US" altLang="zh-CN" sz="1500" dirty="0"/>
              <a:t>4</a:t>
            </a:r>
            <a:endParaRPr lang="en-US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630555" algn="l"/>
              </a:tabLst>
            </a:pPr>
            <a:r>
              <a:rPr lang="en-US" altLang="zh-CN" sz="1500" dirty="0"/>
              <a:t>         </a:t>
            </a:r>
            <a:r>
              <a:rPr lang="en-US" altLang="zh-CN" sz="1500" dirty="0" err="1"/>
              <a:t>argv</a:t>
            </a:r>
            <a:r>
              <a:rPr lang="zh-CN" altLang="en-US" sz="1500" dirty="0"/>
              <a:t>初始化为</a:t>
            </a:r>
            <a:endParaRPr lang="en-US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630555" algn="l"/>
              </a:tabLst>
            </a:pPr>
            <a:r>
              <a:rPr lang="en-US" altLang="zh-CN" sz="1500" dirty="0"/>
              <a:t>	</a:t>
            </a:r>
            <a:r>
              <a:rPr lang="en-US" altLang="zh-CN" sz="1500" dirty="0" err="1"/>
              <a:t>argv</a:t>
            </a:r>
            <a:r>
              <a:rPr lang="en-US" altLang="zh-CN" sz="1500" dirty="0"/>
              <a:t>[0]="test";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630555" algn="l"/>
              </a:tabLst>
            </a:pPr>
            <a:r>
              <a:rPr lang="en-US" altLang="zh-CN" sz="1500" dirty="0"/>
              <a:t>	</a:t>
            </a:r>
            <a:r>
              <a:rPr lang="en-US" altLang="zh-CN" sz="1500" dirty="0" err="1"/>
              <a:t>argv</a:t>
            </a:r>
            <a:r>
              <a:rPr lang="en-US" altLang="zh-CN" sz="1500" dirty="0"/>
              <a:t>[1]="</a:t>
            </a:r>
            <a:r>
              <a:rPr lang="en-US" altLang="zh-CN" sz="1500" dirty="0" err="1"/>
              <a:t>progl.c</a:t>
            </a:r>
            <a:r>
              <a:rPr lang="en-US" altLang="zh-CN" sz="1500" dirty="0"/>
              <a:t>";</a:t>
            </a:r>
            <a:endParaRPr lang="en-US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630555" algn="l"/>
              </a:tabLst>
            </a:pPr>
            <a:r>
              <a:rPr lang="en-US" altLang="zh-CN" sz="1500" dirty="0"/>
              <a:t>	</a:t>
            </a:r>
            <a:r>
              <a:rPr lang="en-US" altLang="zh-CN" sz="1500" dirty="0" err="1"/>
              <a:t>argv</a:t>
            </a:r>
            <a:r>
              <a:rPr lang="en-US" altLang="zh-CN" sz="1500" dirty="0"/>
              <a:t>[2]="prog2.c";</a:t>
            </a:r>
            <a:endParaRPr lang="zh-CN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630555" algn="l"/>
              </a:tabLst>
            </a:pPr>
            <a:r>
              <a:rPr lang="en-US" altLang="zh-CN" sz="1500" dirty="0"/>
              <a:t>	</a:t>
            </a:r>
            <a:r>
              <a:rPr lang="en-US" altLang="zh-CN" sz="1500" dirty="0" err="1"/>
              <a:t>argv</a:t>
            </a:r>
            <a:r>
              <a:rPr lang="en-US" altLang="zh-CN" sz="1500" dirty="0"/>
              <a:t>[3]="/p";</a:t>
            </a:r>
            <a:endParaRPr lang="en-US" altLang="zh-CN" sz="1500" dirty="0"/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630555" algn="l"/>
              </a:tabLst>
            </a:pPr>
            <a:r>
              <a:rPr lang="en-US" altLang="zh-CN" sz="1500" dirty="0"/>
              <a:t>	</a:t>
            </a:r>
            <a:r>
              <a:rPr lang="en-US" altLang="zh-CN" sz="1500" dirty="0" err="1"/>
              <a:t>argv</a:t>
            </a:r>
            <a:r>
              <a:rPr lang="en-US" altLang="zh-CN" sz="1500" dirty="0"/>
              <a:t>[4]=0;</a:t>
            </a:r>
            <a:endParaRPr lang="zh-CN" altLang="en-US" sz="1500" dirty="0"/>
          </a:p>
          <a:p>
            <a:pPr>
              <a:lnSpc>
                <a:spcPct val="150000"/>
              </a:lnSpc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0" name="矩形: 圆角 12"/>
          <p:cNvSpPr/>
          <p:nvPr/>
        </p:nvSpPr>
        <p:spPr>
          <a:xfrm>
            <a:off x="670848" y="1450005"/>
            <a:ext cx="796446" cy="364050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对话气泡: 圆角矩形 16"/>
          <p:cNvSpPr/>
          <p:nvPr/>
        </p:nvSpPr>
        <p:spPr>
          <a:xfrm>
            <a:off x="2211141" y="4592767"/>
            <a:ext cx="2647939" cy="659719"/>
          </a:xfrm>
          <a:prstGeom prst="wedgeRoundRectCallout">
            <a:avLst>
              <a:gd name="adj1" fmla="val -51583"/>
              <a:gd name="adj2" fmla="val -84873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最后一个参数是编译系统为了程序处理的方便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4" grpId="0" animBg="1"/>
      <p:bldP spid="15" grpId="0" animBg="1"/>
      <p:bldP spid="16" grpId="0" animBg="1"/>
      <p:bldP spid="17" grpId="0"/>
      <p:bldP spid="18" grpId="0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8490" y="152766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7.6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6" y="152765"/>
            <a:ext cx="471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综合举例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5" name="矩形: 圆角 12"/>
          <p:cNvSpPr/>
          <p:nvPr/>
        </p:nvSpPr>
        <p:spPr>
          <a:xfrm>
            <a:off x="722013" y="1099130"/>
            <a:ext cx="7826563" cy="708405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7.16	</a:t>
            </a: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输入若干个字符串，统计其中各种字符的个数，然后按统计的个数从大到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4*	</a:t>
            </a: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小输出统计结果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36951" y="2179758"/>
            <a:ext cx="7826563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问题分析与设计：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模块划分：</a:t>
            </a:r>
            <a:r>
              <a:rPr lang="zh-CN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该问题可以分成四个功能块：输入、统计、排序和输出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数据结构：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多个字符串采用二维字符数组存储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char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[N][80]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字符种类分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大写字母、小写字母、数字字符、空格、其它字符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，其个数的统计结果存放在一维整型数组中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result[5]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；由于排序输出时需显示相对应的字符种类的名称，将其存放在一二维字符数组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char name[5][20]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  <a:endParaRPr lang="en-US" alt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1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8490" y="152766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7.6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6" y="152765"/>
            <a:ext cx="471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综合举例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5" name="矩形: 圆角 12"/>
          <p:cNvSpPr/>
          <p:nvPr/>
        </p:nvSpPr>
        <p:spPr>
          <a:xfrm>
            <a:off x="722013" y="844124"/>
            <a:ext cx="7826563" cy="708405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7.16	</a:t>
            </a: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输入若干个字符串，统计其中各种字符的个数，然后按统计的个数从大到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小输出统计结果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37955" y="1874648"/>
            <a:ext cx="780429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input(char (*p)[80],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n);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功能：多个字符串的输入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形参：二维字符数组用来传递多个字符串，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用来传递输入字符串的个数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37955" y="5592619"/>
            <a:ext cx="758212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output(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*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presult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n, char (*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pname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)[20]);</a:t>
            </a:r>
            <a:endParaRPr lang="zh-CN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功能：多个字符串的输出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7955" y="2898528"/>
            <a:ext cx="7804298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statistic(char (*p)[80],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n,int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*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presult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功能：统计字符串中各种字符的个数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形参：二维字符数组用来传递多个字符串，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用来传递输入字符串的个数，一维整型数组用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 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来传递各种字符的个数</a:t>
            </a:r>
            <a:endParaRPr lang="zh-CN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37955" y="4245573"/>
            <a:ext cx="7738110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sort(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*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presult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n, char (*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pname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)[20]);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功能：多个字符串的排序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形参：一维整型数组用来传递各种字符的个数，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用来传递字符种类数，二维字符数组用来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 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传递字符种类名称</a:t>
            </a:r>
            <a:endParaRPr lang="zh-CN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7955" y="1589432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函数原型：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" grpId="0"/>
      <p:bldP spid="7" grpId="0"/>
      <p:bldP spid="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26156" y="1753400"/>
            <a:ext cx="5932968" cy="4478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500" dirty="0"/>
              <a:t>      #include &lt;</a:t>
            </a:r>
            <a:r>
              <a:rPr lang="en-US" altLang="zh-CN" sz="1500" dirty="0" err="1"/>
              <a:t>stdio.h</a:t>
            </a:r>
            <a:r>
              <a:rPr lang="en-US" altLang="zh-CN" sz="1500" dirty="0"/>
              <a:t>&gt;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#include &lt;</a:t>
            </a:r>
            <a:r>
              <a:rPr lang="en-US" altLang="zh-CN" sz="1500" dirty="0" err="1"/>
              <a:t>string.h</a:t>
            </a:r>
            <a:r>
              <a:rPr lang="en-US" altLang="zh-CN" sz="1500" dirty="0"/>
              <a:t>&gt;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#define N  10            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void input(char (*p)[80],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n);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void statistic(char (*p)[80],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n,int</a:t>
            </a:r>
            <a:r>
              <a:rPr lang="en-US" altLang="zh-CN" sz="1500" dirty="0"/>
              <a:t> *</a:t>
            </a:r>
            <a:r>
              <a:rPr lang="en-US" altLang="zh-CN" sz="1500" dirty="0" err="1"/>
              <a:t>presult</a:t>
            </a:r>
            <a:r>
              <a:rPr lang="en-US" altLang="zh-CN" sz="1500" dirty="0"/>
              <a:t>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void sort(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*</a:t>
            </a:r>
            <a:r>
              <a:rPr lang="en-US" altLang="zh-CN" sz="1500" dirty="0" err="1"/>
              <a:t>presult</a:t>
            </a:r>
            <a:r>
              <a:rPr lang="en-US" altLang="zh-CN" sz="1500" dirty="0"/>
              <a:t>,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n, char (*</a:t>
            </a:r>
            <a:r>
              <a:rPr lang="en-US" altLang="zh-CN" sz="1500" dirty="0" err="1"/>
              <a:t>pname</a:t>
            </a:r>
            <a:r>
              <a:rPr lang="en-US" altLang="zh-CN" sz="1500" dirty="0"/>
              <a:t>)[20]);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void output(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*</a:t>
            </a:r>
            <a:r>
              <a:rPr lang="en-US" altLang="zh-CN" sz="1500" dirty="0" err="1"/>
              <a:t>presult</a:t>
            </a:r>
            <a:r>
              <a:rPr lang="en-US" altLang="zh-CN" sz="1500" dirty="0"/>
              <a:t>,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n, char (*</a:t>
            </a:r>
            <a:r>
              <a:rPr lang="en-US" altLang="zh-CN" sz="1500" dirty="0" err="1"/>
              <a:t>pname</a:t>
            </a:r>
            <a:r>
              <a:rPr lang="en-US" altLang="zh-CN" sz="1500" dirty="0"/>
              <a:t>)[20]);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void main()</a:t>
            </a:r>
            <a:endParaRPr lang="zh-CN" altLang="zh-CN" sz="1500" dirty="0"/>
          </a:p>
          <a:p>
            <a:pPr lvl="0"/>
            <a:r>
              <a:rPr lang="en-US" altLang="zh-CN" sz="1500" dirty="0"/>
              <a:t>     {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char 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[N][80];         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char name[5][20]=    {"</a:t>
            </a:r>
            <a:r>
              <a:rPr lang="en-US" altLang="zh-CN" sz="1500" dirty="0" err="1"/>
              <a:t>capital","lowercase","digital","space","other</a:t>
            </a:r>
            <a:r>
              <a:rPr lang="en-US" altLang="zh-CN" sz="1500" dirty="0"/>
              <a:t> "};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result[5];            </a:t>
            </a:r>
            <a:endParaRPr lang="zh-CN" altLang="zh-CN" sz="1500" dirty="0"/>
          </a:p>
          <a:p>
            <a:pPr lvl="0"/>
            <a:r>
              <a:rPr lang="en-US" altLang="zh-CN" sz="1500" dirty="0"/>
              <a:t> 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input(</a:t>
            </a:r>
            <a:r>
              <a:rPr lang="en-US" altLang="zh-CN" sz="1500" dirty="0" err="1"/>
              <a:t>str,N</a:t>
            </a:r>
            <a:r>
              <a:rPr lang="en-US" altLang="zh-CN" sz="1500" dirty="0"/>
              <a:t>);               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statistic(</a:t>
            </a:r>
            <a:r>
              <a:rPr lang="en-US" altLang="zh-CN" sz="1500" dirty="0" err="1"/>
              <a:t>str,N,result</a:t>
            </a:r>
            <a:r>
              <a:rPr lang="en-US" altLang="zh-CN" sz="1500" dirty="0"/>
              <a:t>);        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sort(result,5,name);         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output(result,5,name);       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return 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}</a:t>
            </a:r>
            <a:endParaRPr lang="zh-CN" altLang="en-US" sz="1500" dirty="0"/>
          </a:p>
        </p:txBody>
      </p:sp>
      <p:sp>
        <p:nvSpPr>
          <p:cNvPr id="4" name="矩形 3"/>
          <p:cNvSpPr/>
          <p:nvPr/>
        </p:nvSpPr>
        <p:spPr>
          <a:xfrm>
            <a:off x="1124925" y="2488018"/>
            <a:ext cx="116956" cy="935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28490" y="152766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7.6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6" y="152765"/>
            <a:ext cx="471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综合举例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8" name="矩形: 圆角 3"/>
          <p:cNvSpPr/>
          <p:nvPr/>
        </p:nvSpPr>
        <p:spPr>
          <a:xfrm>
            <a:off x="818707" y="1384637"/>
            <a:ext cx="6453963" cy="4846042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: 圆角 12"/>
          <p:cNvSpPr/>
          <p:nvPr/>
        </p:nvSpPr>
        <p:spPr>
          <a:xfrm>
            <a:off x="649582" y="928908"/>
            <a:ext cx="7611916" cy="825362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7.16	</a:t>
            </a: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输入若干个字符串，统计其中各种字符的个数，然后按统计的个数从大到小输出统计结果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对话气泡: 圆角矩形 16"/>
          <p:cNvSpPr/>
          <p:nvPr/>
        </p:nvSpPr>
        <p:spPr>
          <a:xfrm>
            <a:off x="3884987" y="1945638"/>
            <a:ext cx="2647939" cy="425269"/>
          </a:xfrm>
          <a:prstGeom prst="wedgeRoundRectCallout">
            <a:avLst>
              <a:gd name="adj1" fmla="val -98563"/>
              <a:gd name="adj2" fmla="val 50508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宏定义字符串的个数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对话气泡: 圆角矩形 16"/>
          <p:cNvSpPr/>
          <p:nvPr/>
        </p:nvSpPr>
        <p:spPr>
          <a:xfrm>
            <a:off x="3431712" y="5731383"/>
            <a:ext cx="3263948" cy="457168"/>
          </a:xfrm>
          <a:prstGeom prst="wedgeRoundRectCallout">
            <a:avLst>
              <a:gd name="adj1" fmla="val -60240"/>
              <a:gd name="adj2" fmla="val -116948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多个字符串的输入、统计、排序、输出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5637586" y="2488018"/>
            <a:ext cx="1289078" cy="93566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函数声明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5637586" y="4632011"/>
            <a:ext cx="1289078" cy="9819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函数调用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124925" y="4795718"/>
            <a:ext cx="116956" cy="935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 animBg="1"/>
      <p:bldP spid="8" grpId="0" animBg="1"/>
      <p:bldP spid="11" grpId="0" animBg="1"/>
      <p:bldP spid="12" grpId="0" animBg="1"/>
      <p:bldP spid="9" grpId="0" animBg="1"/>
      <p:bldP spid="13" grpId="0" animBg="1"/>
      <p:bldP spid="1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8490" y="152766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7.6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6" y="152765"/>
            <a:ext cx="471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综合举例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8" name="矩形: 圆角 3"/>
          <p:cNvSpPr/>
          <p:nvPr/>
        </p:nvSpPr>
        <p:spPr>
          <a:xfrm>
            <a:off x="252464" y="1299582"/>
            <a:ext cx="3543354" cy="3049140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对话气泡: 圆角矩形 16"/>
          <p:cNvSpPr/>
          <p:nvPr/>
        </p:nvSpPr>
        <p:spPr>
          <a:xfrm>
            <a:off x="6851708" y="1737034"/>
            <a:ext cx="1999353" cy="425269"/>
          </a:xfrm>
          <a:prstGeom prst="wedgeRoundRectCallout">
            <a:avLst>
              <a:gd name="adj1" fmla="val -98563"/>
              <a:gd name="adj2" fmla="val 50508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统计结果初始化为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75591" y="1425802"/>
            <a:ext cx="3324533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500" dirty="0"/>
              <a:t> void input(char (*p)[80],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n)       </a:t>
            </a:r>
            <a:endParaRPr lang="zh-CN" altLang="zh-CN" sz="1500" dirty="0"/>
          </a:p>
          <a:p>
            <a:r>
              <a:rPr lang="en-US" altLang="zh-CN" sz="1500" dirty="0"/>
              <a:t> {</a:t>
            </a:r>
            <a:endParaRPr lang="zh-CN" altLang="zh-CN" sz="1500" dirty="0"/>
          </a:p>
          <a:p>
            <a:r>
              <a:rPr lang="en-US" altLang="zh-CN" sz="1500" dirty="0"/>
              <a:t>      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i</a:t>
            </a:r>
            <a:r>
              <a:rPr lang="en-US" altLang="zh-CN" sz="1500" dirty="0"/>
              <a:t>;</a:t>
            </a:r>
            <a:endParaRPr lang="zh-CN" altLang="zh-CN" sz="1500" dirty="0"/>
          </a:p>
          <a:p>
            <a:r>
              <a:rPr lang="en-US" altLang="zh-CN" sz="1500" dirty="0"/>
              <a:t> </a:t>
            </a:r>
            <a:endParaRPr lang="zh-CN" altLang="zh-CN" sz="1500" dirty="0"/>
          </a:p>
          <a:p>
            <a:r>
              <a:rPr lang="en-US" altLang="zh-CN" sz="1500" dirty="0"/>
              <a:t>       for(</a:t>
            </a:r>
            <a:r>
              <a:rPr lang="en-US" altLang="zh-CN" sz="1500" dirty="0" err="1"/>
              <a:t>i</a:t>
            </a:r>
            <a:r>
              <a:rPr lang="en-US" altLang="zh-CN" sz="1500" dirty="0"/>
              <a:t>=0;i&lt;</a:t>
            </a:r>
            <a:r>
              <a:rPr lang="en-US" altLang="zh-CN" sz="1500" dirty="0" err="1"/>
              <a:t>n;i</a:t>
            </a:r>
            <a:r>
              <a:rPr lang="en-US" altLang="zh-CN" sz="1500" dirty="0"/>
              <a:t>++)</a:t>
            </a:r>
            <a:endParaRPr lang="zh-CN" altLang="zh-CN" sz="1500" dirty="0"/>
          </a:p>
          <a:p>
            <a:r>
              <a:rPr lang="en-US" altLang="zh-CN" sz="1500" dirty="0"/>
              <a:t>       {</a:t>
            </a:r>
            <a:endParaRPr lang="zh-CN" altLang="zh-CN" sz="1500" dirty="0"/>
          </a:p>
          <a:p>
            <a:r>
              <a:rPr lang="en-US" altLang="zh-CN" sz="1500" dirty="0"/>
              <a:t>          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("input %d </a:t>
            </a:r>
            <a:r>
              <a:rPr lang="en-US" altLang="zh-CN" sz="1500" dirty="0" err="1"/>
              <a:t>th</a:t>
            </a:r>
            <a:r>
              <a:rPr lang="en-US" altLang="zh-CN" sz="1500" dirty="0"/>
              <a:t> string:\n",i+1);</a:t>
            </a:r>
            <a:endParaRPr lang="zh-CN" altLang="zh-CN" sz="1500" dirty="0"/>
          </a:p>
          <a:p>
            <a:r>
              <a:rPr lang="en-US" altLang="zh-CN" sz="1500" dirty="0"/>
              <a:t>           gets(p[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]);              </a:t>
            </a:r>
            <a:endParaRPr lang="en-US" altLang="zh-CN" sz="1500" dirty="0"/>
          </a:p>
          <a:p>
            <a:r>
              <a:rPr lang="en-US" altLang="zh-CN" sz="1500" dirty="0"/>
              <a:t>       }</a:t>
            </a:r>
            <a:endParaRPr lang="zh-CN" altLang="zh-CN" sz="1500" dirty="0"/>
          </a:p>
          <a:p>
            <a:r>
              <a:rPr lang="en-US" altLang="zh-CN" sz="1500" dirty="0"/>
              <a:t>       return;</a:t>
            </a:r>
            <a:endParaRPr lang="zh-CN" altLang="zh-CN" sz="1500" dirty="0"/>
          </a:p>
          <a:p>
            <a:r>
              <a:rPr lang="en-US" altLang="zh-CN" sz="1500" dirty="0"/>
              <a:t> }</a:t>
            </a:r>
            <a:endParaRPr lang="zh-CN" altLang="en-US" sz="1500" dirty="0"/>
          </a:p>
        </p:txBody>
      </p:sp>
      <p:sp>
        <p:nvSpPr>
          <p:cNvPr id="13" name="矩形: 圆角 3"/>
          <p:cNvSpPr/>
          <p:nvPr/>
        </p:nvSpPr>
        <p:spPr>
          <a:xfrm>
            <a:off x="4157327" y="952434"/>
            <a:ext cx="4497140" cy="5320775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4326800" y="1102563"/>
            <a:ext cx="3934478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500" dirty="0"/>
              <a:t> void statistic(char (*p)[80],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n,int</a:t>
            </a:r>
            <a:r>
              <a:rPr lang="en-US" altLang="zh-CN" sz="1500" dirty="0"/>
              <a:t> *</a:t>
            </a:r>
            <a:r>
              <a:rPr lang="en-US" altLang="zh-CN" sz="1500" dirty="0" err="1"/>
              <a:t>presult</a:t>
            </a:r>
            <a:r>
              <a:rPr lang="en-US" altLang="zh-CN" sz="1500" dirty="0"/>
              <a:t>)</a:t>
            </a:r>
            <a:endParaRPr lang="zh-CN" altLang="zh-CN" sz="1500" dirty="0"/>
          </a:p>
          <a:p>
            <a:pPr lvl="0"/>
            <a:r>
              <a:rPr lang="en-US" altLang="zh-CN" sz="1500" dirty="0"/>
              <a:t> {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i,j</a:t>
            </a:r>
            <a:r>
              <a:rPr lang="en-US" altLang="zh-CN" sz="1500" dirty="0"/>
              <a:t>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for(</a:t>
            </a:r>
            <a:r>
              <a:rPr lang="en-US" altLang="zh-CN" sz="1500" dirty="0" err="1"/>
              <a:t>i</a:t>
            </a:r>
            <a:r>
              <a:rPr lang="en-US" altLang="zh-CN" sz="1500" dirty="0"/>
              <a:t>=0;i&lt;5;i++)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  </a:t>
            </a:r>
            <a:r>
              <a:rPr lang="en-US" altLang="zh-CN" sz="1500" dirty="0" err="1"/>
              <a:t>presult</a:t>
            </a:r>
            <a:r>
              <a:rPr lang="en-US" altLang="zh-CN" sz="1500" dirty="0"/>
              <a:t>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]=0;           </a:t>
            </a:r>
            <a:endParaRPr lang="en-US" altLang="zh-CN" sz="1500" dirty="0"/>
          </a:p>
          <a:p>
            <a:pPr lvl="0"/>
            <a:r>
              <a:rPr lang="en-US" altLang="zh-CN" sz="1500" dirty="0"/>
              <a:t>        for(</a:t>
            </a:r>
            <a:r>
              <a:rPr lang="en-US" altLang="zh-CN" sz="1500" dirty="0" err="1"/>
              <a:t>i</a:t>
            </a:r>
            <a:r>
              <a:rPr lang="en-US" altLang="zh-CN" sz="1500" dirty="0"/>
              <a:t>=0;i&lt;</a:t>
            </a:r>
            <a:r>
              <a:rPr lang="en-US" altLang="zh-CN" sz="1500" dirty="0" err="1"/>
              <a:t>n;i</a:t>
            </a:r>
            <a:r>
              <a:rPr lang="en-US" altLang="zh-CN" sz="1500" dirty="0"/>
              <a:t>++) </a:t>
            </a:r>
            <a:endParaRPr lang="en-US" altLang="zh-CN" sz="1500" dirty="0"/>
          </a:p>
          <a:p>
            <a:pPr lvl="0"/>
            <a:r>
              <a:rPr lang="en-US" altLang="zh-CN" sz="1500" dirty="0"/>
              <a:t>        {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  for(j=0; p[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][j]!='\0'; </a:t>
            </a:r>
            <a:r>
              <a:rPr lang="en-US" altLang="zh-CN" sz="1500" dirty="0" err="1"/>
              <a:t>j++</a:t>
            </a:r>
            <a:r>
              <a:rPr lang="en-US" altLang="zh-CN" sz="1500" dirty="0"/>
              <a:t>) </a:t>
            </a:r>
            <a:endParaRPr lang="en-US" altLang="zh-CN" sz="1500" dirty="0"/>
          </a:p>
          <a:p>
            <a:pPr lvl="0"/>
            <a:r>
              <a:rPr lang="en-US" altLang="zh-CN" sz="1500" dirty="0"/>
              <a:t>	  {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       if(p[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][j]&gt;= 'A' &amp;&amp; p[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][j]&lt;= 'Z') </a:t>
            </a:r>
            <a:endParaRPr lang="en-US" altLang="zh-CN" sz="1500" dirty="0"/>
          </a:p>
          <a:p>
            <a:pPr lvl="0"/>
            <a:r>
              <a:rPr lang="en-US" altLang="zh-CN" sz="1500" dirty="0"/>
              <a:t>		   </a:t>
            </a:r>
            <a:r>
              <a:rPr lang="en-US" altLang="zh-CN" sz="1500" dirty="0" err="1"/>
              <a:t>presult</a:t>
            </a:r>
            <a:r>
              <a:rPr lang="en-US" altLang="zh-CN" sz="1500" dirty="0"/>
              <a:t>[0]++;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       else if(p[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][j]&gt;= 'a' &amp;&amp; p[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][j]&lt;= 'z' ) </a:t>
            </a:r>
            <a:endParaRPr lang="en-US" altLang="zh-CN" sz="1500" dirty="0"/>
          </a:p>
          <a:p>
            <a:pPr lvl="0"/>
            <a:r>
              <a:rPr lang="en-US" altLang="zh-CN" sz="1500" dirty="0"/>
              <a:t>		   </a:t>
            </a:r>
            <a:r>
              <a:rPr lang="en-US" altLang="zh-CN" sz="1500" dirty="0" err="1"/>
              <a:t>presult</a:t>
            </a:r>
            <a:r>
              <a:rPr lang="en-US" altLang="zh-CN" sz="1500" dirty="0"/>
              <a:t>[1]++; 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       else if(p[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][j]&gt;= '0' &amp;&amp; p[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][j]&lt;= '9' ) </a:t>
            </a:r>
            <a:endParaRPr lang="en-US" altLang="zh-CN" sz="1500" dirty="0"/>
          </a:p>
          <a:p>
            <a:pPr lvl="0"/>
            <a:r>
              <a:rPr lang="en-US" altLang="zh-CN" sz="1500" dirty="0"/>
              <a:t>		   </a:t>
            </a:r>
            <a:r>
              <a:rPr lang="en-US" altLang="zh-CN" sz="1500" dirty="0" err="1"/>
              <a:t>presult</a:t>
            </a:r>
            <a:r>
              <a:rPr lang="en-US" altLang="zh-CN" sz="1500" dirty="0"/>
              <a:t>[2]++;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       else if(p[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][j] == ' ' ) </a:t>
            </a:r>
            <a:endParaRPr lang="en-US" altLang="zh-CN" sz="1500" dirty="0"/>
          </a:p>
          <a:p>
            <a:pPr lvl="0"/>
            <a:r>
              <a:rPr lang="en-US" altLang="zh-CN" sz="1500" dirty="0"/>
              <a:t>		   </a:t>
            </a:r>
            <a:r>
              <a:rPr lang="en-US" altLang="zh-CN" sz="1500" dirty="0" err="1"/>
              <a:t>presult</a:t>
            </a:r>
            <a:r>
              <a:rPr lang="en-US" altLang="zh-CN" sz="1500" dirty="0"/>
              <a:t>[3]++;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       else </a:t>
            </a:r>
            <a:endParaRPr lang="en-US" altLang="zh-CN" sz="1500" dirty="0"/>
          </a:p>
          <a:p>
            <a:pPr lvl="0"/>
            <a:r>
              <a:rPr lang="en-US" altLang="zh-CN" sz="1500" dirty="0"/>
              <a:t>		   </a:t>
            </a:r>
            <a:r>
              <a:rPr lang="en-US" altLang="zh-CN" sz="1500" dirty="0" err="1"/>
              <a:t>presult</a:t>
            </a:r>
            <a:r>
              <a:rPr lang="en-US" altLang="zh-CN" sz="1500" dirty="0"/>
              <a:t>[4]++;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   }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}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}</a:t>
            </a:r>
            <a:endParaRPr lang="zh-CN" altLang="en-US" sz="1500" dirty="0"/>
          </a:p>
        </p:txBody>
      </p:sp>
      <p:sp>
        <p:nvSpPr>
          <p:cNvPr id="14" name="矩形: 圆角 12"/>
          <p:cNvSpPr/>
          <p:nvPr/>
        </p:nvSpPr>
        <p:spPr>
          <a:xfrm>
            <a:off x="649582" y="952434"/>
            <a:ext cx="2285004" cy="408705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多个字符串输入函数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2"/>
          <p:cNvSpPr/>
          <p:nvPr/>
        </p:nvSpPr>
        <p:spPr>
          <a:xfrm>
            <a:off x="6858996" y="721535"/>
            <a:ext cx="2285004" cy="408705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多个字符串统计函数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7" grpId="0"/>
      <p:bldP spid="13" grpId="0" animBg="1"/>
      <p:bldP spid="9" grpId="0"/>
      <p:bldP spid="14" grpId="0" animBg="1"/>
      <p:bldP spid="1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8490" y="152766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7.6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6" y="152765"/>
            <a:ext cx="471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综合举例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8" name="矩形: 圆角 3"/>
          <p:cNvSpPr/>
          <p:nvPr/>
        </p:nvSpPr>
        <p:spPr>
          <a:xfrm>
            <a:off x="4702182" y="1412154"/>
            <a:ext cx="4183896" cy="2851502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对话气泡: 圆角矩形 16"/>
          <p:cNvSpPr/>
          <p:nvPr/>
        </p:nvSpPr>
        <p:spPr>
          <a:xfrm>
            <a:off x="3068271" y="2551813"/>
            <a:ext cx="1426713" cy="355933"/>
          </a:xfrm>
          <a:prstGeom prst="wedgeRoundRectCallout">
            <a:avLst>
              <a:gd name="adj1" fmla="val -89522"/>
              <a:gd name="adj2" fmla="val 44534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选择法排序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3"/>
          <p:cNvSpPr/>
          <p:nvPr/>
        </p:nvSpPr>
        <p:spPr>
          <a:xfrm>
            <a:off x="212648" y="996129"/>
            <a:ext cx="4210496" cy="5320775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矩形: 圆角 12"/>
          <p:cNvSpPr/>
          <p:nvPr/>
        </p:nvSpPr>
        <p:spPr>
          <a:xfrm>
            <a:off x="6420476" y="1204486"/>
            <a:ext cx="2285004" cy="408705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多个字符串输出函数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2"/>
          <p:cNvSpPr/>
          <p:nvPr/>
        </p:nvSpPr>
        <p:spPr>
          <a:xfrm>
            <a:off x="2209980" y="970308"/>
            <a:ext cx="2285004" cy="408705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多个字符串排序函数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1686" y="1404834"/>
            <a:ext cx="4572000" cy="470898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altLang="zh-CN" sz="1500" dirty="0"/>
              <a:t> void sort(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*</a:t>
            </a:r>
            <a:r>
              <a:rPr lang="en-US" altLang="zh-CN" sz="1500" dirty="0" err="1"/>
              <a:t>presult</a:t>
            </a:r>
            <a:r>
              <a:rPr lang="en-US" altLang="zh-CN" sz="1500" dirty="0"/>
              <a:t>,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n, char (*</a:t>
            </a:r>
            <a:r>
              <a:rPr lang="en-US" altLang="zh-CN" sz="1500" dirty="0" err="1"/>
              <a:t>pname</a:t>
            </a:r>
            <a:r>
              <a:rPr lang="en-US" altLang="zh-CN" sz="1500" dirty="0"/>
              <a:t>)[20])</a:t>
            </a:r>
            <a:endParaRPr lang="zh-CN" altLang="zh-CN" sz="1500" dirty="0"/>
          </a:p>
          <a:p>
            <a:pPr lvl="0"/>
            <a:r>
              <a:rPr lang="en-US" altLang="zh-CN" sz="1500" dirty="0"/>
              <a:t> {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i,j</a:t>
            </a:r>
            <a:r>
              <a:rPr lang="en-US" altLang="zh-CN" sz="1500" dirty="0"/>
              <a:t>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temp;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char 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[20];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for(</a:t>
            </a:r>
            <a:r>
              <a:rPr lang="en-US" altLang="zh-CN" sz="1500" dirty="0" err="1"/>
              <a:t>i</a:t>
            </a:r>
            <a:r>
              <a:rPr lang="en-US" altLang="zh-CN" sz="1500" dirty="0"/>
              <a:t>=0;i&lt;n-1;i++)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for(j=i+1;j&lt;</a:t>
            </a:r>
            <a:r>
              <a:rPr lang="en-US" altLang="zh-CN" sz="1500" dirty="0" err="1"/>
              <a:t>n;j</a:t>
            </a:r>
            <a:r>
              <a:rPr lang="en-US" altLang="zh-CN" sz="1500" dirty="0"/>
              <a:t>++)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</a:t>
            </a:r>
            <a:r>
              <a:rPr lang="en-US" altLang="zh-CN" sz="1500" dirty="0">
                <a:solidFill>
                  <a:srgbClr val="FF0000"/>
                </a:solidFill>
              </a:rPr>
              <a:t>  if(</a:t>
            </a:r>
            <a:r>
              <a:rPr lang="en-US" altLang="zh-CN" sz="1500" dirty="0" err="1">
                <a:solidFill>
                  <a:srgbClr val="FF0000"/>
                </a:solidFill>
              </a:rPr>
              <a:t>presult</a:t>
            </a:r>
            <a:r>
              <a:rPr lang="en-US" altLang="zh-CN" sz="1500" dirty="0">
                <a:solidFill>
                  <a:srgbClr val="FF0000"/>
                </a:solidFill>
              </a:rPr>
              <a:t>[</a:t>
            </a:r>
            <a:r>
              <a:rPr lang="en-US" altLang="zh-CN" sz="1500" dirty="0" err="1">
                <a:solidFill>
                  <a:srgbClr val="FF0000"/>
                </a:solidFill>
              </a:rPr>
              <a:t>i</a:t>
            </a:r>
            <a:r>
              <a:rPr lang="en-US" altLang="zh-CN" sz="1500" dirty="0">
                <a:solidFill>
                  <a:srgbClr val="FF0000"/>
                </a:solidFill>
              </a:rPr>
              <a:t>]&lt;</a:t>
            </a:r>
            <a:r>
              <a:rPr lang="en-US" altLang="zh-CN" sz="1500" dirty="0" err="1">
                <a:solidFill>
                  <a:srgbClr val="FF0000"/>
                </a:solidFill>
              </a:rPr>
              <a:t>presult</a:t>
            </a:r>
            <a:r>
              <a:rPr lang="en-US" altLang="zh-CN" sz="1500" dirty="0">
                <a:solidFill>
                  <a:srgbClr val="FF0000"/>
                </a:solidFill>
              </a:rPr>
              <a:t>[j])</a:t>
            </a:r>
            <a:endParaRPr lang="zh-CN" altLang="zh-CN" sz="1500" dirty="0">
              <a:solidFill>
                <a:srgbClr val="FF0000"/>
              </a:solidFill>
            </a:endParaRPr>
          </a:p>
          <a:p>
            <a:pPr lvl="0"/>
            <a:r>
              <a:rPr lang="en-US" altLang="zh-CN" sz="1500" dirty="0"/>
              <a:t>              {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      temp=</a:t>
            </a:r>
            <a:r>
              <a:rPr lang="en-US" altLang="zh-CN" sz="1500" dirty="0" err="1"/>
              <a:t>presult</a:t>
            </a:r>
            <a:r>
              <a:rPr lang="en-US" altLang="zh-CN" sz="1500" dirty="0"/>
              <a:t>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];              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      </a:t>
            </a:r>
            <a:r>
              <a:rPr lang="en-US" altLang="zh-CN" sz="1500" dirty="0" err="1"/>
              <a:t>presult</a:t>
            </a:r>
            <a:r>
              <a:rPr lang="en-US" altLang="zh-CN" sz="1500" dirty="0"/>
              <a:t>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]=</a:t>
            </a:r>
            <a:r>
              <a:rPr lang="en-US" altLang="zh-CN" sz="1500" dirty="0" err="1"/>
              <a:t>presult</a:t>
            </a:r>
            <a:r>
              <a:rPr lang="en-US" altLang="zh-CN" sz="1500" dirty="0"/>
              <a:t>[j];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      </a:t>
            </a:r>
            <a:r>
              <a:rPr lang="en-US" altLang="zh-CN" sz="1500" dirty="0" err="1"/>
              <a:t>presult</a:t>
            </a:r>
            <a:r>
              <a:rPr lang="en-US" altLang="zh-CN" sz="1500" dirty="0"/>
              <a:t>[j]=temp;</a:t>
            </a:r>
            <a:endParaRPr lang="zh-CN" altLang="zh-CN" sz="1500" dirty="0"/>
          </a:p>
          <a:p>
            <a:pPr lvl="0"/>
            <a:r>
              <a:rPr lang="en-US" altLang="zh-CN" sz="1500" dirty="0"/>
              <a:t> 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      </a:t>
            </a:r>
            <a:r>
              <a:rPr lang="en-US" altLang="zh-CN" sz="1500" dirty="0" err="1"/>
              <a:t>strcpy</a:t>
            </a:r>
            <a:r>
              <a:rPr lang="en-US" altLang="zh-CN" sz="1500" dirty="0"/>
              <a:t>(</a:t>
            </a:r>
            <a:r>
              <a:rPr lang="en-US" altLang="zh-CN" sz="1500" dirty="0" err="1"/>
              <a:t>str,pname</a:t>
            </a:r>
            <a:r>
              <a:rPr lang="en-US" altLang="zh-CN" sz="1500" dirty="0"/>
              <a:t>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]);          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      </a:t>
            </a:r>
            <a:r>
              <a:rPr lang="en-US" altLang="zh-CN" sz="1500" dirty="0" err="1"/>
              <a:t>strcpy</a:t>
            </a:r>
            <a:r>
              <a:rPr lang="en-US" altLang="zh-CN" sz="1500" dirty="0"/>
              <a:t>(</a:t>
            </a:r>
            <a:r>
              <a:rPr lang="en-US" altLang="zh-CN" sz="1500" dirty="0" err="1"/>
              <a:t>pname</a:t>
            </a:r>
            <a:r>
              <a:rPr lang="en-US" altLang="zh-CN" sz="1500" dirty="0"/>
              <a:t>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],</a:t>
            </a:r>
            <a:r>
              <a:rPr lang="en-US" altLang="zh-CN" sz="1500" dirty="0" err="1"/>
              <a:t>pname</a:t>
            </a:r>
            <a:r>
              <a:rPr lang="en-US" altLang="zh-CN" sz="1500" dirty="0"/>
              <a:t>[j]);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      </a:t>
            </a:r>
            <a:r>
              <a:rPr lang="en-US" altLang="zh-CN" sz="1500" dirty="0" err="1"/>
              <a:t>strcpy</a:t>
            </a:r>
            <a:r>
              <a:rPr lang="en-US" altLang="zh-CN" sz="1500" dirty="0"/>
              <a:t>(</a:t>
            </a:r>
            <a:r>
              <a:rPr lang="en-US" altLang="zh-CN" sz="1500" dirty="0" err="1"/>
              <a:t>pname</a:t>
            </a:r>
            <a:r>
              <a:rPr lang="en-US" altLang="zh-CN" sz="1500" dirty="0"/>
              <a:t>[j],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   }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return;</a:t>
            </a:r>
            <a:endParaRPr lang="zh-CN" altLang="zh-CN" sz="1500" dirty="0"/>
          </a:p>
          <a:p>
            <a:pPr lvl="0"/>
            <a:r>
              <a:rPr lang="en-US" altLang="zh-CN" sz="1500" dirty="0"/>
              <a:t>    }</a:t>
            </a:r>
            <a:endParaRPr lang="zh-CN" altLang="en-US" sz="1500" dirty="0"/>
          </a:p>
        </p:txBody>
      </p:sp>
      <p:sp>
        <p:nvSpPr>
          <p:cNvPr id="10" name="矩形 9"/>
          <p:cNvSpPr/>
          <p:nvPr/>
        </p:nvSpPr>
        <p:spPr>
          <a:xfrm>
            <a:off x="4742968" y="1820859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altLang="zh-CN" sz="1500" dirty="0"/>
              <a:t> void output(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*</a:t>
            </a:r>
            <a:r>
              <a:rPr lang="en-US" altLang="zh-CN" sz="1500" dirty="0" err="1"/>
              <a:t>presult</a:t>
            </a:r>
            <a:r>
              <a:rPr lang="en-US" altLang="zh-CN" sz="1500" dirty="0"/>
              <a:t>,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n, char (*</a:t>
            </a:r>
            <a:r>
              <a:rPr lang="en-US" altLang="zh-CN" sz="1500" dirty="0" err="1"/>
              <a:t>pname</a:t>
            </a:r>
            <a:r>
              <a:rPr lang="en-US" altLang="zh-CN" sz="1500" dirty="0"/>
              <a:t>)[20])</a:t>
            </a:r>
            <a:endParaRPr lang="zh-CN" altLang="zh-CN" sz="1500" dirty="0"/>
          </a:p>
          <a:p>
            <a:pPr lvl="0"/>
            <a:r>
              <a:rPr lang="en-US" altLang="zh-CN" sz="1500" dirty="0"/>
              <a:t> {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i</a:t>
            </a:r>
            <a:r>
              <a:rPr lang="en-US" altLang="zh-CN" sz="1500" dirty="0"/>
              <a:t>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for(</a:t>
            </a:r>
            <a:r>
              <a:rPr lang="en-US" altLang="zh-CN" sz="1500" dirty="0" err="1"/>
              <a:t>i</a:t>
            </a:r>
            <a:r>
              <a:rPr lang="en-US" altLang="zh-CN" sz="1500" dirty="0"/>
              <a:t>=0;i&lt;</a:t>
            </a:r>
            <a:r>
              <a:rPr lang="en-US" altLang="zh-CN" sz="1500" dirty="0" err="1"/>
              <a:t>n;i</a:t>
            </a:r>
            <a:r>
              <a:rPr lang="en-US" altLang="zh-CN" sz="1500" dirty="0"/>
              <a:t>++)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  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("%s:%d\n",</a:t>
            </a:r>
            <a:r>
              <a:rPr lang="en-US" altLang="zh-CN" sz="1500" dirty="0" err="1"/>
              <a:t>pname</a:t>
            </a:r>
            <a:r>
              <a:rPr lang="en-US" altLang="zh-CN" sz="1500" dirty="0"/>
              <a:t>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],</a:t>
            </a:r>
            <a:r>
              <a:rPr lang="en-US" altLang="zh-CN" sz="1500" dirty="0" err="1"/>
              <a:t>presult</a:t>
            </a:r>
            <a:r>
              <a:rPr lang="en-US" altLang="zh-CN" sz="1500" dirty="0"/>
              <a:t>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return ;</a:t>
            </a:r>
            <a:endParaRPr lang="zh-CN" altLang="zh-CN" sz="1500" dirty="0"/>
          </a:p>
          <a:p>
            <a:pPr lvl="0"/>
            <a:r>
              <a:rPr lang="en-US" altLang="zh-CN" sz="1500" dirty="0"/>
              <a:t> }</a:t>
            </a:r>
            <a:endParaRPr lang="zh-CN" alt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3" grpId="0" animBg="1"/>
      <p:bldP spid="14" grpId="0" animBg="1"/>
      <p:bldP spid="15" grpId="0" animBg="1"/>
      <p:bldP spid="5" grpId="0"/>
      <p:bldP spid="1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8490" y="152766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7.6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6" y="152765"/>
            <a:ext cx="471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综合举例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5" name="矩形: 圆角 12"/>
          <p:cNvSpPr/>
          <p:nvPr/>
        </p:nvSpPr>
        <p:spPr>
          <a:xfrm>
            <a:off x="722013" y="1099130"/>
            <a:ext cx="7826563" cy="708405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7.17	</a:t>
            </a: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信息录入系统，首先输入密码验证正确后，根据显示的编号与姓名，输入相应的个人信息：生日、年龄以及家庭住址，并能对个人信息进行修改和显示。</a:t>
            </a:r>
            <a:endParaRPr lang="zh-CN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22013" y="2169125"/>
            <a:ext cx="7726413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问题分析与设计：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模块划分：</a:t>
            </a:r>
            <a:r>
              <a:rPr lang="zh-CN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该问题可以分成四个功能块：密码验证、信息初始化输入、信息修改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信息显示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数据结构：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初始密码设计为</a:t>
            </a:r>
            <a:r>
              <a:rPr lang="zh-CN" altLang="zh-CN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字符串常量</a:t>
            </a:r>
            <a:r>
              <a:rPr lang="en-US" altLang="zh-CN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char *word=“hust111”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；姓名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字符串常量设计为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字符指针数组；生日和家庭住址也为字符指针数组；年龄设计为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一维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整形数组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8490" y="152766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7.6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6" y="152765"/>
            <a:ext cx="471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综合举例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5" name="矩形: 圆角 12"/>
          <p:cNvSpPr/>
          <p:nvPr/>
        </p:nvSpPr>
        <p:spPr>
          <a:xfrm>
            <a:off x="586017" y="850083"/>
            <a:ext cx="7826563" cy="708405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7.17	</a:t>
            </a: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信息录入系统，首先输入密码验证正确后，根据显示的编号与姓名，输入相应的个人信息：生日、年龄以及家庭住址，并能对个人信息进行修改和显示。</a:t>
            </a:r>
            <a:endParaRPr lang="zh-CN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86016" y="1914536"/>
            <a:ext cx="8098553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password(char *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pword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功能：验证输入的密码是否与初始密码相同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形参：字符指针用来传递初始密码字符串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86016" y="1558488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函数原型：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86016" y="3055414"/>
            <a:ext cx="774835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void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init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(char *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pname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[],char *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pdate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[],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page[], char *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paddress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[]);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功能：信息初始化输入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形参：用来传递个人信息：姓名、</a:t>
            </a:r>
            <a:r>
              <a:rPr lang="zh-CN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生日、年龄以及家庭住址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86016" y="4150126"/>
            <a:ext cx="809855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void menu(char *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pname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[], char *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pdate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[],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page[], char *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paddress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[]);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功能：首先选择修改什么个人信息（</a:t>
            </a:r>
            <a:r>
              <a:rPr lang="zh-CN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生日、年龄以及家庭住址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），随后根据编号选择修改哪个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  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人的信息，最后进行信息的输入与更新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86016" y="5244837"/>
            <a:ext cx="8098553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show(char *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iname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[], char *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idate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[],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iage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[], char *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iaddress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[],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n);</a:t>
            </a:r>
            <a:endParaRPr lang="zh-CN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	  void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showall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(char *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iname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[], char *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idate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[],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iage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[], char *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iaddress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[]);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功能：显示某个人或全部的个人信息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  <p:bldP spid="8" grpId="0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8490" y="152766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7.6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6" y="152765"/>
            <a:ext cx="471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综合举例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8" name="矩形: 圆角 3"/>
          <p:cNvSpPr/>
          <p:nvPr/>
        </p:nvSpPr>
        <p:spPr>
          <a:xfrm>
            <a:off x="818707" y="1384637"/>
            <a:ext cx="6453963" cy="4846042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对话气泡: 圆角矩形 16"/>
          <p:cNvSpPr/>
          <p:nvPr/>
        </p:nvSpPr>
        <p:spPr>
          <a:xfrm>
            <a:off x="4783566" y="3148473"/>
            <a:ext cx="3903233" cy="425269"/>
          </a:xfrm>
          <a:prstGeom prst="wedgeRoundRectCallout">
            <a:avLst>
              <a:gd name="adj1" fmla="val -84509"/>
              <a:gd name="adj2" fmla="val 55508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如果密码正确则显示操作界面，否则直接退出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12"/>
          <p:cNvSpPr/>
          <p:nvPr/>
        </p:nvSpPr>
        <p:spPr>
          <a:xfrm>
            <a:off x="658217" y="944463"/>
            <a:ext cx="7826563" cy="708405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7.17	</a:t>
            </a: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信息录入系统，首先输入密码验证正确后，根据显示的编号与姓名，输入相应的个人信息：生日、年龄以及家庭住址，并能对个人信息进行修改和显示。</a:t>
            </a:r>
            <a:endParaRPr lang="zh-CN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56920" y="1625792"/>
            <a:ext cx="4827181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500" dirty="0"/>
              <a:t>     void main ()</a:t>
            </a:r>
            <a:endParaRPr lang="zh-CN" altLang="zh-CN" sz="1500" dirty="0"/>
          </a:p>
          <a:p>
            <a:pPr lvl="0"/>
            <a:r>
              <a:rPr lang="en-US" altLang="zh-CN" sz="1500" dirty="0"/>
              <a:t>     {</a:t>
            </a:r>
            <a:endParaRPr lang="zh-CN" altLang="zh-CN" sz="1500" dirty="0"/>
          </a:p>
          <a:p>
            <a:pPr lvl="0"/>
            <a:r>
              <a:rPr lang="en-US" altLang="zh-CN" sz="1500" dirty="0"/>
              <a:t>	     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p=1;</a:t>
            </a:r>
            <a:endParaRPr lang="zh-CN" altLang="zh-CN" sz="1500" dirty="0"/>
          </a:p>
          <a:p>
            <a:pPr lvl="0"/>
            <a:r>
              <a:rPr lang="en-US" altLang="zh-CN" sz="1500" dirty="0"/>
              <a:t>	      char *word="hust111";</a:t>
            </a:r>
            <a:endParaRPr lang="zh-CN" altLang="zh-CN" sz="1500" dirty="0"/>
          </a:p>
          <a:p>
            <a:pPr lvl="0"/>
            <a:r>
              <a:rPr lang="en-US" altLang="zh-CN" sz="1500" dirty="0"/>
              <a:t>	      char *name[3]={"</a:t>
            </a:r>
            <a:r>
              <a:rPr lang="en-US" altLang="zh-CN" sz="1500" dirty="0" err="1"/>
              <a:t>zhang</a:t>
            </a:r>
            <a:r>
              <a:rPr lang="en-US" altLang="zh-CN" sz="1500" dirty="0"/>
              <a:t> </a:t>
            </a:r>
            <a:r>
              <a:rPr lang="en-US" altLang="zh-CN" sz="1500" dirty="0" err="1"/>
              <a:t>san","li</a:t>
            </a:r>
            <a:r>
              <a:rPr lang="en-US" altLang="zh-CN" sz="1500" dirty="0"/>
              <a:t> </a:t>
            </a:r>
            <a:r>
              <a:rPr lang="en-US" altLang="zh-CN" sz="1500" dirty="0" err="1"/>
              <a:t>si</a:t>
            </a:r>
            <a:r>
              <a:rPr lang="en-US" altLang="zh-CN" sz="1500" dirty="0"/>
              <a:t>","</a:t>
            </a:r>
            <a:r>
              <a:rPr lang="en-US" altLang="zh-CN" sz="1500" dirty="0" err="1"/>
              <a:t>wang</a:t>
            </a:r>
            <a:r>
              <a:rPr lang="en-US" altLang="zh-CN" sz="1500" dirty="0"/>
              <a:t> </a:t>
            </a:r>
            <a:r>
              <a:rPr lang="en-US" altLang="zh-CN" sz="1500" dirty="0" err="1"/>
              <a:t>wu</a:t>
            </a:r>
            <a:r>
              <a:rPr lang="en-US" altLang="zh-CN" sz="1500" dirty="0"/>
              <a:t>"};</a:t>
            </a:r>
            <a:endParaRPr lang="zh-CN" altLang="zh-CN" sz="1500" dirty="0"/>
          </a:p>
          <a:p>
            <a:pPr lvl="0"/>
            <a:r>
              <a:rPr lang="en-US" altLang="zh-CN" sz="1500" dirty="0"/>
              <a:t>	      char *date[3];</a:t>
            </a:r>
            <a:endParaRPr lang="zh-CN" altLang="zh-CN" sz="1500" dirty="0"/>
          </a:p>
          <a:p>
            <a:pPr lvl="0"/>
            <a:r>
              <a:rPr lang="en-US" altLang="zh-CN" sz="1500" dirty="0"/>
              <a:t>	     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age[3]; </a:t>
            </a:r>
            <a:endParaRPr lang="zh-CN" altLang="zh-CN" sz="1500" dirty="0"/>
          </a:p>
          <a:p>
            <a:pPr lvl="0"/>
            <a:r>
              <a:rPr lang="en-US" altLang="zh-CN" sz="1500" dirty="0"/>
              <a:t>	      char *address[3];</a:t>
            </a:r>
            <a:endParaRPr lang="zh-CN" altLang="zh-CN" sz="1500" dirty="0"/>
          </a:p>
          <a:p>
            <a:pPr lvl="0"/>
            <a:r>
              <a:rPr lang="en-US" altLang="zh-CN" sz="1500" dirty="0"/>
              <a:t>	      p=password(word);</a:t>
            </a:r>
            <a:endParaRPr lang="zh-CN" altLang="zh-CN" sz="1500" dirty="0"/>
          </a:p>
          <a:p>
            <a:pPr lvl="0"/>
            <a:r>
              <a:rPr lang="en-US" altLang="zh-CN" sz="1500" dirty="0"/>
              <a:t>	      if (!p)						</a:t>
            </a:r>
            <a:endParaRPr lang="zh-CN" altLang="zh-CN" sz="1500" dirty="0"/>
          </a:p>
          <a:p>
            <a:pPr lvl="0"/>
            <a:r>
              <a:rPr lang="en-US" altLang="zh-CN" sz="1500" dirty="0"/>
              <a:t>	      {</a:t>
            </a:r>
            <a:endParaRPr lang="zh-CN" altLang="zh-CN" sz="1500" dirty="0"/>
          </a:p>
          <a:p>
            <a:pPr lvl="0"/>
            <a:r>
              <a:rPr lang="en-US" altLang="zh-CN" sz="1500" dirty="0"/>
              <a:t>		     </a:t>
            </a:r>
            <a:r>
              <a:rPr lang="en-US" altLang="zh-CN" sz="1500" dirty="0" err="1"/>
              <a:t>init</a:t>
            </a:r>
            <a:r>
              <a:rPr lang="en-US" altLang="zh-CN" sz="1500" dirty="0"/>
              <a:t>(name, date, age, address);</a:t>
            </a:r>
            <a:endParaRPr lang="zh-CN" altLang="zh-CN" sz="1500" dirty="0"/>
          </a:p>
          <a:p>
            <a:pPr lvl="0"/>
            <a:r>
              <a:rPr lang="en-US" altLang="zh-CN" sz="1500" dirty="0"/>
              <a:t>		     menu(name, date, age, address);</a:t>
            </a:r>
            <a:endParaRPr lang="zh-CN" altLang="zh-CN" sz="1500" dirty="0"/>
          </a:p>
          <a:p>
            <a:pPr lvl="0"/>
            <a:r>
              <a:rPr lang="en-US" altLang="zh-CN" sz="1500" dirty="0"/>
              <a:t>	      }</a:t>
            </a:r>
            <a:endParaRPr lang="zh-CN" altLang="zh-CN" sz="1500" dirty="0"/>
          </a:p>
          <a:p>
            <a:pPr lvl="0"/>
            <a:r>
              <a:rPr lang="en-US" altLang="zh-CN" sz="1500" dirty="0"/>
              <a:t>	      else</a:t>
            </a:r>
            <a:endParaRPr lang="zh-CN" altLang="zh-CN" sz="1500" dirty="0"/>
          </a:p>
          <a:p>
            <a:pPr lvl="0"/>
            <a:r>
              <a:rPr lang="en-US" altLang="zh-CN" sz="1500" dirty="0"/>
              <a:t>	      {</a:t>
            </a:r>
            <a:endParaRPr lang="zh-CN" altLang="zh-CN" sz="1500" dirty="0"/>
          </a:p>
          <a:p>
            <a:pPr lvl="0"/>
            <a:r>
              <a:rPr lang="en-US" altLang="zh-CN" sz="1500" dirty="0"/>
              <a:t>		    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("The password is wrong!");</a:t>
            </a:r>
            <a:endParaRPr lang="zh-CN" altLang="zh-CN" sz="1500" dirty="0"/>
          </a:p>
          <a:p>
            <a:pPr lvl="0"/>
            <a:r>
              <a:rPr lang="en-US" altLang="zh-CN" sz="1500" dirty="0"/>
              <a:t>		     return;</a:t>
            </a:r>
            <a:endParaRPr lang="zh-CN" altLang="zh-CN" sz="1500" dirty="0"/>
          </a:p>
          <a:p>
            <a:pPr lvl="0"/>
            <a:r>
              <a:rPr lang="en-US" altLang="zh-CN" sz="1500" dirty="0"/>
              <a:t>	      }</a:t>
            </a:r>
            <a:endParaRPr lang="zh-CN" altLang="zh-CN" sz="1500" dirty="0"/>
          </a:p>
          <a:p>
            <a:pPr lvl="0"/>
            <a:r>
              <a:rPr lang="en-US" altLang="zh-CN" sz="1500" dirty="0"/>
              <a:t>     }</a:t>
            </a:r>
            <a:endParaRPr lang="zh-CN" altLang="zh-CN" sz="1500" dirty="0"/>
          </a:p>
        </p:txBody>
      </p:sp>
      <p:sp>
        <p:nvSpPr>
          <p:cNvPr id="13" name="对话气泡: 圆角矩形 16"/>
          <p:cNvSpPr/>
          <p:nvPr/>
        </p:nvSpPr>
        <p:spPr>
          <a:xfrm>
            <a:off x="4663977" y="4700826"/>
            <a:ext cx="3480564" cy="425269"/>
          </a:xfrm>
          <a:prstGeom prst="wedgeRoundRectCallout">
            <a:avLst>
              <a:gd name="adj1" fmla="val -55907"/>
              <a:gd name="adj2" fmla="val -52000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信息初始化录入后进入信息修改操作菜单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6" grpId="0"/>
      <p:bldP spid="1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8490" y="152766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7.6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6" y="152765"/>
            <a:ext cx="471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综合举例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8" name="矩形: 圆角 3"/>
          <p:cNvSpPr/>
          <p:nvPr/>
        </p:nvSpPr>
        <p:spPr>
          <a:xfrm>
            <a:off x="252463" y="1299582"/>
            <a:ext cx="3681147" cy="1769717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对话气泡: 圆角矩形 16"/>
          <p:cNvSpPr/>
          <p:nvPr/>
        </p:nvSpPr>
        <p:spPr>
          <a:xfrm>
            <a:off x="6714320" y="3848986"/>
            <a:ext cx="2270191" cy="512610"/>
          </a:xfrm>
          <a:prstGeom prst="wedgeRoundRectCallout">
            <a:avLst>
              <a:gd name="adj1" fmla="val -75696"/>
              <a:gd name="adj2" fmla="val 33007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将用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gets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得到的字符串转换成整型进行存储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3"/>
          <p:cNvSpPr/>
          <p:nvPr/>
        </p:nvSpPr>
        <p:spPr>
          <a:xfrm>
            <a:off x="4157327" y="952434"/>
            <a:ext cx="4497140" cy="5320775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矩形: 圆角 12"/>
          <p:cNvSpPr/>
          <p:nvPr/>
        </p:nvSpPr>
        <p:spPr>
          <a:xfrm>
            <a:off x="649582" y="952434"/>
            <a:ext cx="1615153" cy="408705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密码验证函数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2"/>
          <p:cNvSpPr/>
          <p:nvPr/>
        </p:nvSpPr>
        <p:spPr>
          <a:xfrm>
            <a:off x="6405897" y="829590"/>
            <a:ext cx="2285004" cy="408705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信息初始化输入函数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-68829" y="1361139"/>
            <a:ext cx="3986558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500" dirty="0"/>
              <a:t>	  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password(char *</a:t>
            </a:r>
            <a:r>
              <a:rPr lang="en-US" altLang="zh-CN" sz="1500" dirty="0" err="1"/>
              <a:t>pword</a:t>
            </a:r>
            <a:r>
              <a:rPr lang="en-US" altLang="zh-CN" sz="1500" dirty="0"/>
              <a:t>)</a:t>
            </a:r>
            <a:endParaRPr lang="zh-CN" altLang="zh-CN" sz="1500" dirty="0"/>
          </a:p>
          <a:p>
            <a:pPr lvl="0"/>
            <a:r>
              <a:rPr lang="en-US" altLang="zh-CN" sz="1500" dirty="0"/>
              <a:t>	   {</a:t>
            </a:r>
            <a:endParaRPr lang="zh-CN" altLang="zh-CN" sz="1500" dirty="0"/>
          </a:p>
          <a:p>
            <a:pPr lvl="0"/>
            <a:r>
              <a:rPr lang="en-US" altLang="zh-CN" sz="1500" dirty="0"/>
              <a:t>	      char *</a:t>
            </a:r>
            <a:r>
              <a:rPr lang="en-US" altLang="zh-CN" sz="1500" dirty="0" err="1"/>
              <a:t>iword</a:t>
            </a:r>
            <a:r>
              <a:rPr lang="en-US" altLang="zh-CN" sz="1500" dirty="0"/>
              <a:t>;</a:t>
            </a:r>
            <a:endParaRPr lang="zh-CN" altLang="zh-CN" sz="1500" dirty="0"/>
          </a:p>
          <a:p>
            <a:pPr lvl="0"/>
            <a:r>
              <a:rPr lang="en-US" altLang="zh-CN" sz="1500" dirty="0"/>
              <a:t>	     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("Please input the password:\n");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	      gets(</a:t>
            </a:r>
            <a:r>
              <a:rPr lang="en-US" altLang="zh-CN" sz="1500" dirty="0" err="1"/>
              <a:t>iword</a:t>
            </a:r>
            <a:r>
              <a:rPr lang="en-US" altLang="zh-CN" sz="1500" dirty="0"/>
              <a:t>);</a:t>
            </a:r>
            <a:endParaRPr lang="zh-CN" altLang="zh-CN" sz="1500" dirty="0"/>
          </a:p>
          <a:p>
            <a:pPr lvl="0"/>
            <a:r>
              <a:rPr lang="en-US" altLang="zh-CN" sz="1500" dirty="0"/>
              <a:t>	      return (</a:t>
            </a:r>
            <a:r>
              <a:rPr lang="en-US" altLang="zh-CN" sz="1500" dirty="0" err="1"/>
              <a:t>strcmp</a:t>
            </a:r>
            <a:r>
              <a:rPr lang="en-US" altLang="zh-CN" sz="1500" dirty="0"/>
              <a:t>(</a:t>
            </a:r>
            <a:r>
              <a:rPr lang="en-US" altLang="zh-CN" sz="1500" dirty="0" err="1"/>
              <a:t>pword,iword</a:t>
            </a:r>
            <a:r>
              <a:rPr lang="en-US" altLang="zh-CN" sz="1500" dirty="0"/>
              <a:t>));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	   }</a:t>
            </a:r>
            <a:endParaRPr lang="zh-CN" altLang="zh-CN" sz="1500" dirty="0"/>
          </a:p>
        </p:txBody>
      </p:sp>
      <p:sp>
        <p:nvSpPr>
          <p:cNvPr id="16" name="矩形: 圆角 3"/>
          <p:cNvSpPr/>
          <p:nvPr/>
        </p:nvSpPr>
        <p:spPr>
          <a:xfrm>
            <a:off x="220783" y="3514698"/>
            <a:ext cx="3696945" cy="2662818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: 圆角 12"/>
          <p:cNvSpPr/>
          <p:nvPr/>
        </p:nvSpPr>
        <p:spPr>
          <a:xfrm>
            <a:off x="617902" y="3205650"/>
            <a:ext cx="1615153" cy="408705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信息显示函数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56255" y="3635056"/>
            <a:ext cx="3577356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500" dirty="0"/>
              <a:t> void show(char **</a:t>
            </a:r>
            <a:r>
              <a:rPr lang="en-US" altLang="zh-CN" sz="1500" dirty="0" err="1"/>
              <a:t>iname</a:t>
            </a:r>
            <a:r>
              <a:rPr lang="en-US" altLang="zh-CN" sz="1500" dirty="0"/>
              <a:t>, char **</a:t>
            </a:r>
            <a:r>
              <a:rPr lang="en-US" altLang="zh-CN" sz="1500" dirty="0" err="1"/>
              <a:t>idate</a:t>
            </a:r>
            <a:r>
              <a:rPr lang="en-US" altLang="zh-CN" sz="1500" dirty="0"/>
              <a:t>, 			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*</a:t>
            </a:r>
            <a:r>
              <a:rPr lang="en-US" altLang="zh-CN" sz="1500" dirty="0" err="1"/>
              <a:t>iage</a:t>
            </a:r>
            <a:r>
              <a:rPr lang="en-US" altLang="zh-CN" sz="1500" dirty="0"/>
              <a:t>, char **</a:t>
            </a:r>
            <a:r>
              <a:rPr lang="en-US" altLang="zh-CN" sz="1500" dirty="0" err="1"/>
              <a:t>iaddress,int</a:t>
            </a:r>
            <a:r>
              <a:rPr lang="en-US" altLang="zh-CN" sz="1500" dirty="0"/>
              <a:t> n)</a:t>
            </a:r>
            <a:endParaRPr lang="zh-CN" altLang="zh-CN" sz="1500" dirty="0"/>
          </a:p>
          <a:p>
            <a:r>
              <a:rPr lang="en-US" altLang="zh-CN" sz="1500" dirty="0"/>
              <a:t> {</a:t>
            </a:r>
            <a:endParaRPr lang="zh-CN" altLang="zh-CN" sz="1500" dirty="0"/>
          </a:p>
          <a:p>
            <a:r>
              <a:rPr lang="en-US" altLang="zh-CN" sz="1500" dirty="0"/>
              <a:t>     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("number:\</a:t>
            </a:r>
            <a:r>
              <a:rPr lang="en-US" altLang="zh-CN" sz="1500" dirty="0" err="1"/>
              <a:t>t%d</a:t>
            </a:r>
            <a:r>
              <a:rPr lang="en-US" altLang="zh-CN" sz="1500" dirty="0"/>
              <a:t>\</a:t>
            </a:r>
            <a:r>
              <a:rPr lang="en-US" altLang="zh-CN" sz="1500" dirty="0" err="1"/>
              <a:t>n",n</a:t>
            </a:r>
            <a:r>
              <a:rPr lang="en-US" altLang="zh-CN" sz="1500" dirty="0"/>
              <a:t>);</a:t>
            </a:r>
            <a:endParaRPr lang="zh-CN" altLang="zh-CN" sz="1500" dirty="0"/>
          </a:p>
          <a:p>
            <a:r>
              <a:rPr lang="en-US" altLang="zh-CN" sz="1500" dirty="0"/>
              <a:t>     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("name:\</a:t>
            </a:r>
            <a:r>
              <a:rPr lang="en-US" altLang="zh-CN" sz="1500" dirty="0" err="1"/>
              <a:t>t%s</a:t>
            </a:r>
            <a:r>
              <a:rPr lang="en-US" altLang="zh-CN" sz="1500" dirty="0"/>
              <a:t>\n",</a:t>
            </a:r>
            <a:r>
              <a:rPr lang="en-US" altLang="zh-CN" sz="1500" dirty="0" err="1"/>
              <a:t>iname</a:t>
            </a:r>
            <a:r>
              <a:rPr lang="en-US" altLang="zh-CN" sz="1500" dirty="0"/>
              <a:t>[n-1]);</a:t>
            </a:r>
            <a:endParaRPr lang="zh-CN" altLang="zh-CN" sz="1500" dirty="0"/>
          </a:p>
          <a:p>
            <a:r>
              <a:rPr lang="en-US" altLang="zh-CN" sz="1500" dirty="0"/>
              <a:t>     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("date:\</a:t>
            </a:r>
            <a:r>
              <a:rPr lang="en-US" altLang="zh-CN" sz="1500" dirty="0" err="1"/>
              <a:t>t%s</a:t>
            </a:r>
            <a:r>
              <a:rPr lang="en-US" altLang="zh-CN" sz="1500" dirty="0"/>
              <a:t>\n",</a:t>
            </a:r>
            <a:r>
              <a:rPr lang="en-US" altLang="zh-CN" sz="1500" dirty="0" err="1"/>
              <a:t>idate</a:t>
            </a:r>
            <a:r>
              <a:rPr lang="en-US" altLang="zh-CN" sz="1500" dirty="0"/>
              <a:t>[n-1]);</a:t>
            </a:r>
            <a:endParaRPr lang="zh-CN" altLang="zh-CN" sz="1500" dirty="0"/>
          </a:p>
          <a:p>
            <a:r>
              <a:rPr lang="en-US" altLang="zh-CN" sz="1500" dirty="0"/>
              <a:t>     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("age:\</a:t>
            </a:r>
            <a:r>
              <a:rPr lang="en-US" altLang="zh-CN" sz="1500" dirty="0" err="1"/>
              <a:t>t%d</a:t>
            </a:r>
            <a:r>
              <a:rPr lang="en-US" altLang="zh-CN" sz="1500" dirty="0"/>
              <a:t>\n",</a:t>
            </a:r>
            <a:r>
              <a:rPr lang="en-US" altLang="zh-CN" sz="1500" dirty="0" err="1"/>
              <a:t>iage</a:t>
            </a:r>
            <a:r>
              <a:rPr lang="en-US" altLang="zh-CN" sz="1500" dirty="0"/>
              <a:t>[n-1]);</a:t>
            </a:r>
            <a:endParaRPr lang="zh-CN" altLang="zh-CN" sz="1500" dirty="0"/>
          </a:p>
          <a:p>
            <a:r>
              <a:rPr lang="en-US" altLang="zh-CN" sz="1500" dirty="0"/>
              <a:t>     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("address:%s\n",</a:t>
            </a:r>
            <a:r>
              <a:rPr lang="en-US" altLang="zh-CN" sz="1500" dirty="0" err="1"/>
              <a:t>iaddress</a:t>
            </a:r>
            <a:r>
              <a:rPr lang="en-US" altLang="zh-CN" sz="1500" dirty="0"/>
              <a:t>[n-1]);</a:t>
            </a:r>
            <a:endParaRPr lang="zh-CN" altLang="zh-CN" sz="1500" dirty="0"/>
          </a:p>
          <a:p>
            <a:r>
              <a:rPr lang="en-US" altLang="zh-CN" sz="1500" dirty="0"/>
              <a:t> }</a:t>
            </a:r>
            <a:endParaRPr lang="zh-CN" altLang="zh-CN" sz="1500" dirty="0"/>
          </a:p>
        </p:txBody>
      </p:sp>
      <p:sp>
        <p:nvSpPr>
          <p:cNvPr id="10" name="矩形 9"/>
          <p:cNvSpPr/>
          <p:nvPr/>
        </p:nvSpPr>
        <p:spPr>
          <a:xfrm>
            <a:off x="4332798" y="1299582"/>
            <a:ext cx="4572000" cy="447814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altLang="zh-CN" sz="1500" dirty="0"/>
              <a:t> void </a:t>
            </a:r>
            <a:r>
              <a:rPr lang="en-US" altLang="zh-CN" sz="1500" dirty="0" err="1"/>
              <a:t>init</a:t>
            </a:r>
            <a:r>
              <a:rPr lang="en-US" altLang="zh-CN" sz="1500" dirty="0"/>
              <a:t> (char **</a:t>
            </a:r>
            <a:r>
              <a:rPr lang="en-US" altLang="zh-CN" sz="1500" dirty="0" err="1"/>
              <a:t>pname,char</a:t>
            </a:r>
            <a:r>
              <a:rPr lang="en-US" altLang="zh-CN" sz="1500" dirty="0"/>
              <a:t> **</a:t>
            </a:r>
            <a:r>
              <a:rPr lang="en-US" altLang="zh-CN" sz="1500" dirty="0" err="1"/>
              <a:t>pdate</a:t>
            </a:r>
            <a:r>
              <a:rPr lang="en-US" altLang="zh-CN" sz="1500" dirty="0"/>
              <a:t>,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*page, 			char **</a:t>
            </a:r>
            <a:r>
              <a:rPr lang="en-US" altLang="zh-CN" sz="1500" dirty="0" err="1"/>
              <a:t>paddress</a:t>
            </a:r>
            <a:r>
              <a:rPr lang="en-US" altLang="zh-CN" sz="1500" dirty="0"/>
              <a:t>)</a:t>
            </a:r>
            <a:endParaRPr lang="zh-CN" altLang="zh-CN" sz="1500" dirty="0"/>
          </a:p>
          <a:p>
            <a:pPr lvl="0"/>
            <a:r>
              <a:rPr lang="en-US" altLang="zh-CN" sz="1500" dirty="0"/>
              <a:t>{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i</a:t>
            </a:r>
            <a:r>
              <a:rPr lang="en-US" altLang="zh-CN" sz="1500" dirty="0"/>
              <a:t>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char 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[20];				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for(</a:t>
            </a:r>
            <a:r>
              <a:rPr lang="en-US" altLang="zh-CN" sz="1500" dirty="0" err="1"/>
              <a:t>i</a:t>
            </a:r>
            <a:r>
              <a:rPr lang="en-US" altLang="zh-CN" sz="1500" dirty="0"/>
              <a:t>=0;i&lt;3;i++)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{</a:t>
            </a:r>
            <a:endParaRPr lang="en-US" altLang="zh-CN" sz="1500" dirty="0"/>
          </a:p>
          <a:p>
            <a:pPr lvl="0"/>
            <a:r>
              <a:rPr lang="en-US" altLang="zh-CN" sz="1500" dirty="0"/>
              <a:t>	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("number:%d\</a:t>
            </a:r>
            <a:r>
              <a:rPr lang="en-US" altLang="zh-CN" sz="1500" dirty="0" err="1"/>
              <a:t>nname</a:t>
            </a:r>
            <a:r>
              <a:rPr lang="en-US" altLang="zh-CN" sz="1500" dirty="0"/>
              <a:t>:%s\n",i+1,pname[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]);</a:t>
            </a:r>
            <a:endParaRPr lang="zh-CN" altLang="zh-CN" sz="1500" dirty="0"/>
          </a:p>
          <a:p>
            <a:pPr lvl="0"/>
            <a:r>
              <a:rPr lang="en-US" altLang="zh-CN" sz="1500" dirty="0"/>
              <a:t>	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("Please input the date:\n");</a:t>
            </a:r>
            <a:endParaRPr lang="zh-CN" altLang="zh-CN" sz="1500" dirty="0"/>
          </a:p>
          <a:p>
            <a:pPr lvl="0"/>
            <a:r>
              <a:rPr lang="en-US" altLang="zh-CN" sz="1500" dirty="0"/>
              <a:t>	 gets(</a:t>
            </a:r>
            <a:r>
              <a:rPr lang="en-US" altLang="zh-CN" sz="1500" dirty="0" err="1"/>
              <a:t>pdate</a:t>
            </a:r>
            <a:r>
              <a:rPr lang="en-US" altLang="zh-CN" sz="1500" dirty="0"/>
              <a:t>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]);</a:t>
            </a:r>
            <a:endParaRPr lang="zh-CN" altLang="zh-CN" sz="1500" dirty="0"/>
          </a:p>
          <a:p>
            <a:pPr lvl="0"/>
            <a:r>
              <a:rPr lang="en-US" altLang="zh-CN" sz="1500" dirty="0"/>
              <a:t>	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("Please input the age:\n");</a:t>
            </a:r>
            <a:endParaRPr lang="zh-CN" altLang="zh-CN" sz="1500" dirty="0"/>
          </a:p>
          <a:p>
            <a:pPr lvl="0"/>
            <a:r>
              <a:rPr lang="en-US" altLang="zh-CN" sz="1500" dirty="0"/>
              <a:t>	</a:t>
            </a:r>
            <a:r>
              <a:rPr lang="en-US" altLang="zh-CN" sz="1500" dirty="0">
                <a:solidFill>
                  <a:srgbClr val="FF0000"/>
                </a:solidFill>
              </a:rPr>
              <a:t> gets(</a:t>
            </a:r>
            <a:r>
              <a:rPr lang="en-US" altLang="zh-CN" sz="1500" dirty="0" err="1">
                <a:solidFill>
                  <a:srgbClr val="FF0000"/>
                </a:solidFill>
              </a:rPr>
              <a:t>str</a:t>
            </a:r>
            <a:r>
              <a:rPr lang="en-US" altLang="zh-CN" sz="1500" dirty="0">
                <a:solidFill>
                  <a:srgbClr val="FF0000"/>
                </a:solidFill>
              </a:rPr>
              <a:t>);</a:t>
            </a:r>
            <a:endParaRPr lang="zh-CN" altLang="zh-CN" sz="1500" dirty="0"/>
          </a:p>
          <a:p>
            <a:pPr lvl="0"/>
            <a:r>
              <a:rPr lang="en-US" altLang="zh-CN" sz="1500" dirty="0"/>
              <a:t>	 page[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]=</a:t>
            </a:r>
            <a:r>
              <a:rPr lang="en-US" altLang="zh-CN" sz="1500" dirty="0" err="1"/>
              <a:t>atoi</a:t>
            </a:r>
            <a:r>
              <a:rPr lang="en-US" altLang="zh-CN" sz="1500" dirty="0"/>
              <a:t>(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);			</a:t>
            </a:r>
            <a:endParaRPr lang="zh-CN" altLang="zh-CN" sz="1500" dirty="0"/>
          </a:p>
          <a:p>
            <a:pPr lvl="0"/>
            <a:r>
              <a:rPr lang="en-US" altLang="zh-CN" sz="1500" dirty="0"/>
              <a:t>	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("Please input the address:\n");</a:t>
            </a:r>
            <a:endParaRPr lang="zh-CN" altLang="zh-CN" sz="1500" dirty="0"/>
          </a:p>
          <a:p>
            <a:pPr lvl="0"/>
            <a:r>
              <a:rPr lang="en-US" altLang="zh-CN" sz="1500" dirty="0"/>
              <a:t>	 gets(</a:t>
            </a:r>
            <a:r>
              <a:rPr lang="en-US" altLang="zh-CN" sz="1500" dirty="0" err="1"/>
              <a:t>paddress</a:t>
            </a:r>
            <a:r>
              <a:rPr lang="en-US" altLang="zh-CN" sz="1500" dirty="0"/>
              <a:t>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}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("Initialization complete!\n\n");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</a:t>
            </a:r>
            <a:r>
              <a:rPr lang="en-US" altLang="zh-CN" sz="1500" dirty="0" err="1"/>
              <a:t>showall</a:t>
            </a:r>
            <a:r>
              <a:rPr lang="en-US" altLang="zh-CN" sz="1500" dirty="0"/>
              <a:t> (</a:t>
            </a:r>
            <a:r>
              <a:rPr lang="en-US" altLang="zh-CN" sz="1500" dirty="0" err="1"/>
              <a:t>pname</a:t>
            </a:r>
            <a:r>
              <a:rPr lang="en-US" altLang="zh-CN" sz="1500" dirty="0"/>
              <a:t>, </a:t>
            </a:r>
            <a:r>
              <a:rPr lang="en-US" altLang="zh-CN" sz="1500" dirty="0" err="1"/>
              <a:t>pdate</a:t>
            </a:r>
            <a:r>
              <a:rPr lang="en-US" altLang="zh-CN" sz="1500" dirty="0"/>
              <a:t>, page, </a:t>
            </a:r>
            <a:r>
              <a:rPr lang="en-US" altLang="zh-CN" sz="1500" dirty="0" err="1"/>
              <a:t>paddress</a:t>
            </a:r>
            <a:r>
              <a:rPr lang="en-US" altLang="zh-CN" sz="1500" dirty="0"/>
              <a:t>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}</a:t>
            </a:r>
            <a:endParaRPr lang="zh-CN" alt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3" grpId="0" animBg="1"/>
      <p:bldP spid="14" grpId="0" animBg="1"/>
      <p:bldP spid="15" grpId="0" animBg="1"/>
      <p:bldP spid="5" grpId="0"/>
      <p:bldP spid="16" grpId="0" animBg="1"/>
      <p:bldP spid="17" grpId="0" animBg="1"/>
      <p:bldP spid="18" grpId="0"/>
      <p:bldP spid="1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8490" y="152766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7.6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6" y="152765"/>
            <a:ext cx="471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综合举例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8" name="矩形: 圆角 3"/>
          <p:cNvSpPr/>
          <p:nvPr/>
        </p:nvSpPr>
        <p:spPr>
          <a:xfrm>
            <a:off x="161630" y="969967"/>
            <a:ext cx="8599598" cy="5292610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对话气泡: 圆角矩形 16"/>
          <p:cNvSpPr/>
          <p:nvPr/>
        </p:nvSpPr>
        <p:spPr>
          <a:xfrm>
            <a:off x="461187" y="5156791"/>
            <a:ext cx="3903233" cy="882502"/>
          </a:xfrm>
          <a:prstGeom prst="wedgeRoundRectCallout">
            <a:avLst>
              <a:gd name="adj1" fmla="val 1026"/>
              <a:gd name="adj2" fmla="val -81768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1~3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分别用来修改个人信息中的</a:t>
            </a:r>
            <a:r>
              <a:rPr lang="zh-CN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生日、年龄以及家庭住址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用来显示个人完整信息；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表示退出系统；其他输入无效。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12"/>
          <p:cNvSpPr/>
          <p:nvPr/>
        </p:nvSpPr>
        <p:spPr>
          <a:xfrm>
            <a:off x="1349439" y="811437"/>
            <a:ext cx="1489560" cy="440174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信息修改函数</a:t>
            </a:r>
            <a:endParaRPr lang="zh-CN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63976" y="969967"/>
            <a:ext cx="4572000" cy="517064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altLang="zh-CN" sz="1500" dirty="0"/>
              <a:t>	</a:t>
            </a:r>
            <a:endParaRPr lang="zh-CN" altLang="zh-CN" sz="1500" dirty="0"/>
          </a:p>
          <a:p>
            <a:pPr lvl="0"/>
            <a:r>
              <a:rPr lang="en-US" altLang="zh-CN" sz="1500" dirty="0"/>
              <a:t>   switch(a-'0')</a:t>
            </a:r>
            <a:endParaRPr lang="zh-CN" altLang="zh-CN" sz="1500" dirty="0"/>
          </a:p>
          <a:p>
            <a:pPr lvl="0"/>
            <a:r>
              <a:rPr lang="en-US" altLang="zh-CN" sz="1500" dirty="0"/>
              <a:t>   {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case 1: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("Which one do you want to modify?\n\n");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("number:");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gets(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</a:t>
            </a:r>
            <a:r>
              <a:rPr lang="en-US" altLang="zh-CN" sz="1500" dirty="0" err="1"/>
              <a:t>i</a:t>
            </a:r>
            <a:r>
              <a:rPr lang="en-US" altLang="zh-CN" sz="1500" dirty="0"/>
              <a:t>=</a:t>
            </a:r>
            <a:r>
              <a:rPr lang="en-US" altLang="zh-CN" sz="1500" dirty="0" err="1"/>
              <a:t>atoi</a:t>
            </a:r>
            <a:r>
              <a:rPr lang="en-US" altLang="zh-CN" sz="1500" dirty="0"/>
              <a:t>(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show (</a:t>
            </a:r>
            <a:r>
              <a:rPr lang="en-US" altLang="zh-CN" sz="1500" dirty="0" err="1"/>
              <a:t>pname</a:t>
            </a:r>
            <a:r>
              <a:rPr lang="en-US" altLang="zh-CN" sz="1500" dirty="0"/>
              <a:t>, </a:t>
            </a:r>
            <a:r>
              <a:rPr lang="en-US" altLang="zh-CN" sz="1500" dirty="0" err="1"/>
              <a:t>pdate</a:t>
            </a:r>
            <a:r>
              <a:rPr lang="en-US" altLang="zh-CN" sz="1500" dirty="0"/>
              <a:t>, page, </a:t>
            </a:r>
            <a:r>
              <a:rPr lang="en-US" altLang="zh-CN" sz="1500" dirty="0" err="1"/>
              <a:t>paddress,i</a:t>
            </a:r>
            <a:r>
              <a:rPr lang="en-US" altLang="zh-CN" sz="1500" dirty="0"/>
              <a:t>);  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("Please input the date:\n");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gets(</a:t>
            </a:r>
            <a:r>
              <a:rPr lang="en-US" altLang="zh-CN" sz="1500" dirty="0" err="1"/>
              <a:t>pdate</a:t>
            </a:r>
            <a:r>
              <a:rPr lang="en-US" altLang="zh-CN" sz="1500" dirty="0"/>
              <a:t>[i-1]);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break;</a:t>
            </a:r>
            <a:endParaRPr lang="en-US" altLang="zh-CN" sz="1500" dirty="0"/>
          </a:p>
          <a:p>
            <a:pPr lvl="0"/>
            <a:r>
              <a:rPr lang="en-US" altLang="zh-CN" sz="1500" dirty="0"/>
              <a:t>	…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case 4: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</a:t>
            </a:r>
            <a:r>
              <a:rPr lang="en-US" altLang="zh-CN" sz="1500" dirty="0" err="1"/>
              <a:t>showall</a:t>
            </a:r>
            <a:r>
              <a:rPr lang="en-US" altLang="zh-CN" sz="1500" dirty="0"/>
              <a:t> (</a:t>
            </a:r>
            <a:r>
              <a:rPr lang="en-US" altLang="zh-CN" sz="1500" dirty="0" err="1"/>
              <a:t>pname</a:t>
            </a:r>
            <a:r>
              <a:rPr lang="en-US" altLang="zh-CN" sz="1500" dirty="0"/>
              <a:t>, </a:t>
            </a:r>
            <a:r>
              <a:rPr lang="en-US" altLang="zh-CN" sz="1500" dirty="0" err="1"/>
              <a:t>pdate</a:t>
            </a:r>
            <a:r>
              <a:rPr lang="en-US" altLang="zh-CN" sz="1500" dirty="0"/>
              <a:t>, page, </a:t>
            </a:r>
            <a:r>
              <a:rPr lang="en-US" altLang="zh-CN" sz="1500" dirty="0" err="1"/>
              <a:t>paddress</a:t>
            </a:r>
            <a:r>
              <a:rPr lang="en-US" altLang="zh-CN" sz="1500" dirty="0"/>
              <a:t>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</a:t>
            </a:r>
            <a:r>
              <a:rPr lang="en-US" altLang="zh-CN" sz="1500" dirty="0" err="1"/>
              <a:t>getch</a:t>
            </a:r>
            <a:r>
              <a:rPr lang="en-US" altLang="zh-CN" sz="1500" dirty="0"/>
              <a:t>();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break;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case 5:</a:t>
            </a:r>
            <a:endParaRPr lang="zh-CN" altLang="zh-CN" sz="1500" dirty="0"/>
          </a:p>
          <a:p>
            <a:pPr lvl="0"/>
            <a:r>
              <a:rPr lang="en-US" altLang="zh-CN" sz="1500" dirty="0"/>
              <a:t>         return;</a:t>
            </a:r>
            <a:endParaRPr lang="zh-CN" altLang="zh-CN" sz="1500" dirty="0"/>
          </a:p>
          <a:p>
            <a:pPr lvl="0"/>
            <a:r>
              <a:rPr lang="en-US" altLang="zh-CN" sz="1500" dirty="0"/>
              <a:t>   }</a:t>
            </a:r>
            <a:endParaRPr lang="zh-CN" altLang="zh-CN" sz="1500" dirty="0"/>
          </a:p>
          <a:p>
            <a:pPr lvl="0"/>
            <a:r>
              <a:rPr lang="en-US" altLang="zh-CN" sz="1500" dirty="0"/>
              <a:t>	menu(</a:t>
            </a:r>
            <a:r>
              <a:rPr lang="en-US" altLang="zh-CN" sz="1500" dirty="0" err="1"/>
              <a:t>pname</a:t>
            </a:r>
            <a:r>
              <a:rPr lang="en-US" altLang="zh-CN" sz="1500" dirty="0"/>
              <a:t>, </a:t>
            </a:r>
            <a:r>
              <a:rPr lang="en-US" altLang="zh-CN" sz="1500" dirty="0" err="1"/>
              <a:t>pdate</a:t>
            </a:r>
            <a:r>
              <a:rPr lang="en-US" altLang="zh-CN" sz="1500" dirty="0"/>
              <a:t>, page, </a:t>
            </a:r>
            <a:r>
              <a:rPr lang="en-US" altLang="zh-CN" sz="1500" dirty="0" err="1"/>
              <a:t>paddress</a:t>
            </a:r>
            <a:r>
              <a:rPr lang="en-US" altLang="zh-CN" sz="1500" dirty="0"/>
              <a:t>);		</a:t>
            </a:r>
            <a:endParaRPr lang="en-US" altLang="zh-CN" sz="1500" dirty="0"/>
          </a:p>
          <a:p>
            <a:pPr lvl="0"/>
            <a:r>
              <a:rPr lang="en-US" altLang="zh-CN" sz="1500" dirty="0"/>
              <a:t>}</a:t>
            </a:r>
            <a:endParaRPr lang="zh-CN" altLang="zh-CN" sz="1500" dirty="0"/>
          </a:p>
        </p:txBody>
      </p:sp>
      <p:sp>
        <p:nvSpPr>
          <p:cNvPr id="7" name="矩形 6"/>
          <p:cNvSpPr/>
          <p:nvPr/>
        </p:nvSpPr>
        <p:spPr>
          <a:xfrm>
            <a:off x="401769" y="1221658"/>
            <a:ext cx="426220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void menu(char **</a:t>
            </a:r>
            <a:r>
              <a:rPr lang="en-US" altLang="zh-CN" sz="1500" dirty="0" err="1">
                <a:solidFill>
                  <a:prstClr val="black"/>
                </a:solidFill>
              </a:rPr>
              <a:t>pname</a:t>
            </a:r>
            <a:r>
              <a:rPr lang="en-US" altLang="zh-CN" sz="1500" dirty="0">
                <a:solidFill>
                  <a:prstClr val="black"/>
                </a:solidFill>
              </a:rPr>
              <a:t>, char **</a:t>
            </a:r>
            <a:r>
              <a:rPr lang="en-US" altLang="zh-CN" sz="1500" dirty="0" err="1">
                <a:solidFill>
                  <a:prstClr val="black"/>
                </a:solidFill>
              </a:rPr>
              <a:t>pdate</a:t>
            </a:r>
            <a:r>
              <a:rPr lang="en-US" altLang="zh-CN" sz="1500" dirty="0">
                <a:solidFill>
                  <a:prstClr val="black"/>
                </a:solidFill>
              </a:rPr>
              <a:t>, </a:t>
            </a:r>
            <a:r>
              <a:rPr lang="en-US" altLang="zh-CN" sz="1500" dirty="0" err="1">
                <a:solidFill>
                  <a:prstClr val="black"/>
                </a:solidFill>
              </a:rPr>
              <a:t>int</a:t>
            </a:r>
            <a:r>
              <a:rPr lang="en-US" altLang="zh-CN" sz="1500" dirty="0">
                <a:solidFill>
                  <a:prstClr val="black"/>
                </a:solidFill>
              </a:rPr>
              <a:t> *page, 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	char **</a:t>
            </a:r>
            <a:r>
              <a:rPr lang="en-US" altLang="zh-CN" sz="1500" dirty="0" err="1">
                <a:solidFill>
                  <a:prstClr val="black"/>
                </a:solidFill>
              </a:rPr>
              <a:t>paddress</a:t>
            </a:r>
            <a:r>
              <a:rPr lang="en-US" altLang="zh-CN" sz="1500" dirty="0">
                <a:solidFill>
                  <a:prstClr val="black"/>
                </a:solidFill>
              </a:rPr>
              <a:t>)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{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  char a, </a:t>
            </a:r>
            <a:r>
              <a:rPr lang="en-US" altLang="zh-CN" sz="1500" dirty="0" err="1">
                <a:solidFill>
                  <a:prstClr val="black"/>
                </a:solidFill>
              </a:rPr>
              <a:t>str</a:t>
            </a:r>
            <a:r>
              <a:rPr lang="en-US" altLang="zh-CN" sz="1500" dirty="0">
                <a:solidFill>
                  <a:prstClr val="black"/>
                </a:solidFill>
              </a:rPr>
              <a:t>[20];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  </a:t>
            </a:r>
            <a:r>
              <a:rPr lang="en-US" altLang="zh-CN" sz="1500" dirty="0" err="1">
                <a:solidFill>
                  <a:prstClr val="black"/>
                </a:solidFill>
              </a:rPr>
              <a:t>int</a:t>
            </a:r>
            <a:r>
              <a:rPr lang="en-US" altLang="zh-CN" sz="1500" dirty="0">
                <a:solidFill>
                  <a:prstClr val="black"/>
                </a:solidFill>
              </a:rPr>
              <a:t> </a:t>
            </a:r>
            <a:r>
              <a:rPr lang="en-US" altLang="zh-CN" sz="1500" dirty="0" err="1">
                <a:solidFill>
                  <a:prstClr val="black"/>
                </a:solidFill>
              </a:rPr>
              <a:t>i</a:t>
            </a:r>
            <a:r>
              <a:rPr lang="en-US" altLang="zh-CN" sz="1500" dirty="0">
                <a:solidFill>
                  <a:prstClr val="black"/>
                </a:solidFill>
              </a:rPr>
              <a:t>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  do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  {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         </a:t>
            </a:r>
            <a:r>
              <a:rPr lang="en-US" altLang="zh-CN" sz="1500" dirty="0" err="1">
                <a:solidFill>
                  <a:prstClr val="black"/>
                </a:solidFill>
              </a:rPr>
              <a:t>printf</a:t>
            </a:r>
            <a:r>
              <a:rPr lang="en-US" altLang="zh-CN" sz="1500" dirty="0">
                <a:solidFill>
                  <a:prstClr val="black"/>
                </a:solidFill>
              </a:rPr>
              <a:t>("****        menu      ****\n");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         </a:t>
            </a:r>
            <a:r>
              <a:rPr lang="en-US" altLang="zh-CN" sz="1500" dirty="0" err="1">
                <a:solidFill>
                  <a:prstClr val="black"/>
                </a:solidFill>
              </a:rPr>
              <a:t>printf</a:t>
            </a:r>
            <a:r>
              <a:rPr lang="en-US" altLang="zh-CN" sz="1500" dirty="0">
                <a:solidFill>
                  <a:prstClr val="black"/>
                </a:solidFill>
              </a:rPr>
              <a:t>("**** 1.modify date    ****\n");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         </a:t>
            </a:r>
            <a:r>
              <a:rPr lang="en-US" altLang="zh-CN" sz="1500" dirty="0" err="1">
                <a:solidFill>
                  <a:prstClr val="black"/>
                </a:solidFill>
              </a:rPr>
              <a:t>printf</a:t>
            </a:r>
            <a:r>
              <a:rPr lang="en-US" altLang="zh-CN" sz="1500" dirty="0">
                <a:solidFill>
                  <a:prstClr val="black"/>
                </a:solidFill>
              </a:rPr>
              <a:t>("**** 2.modify age     ****\n");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         </a:t>
            </a:r>
            <a:r>
              <a:rPr lang="en-US" altLang="zh-CN" sz="1500" dirty="0" err="1">
                <a:solidFill>
                  <a:prstClr val="black"/>
                </a:solidFill>
              </a:rPr>
              <a:t>printf</a:t>
            </a:r>
            <a:r>
              <a:rPr lang="en-US" altLang="zh-CN" sz="1500" dirty="0">
                <a:solidFill>
                  <a:prstClr val="black"/>
                </a:solidFill>
              </a:rPr>
              <a:t>("**** 3.modify address ****\n");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         </a:t>
            </a:r>
            <a:r>
              <a:rPr lang="en-US" altLang="zh-CN" sz="1500" dirty="0" err="1">
                <a:solidFill>
                  <a:prstClr val="black"/>
                </a:solidFill>
              </a:rPr>
              <a:t>printf</a:t>
            </a:r>
            <a:r>
              <a:rPr lang="en-US" altLang="zh-CN" sz="1500" dirty="0">
                <a:solidFill>
                  <a:prstClr val="black"/>
                </a:solidFill>
              </a:rPr>
              <a:t>("**** 4.show           ****\n");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         </a:t>
            </a:r>
            <a:r>
              <a:rPr lang="en-US" altLang="zh-CN" sz="1500" dirty="0" err="1">
                <a:solidFill>
                  <a:prstClr val="black"/>
                </a:solidFill>
              </a:rPr>
              <a:t>printf</a:t>
            </a:r>
            <a:r>
              <a:rPr lang="en-US" altLang="zh-CN" sz="1500" dirty="0">
                <a:solidFill>
                  <a:prstClr val="black"/>
                </a:solidFill>
              </a:rPr>
              <a:t>("**** 5.exit           ****\n");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         gets(</a:t>
            </a:r>
            <a:r>
              <a:rPr lang="en-US" altLang="zh-CN" sz="1500" dirty="0" err="1">
                <a:solidFill>
                  <a:prstClr val="black"/>
                </a:solidFill>
              </a:rPr>
              <a:t>str</a:t>
            </a:r>
            <a:r>
              <a:rPr lang="en-US" altLang="zh-CN" sz="1500" dirty="0">
                <a:solidFill>
                  <a:prstClr val="black"/>
                </a:solidFill>
              </a:rPr>
              <a:t>);	       	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	     a=</a:t>
            </a:r>
            <a:r>
              <a:rPr lang="en-US" altLang="zh-CN" sz="1500" dirty="0" err="1">
                <a:solidFill>
                  <a:prstClr val="black"/>
                </a:solidFill>
              </a:rPr>
              <a:t>str</a:t>
            </a:r>
            <a:r>
              <a:rPr lang="en-US" altLang="zh-CN" sz="1500" dirty="0">
                <a:solidFill>
                  <a:prstClr val="black"/>
                </a:solidFill>
              </a:rPr>
              <a:t>[0];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  }while(a&lt;'1'||a&gt;'5');	</a:t>
            </a:r>
            <a:endParaRPr lang="zh-CN" altLang="en-US" dirty="0"/>
          </a:p>
        </p:txBody>
      </p:sp>
      <p:cxnSp>
        <p:nvCxnSpPr>
          <p:cNvPr id="11" name="直接连接符 10"/>
          <p:cNvCxnSpPr/>
          <p:nvPr/>
        </p:nvCxnSpPr>
        <p:spPr>
          <a:xfrm>
            <a:off x="4536380" y="980600"/>
            <a:ext cx="0" cy="529261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对话气泡: 圆角矩形 16"/>
          <p:cNvSpPr/>
          <p:nvPr/>
        </p:nvSpPr>
        <p:spPr>
          <a:xfrm>
            <a:off x="5844805" y="4795283"/>
            <a:ext cx="2916423" cy="653277"/>
          </a:xfrm>
          <a:prstGeom prst="wedgeRoundRectCallout">
            <a:avLst>
              <a:gd name="adj1" fmla="val 1298"/>
              <a:gd name="adj2" fmla="val 76063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修改操作完成后回到菜单选择界面，直至选择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exit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4" grpId="0"/>
      <p:bldP spid="7" grpId="0"/>
      <p:bldP spid="1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8490" y="152766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7.6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6" y="152765"/>
            <a:ext cx="471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综合举例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5" name="矩形: 圆角 12"/>
          <p:cNvSpPr/>
          <p:nvPr/>
        </p:nvSpPr>
        <p:spPr>
          <a:xfrm>
            <a:off x="722013" y="1099130"/>
            <a:ext cx="7826563" cy="708405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7.18	</a:t>
            </a: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关于通讯录的字符串应用程序。通讯录中的信息包括有个人的编号、姓名和电话号码，所需要实现的功能有通讯录信息的添加、显示和修改。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651019" y="2107568"/>
            <a:ext cx="81590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问题分析与设计：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模块划分：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该通讯录管理程序包括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个功能模块，分别是添加个人信息、显示所有成员信息、修改个人信息。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数据结构：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该程序要处理的数据是通讯录中个人的信息，包括编号、姓名、电话号码。由于个人信息为字符串的形式，其地址存放在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char *data[100][3]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的二维字符指针数组中，最多可包含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人的信息，采用动态内存分配的方式进行处理。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8490" y="152766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7.6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6" y="152765"/>
            <a:ext cx="471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综合举例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5" name="矩形: 圆角 12"/>
          <p:cNvSpPr/>
          <p:nvPr/>
        </p:nvSpPr>
        <p:spPr>
          <a:xfrm>
            <a:off x="722013" y="1099130"/>
            <a:ext cx="7826563" cy="708405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7.18	</a:t>
            </a: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关于通讯录的字符串应用程序。通讯录中的信息包括有个人的编号、姓名和电话号码，所需要实现的功能有通讯录信息的添加、显示和修改。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563636" y="2327006"/>
            <a:ext cx="77897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input(unsigned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(*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linepstr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)[3],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*n);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功能：添加个人信息。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形参：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unsigned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(*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linepstr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)[3]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数组指针通过访问存储个人信息地址的字符数组来传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  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递个人信息；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*n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用来传递已存个人信息数量。</a:t>
            </a:r>
            <a:r>
              <a:rPr lang="zh-CN" altLang="en-US" sz="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endParaRPr lang="en-US" altLang="zh-CN" sz="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63636" y="1922902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函数原型：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63636" y="3839106"/>
            <a:ext cx="6972300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print(unsigned </a:t>
            </a:r>
            <a:r>
              <a:rPr lang="en-US" altLang="zh-CN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(*</a:t>
            </a:r>
            <a:r>
              <a:rPr lang="en-US" altLang="zh-CN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)[3],</a:t>
            </a:r>
            <a:r>
              <a:rPr lang="en-US" altLang="zh-CN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n);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功能：显示所有个人信息。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形参：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unsigned </a:t>
            </a:r>
            <a:r>
              <a:rPr lang="en-US" altLang="zh-CN" sz="1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(*</a:t>
            </a:r>
            <a:r>
              <a:rPr lang="en-US" altLang="zh-CN" sz="1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)[3]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数组指针功能同上，</a:t>
            </a:r>
            <a:r>
              <a:rPr lang="en-US" altLang="zh-CN" sz="1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指已存个人信息数量。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3636" y="5028039"/>
            <a:ext cx="6348610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modify(unsigned </a:t>
            </a:r>
            <a:r>
              <a:rPr lang="en-US" altLang="zh-CN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(*mod)[3],</a:t>
            </a:r>
            <a:r>
              <a:rPr lang="en-US" altLang="zh-CN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n); 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功能：修改个人信息。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形参：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unsigned </a:t>
            </a:r>
            <a:r>
              <a:rPr lang="en-US" altLang="zh-CN" sz="1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(*mod)[3]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功能同上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1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指已存个人信息数量。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8490" y="152766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7.6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6" y="152765"/>
            <a:ext cx="471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综合举例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7" name="矩形: 圆角 3"/>
          <p:cNvSpPr/>
          <p:nvPr/>
        </p:nvSpPr>
        <p:spPr>
          <a:xfrm>
            <a:off x="297713" y="1384637"/>
            <a:ext cx="8495414" cy="4846042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: 圆角 12"/>
          <p:cNvSpPr/>
          <p:nvPr/>
        </p:nvSpPr>
        <p:spPr>
          <a:xfrm>
            <a:off x="583790" y="880399"/>
            <a:ext cx="7826563" cy="708405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7.18	</a:t>
            </a: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关于通讯录的字符串应用程序。通讯录中的信息包括有个人的编号、姓名和电话号码，所需要实现的功能有通讯录信息的添加、显示和修改。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39533" y="1668099"/>
            <a:ext cx="4524153" cy="4016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500" dirty="0"/>
              <a:t>void main()</a:t>
            </a:r>
            <a:endParaRPr lang="en-US" altLang="zh-CN" sz="1500" dirty="0"/>
          </a:p>
          <a:p>
            <a:pPr lvl="0"/>
            <a:r>
              <a:rPr lang="en-US" altLang="zh-CN" sz="1500" dirty="0"/>
              <a:t>{</a:t>
            </a:r>
            <a:endParaRPr lang="zh-CN" altLang="zh-CN" sz="1500" dirty="0"/>
          </a:p>
          <a:p>
            <a:pPr lvl="0"/>
            <a:r>
              <a:rPr lang="en-US" altLang="zh-CN" sz="1500" dirty="0"/>
              <a:t>	char *data[100][3]; </a:t>
            </a:r>
            <a:endParaRPr lang="zh-CN" altLang="zh-CN" sz="1500" dirty="0"/>
          </a:p>
          <a:p>
            <a:pPr lvl="0"/>
            <a:r>
              <a:rPr lang="en-US" altLang="zh-CN" sz="1500" dirty="0"/>
              <a:t>	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i,j,n</a:t>
            </a:r>
            <a:r>
              <a:rPr lang="en-US" altLang="zh-CN" sz="1500" dirty="0"/>
              <a:t>=0,s=0,flag=0;         </a:t>
            </a:r>
            <a:endParaRPr lang="zh-CN" altLang="zh-CN" sz="1500" dirty="0"/>
          </a:p>
          <a:p>
            <a:pPr lvl="0"/>
            <a:r>
              <a:rPr lang="en-US" altLang="zh-CN" sz="1500" dirty="0"/>
              <a:t>	for(</a:t>
            </a:r>
            <a:r>
              <a:rPr lang="en-US" altLang="zh-CN" sz="1500" dirty="0" err="1"/>
              <a:t>i</a:t>
            </a:r>
            <a:r>
              <a:rPr lang="en-US" altLang="zh-CN" sz="1500" dirty="0"/>
              <a:t>=0;i&lt;100;i++)</a:t>
            </a:r>
            <a:endParaRPr lang="zh-CN" altLang="zh-CN" sz="1500" dirty="0"/>
          </a:p>
          <a:p>
            <a:pPr lvl="0"/>
            <a:r>
              <a:rPr lang="en-US" altLang="zh-CN" sz="1500" dirty="0"/>
              <a:t>	{</a:t>
            </a:r>
            <a:endParaRPr lang="zh-CN" altLang="zh-CN" sz="1500" dirty="0"/>
          </a:p>
          <a:p>
            <a:pPr lvl="0"/>
            <a:r>
              <a:rPr lang="en-US" altLang="zh-CN" sz="1500" dirty="0"/>
              <a:t>	      for(j=0;j&lt;3;j++)          	 </a:t>
            </a:r>
            <a:endParaRPr lang="zh-CN" altLang="zh-CN" sz="1500" dirty="0"/>
          </a:p>
          <a:p>
            <a:pPr lvl="0"/>
            <a:r>
              <a:rPr lang="en-US" altLang="zh-CN" sz="1500" dirty="0"/>
              <a:t>	      data[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][j]=NULL;   </a:t>
            </a:r>
            <a:endParaRPr lang="en-US" altLang="zh-CN" sz="1500" dirty="0"/>
          </a:p>
          <a:p>
            <a:pPr lvl="0"/>
            <a:r>
              <a:rPr lang="en-US" altLang="zh-CN" sz="1500" dirty="0"/>
              <a:t>	}                        </a:t>
            </a:r>
            <a:endParaRPr lang="en-US" altLang="zh-CN" sz="1500" dirty="0"/>
          </a:p>
          <a:p>
            <a:pPr lvl="0"/>
            <a:r>
              <a:rPr lang="en-US" altLang="zh-CN" sz="1500" dirty="0"/>
              <a:t>	for(;;)</a:t>
            </a:r>
            <a:endParaRPr lang="zh-CN" altLang="zh-CN" sz="1500" dirty="0"/>
          </a:p>
          <a:p>
            <a:pPr lvl="0"/>
            <a:r>
              <a:rPr lang="en-US" altLang="zh-CN" sz="1500" dirty="0"/>
              <a:t>     	{</a:t>
            </a:r>
            <a:endParaRPr lang="en-US" altLang="zh-CN" sz="1500" dirty="0"/>
          </a:p>
          <a:p>
            <a:pPr lvl="0"/>
            <a:r>
              <a:rPr lang="en-US" altLang="zh-CN" sz="1500" dirty="0"/>
              <a:t>	     switch(</a:t>
            </a:r>
            <a:r>
              <a:rPr lang="en-US" altLang="zh-CN" sz="1500" dirty="0" err="1"/>
              <a:t>menu_select</a:t>
            </a:r>
            <a:r>
              <a:rPr lang="en-US" altLang="zh-CN" sz="1500" dirty="0"/>
              <a:t>())</a:t>
            </a:r>
            <a:endParaRPr lang="zh-CN" altLang="zh-CN" sz="1500" dirty="0"/>
          </a:p>
          <a:p>
            <a:pPr lvl="0"/>
            <a:r>
              <a:rPr lang="en-US" altLang="zh-CN" sz="1500" dirty="0"/>
              <a:t>	     {</a:t>
            </a:r>
            <a:endParaRPr lang="zh-CN" altLang="zh-CN" sz="1500" dirty="0"/>
          </a:p>
          <a:p>
            <a:pPr lvl="0"/>
            <a:r>
              <a:rPr lang="en-US" altLang="zh-CN" sz="1500" dirty="0"/>
              <a:t>	     	case 1:</a:t>
            </a:r>
            <a:endParaRPr lang="zh-CN" altLang="zh-CN" sz="1500" dirty="0"/>
          </a:p>
          <a:p>
            <a:pPr lvl="0"/>
            <a:r>
              <a:rPr lang="en-US" altLang="zh-CN" sz="1500" dirty="0"/>
              <a:t>	     	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("\n\t Add records to phone book\n");</a:t>
            </a:r>
            <a:endParaRPr lang="zh-CN" altLang="zh-CN" sz="1500" dirty="0"/>
          </a:p>
          <a:p>
            <a:pPr lvl="0"/>
            <a:r>
              <a:rPr lang="en-US" altLang="zh-CN" sz="1500" dirty="0"/>
              <a:t>	     	s+=input((unsigned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(*)[3])</a:t>
            </a:r>
            <a:r>
              <a:rPr lang="en-US" altLang="zh-CN" sz="1500" dirty="0" err="1"/>
              <a:t>data,&amp;n</a:t>
            </a:r>
            <a:r>
              <a:rPr lang="en-US" altLang="zh-CN" sz="1500" dirty="0"/>
              <a:t>); 	   	     	break;</a:t>
            </a:r>
            <a:endParaRPr lang="zh-CN" altLang="zh-CN" sz="1500" dirty="0"/>
          </a:p>
        </p:txBody>
      </p:sp>
      <p:sp>
        <p:nvSpPr>
          <p:cNvPr id="12" name="矩形 11"/>
          <p:cNvSpPr/>
          <p:nvPr/>
        </p:nvSpPr>
        <p:spPr>
          <a:xfrm>
            <a:off x="4964906" y="1732599"/>
            <a:ext cx="382822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     	case 2: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     	print((unsigned </a:t>
            </a:r>
            <a:r>
              <a:rPr lang="en-US" altLang="zh-CN" sz="1500" dirty="0" err="1">
                <a:solidFill>
                  <a:prstClr val="black"/>
                </a:solidFill>
              </a:rPr>
              <a:t>int</a:t>
            </a:r>
            <a:r>
              <a:rPr lang="en-US" altLang="zh-CN" sz="1500" dirty="0">
                <a:solidFill>
                  <a:prstClr val="black"/>
                </a:solidFill>
              </a:rPr>
              <a:t> (*)[3])</a:t>
            </a:r>
            <a:r>
              <a:rPr lang="en-US" altLang="zh-CN" sz="1500" dirty="0" err="1">
                <a:solidFill>
                  <a:prstClr val="black"/>
                </a:solidFill>
              </a:rPr>
              <a:t>data,s</a:t>
            </a:r>
            <a:r>
              <a:rPr lang="en-US" altLang="zh-CN" sz="1500" dirty="0">
                <a:solidFill>
                  <a:prstClr val="black"/>
                </a:solidFill>
              </a:rPr>
              <a:t>);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     	break;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     	case 3: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     	modify((unsigned </a:t>
            </a:r>
            <a:r>
              <a:rPr lang="en-US" altLang="zh-CN" sz="1500" dirty="0" err="1">
                <a:solidFill>
                  <a:prstClr val="black"/>
                </a:solidFill>
              </a:rPr>
              <a:t>int</a:t>
            </a:r>
            <a:r>
              <a:rPr lang="en-US" altLang="zh-CN" sz="1500" dirty="0">
                <a:solidFill>
                  <a:prstClr val="black"/>
                </a:solidFill>
              </a:rPr>
              <a:t> (*)[3])</a:t>
            </a:r>
            <a:r>
              <a:rPr lang="en-US" altLang="zh-CN" sz="1500" dirty="0" err="1">
                <a:solidFill>
                  <a:prstClr val="black"/>
                </a:solidFill>
              </a:rPr>
              <a:t>data,s</a:t>
            </a:r>
            <a:r>
              <a:rPr lang="en-US" altLang="zh-CN" sz="1500" dirty="0">
                <a:solidFill>
                  <a:prstClr val="black"/>
                </a:solidFill>
              </a:rPr>
              <a:t>);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     	break;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     	case 4:  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          	flag=1;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          	break;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      }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   	      if(flag==1)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          	break; 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    }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    for (</a:t>
            </a:r>
            <a:r>
              <a:rPr lang="en-US" altLang="zh-CN" sz="1500" dirty="0" err="1">
                <a:solidFill>
                  <a:prstClr val="black"/>
                </a:solidFill>
              </a:rPr>
              <a:t>i</a:t>
            </a:r>
            <a:r>
              <a:rPr lang="en-US" altLang="zh-CN" sz="1500" dirty="0">
                <a:solidFill>
                  <a:prstClr val="black"/>
                </a:solidFill>
              </a:rPr>
              <a:t>=0;i&lt;</a:t>
            </a:r>
            <a:r>
              <a:rPr lang="en-US" altLang="zh-CN" sz="1500" dirty="0" err="1">
                <a:solidFill>
                  <a:prstClr val="black"/>
                </a:solidFill>
              </a:rPr>
              <a:t>s;i</a:t>
            </a:r>
            <a:r>
              <a:rPr lang="en-US" altLang="zh-CN" sz="1500" dirty="0">
                <a:solidFill>
                  <a:prstClr val="black"/>
                </a:solidFill>
              </a:rPr>
              <a:t>++)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          for(j=0;j&lt;3;j++)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	   if(data[</a:t>
            </a:r>
            <a:r>
              <a:rPr lang="en-US" altLang="zh-CN" sz="1500" dirty="0" err="1">
                <a:solidFill>
                  <a:prstClr val="black"/>
                </a:solidFill>
              </a:rPr>
              <a:t>i</a:t>
            </a:r>
            <a:r>
              <a:rPr lang="en-US" altLang="zh-CN" sz="1500" dirty="0">
                <a:solidFill>
                  <a:prstClr val="black"/>
                </a:solidFill>
              </a:rPr>
              <a:t>][j]!=NULL)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	        free(data[</a:t>
            </a:r>
            <a:r>
              <a:rPr lang="en-US" altLang="zh-CN" sz="1500" dirty="0" err="1">
                <a:solidFill>
                  <a:prstClr val="black"/>
                </a:solidFill>
              </a:rPr>
              <a:t>i</a:t>
            </a:r>
            <a:r>
              <a:rPr lang="en-US" altLang="zh-CN" sz="1500" dirty="0">
                <a:solidFill>
                  <a:prstClr val="black"/>
                </a:solidFill>
              </a:rPr>
              <a:t>][j]);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}</a:t>
            </a:r>
            <a:endParaRPr lang="zh-CN" altLang="zh-CN" sz="1500" dirty="0">
              <a:solidFill>
                <a:prstClr val="black"/>
              </a:solidFill>
            </a:endParaRPr>
          </a:p>
        </p:txBody>
      </p:sp>
      <p:cxnSp>
        <p:nvCxnSpPr>
          <p:cNvPr id="17" name="直接连接符 16"/>
          <p:cNvCxnSpPr/>
          <p:nvPr/>
        </p:nvCxnSpPr>
        <p:spPr>
          <a:xfrm flipH="1">
            <a:off x="5059816" y="1588804"/>
            <a:ext cx="3870" cy="464187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对话气泡: 圆角矩形 16"/>
          <p:cNvSpPr/>
          <p:nvPr/>
        </p:nvSpPr>
        <p:spPr>
          <a:xfrm>
            <a:off x="2421367" y="3643622"/>
            <a:ext cx="2124053" cy="425269"/>
          </a:xfrm>
          <a:prstGeom prst="wedgeRoundRectCallout">
            <a:avLst>
              <a:gd name="adj1" fmla="val -39457"/>
              <a:gd name="adj2" fmla="val -89504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指针数据初始化为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NULL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对话气泡: 圆角矩形 16"/>
          <p:cNvSpPr/>
          <p:nvPr/>
        </p:nvSpPr>
        <p:spPr>
          <a:xfrm>
            <a:off x="2906062" y="2189061"/>
            <a:ext cx="2681563" cy="1048003"/>
          </a:xfrm>
          <a:prstGeom prst="wedgeRoundRectCallout">
            <a:avLst>
              <a:gd name="adj1" fmla="val 57453"/>
              <a:gd name="adj2" fmla="val -22273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调用菜单函数，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表示通讯录信息的添加，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表示通讯录信息的显示，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表示修改通讯录中的信息，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表示退出该系统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  <p:bldP spid="4" grpId="0"/>
      <p:bldP spid="12" grpId="0"/>
      <p:bldP spid="21" grpId="0" animBg="1"/>
      <p:bldP spid="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8490" y="152766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7.6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6" y="152765"/>
            <a:ext cx="471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综合举例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1" name="对话气泡: 圆角矩形 16"/>
          <p:cNvSpPr/>
          <p:nvPr/>
        </p:nvSpPr>
        <p:spPr>
          <a:xfrm>
            <a:off x="5496849" y="2713991"/>
            <a:ext cx="2270191" cy="512610"/>
          </a:xfrm>
          <a:prstGeom prst="wedgeRoundRectCallout">
            <a:avLst>
              <a:gd name="adj1" fmla="val -75696"/>
              <a:gd name="adj2" fmla="val 33007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动态内存分配适当的内存空间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3"/>
          <p:cNvSpPr/>
          <p:nvPr/>
        </p:nvSpPr>
        <p:spPr>
          <a:xfrm>
            <a:off x="584791" y="952434"/>
            <a:ext cx="8069676" cy="5320775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: 圆角 12"/>
          <p:cNvSpPr/>
          <p:nvPr/>
        </p:nvSpPr>
        <p:spPr>
          <a:xfrm>
            <a:off x="5779995" y="886381"/>
            <a:ext cx="2285004" cy="408705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通讯录信息添加函数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48552" y="947938"/>
            <a:ext cx="6299847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500" dirty="0" err="1"/>
              <a:t>int</a:t>
            </a:r>
            <a:r>
              <a:rPr lang="en-US" altLang="zh-CN" sz="1500" dirty="0"/>
              <a:t> input(unsigned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(*</a:t>
            </a:r>
            <a:r>
              <a:rPr lang="en-US" altLang="zh-CN" sz="1500" dirty="0" err="1"/>
              <a:t>linepstr</a:t>
            </a:r>
            <a:r>
              <a:rPr lang="en-US" altLang="zh-CN" sz="1500" dirty="0"/>
              <a:t>)[3],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*n)</a:t>
            </a:r>
            <a:endParaRPr lang="zh-CN" altLang="zh-CN" sz="1500" dirty="0"/>
          </a:p>
          <a:p>
            <a:pPr lvl="0"/>
            <a:r>
              <a:rPr lang="en-US" altLang="zh-CN" sz="1500" dirty="0"/>
              <a:t>{</a:t>
            </a:r>
            <a:endParaRPr lang="en-US" altLang="zh-CN" sz="1500" dirty="0"/>
          </a:p>
          <a:p>
            <a:pPr lvl="0"/>
            <a:r>
              <a:rPr lang="en-US" altLang="zh-CN" sz="1500" dirty="0"/>
              <a:t>	 char sign='0',*</a:t>
            </a:r>
            <a:r>
              <a:rPr lang="en-US" altLang="zh-CN" sz="1500" dirty="0" err="1"/>
              <a:t>p,str</a:t>
            </a:r>
            <a:r>
              <a:rPr lang="en-US" altLang="zh-CN" sz="1500" dirty="0"/>
              <a:t>[20];</a:t>
            </a:r>
            <a:endParaRPr lang="zh-CN" altLang="zh-CN" sz="1500" dirty="0"/>
          </a:p>
          <a:p>
            <a:pPr lvl="0"/>
            <a:r>
              <a:rPr lang="en-US" altLang="zh-CN" sz="1500" dirty="0"/>
              <a:t>	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a=*n ,</a:t>
            </a:r>
            <a:r>
              <a:rPr lang="en-US" altLang="zh-CN" sz="1500" dirty="0" err="1"/>
              <a:t>len</a:t>
            </a:r>
            <a:r>
              <a:rPr lang="en-US" altLang="zh-CN" sz="1500" dirty="0"/>
              <a:t>;</a:t>
            </a:r>
            <a:endParaRPr lang="zh-CN" altLang="zh-CN" sz="1500" dirty="0"/>
          </a:p>
          <a:p>
            <a:pPr lvl="0"/>
            <a:r>
              <a:rPr lang="en-US" altLang="zh-CN" sz="1500" dirty="0"/>
              <a:t>	 while(sign!='n'&amp;&amp;sign!='N')</a:t>
            </a:r>
            <a:endParaRPr lang="zh-CN" altLang="zh-CN" sz="1500" dirty="0"/>
          </a:p>
          <a:p>
            <a:pPr lvl="0"/>
            <a:r>
              <a:rPr lang="en-US" altLang="zh-CN" sz="1500" dirty="0"/>
              <a:t>	 {</a:t>
            </a:r>
            <a:endParaRPr lang="en-US" altLang="zh-CN" sz="1500" dirty="0"/>
          </a:p>
          <a:p>
            <a:pPr lvl="0"/>
            <a:r>
              <a:rPr lang="en-US" altLang="zh-CN" sz="1500" dirty="0"/>
              <a:t>		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("\t number:\n");</a:t>
            </a:r>
            <a:endParaRPr lang="en-US" altLang="zh-CN" sz="1500" dirty="0"/>
          </a:p>
          <a:p>
            <a:pPr lvl="0"/>
            <a:r>
              <a:rPr lang="en-US" altLang="zh-CN" sz="1500" dirty="0"/>
              <a:t>		gets(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);</a:t>
            </a:r>
            <a:endParaRPr lang="zh-CN" altLang="zh-CN" sz="1500" dirty="0"/>
          </a:p>
          <a:p>
            <a:pPr lvl="0"/>
            <a:r>
              <a:rPr lang="en-US" altLang="zh-CN" sz="1500" dirty="0"/>
              <a:t>		</a:t>
            </a:r>
            <a:r>
              <a:rPr lang="en-US" altLang="zh-CN" sz="1500" dirty="0" err="1"/>
              <a:t>len</a:t>
            </a:r>
            <a:r>
              <a:rPr lang="en-US" altLang="zh-CN" sz="1500" dirty="0"/>
              <a:t>=</a:t>
            </a:r>
            <a:r>
              <a:rPr lang="en-US" altLang="zh-CN" sz="1500" dirty="0" err="1"/>
              <a:t>strlen</a:t>
            </a:r>
            <a:r>
              <a:rPr lang="en-US" altLang="zh-CN" sz="1500" dirty="0"/>
              <a:t>(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);</a:t>
            </a:r>
            <a:endParaRPr lang="zh-CN" altLang="zh-CN" sz="1500" dirty="0"/>
          </a:p>
          <a:p>
            <a:pPr lvl="0"/>
            <a:r>
              <a:rPr lang="en-US" altLang="zh-CN" sz="1500" dirty="0"/>
              <a:t>		if((p=(char *)</a:t>
            </a:r>
            <a:r>
              <a:rPr lang="en-US" altLang="zh-CN" sz="1500" dirty="0" err="1"/>
              <a:t>malloc</a:t>
            </a:r>
            <a:r>
              <a:rPr lang="en-US" altLang="zh-CN" sz="1500" dirty="0"/>
              <a:t>(</a:t>
            </a:r>
            <a:r>
              <a:rPr lang="en-US" altLang="zh-CN" sz="1500" dirty="0" err="1"/>
              <a:t>len</a:t>
            </a:r>
            <a:r>
              <a:rPr lang="en-US" altLang="zh-CN" sz="1500" dirty="0"/>
              <a:t>))==NULL) 		     		</a:t>
            </a:r>
            <a:endParaRPr lang="en-US" altLang="zh-CN" sz="1500" dirty="0"/>
          </a:p>
          <a:p>
            <a:pPr lvl="0"/>
            <a:r>
              <a:rPr lang="en-US" altLang="zh-CN" sz="1500" dirty="0"/>
              <a:t>		{</a:t>
            </a:r>
            <a:endParaRPr lang="zh-CN" altLang="zh-CN" sz="1500" dirty="0"/>
          </a:p>
          <a:p>
            <a:pPr lvl="0"/>
            <a:r>
              <a:rPr lang="en-US" altLang="zh-CN" sz="1500" dirty="0"/>
              <a:t>			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("not enough memory to </a:t>
            </a:r>
            <a:r>
              <a:rPr lang="en-US" altLang="zh-CN" sz="1500" dirty="0" err="1"/>
              <a:t>allocte</a:t>
            </a:r>
            <a:r>
              <a:rPr lang="en-US" altLang="zh-CN" sz="1500" dirty="0"/>
              <a:t> buffer.\n");break;</a:t>
            </a:r>
            <a:endParaRPr lang="zh-CN" altLang="zh-CN" sz="1500" dirty="0"/>
          </a:p>
          <a:p>
            <a:pPr lvl="0"/>
            <a:r>
              <a:rPr lang="en-US" altLang="zh-CN" sz="1500" dirty="0"/>
              <a:t>	   	}</a:t>
            </a:r>
            <a:endParaRPr lang="zh-CN" altLang="zh-CN" sz="1500" dirty="0"/>
          </a:p>
          <a:p>
            <a:pPr lvl="0"/>
            <a:r>
              <a:rPr lang="en-US" altLang="zh-CN" sz="1500" dirty="0"/>
              <a:t>		</a:t>
            </a:r>
            <a:r>
              <a:rPr lang="en-US" altLang="zh-CN" sz="1500" dirty="0" err="1"/>
              <a:t>strcpy</a:t>
            </a:r>
            <a:r>
              <a:rPr lang="en-US" altLang="zh-CN" sz="1500" dirty="0"/>
              <a:t>(</a:t>
            </a:r>
            <a:r>
              <a:rPr lang="en-US" altLang="zh-CN" sz="1500" dirty="0" err="1"/>
              <a:t>p,str</a:t>
            </a:r>
            <a:r>
              <a:rPr lang="en-US" altLang="zh-CN" sz="1500" dirty="0"/>
              <a:t>);</a:t>
            </a:r>
            <a:endParaRPr lang="zh-CN" altLang="zh-CN" sz="1500" dirty="0"/>
          </a:p>
          <a:p>
            <a:pPr lvl="0"/>
            <a:r>
              <a:rPr lang="en-US" altLang="zh-CN" sz="1500" dirty="0"/>
              <a:t>		*(*(</a:t>
            </a:r>
            <a:r>
              <a:rPr lang="en-US" altLang="zh-CN" sz="1500" dirty="0" err="1"/>
              <a:t>linepstr</a:t>
            </a:r>
            <a:r>
              <a:rPr lang="en-US" altLang="zh-CN" sz="1500" dirty="0"/>
              <a:t>+*n)+0)=(unsigned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) p;</a:t>
            </a:r>
            <a:endParaRPr lang="zh-CN" altLang="zh-CN" sz="1500" dirty="0"/>
          </a:p>
          <a:p>
            <a:pPr lvl="0"/>
            <a:r>
              <a:rPr lang="en-US" altLang="zh-CN" sz="1500" dirty="0"/>
              <a:t>	   	  …	 </a:t>
            </a:r>
            <a:endParaRPr lang="zh-CN" altLang="zh-CN" sz="1500" dirty="0"/>
          </a:p>
          <a:p>
            <a:pPr lvl="0"/>
            <a:r>
              <a:rPr lang="en-US" altLang="zh-CN" sz="1500" dirty="0"/>
              <a:t>		     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("\n\t continue to add(Y/N)\n");</a:t>
            </a:r>
            <a:endParaRPr lang="zh-CN" altLang="zh-CN" sz="1500" dirty="0"/>
          </a:p>
          <a:p>
            <a:pPr lvl="0"/>
            <a:r>
              <a:rPr lang="en-US" altLang="zh-CN" sz="1500" dirty="0"/>
              <a:t>		     gets(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);</a:t>
            </a:r>
            <a:endParaRPr lang="zh-CN" altLang="zh-CN" sz="1500" dirty="0"/>
          </a:p>
          <a:p>
            <a:pPr lvl="0"/>
            <a:r>
              <a:rPr lang="en-US" altLang="zh-CN" sz="1500" dirty="0"/>
              <a:t>		      sign=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[0];</a:t>
            </a:r>
            <a:endParaRPr lang="zh-CN" altLang="zh-CN" sz="1500" dirty="0"/>
          </a:p>
          <a:p>
            <a:pPr lvl="0"/>
            <a:r>
              <a:rPr lang="en-US" altLang="zh-CN" sz="1500" dirty="0"/>
              <a:t>		     (*n)++;</a:t>
            </a:r>
            <a:endParaRPr lang="zh-CN" altLang="zh-CN" sz="1500" dirty="0"/>
          </a:p>
          <a:p>
            <a:pPr lvl="0"/>
            <a:r>
              <a:rPr lang="en-US" altLang="zh-CN" sz="1500" dirty="0"/>
              <a:t>	      }</a:t>
            </a:r>
            <a:endParaRPr lang="zh-CN" altLang="zh-CN" sz="1500" dirty="0"/>
          </a:p>
          <a:p>
            <a:pPr lvl="0"/>
            <a:r>
              <a:rPr lang="en-US" altLang="zh-CN" sz="1500" dirty="0"/>
              <a:t>	      return (*n-a); </a:t>
            </a:r>
            <a:endParaRPr lang="en-US" altLang="zh-CN" sz="1500" dirty="0"/>
          </a:p>
          <a:p>
            <a:pPr lvl="0"/>
            <a:r>
              <a:rPr lang="en-US" altLang="zh-CN" sz="1500" dirty="0"/>
              <a:t>}</a:t>
            </a:r>
            <a:endParaRPr lang="zh-CN" altLang="en-US" sz="1500" dirty="0"/>
          </a:p>
        </p:txBody>
      </p:sp>
      <p:sp>
        <p:nvSpPr>
          <p:cNvPr id="19" name="对话气泡: 圆角矩形 16"/>
          <p:cNvSpPr/>
          <p:nvPr/>
        </p:nvSpPr>
        <p:spPr>
          <a:xfrm>
            <a:off x="5635256" y="3848986"/>
            <a:ext cx="3327991" cy="1330835"/>
          </a:xfrm>
          <a:prstGeom prst="wedgeRoundRectCallout">
            <a:avLst>
              <a:gd name="adj1" fmla="val -63178"/>
              <a:gd name="adj2" fmla="val -13331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将地址变为无符号整数存到指针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1600" kern="1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linepstr</a:t>
            </a:r>
            <a:r>
              <a:rPr lang="zh-CN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指向的数组中，并作为指针数组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char *data[100][3]</a:t>
            </a:r>
            <a:r>
              <a:rPr lang="zh-CN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中的一个元素参与后来的应用</a:t>
            </a:r>
            <a:endParaRPr lang="zh-CN" altLang="en-US" sz="1600" kern="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4" grpId="0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8490" y="152766"/>
            <a:ext cx="84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7.6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846" y="152765"/>
            <a:ext cx="471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综合举例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3" name="矩形: 圆角 3"/>
          <p:cNvSpPr/>
          <p:nvPr/>
        </p:nvSpPr>
        <p:spPr>
          <a:xfrm>
            <a:off x="584791" y="1399013"/>
            <a:ext cx="8069676" cy="4331940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: 圆角 12"/>
          <p:cNvSpPr/>
          <p:nvPr/>
        </p:nvSpPr>
        <p:spPr>
          <a:xfrm>
            <a:off x="1349439" y="1193000"/>
            <a:ext cx="2285004" cy="408705"/>
          </a:xfrm>
          <a:prstGeom prst="roundRect">
            <a:avLst/>
          </a:prstGeom>
          <a:solidFill>
            <a:srgbClr val="45B0A8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通讯录信息修改函数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97006" y="1737340"/>
            <a:ext cx="392385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500" dirty="0"/>
              <a:t> void modify(unsigned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(*mod)[3],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n)</a:t>
            </a:r>
            <a:endParaRPr lang="zh-CN" altLang="zh-CN" sz="1500" dirty="0"/>
          </a:p>
          <a:p>
            <a:pPr lvl="0"/>
            <a:r>
              <a:rPr lang="en-US" altLang="zh-CN" sz="1500" dirty="0"/>
              <a:t>{</a:t>
            </a:r>
            <a:endParaRPr lang="zh-CN" altLang="zh-CN" sz="1500" dirty="0"/>
          </a:p>
          <a:p>
            <a:pPr lvl="0"/>
            <a:r>
              <a:rPr lang="en-US" altLang="zh-CN" sz="1500" dirty="0"/>
              <a:t>	char 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[20];</a:t>
            </a:r>
            <a:endParaRPr lang="zh-CN" altLang="zh-CN" sz="1500" dirty="0"/>
          </a:p>
          <a:p>
            <a:pPr lvl="0"/>
            <a:r>
              <a:rPr lang="en-US" altLang="zh-CN" sz="1500" dirty="0"/>
              <a:t>	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m=-1,i;</a:t>
            </a:r>
            <a:endParaRPr lang="zh-CN" altLang="zh-CN" sz="1500" dirty="0"/>
          </a:p>
          <a:p>
            <a:pPr lvl="0"/>
            <a:r>
              <a:rPr lang="en-US" altLang="zh-CN" sz="1500" dirty="0"/>
              <a:t>	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("\t Please input the number that 			you want to modify:\n");</a:t>
            </a:r>
            <a:endParaRPr lang="zh-CN" altLang="zh-CN" sz="1500" dirty="0"/>
          </a:p>
          <a:p>
            <a:pPr lvl="0"/>
            <a:r>
              <a:rPr lang="en-US" altLang="zh-CN" sz="1500" dirty="0"/>
              <a:t>	gets(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);</a:t>
            </a:r>
            <a:endParaRPr lang="zh-CN" altLang="zh-CN" sz="1500" dirty="0"/>
          </a:p>
          <a:p>
            <a:pPr lvl="0"/>
            <a:r>
              <a:rPr lang="en-US" altLang="zh-CN" sz="1500" dirty="0"/>
              <a:t>	for(</a:t>
            </a:r>
            <a:r>
              <a:rPr lang="en-US" altLang="zh-CN" sz="1500" dirty="0" err="1"/>
              <a:t>i</a:t>
            </a:r>
            <a:r>
              <a:rPr lang="en-US" altLang="zh-CN" sz="1500" dirty="0"/>
              <a:t>=0;i&lt;</a:t>
            </a:r>
            <a:r>
              <a:rPr lang="en-US" altLang="zh-CN" sz="1500" dirty="0" err="1"/>
              <a:t>n;i</a:t>
            </a:r>
            <a:r>
              <a:rPr lang="en-US" altLang="zh-CN" sz="1500" dirty="0"/>
              <a:t>++)</a:t>
            </a:r>
            <a:endParaRPr lang="zh-CN" altLang="zh-CN" sz="1500" dirty="0"/>
          </a:p>
          <a:p>
            <a:pPr lvl="0"/>
            <a:r>
              <a:rPr lang="en-US" altLang="zh-CN" sz="1500" dirty="0"/>
              <a:t>	 {</a:t>
            </a:r>
            <a:endParaRPr lang="zh-CN" altLang="zh-CN" sz="1500" dirty="0"/>
          </a:p>
          <a:p>
            <a:pPr lvl="0"/>
            <a:r>
              <a:rPr lang="en-US" altLang="zh-CN" sz="1500" dirty="0"/>
              <a:t>		if(!</a:t>
            </a:r>
            <a:r>
              <a:rPr lang="en-US" altLang="zh-CN" sz="1500" dirty="0" err="1"/>
              <a:t>strcmp</a:t>
            </a:r>
            <a:r>
              <a:rPr lang="en-US" altLang="zh-CN" sz="1500" dirty="0"/>
              <a:t>(</a:t>
            </a:r>
            <a:r>
              <a:rPr lang="en-US" altLang="zh-CN" sz="1500" dirty="0" err="1"/>
              <a:t>str</a:t>
            </a:r>
            <a:r>
              <a:rPr lang="en-US" altLang="zh-CN" sz="1500" dirty="0"/>
              <a:t>,(char *)mod[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][0])) 			     m=</a:t>
            </a:r>
            <a:r>
              <a:rPr lang="en-US" altLang="zh-CN" sz="1500" dirty="0" err="1"/>
              <a:t>i</a:t>
            </a:r>
            <a:r>
              <a:rPr lang="en-US" altLang="zh-CN" sz="1500" dirty="0"/>
              <a:t>;</a:t>
            </a:r>
            <a:endParaRPr lang="zh-CN" altLang="zh-CN" sz="1500" dirty="0"/>
          </a:p>
          <a:p>
            <a:pPr lvl="0"/>
            <a:r>
              <a:rPr lang="en-US" altLang="zh-CN" sz="1500" dirty="0"/>
              <a:t>		     break;	</a:t>
            </a:r>
            <a:endParaRPr lang="zh-CN" altLang="zh-CN" sz="1500" dirty="0"/>
          </a:p>
          <a:p>
            <a:pPr lvl="0"/>
            <a:r>
              <a:rPr lang="en-US" altLang="zh-CN" sz="1500" dirty="0"/>
              <a:t>		}</a:t>
            </a:r>
            <a:endParaRPr lang="zh-CN" altLang="zh-CN" sz="1500" dirty="0"/>
          </a:p>
          <a:p>
            <a:pPr lvl="0"/>
            <a:r>
              <a:rPr lang="en-US" altLang="zh-CN" sz="1500" dirty="0"/>
              <a:t>	}</a:t>
            </a:r>
            <a:endParaRPr lang="zh-CN" altLang="zh-CN" sz="1500" dirty="0"/>
          </a:p>
        </p:txBody>
      </p:sp>
      <p:sp>
        <p:nvSpPr>
          <p:cNvPr id="7" name="矩形 6"/>
          <p:cNvSpPr/>
          <p:nvPr/>
        </p:nvSpPr>
        <p:spPr>
          <a:xfrm>
            <a:off x="4401662" y="1789878"/>
            <a:ext cx="4572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	   if(m!=-1)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       {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	      </a:t>
            </a:r>
            <a:r>
              <a:rPr lang="en-US" altLang="zh-CN" sz="1500" dirty="0" err="1">
                <a:solidFill>
                  <a:prstClr val="black"/>
                </a:solidFill>
              </a:rPr>
              <a:t>printf</a:t>
            </a:r>
            <a:r>
              <a:rPr lang="en-US" altLang="zh-CN" sz="1500" dirty="0">
                <a:solidFill>
                  <a:prstClr val="black"/>
                </a:solidFill>
              </a:rPr>
              <a:t>("\t number\n");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	      gets((char*)mod[m][0]);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	      </a:t>
            </a:r>
            <a:r>
              <a:rPr lang="en-US" altLang="zh-CN" sz="1500" dirty="0" err="1">
                <a:solidFill>
                  <a:prstClr val="black"/>
                </a:solidFill>
              </a:rPr>
              <a:t>printf</a:t>
            </a:r>
            <a:r>
              <a:rPr lang="en-US" altLang="zh-CN" sz="1500" dirty="0">
                <a:solidFill>
                  <a:prstClr val="black"/>
                </a:solidFill>
              </a:rPr>
              <a:t>("\t name\n");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	      gets((char*)mod[m][1]);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	      </a:t>
            </a:r>
            <a:r>
              <a:rPr lang="en-US" altLang="zh-CN" sz="1500" dirty="0" err="1">
                <a:solidFill>
                  <a:prstClr val="black"/>
                </a:solidFill>
              </a:rPr>
              <a:t>printf</a:t>
            </a:r>
            <a:r>
              <a:rPr lang="en-US" altLang="zh-CN" sz="1500" dirty="0">
                <a:solidFill>
                  <a:prstClr val="black"/>
                </a:solidFill>
              </a:rPr>
              <a:t>("\t phone\n");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	      gets((char*)mod[m][2]);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       }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       else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       {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	      </a:t>
            </a:r>
            <a:r>
              <a:rPr lang="en-US" altLang="zh-CN" sz="1500" dirty="0" err="1">
                <a:solidFill>
                  <a:prstClr val="black"/>
                </a:solidFill>
              </a:rPr>
              <a:t>printf</a:t>
            </a:r>
            <a:r>
              <a:rPr lang="en-US" altLang="zh-CN" sz="1500" dirty="0">
                <a:solidFill>
                  <a:prstClr val="black"/>
                </a:solidFill>
              </a:rPr>
              <a:t>("\t Can't find the </a:t>
            </a:r>
            <a:r>
              <a:rPr lang="en-US" altLang="zh-CN" sz="1500" dirty="0" err="1">
                <a:solidFill>
                  <a:prstClr val="black"/>
                </a:solidFill>
              </a:rPr>
              <a:t>number,please</a:t>
            </a:r>
            <a:r>
              <a:rPr lang="en-US" altLang="zh-CN" sz="1500" dirty="0">
                <a:solidFill>
                  <a:prstClr val="black"/>
                </a:solidFill>
              </a:rPr>
              <a:t> 				input again!\n");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	      modify((unsigned </a:t>
            </a:r>
            <a:r>
              <a:rPr lang="en-US" altLang="zh-CN" sz="1500" dirty="0" err="1">
                <a:solidFill>
                  <a:prstClr val="black"/>
                </a:solidFill>
              </a:rPr>
              <a:t>int</a:t>
            </a:r>
            <a:r>
              <a:rPr lang="en-US" altLang="zh-CN" sz="1500" dirty="0">
                <a:solidFill>
                  <a:prstClr val="black"/>
                </a:solidFill>
              </a:rPr>
              <a:t> (*)[3])</a:t>
            </a:r>
            <a:r>
              <a:rPr lang="en-US" altLang="zh-CN" sz="1500" dirty="0" err="1">
                <a:solidFill>
                  <a:prstClr val="black"/>
                </a:solidFill>
              </a:rPr>
              <a:t>mod,n</a:t>
            </a:r>
            <a:r>
              <a:rPr lang="en-US" altLang="zh-CN" sz="1500" dirty="0">
                <a:solidFill>
                  <a:prstClr val="black"/>
                </a:solidFill>
              </a:rPr>
              <a:t>);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	       } </a:t>
            </a:r>
            <a:endParaRPr lang="zh-CN" altLang="zh-CN" sz="1500" dirty="0">
              <a:solidFill>
                <a:prstClr val="black"/>
              </a:solidFill>
            </a:endParaRPr>
          </a:p>
          <a:p>
            <a:pPr lvl="0"/>
            <a:r>
              <a:rPr lang="en-US" altLang="zh-CN" sz="1500" dirty="0">
                <a:solidFill>
                  <a:prstClr val="black"/>
                </a:solidFill>
              </a:rPr>
              <a:t>           }</a:t>
            </a:r>
            <a:endParaRPr lang="zh-CN" altLang="en-US" dirty="0"/>
          </a:p>
        </p:txBody>
      </p:sp>
      <p:cxnSp>
        <p:nvCxnSpPr>
          <p:cNvPr id="12" name="直接连接符 11"/>
          <p:cNvCxnSpPr/>
          <p:nvPr/>
        </p:nvCxnSpPr>
        <p:spPr>
          <a:xfrm>
            <a:off x="4720856" y="1399012"/>
            <a:ext cx="0" cy="433194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对话气泡: 圆角矩形 16"/>
          <p:cNvSpPr/>
          <p:nvPr/>
        </p:nvSpPr>
        <p:spPr>
          <a:xfrm>
            <a:off x="2397285" y="4544750"/>
            <a:ext cx="2270191" cy="582629"/>
          </a:xfrm>
          <a:prstGeom prst="wedgeRoundRectCallout">
            <a:avLst>
              <a:gd name="adj1" fmla="val -33076"/>
              <a:gd name="adj2" fmla="val -99742"/>
              <a:gd name="adj3" fmla="val 16667"/>
            </a:avLst>
          </a:prstGeom>
          <a:solidFill>
            <a:srgbClr val="98B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遍寻通讯录，找到相应的编号进行修改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/>
      <p:bldP spid="7" grpId="0"/>
      <p:bldP spid="1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248111" y="163397"/>
            <a:ext cx="3875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本章小结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32471" y="74428"/>
            <a:ext cx="1361527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3962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</a:t>
            </a:r>
            <a:endParaRPr lang="en-US" altLang="zh-CN" sz="2400" b="1" dirty="0">
              <a:solidFill>
                <a:srgbClr val="3962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800" b="1" dirty="0" smtClean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</a:t>
            </a:r>
            <a:endParaRPr lang="zh-CN" altLang="en-US" sz="28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96111" y="1276861"/>
            <a:ext cx="8161506" cy="4170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字符串是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语言的难点和重要内容，需要在深刻理解概念的基础上，熟练掌握，本章需重点掌握的内容有：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zh-CN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字符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与字符串的基本概念，学会利用字符数组和字符指针去定义和处理</a:t>
            </a:r>
            <a:r>
              <a:rPr lang="zh-CN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zh-CN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字符串相关</a:t>
            </a:r>
            <a:r>
              <a:rPr lang="zh-CN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常用</a:t>
            </a:r>
            <a:r>
              <a:rPr lang="zh-CN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库函数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，会使程序实现更简练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语言中</a:t>
            </a:r>
            <a:r>
              <a:rPr lang="zh-CN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单个字符串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处理方法和应用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语言中</a:t>
            </a:r>
            <a:r>
              <a:rPr lang="zh-CN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多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处理方法和应用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zh-CN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带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及其应用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77118" y="2237352"/>
            <a:ext cx="3222357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5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END</a:t>
            </a:r>
            <a:endParaRPr lang="zh-CN" altLang="en-US" sz="11500" b="1" dirty="0">
              <a:solidFill>
                <a:srgbClr val="39626F"/>
              </a:solidFill>
              <a:latin typeface="Segoe UI" panose="020B0502040204020203" pitchFamily="34" charset="0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2471" y="10630"/>
            <a:ext cx="1361527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3962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</a:t>
            </a:r>
            <a:endParaRPr lang="en-US" altLang="zh-CN" sz="2400" b="1" dirty="0">
              <a:solidFill>
                <a:srgbClr val="3962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8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7</a:t>
            </a:r>
            <a:endParaRPr lang="zh-CN" altLang="en-US" sz="28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24968</Words>
  <Application>WPS 演示</Application>
  <PresentationFormat>全屏显示(4:3)</PresentationFormat>
  <Paragraphs>1915</Paragraphs>
  <Slides>58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58</vt:i4>
      </vt:variant>
    </vt:vector>
  </HeadingPairs>
  <TitlesOfParts>
    <vt:vector size="72" baseType="lpstr">
      <vt:lpstr>Arial</vt:lpstr>
      <vt:lpstr>宋体</vt:lpstr>
      <vt:lpstr>Wingdings</vt:lpstr>
      <vt:lpstr>微软雅黑</vt:lpstr>
      <vt:lpstr>Segoe UI</vt:lpstr>
      <vt:lpstr>Times New Roman</vt:lpstr>
      <vt:lpstr>Calibri</vt:lpstr>
      <vt:lpstr>Arial Unicode MS</vt:lpstr>
      <vt:lpstr>等线 Light</vt:lpstr>
      <vt:lpstr>Calibri Light</vt:lpstr>
      <vt:lpstr>等线</vt:lpstr>
      <vt:lpstr>Office 主题​​</vt:lpstr>
      <vt:lpstr>Visio.Drawing.15</vt:lpstr>
      <vt:lpstr>Visio.Drawing.15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opc_user</dc:creator>
  <cp:lastModifiedBy>lanyy</cp:lastModifiedBy>
  <cp:revision>390</cp:revision>
  <dcterms:created xsi:type="dcterms:W3CDTF">2016-08-18T14:34:00Z</dcterms:created>
  <dcterms:modified xsi:type="dcterms:W3CDTF">2026-04-25T14:15:46Z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A3E01DD35F4B44409E0F893BEA4A1251</vt:lpwstr>
  </property>
  <property fmtid="{D5CDD505-2E9C-101B-9397-08002B2CF9AE}" pid="3" name="KSOProductBuildVer">
    <vt:lpwstr>2052-12.1.0.22525</vt:lpwstr>
  </property>
</Properties>
</file>